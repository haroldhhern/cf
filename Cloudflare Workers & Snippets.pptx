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Quattrocento Sans" charset="-122" pitchFamily="34"/>
      <p:regular r:id="rId19"/>
    </p:embeddedFont>
    <p:embeddedFont>
      <p:font typeface="Liter" charset="-122" pitchFamily="34"/>
      <p:regular r:id="rId20"/>
    </p:embeddedFont>
    <p:embeddedFont>
      <p:font typeface="MiSans" charset="-122" pitchFamily="34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0.wp.com/a8b881ae3807214f41ac76634635d9d52653fdf4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7770" b="777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F172A">
                  <a:alpha val="95000"/>
                </a:srgbClr>
              </a:gs>
              <a:gs pos="50000">
                <a:srgbClr val="0F172A">
                  <a:alpha val="85000"/>
                </a:srgbClr>
              </a:gs>
              <a:gs pos="100000">
                <a:srgbClr val="F48120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4810" y="1154668"/>
            <a:ext cx="2969895" cy="426720"/>
          </a:xfrm>
          <a:custGeom>
            <a:avLst/>
            <a:gdLst/>
            <a:ahLst/>
            <a:cxnLst/>
            <a:rect l="l" t="t" r="r" b="b"/>
            <a:pathLst>
              <a:path w="2969895" h="426720">
                <a:moveTo>
                  <a:pt x="213360" y="0"/>
                </a:moveTo>
                <a:lnTo>
                  <a:pt x="2756535" y="0"/>
                </a:lnTo>
                <a:cubicBezTo>
                  <a:pt x="2874370" y="0"/>
                  <a:pt x="2969895" y="95525"/>
                  <a:pt x="2969895" y="213360"/>
                </a:cubicBezTo>
                <a:lnTo>
                  <a:pt x="2969895" y="213360"/>
                </a:lnTo>
                <a:cubicBezTo>
                  <a:pt x="2969895" y="331195"/>
                  <a:pt x="2874370" y="426720"/>
                  <a:pt x="2756535" y="426720"/>
                </a:cubicBezTo>
                <a:lnTo>
                  <a:pt x="213360" y="426720"/>
                </a:lnTo>
                <a:cubicBezTo>
                  <a:pt x="95603" y="426720"/>
                  <a:pt x="0" y="331117"/>
                  <a:pt x="0" y="213360"/>
                </a:cubicBezTo>
                <a:lnTo>
                  <a:pt x="0" y="213360"/>
                </a:lnTo>
                <a:cubicBezTo>
                  <a:pt x="0" y="95603"/>
                  <a:pt x="95603" y="0"/>
                  <a:pt x="213360" y="0"/>
                </a:cubicBezTo>
                <a:close/>
              </a:path>
            </a:pathLst>
          </a:custGeom>
          <a:solidFill>
            <a:srgbClr val="F48120">
              <a:alpha val="20000"/>
            </a:srgbClr>
          </a:solidFill>
          <a:ln w="10160">
            <a:solidFill>
              <a:srgbClr val="F48120">
                <a:alpha val="5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79120" y="1272778"/>
            <a:ext cx="266580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spc="68" kern="0" dirty="0">
                <a:solidFill>
                  <a:srgbClr val="F481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EDGE COMPUTING SOLUTIONS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118598"/>
            <a:ext cx="11887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Cloudflare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F481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Workers</a:t>
            </a:r>
            <a:pPr>
              <a:lnSpc>
                <a:spcPct val="80000"/>
              </a:lnSpc>
            </a:pPr>
            <a:r>
              <a:rPr lang="en-US" sz="72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&amp; </a:t>
            </a:r>
            <a:pPr>
              <a:lnSpc>
                <a:spcPct val="80000"/>
              </a:lnSpc>
            </a:pPr>
            <a:r>
              <a:rPr lang="en-US" sz="720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Snippets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175998"/>
            <a:ext cx="745807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Serverless edge computing for modern web applications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524994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48120">
              <a:alpha val="2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514350" y="538329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30932" y="104180"/>
                </a:moveTo>
                <a:lnTo>
                  <a:pt x="59903" y="104180"/>
                </a:lnTo>
                <a:cubicBezTo>
                  <a:pt x="60982" y="128178"/>
                  <a:pt x="66303" y="150279"/>
                  <a:pt x="73856" y="166464"/>
                </a:cubicBezTo>
                <a:cubicBezTo>
                  <a:pt x="78098" y="175580"/>
                  <a:pt x="82674" y="182017"/>
                  <a:pt x="86916" y="185961"/>
                </a:cubicBezTo>
                <a:cubicBezTo>
                  <a:pt x="91083" y="189867"/>
                  <a:pt x="93948" y="190500"/>
                  <a:pt x="95436" y="190500"/>
                </a:cubicBezTo>
                <a:cubicBezTo>
                  <a:pt x="96924" y="190500"/>
                  <a:pt x="99789" y="189867"/>
                  <a:pt x="103956" y="185961"/>
                </a:cubicBezTo>
                <a:cubicBezTo>
                  <a:pt x="108198" y="182017"/>
                  <a:pt x="112775" y="175543"/>
                  <a:pt x="117016" y="166464"/>
                </a:cubicBezTo>
                <a:cubicBezTo>
                  <a:pt x="124569" y="150279"/>
                  <a:pt x="129890" y="128178"/>
                  <a:pt x="130969" y="104180"/>
                </a:cubicBezTo>
                <a:close/>
                <a:moveTo>
                  <a:pt x="59866" y="86320"/>
                </a:moveTo>
                <a:lnTo>
                  <a:pt x="130894" y="86320"/>
                </a:lnTo>
                <a:cubicBezTo>
                  <a:pt x="129853" y="62322"/>
                  <a:pt x="124532" y="40221"/>
                  <a:pt x="116979" y="24036"/>
                </a:cubicBezTo>
                <a:cubicBezTo>
                  <a:pt x="112737" y="14957"/>
                  <a:pt x="108161" y="8483"/>
                  <a:pt x="103919" y="4539"/>
                </a:cubicBezTo>
                <a:cubicBezTo>
                  <a:pt x="99752" y="633"/>
                  <a:pt x="96887" y="0"/>
                  <a:pt x="95399" y="0"/>
                </a:cubicBezTo>
                <a:cubicBezTo>
                  <a:pt x="93911" y="0"/>
                  <a:pt x="91046" y="633"/>
                  <a:pt x="86878" y="4539"/>
                </a:cubicBezTo>
                <a:cubicBezTo>
                  <a:pt x="82637" y="8483"/>
                  <a:pt x="78060" y="14957"/>
                  <a:pt x="73819" y="24036"/>
                </a:cubicBezTo>
                <a:cubicBezTo>
                  <a:pt x="66266" y="40221"/>
                  <a:pt x="60945" y="62322"/>
                  <a:pt x="59866" y="86320"/>
                </a:cubicBezTo>
                <a:close/>
                <a:moveTo>
                  <a:pt x="42007" y="86320"/>
                </a:moveTo>
                <a:cubicBezTo>
                  <a:pt x="43309" y="54471"/>
                  <a:pt x="51532" y="24892"/>
                  <a:pt x="63550" y="5469"/>
                </a:cubicBezTo>
                <a:cubicBezTo>
                  <a:pt x="29282" y="17599"/>
                  <a:pt x="4056" y="48816"/>
                  <a:pt x="558" y="86320"/>
                </a:cubicBezTo>
                <a:lnTo>
                  <a:pt x="42007" y="86320"/>
                </a:lnTo>
                <a:close/>
                <a:moveTo>
                  <a:pt x="558" y="104180"/>
                </a:moveTo>
                <a:cubicBezTo>
                  <a:pt x="4056" y="141684"/>
                  <a:pt x="29282" y="172901"/>
                  <a:pt x="63550" y="185031"/>
                </a:cubicBezTo>
                <a:cubicBezTo>
                  <a:pt x="51532" y="165608"/>
                  <a:pt x="43309" y="136029"/>
                  <a:pt x="42007" y="104180"/>
                </a:cubicBezTo>
                <a:lnTo>
                  <a:pt x="558" y="104180"/>
                </a:lnTo>
                <a:close/>
                <a:moveTo>
                  <a:pt x="148791" y="104180"/>
                </a:moveTo>
                <a:cubicBezTo>
                  <a:pt x="147489" y="136029"/>
                  <a:pt x="139266" y="165608"/>
                  <a:pt x="127248" y="185031"/>
                </a:cubicBezTo>
                <a:cubicBezTo>
                  <a:pt x="161516" y="172864"/>
                  <a:pt x="186742" y="141684"/>
                  <a:pt x="190240" y="104180"/>
                </a:cubicBezTo>
                <a:lnTo>
                  <a:pt x="148791" y="104180"/>
                </a:lnTo>
                <a:close/>
                <a:moveTo>
                  <a:pt x="190240" y="86320"/>
                </a:moveTo>
                <a:cubicBezTo>
                  <a:pt x="186742" y="48816"/>
                  <a:pt x="161516" y="17599"/>
                  <a:pt x="127248" y="5469"/>
                </a:cubicBezTo>
                <a:cubicBezTo>
                  <a:pt x="139266" y="24892"/>
                  <a:pt x="147489" y="54471"/>
                  <a:pt x="148791" y="86320"/>
                </a:cubicBezTo>
                <a:lnTo>
                  <a:pt x="190240" y="86320"/>
                </a:ln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10" name="Text 7"/>
          <p:cNvSpPr/>
          <p:nvPr/>
        </p:nvSpPr>
        <p:spPr>
          <a:xfrm>
            <a:off x="952500" y="5345192"/>
            <a:ext cx="1466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330+ Data Centers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561511" y="524994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2706767" y="5383292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26057" y="-3683"/>
                </a:moveTo>
                <a:cubicBezTo>
                  <a:pt x="130485" y="-484"/>
                  <a:pt x="132122" y="5321"/>
                  <a:pt x="130113" y="10381"/>
                </a:cubicBezTo>
                <a:lnTo>
                  <a:pt x="100943" y="83344"/>
                </a:lnTo>
                <a:lnTo>
                  <a:pt x="154781" y="83344"/>
                </a:lnTo>
                <a:cubicBezTo>
                  <a:pt x="159804" y="83344"/>
                  <a:pt x="164269" y="86469"/>
                  <a:pt x="165981" y="91194"/>
                </a:cubicBezTo>
                <a:cubicBezTo>
                  <a:pt x="167692" y="95920"/>
                  <a:pt x="166241" y="101203"/>
                  <a:pt x="162409" y="104403"/>
                </a:cubicBezTo>
                <a:lnTo>
                  <a:pt x="55252" y="193700"/>
                </a:lnTo>
                <a:cubicBezTo>
                  <a:pt x="51048" y="197197"/>
                  <a:pt x="45058" y="197383"/>
                  <a:pt x="40630" y="194183"/>
                </a:cubicBezTo>
                <a:cubicBezTo>
                  <a:pt x="36202" y="190984"/>
                  <a:pt x="34565" y="185179"/>
                  <a:pt x="36575" y="180119"/>
                </a:cubicBezTo>
                <a:lnTo>
                  <a:pt x="65745" y="107156"/>
                </a:lnTo>
                <a:lnTo>
                  <a:pt x="11906" y="107156"/>
                </a:lnTo>
                <a:cubicBezTo>
                  <a:pt x="6883" y="107156"/>
                  <a:pt x="2418" y="104031"/>
                  <a:pt x="707" y="99306"/>
                </a:cubicBezTo>
                <a:cubicBezTo>
                  <a:pt x="-1005" y="94580"/>
                  <a:pt x="446" y="89297"/>
                  <a:pt x="4279" y="86097"/>
                </a:cubicBezTo>
                <a:lnTo>
                  <a:pt x="111435" y="-3200"/>
                </a:lnTo>
                <a:cubicBezTo>
                  <a:pt x="115639" y="-6697"/>
                  <a:pt x="121630" y="-6883"/>
                  <a:pt x="126057" y="-3683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3" name="Text 10"/>
          <p:cNvSpPr/>
          <p:nvPr/>
        </p:nvSpPr>
        <p:spPr>
          <a:xfrm>
            <a:off x="3133011" y="5345192"/>
            <a:ext cx="1276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 Cold Starts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556284" y="524994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4677728" y="5383292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6" name="Text 13"/>
          <p:cNvSpPr/>
          <p:nvPr/>
        </p:nvSpPr>
        <p:spPr>
          <a:xfrm>
            <a:off x="5127784" y="5345192"/>
            <a:ext cx="1695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JavaScript/TypeScript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F481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PRESENTATION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723900"/>
            <a:ext cx="11715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810" y="1680210"/>
            <a:ext cx="5551170" cy="1607820"/>
          </a:xfrm>
          <a:custGeom>
            <a:avLst/>
            <a:gdLst/>
            <a:ahLst/>
            <a:cxnLst/>
            <a:rect l="l" t="t" r="r" b="b"/>
            <a:pathLst>
              <a:path w="5551170" h="1607820">
                <a:moveTo>
                  <a:pt x="114300" y="0"/>
                </a:moveTo>
                <a:lnTo>
                  <a:pt x="5436870" y="0"/>
                </a:lnTo>
                <a:cubicBezTo>
                  <a:pt x="5499996" y="0"/>
                  <a:pt x="5551170" y="51174"/>
                  <a:pt x="5551170" y="114300"/>
                </a:cubicBezTo>
                <a:lnTo>
                  <a:pt x="5551170" y="1493520"/>
                </a:lnTo>
                <a:cubicBezTo>
                  <a:pt x="5551170" y="1556646"/>
                  <a:pt x="5499996" y="1607820"/>
                  <a:pt x="5436870" y="1607820"/>
                </a:cubicBezTo>
                <a:lnTo>
                  <a:pt x="114300" y="1607820"/>
                </a:lnTo>
                <a:cubicBezTo>
                  <a:pt x="51174" y="1607820"/>
                  <a:pt x="0" y="1556646"/>
                  <a:pt x="0" y="149352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1E293B">
              <a:alpha val="50196"/>
            </a:srgbClr>
          </a:solidFill>
          <a:ln w="10160">
            <a:solidFill>
              <a:srgbClr val="F48120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7220" y="191262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48120">
              <a:alpha val="2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73430" y="2026920"/>
            <a:ext cx="333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481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41120" y="1912620"/>
            <a:ext cx="4476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Cloudflare Workers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41120" y="2293501"/>
            <a:ext cx="44386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Serverless edge computing platform overview, architecture, and deployment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52210" y="1680210"/>
            <a:ext cx="5551170" cy="1607820"/>
          </a:xfrm>
          <a:custGeom>
            <a:avLst/>
            <a:gdLst/>
            <a:ahLst/>
            <a:cxnLst/>
            <a:rect l="l" t="t" r="r" b="b"/>
            <a:pathLst>
              <a:path w="5551170" h="1607820">
                <a:moveTo>
                  <a:pt x="114300" y="0"/>
                </a:moveTo>
                <a:lnTo>
                  <a:pt x="5436870" y="0"/>
                </a:lnTo>
                <a:cubicBezTo>
                  <a:pt x="5499996" y="0"/>
                  <a:pt x="5551170" y="51174"/>
                  <a:pt x="5551170" y="114300"/>
                </a:cubicBezTo>
                <a:lnTo>
                  <a:pt x="5551170" y="1493520"/>
                </a:lnTo>
                <a:cubicBezTo>
                  <a:pt x="5551170" y="1556646"/>
                  <a:pt x="5499996" y="1607820"/>
                  <a:pt x="5436870" y="1607820"/>
                </a:cubicBezTo>
                <a:lnTo>
                  <a:pt x="114300" y="1607820"/>
                </a:lnTo>
                <a:cubicBezTo>
                  <a:pt x="51174" y="1607820"/>
                  <a:pt x="0" y="1556646"/>
                  <a:pt x="0" y="149352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1E293B">
              <a:alpha val="50196"/>
            </a:srgbClr>
          </a:soli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84620" y="191262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618923" y="202692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08520" y="1912620"/>
            <a:ext cx="4476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Workers Example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08520" y="2293501"/>
            <a:ext cx="44386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working example with code and deployment instructions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4810" y="3521631"/>
            <a:ext cx="5551170" cy="1360170"/>
          </a:xfrm>
          <a:custGeom>
            <a:avLst/>
            <a:gdLst/>
            <a:ahLst/>
            <a:cxnLst/>
            <a:rect l="l" t="t" r="r" b="b"/>
            <a:pathLst>
              <a:path w="5551170" h="1360170">
                <a:moveTo>
                  <a:pt x="114295" y="0"/>
                </a:moveTo>
                <a:lnTo>
                  <a:pt x="5436875" y="0"/>
                </a:lnTo>
                <a:cubicBezTo>
                  <a:pt x="5499998" y="0"/>
                  <a:pt x="5551170" y="51172"/>
                  <a:pt x="5551170" y="114295"/>
                </a:cubicBezTo>
                <a:lnTo>
                  <a:pt x="5551170" y="1245875"/>
                </a:lnTo>
                <a:cubicBezTo>
                  <a:pt x="5551170" y="1308998"/>
                  <a:pt x="5499998" y="1360170"/>
                  <a:pt x="5436875" y="1360170"/>
                </a:cubicBezTo>
                <a:lnTo>
                  <a:pt x="114295" y="1360170"/>
                </a:lnTo>
                <a:cubicBezTo>
                  <a:pt x="51172" y="1360170"/>
                  <a:pt x="0" y="1308998"/>
                  <a:pt x="0" y="1245875"/>
                </a:cubicBezTo>
                <a:lnTo>
                  <a:pt x="0" y="114295"/>
                </a:lnTo>
                <a:cubicBezTo>
                  <a:pt x="0" y="51172"/>
                  <a:pt x="51172" y="0"/>
                  <a:pt x="114295" y="0"/>
                </a:cubicBezTo>
                <a:close/>
              </a:path>
            </a:pathLst>
          </a:custGeom>
          <a:solidFill>
            <a:srgbClr val="1E293B">
              <a:alpha val="50196"/>
            </a:srgbClr>
          </a:solidFill>
          <a:ln w="1016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" y="375404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48546" y="3868341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41120" y="3754041"/>
            <a:ext cx="4476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Cloudflare Snippets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41120" y="4134922"/>
            <a:ext cx="4438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Lightweight edge logic, specifications, and transformation rules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52210" y="3521631"/>
            <a:ext cx="5551170" cy="1360170"/>
          </a:xfrm>
          <a:custGeom>
            <a:avLst/>
            <a:gdLst/>
            <a:ahLst/>
            <a:cxnLst/>
            <a:rect l="l" t="t" r="r" b="b"/>
            <a:pathLst>
              <a:path w="5551170" h="1360170">
                <a:moveTo>
                  <a:pt x="114295" y="0"/>
                </a:moveTo>
                <a:lnTo>
                  <a:pt x="5436875" y="0"/>
                </a:lnTo>
                <a:cubicBezTo>
                  <a:pt x="5499998" y="0"/>
                  <a:pt x="5551170" y="51172"/>
                  <a:pt x="5551170" y="114295"/>
                </a:cubicBezTo>
                <a:lnTo>
                  <a:pt x="5551170" y="1245875"/>
                </a:lnTo>
                <a:cubicBezTo>
                  <a:pt x="5551170" y="1308998"/>
                  <a:pt x="5499998" y="1360170"/>
                  <a:pt x="5436875" y="1360170"/>
                </a:cubicBezTo>
                <a:lnTo>
                  <a:pt x="114295" y="1360170"/>
                </a:lnTo>
                <a:cubicBezTo>
                  <a:pt x="51172" y="1360170"/>
                  <a:pt x="0" y="1308998"/>
                  <a:pt x="0" y="1245875"/>
                </a:cubicBezTo>
                <a:lnTo>
                  <a:pt x="0" y="114295"/>
                </a:lnTo>
                <a:cubicBezTo>
                  <a:pt x="0" y="51172"/>
                  <a:pt x="51172" y="0"/>
                  <a:pt x="114295" y="0"/>
                </a:cubicBezTo>
                <a:close/>
              </a:path>
            </a:pathLst>
          </a:custGeom>
          <a:solidFill>
            <a:srgbClr val="1E293B">
              <a:alpha val="50196"/>
            </a:srgbClr>
          </a:solidFill>
          <a:ln w="10160">
            <a:solidFill>
              <a:srgbClr val="F48120">
                <a:alpha val="3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84620" y="375404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48120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619042" y="3868341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481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08520" y="3754041"/>
            <a:ext cx="4476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Snippets Examples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08520" y="4134922"/>
            <a:ext cx="4438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URL rewriting, header modification, and geolocation redirects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84810" y="5115520"/>
            <a:ext cx="11418570" cy="1360170"/>
          </a:xfrm>
          <a:custGeom>
            <a:avLst/>
            <a:gdLst/>
            <a:ahLst/>
            <a:cxnLst/>
            <a:rect l="l" t="t" r="r" b="b"/>
            <a:pathLst>
              <a:path w="11418570" h="1360170">
                <a:moveTo>
                  <a:pt x="114295" y="0"/>
                </a:moveTo>
                <a:lnTo>
                  <a:pt x="11304275" y="0"/>
                </a:lnTo>
                <a:cubicBezTo>
                  <a:pt x="11367398" y="0"/>
                  <a:pt x="11418570" y="51172"/>
                  <a:pt x="11418570" y="114295"/>
                </a:cubicBezTo>
                <a:lnTo>
                  <a:pt x="11418570" y="1245875"/>
                </a:lnTo>
                <a:cubicBezTo>
                  <a:pt x="11418570" y="1308998"/>
                  <a:pt x="11367398" y="1360170"/>
                  <a:pt x="11304275" y="1360170"/>
                </a:cubicBezTo>
                <a:lnTo>
                  <a:pt x="114295" y="1360170"/>
                </a:lnTo>
                <a:cubicBezTo>
                  <a:pt x="51172" y="1360170"/>
                  <a:pt x="0" y="1308998"/>
                  <a:pt x="0" y="1245875"/>
                </a:cubicBezTo>
                <a:lnTo>
                  <a:pt x="0" y="114295"/>
                </a:lnTo>
                <a:cubicBezTo>
                  <a:pt x="0" y="51172"/>
                  <a:pt x="51172" y="0"/>
                  <a:pt x="114295" y="0"/>
                </a:cubicBezTo>
                <a:close/>
              </a:path>
            </a:pathLst>
          </a:custGeom>
          <a:solidFill>
            <a:srgbClr val="1E293B">
              <a:alpha val="50196"/>
            </a:srgbClr>
          </a:soli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7220" y="534793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748189" y="5462231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41120" y="5347931"/>
            <a:ext cx="10344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Workers vs Snippets Comparison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341120" y="5728812"/>
            <a:ext cx="103060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comparison, use case guidance, and decision framework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ionos.co.uk/821332c31d000980aa8d93b215f78d848e28db4d.webp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F172A">
                  <a:alpha val="98000"/>
                </a:srgbClr>
              </a:gs>
              <a:gs pos="50000">
                <a:srgbClr val="0F172A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4810" y="1501141"/>
            <a:ext cx="1512570" cy="426720"/>
          </a:xfrm>
          <a:custGeom>
            <a:avLst/>
            <a:gdLst/>
            <a:ahLst/>
            <a:cxnLst/>
            <a:rect l="l" t="t" r="r" b="b"/>
            <a:pathLst>
              <a:path w="1512570" h="426720">
                <a:moveTo>
                  <a:pt x="213360" y="0"/>
                </a:moveTo>
                <a:lnTo>
                  <a:pt x="1299210" y="0"/>
                </a:lnTo>
                <a:cubicBezTo>
                  <a:pt x="1417045" y="0"/>
                  <a:pt x="1512570" y="95525"/>
                  <a:pt x="1512570" y="213360"/>
                </a:cubicBezTo>
                <a:lnTo>
                  <a:pt x="1512570" y="213360"/>
                </a:lnTo>
                <a:cubicBezTo>
                  <a:pt x="1512570" y="331195"/>
                  <a:pt x="1417045" y="426720"/>
                  <a:pt x="1299210" y="426720"/>
                </a:cubicBezTo>
                <a:lnTo>
                  <a:pt x="213360" y="426720"/>
                </a:lnTo>
                <a:cubicBezTo>
                  <a:pt x="95603" y="426720"/>
                  <a:pt x="0" y="331117"/>
                  <a:pt x="0" y="213360"/>
                </a:cubicBezTo>
                <a:lnTo>
                  <a:pt x="0" y="213360"/>
                </a:lnTo>
                <a:cubicBezTo>
                  <a:pt x="0" y="95603"/>
                  <a:pt x="95603" y="0"/>
                  <a:pt x="213360" y="0"/>
                </a:cubicBezTo>
                <a:close/>
              </a:path>
            </a:pathLst>
          </a:custGeom>
          <a:solidFill>
            <a:srgbClr val="F48120">
              <a:alpha val="20000"/>
            </a:srgbClr>
          </a:solidFill>
          <a:ln w="10160">
            <a:solidFill>
              <a:srgbClr val="F48120">
                <a:alpha val="5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79120" y="1604010"/>
            <a:ext cx="1215033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spc="75" kern="0" dirty="0">
                <a:solidFill>
                  <a:srgbClr val="F481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236470"/>
            <a:ext cx="4953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Cloudflare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F481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Workers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293870"/>
            <a:ext cx="46386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Serverless Edge Computing Platform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520827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9" name="Text 6"/>
          <p:cNvSpPr/>
          <p:nvPr/>
        </p:nvSpPr>
        <p:spPr>
          <a:xfrm>
            <a:off x="1447800" y="5093970"/>
            <a:ext cx="2486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8FAFC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Deploy code globally in seconds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F481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CLOUDFLARE WORKERS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are Cloudflare Workers?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371600"/>
            <a:ext cx="5581650" cy="1219200"/>
          </a:xfrm>
          <a:custGeom>
            <a:avLst/>
            <a:gdLst/>
            <a:ahLst/>
            <a:cxnLst/>
            <a:rect l="l" t="t" r="r" b="b"/>
            <a:pathLst>
              <a:path w="5581650" h="1219200">
                <a:moveTo>
                  <a:pt x="0" y="0"/>
                </a:moveTo>
                <a:lnTo>
                  <a:pt x="5467350" y="0"/>
                </a:lnTo>
                <a:cubicBezTo>
                  <a:pt x="5530434" y="0"/>
                  <a:pt x="5581650" y="51216"/>
                  <a:pt x="5581650" y="114300"/>
                </a:cubicBezTo>
                <a:lnTo>
                  <a:pt x="5581650" y="1104900"/>
                </a:lnTo>
                <a:cubicBezTo>
                  <a:pt x="5581650" y="1167984"/>
                  <a:pt x="5530434" y="1219200"/>
                  <a:pt x="5467350" y="1219200"/>
                </a:cubicBez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1E293B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371600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6" name="Shape 4"/>
          <p:cNvSpPr/>
          <p:nvPr/>
        </p:nvSpPr>
        <p:spPr>
          <a:xfrm>
            <a:off x="609600" y="1562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48120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54856" y="16954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59531"/>
                </a:lnTo>
                <a:cubicBezTo>
                  <a:pt x="0" y="72665"/>
                  <a:pt x="10678" y="83344"/>
                  <a:pt x="23812" y="83344"/>
                </a:cubicBezTo>
                <a:lnTo>
                  <a:pt x="142875" y="83344"/>
                </a:lnTo>
                <a:cubicBezTo>
                  <a:pt x="156009" y="83344"/>
                  <a:pt x="166688" y="72665"/>
                  <a:pt x="166688" y="5953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104180" y="38695"/>
                </a:moveTo>
                <a:cubicBezTo>
                  <a:pt x="109108" y="38695"/>
                  <a:pt x="113109" y="42697"/>
                  <a:pt x="113109" y="47625"/>
                </a:cubicBezTo>
                <a:cubicBezTo>
                  <a:pt x="113109" y="52553"/>
                  <a:pt x="109108" y="56555"/>
                  <a:pt x="104180" y="56555"/>
                </a:cubicBezTo>
                <a:cubicBezTo>
                  <a:pt x="99251" y="56555"/>
                  <a:pt x="95250" y="52553"/>
                  <a:pt x="95250" y="47625"/>
                </a:cubicBezTo>
                <a:cubicBezTo>
                  <a:pt x="95250" y="42697"/>
                  <a:pt x="99251" y="38695"/>
                  <a:pt x="104180" y="38695"/>
                </a:cubicBezTo>
                <a:close/>
                <a:moveTo>
                  <a:pt x="125016" y="47625"/>
                </a:moveTo>
                <a:cubicBezTo>
                  <a:pt x="125016" y="42697"/>
                  <a:pt x="129017" y="38695"/>
                  <a:pt x="133945" y="38695"/>
                </a:cubicBezTo>
                <a:cubicBezTo>
                  <a:pt x="138874" y="38695"/>
                  <a:pt x="142875" y="42697"/>
                  <a:pt x="142875" y="47625"/>
                </a:cubicBezTo>
                <a:cubicBezTo>
                  <a:pt x="142875" y="52553"/>
                  <a:pt x="138874" y="56555"/>
                  <a:pt x="133945" y="56555"/>
                </a:cubicBezTo>
                <a:cubicBezTo>
                  <a:pt x="129017" y="56555"/>
                  <a:pt x="125016" y="52553"/>
                  <a:pt x="125016" y="47625"/>
                </a:cubicBezTo>
                <a:close/>
                <a:moveTo>
                  <a:pt x="23812" y="107156"/>
                </a:moveTo>
                <a:cubicBezTo>
                  <a:pt x="10678" y="107156"/>
                  <a:pt x="0" y="117835"/>
                  <a:pt x="0" y="13096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130969"/>
                </a:lnTo>
                <a:cubicBezTo>
                  <a:pt x="166688" y="117835"/>
                  <a:pt x="156009" y="107156"/>
                  <a:pt x="142875" y="107156"/>
                </a:cubicBezTo>
                <a:lnTo>
                  <a:pt x="23812" y="107156"/>
                </a:lnTo>
                <a:close/>
                <a:moveTo>
                  <a:pt x="104180" y="133945"/>
                </a:moveTo>
                <a:cubicBezTo>
                  <a:pt x="109108" y="133945"/>
                  <a:pt x="113109" y="137947"/>
                  <a:pt x="113109" y="142875"/>
                </a:cubicBezTo>
                <a:cubicBezTo>
                  <a:pt x="113109" y="147803"/>
                  <a:pt x="109108" y="151805"/>
                  <a:pt x="104180" y="151805"/>
                </a:cubicBezTo>
                <a:cubicBezTo>
                  <a:pt x="99251" y="151805"/>
                  <a:pt x="95250" y="147803"/>
                  <a:pt x="95250" y="142875"/>
                </a:cubicBezTo>
                <a:cubicBezTo>
                  <a:pt x="95250" y="137947"/>
                  <a:pt x="99251" y="133945"/>
                  <a:pt x="104180" y="133945"/>
                </a:cubicBezTo>
                <a:close/>
                <a:moveTo>
                  <a:pt x="125016" y="142875"/>
                </a:moveTo>
                <a:cubicBezTo>
                  <a:pt x="125016" y="137947"/>
                  <a:pt x="129017" y="133945"/>
                  <a:pt x="133945" y="133945"/>
                </a:cubicBezTo>
                <a:cubicBezTo>
                  <a:pt x="138874" y="133945"/>
                  <a:pt x="142875" y="137947"/>
                  <a:pt x="142875" y="142875"/>
                </a:cubicBezTo>
                <a:cubicBezTo>
                  <a:pt x="142875" y="147803"/>
                  <a:pt x="138874" y="151805"/>
                  <a:pt x="133945" y="151805"/>
                </a:cubicBezTo>
                <a:cubicBezTo>
                  <a:pt x="129017" y="151805"/>
                  <a:pt x="125016" y="147803"/>
                  <a:pt x="125016" y="142875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8" name="Text 6"/>
          <p:cNvSpPr/>
          <p:nvPr/>
        </p:nvSpPr>
        <p:spPr>
          <a:xfrm>
            <a:off x="1219200" y="1562100"/>
            <a:ext cx="466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Serverless Edge Platform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19200" y="1905000"/>
            <a:ext cx="4648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Run JavaScript, TypeScript, Python, and Rust across Cloudflare's global network of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481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330+ data centers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without managing infrastructure.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00050" y="2743200"/>
            <a:ext cx="5581650" cy="1219200"/>
          </a:xfrm>
          <a:custGeom>
            <a:avLst/>
            <a:gdLst/>
            <a:ahLst/>
            <a:cxnLst/>
            <a:rect l="l" t="t" r="r" b="b"/>
            <a:pathLst>
              <a:path w="5581650" h="1219200">
                <a:moveTo>
                  <a:pt x="0" y="0"/>
                </a:moveTo>
                <a:lnTo>
                  <a:pt x="5467350" y="0"/>
                </a:lnTo>
                <a:cubicBezTo>
                  <a:pt x="5530434" y="0"/>
                  <a:pt x="5581650" y="51216"/>
                  <a:pt x="5581650" y="114300"/>
                </a:cubicBezTo>
                <a:lnTo>
                  <a:pt x="5581650" y="1104900"/>
                </a:lnTo>
                <a:cubicBezTo>
                  <a:pt x="5581650" y="1167984"/>
                  <a:pt x="5530434" y="1219200"/>
                  <a:pt x="5467350" y="1219200"/>
                </a:cubicBez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1E293B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00050" y="2743200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2" name="Shape 10"/>
          <p:cNvSpPr/>
          <p:nvPr/>
        </p:nvSpPr>
        <p:spPr>
          <a:xfrm>
            <a:off x="609600" y="2933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54856" y="30670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26057" y="-3683"/>
                </a:moveTo>
                <a:cubicBezTo>
                  <a:pt x="130485" y="-484"/>
                  <a:pt x="132122" y="5321"/>
                  <a:pt x="130113" y="10381"/>
                </a:cubicBezTo>
                <a:lnTo>
                  <a:pt x="100943" y="83344"/>
                </a:lnTo>
                <a:lnTo>
                  <a:pt x="154781" y="83344"/>
                </a:lnTo>
                <a:cubicBezTo>
                  <a:pt x="159804" y="83344"/>
                  <a:pt x="164269" y="86469"/>
                  <a:pt x="165981" y="91194"/>
                </a:cubicBezTo>
                <a:cubicBezTo>
                  <a:pt x="167692" y="95920"/>
                  <a:pt x="166241" y="101203"/>
                  <a:pt x="162409" y="104403"/>
                </a:cubicBezTo>
                <a:lnTo>
                  <a:pt x="55252" y="193700"/>
                </a:lnTo>
                <a:cubicBezTo>
                  <a:pt x="51048" y="197197"/>
                  <a:pt x="45058" y="197383"/>
                  <a:pt x="40630" y="194183"/>
                </a:cubicBezTo>
                <a:cubicBezTo>
                  <a:pt x="36202" y="190984"/>
                  <a:pt x="34565" y="185179"/>
                  <a:pt x="36575" y="180119"/>
                </a:cubicBezTo>
                <a:lnTo>
                  <a:pt x="65745" y="107156"/>
                </a:lnTo>
                <a:lnTo>
                  <a:pt x="11906" y="107156"/>
                </a:lnTo>
                <a:cubicBezTo>
                  <a:pt x="6883" y="107156"/>
                  <a:pt x="2418" y="104031"/>
                  <a:pt x="707" y="99306"/>
                </a:cubicBezTo>
                <a:cubicBezTo>
                  <a:pt x="-1005" y="94580"/>
                  <a:pt x="446" y="89297"/>
                  <a:pt x="4279" y="86097"/>
                </a:cubicBezTo>
                <a:lnTo>
                  <a:pt x="111435" y="-3200"/>
                </a:lnTo>
                <a:cubicBezTo>
                  <a:pt x="115639" y="-6697"/>
                  <a:pt x="121630" y="-6883"/>
                  <a:pt x="126057" y="-3683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1219200" y="2933700"/>
            <a:ext cx="466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Zero Cold Starts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19200" y="3276600"/>
            <a:ext cx="4648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Powered by V8 isolates that start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100x faster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than containers, delivering instant responses to users worldwide.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00050" y="4114800"/>
            <a:ext cx="5581650" cy="1219200"/>
          </a:xfrm>
          <a:custGeom>
            <a:avLst/>
            <a:gdLst/>
            <a:ahLst/>
            <a:cxnLst/>
            <a:rect l="l" t="t" r="r" b="b"/>
            <a:pathLst>
              <a:path w="5581650" h="1219200">
                <a:moveTo>
                  <a:pt x="0" y="0"/>
                </a:moveTo>
                <a:lnTo>
                  <a:pt x="5467350" y="0"/>
                </a:lnTo>
                <a:cubicBezTo>
                  <a:pt x="5530434" y="0"/>
                  <a:pt x="5581650" y="51216"/>
                  <a:pt x="5581650" y="114300"/>
                </a:cubicBezTo>
                <a:lnTo>
                  <a:pt x="5581650" y="1104900"/>
                </a:lnTo>
                <a:cubicBezTo>
                  <a:pt x="5581650" y="1167984"/>
                  <a:pt x="5530434" y="1219200"/>
                  <a:pt x="5467350" y="1219200"/>
                </a:cubicBez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1E293B">
              <a:alpha val="6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00050" y="4114800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8" name="Shape 16"/>
          <p:cNvSpPr/>
          <p:nvPr/>
        </p:nvSpPr>
        <p:spPr>
          <a:xfrm>
            <a:off x="609600" y="4305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31044" y="44386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1219200" y="4305300"/>
            <a:ext cx="466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Multiple Languages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19200" y="4648200"/>
            <a:ext cx="4648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Write code in JavaScript, TypeScript, Python, Rust, and more with native framework support for React, Vue, Next.js, and Astro.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14110" y="1375410"/>
            <a:ext cx="5589270" cy="3284220"/>
          </a:xfrm>
          <a:custGeom>
            <a:avLst/>
            <a:gdLst/>
            <a:ahLst/>
            <a:cxnLst/>
            <a:rect l="l" t="t" r="r" b="b"/>
            <a:pathLst>
              <a:path w="5589270" h="3284220">
                <a:moveTo>
                  <a:pt x="114291" y="0"/>
                </a:moveTo>
                <a:lnTo>
                  <a:pt x="5474979" y="0"/>
                </a:lnTo>
                <a:cubicBezTo>
                  <a:pt x="5538058" y="0"/>
                  <a:pt x="5589270" y="51212"/>
                  <a:pt x="5589270" y="114291"/>
                </a:cubicBezTo>
                <a:lnTo>
                  <a:pt x="5589270" y="3169929"/>
                </a:lnTo>
                <a:cubicBezTo>
                  <a:pt x="5589270" y="3233008"/>
                  <a:pt x="5538058" y="3284220"/>
                  <a:pt x="5474979" y="3284220"/>
                </a:cubicBezTo>
                <a:lnTo>
                  <a:pt x="114291" y="3284220"/>
                </a:lnTo>
                <a:cubicBezTo>
                  <a:pt x="51212" y="3284220"/>
                  <a:pt x="0" y="3233008"/>
                  <a:pt x="0" y="3169929"/>
                </a:cubicBezTo>
                <a:lnTo>
                  <a:pt x="0" y="114291"/>
                </a:lnTo>
                <a:cubicBezTo>
                  <a:pt x="0" y="51212"/>
                  <a:pt x="51212" y="0"/>
                  <a:pt x="114291" y="0"/>
                </a:cubicBezTo>
                <a:close/>
              </a:path>
            </a:pathLst>
          </a:custGeom>
          <a:solidFill>
            <a:srgbClr val="1E293B">
              <a:alpha val="80000"/>
            </a:srgbClr>
          </a:solidFill>
          <a:ln w="10160">
            <a:solidFill>
              <a:srgbClr val="F48120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75095" y="164580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24" name="Text 22"/>
          <p:cNvSpPr/>
          <p:nvPr/>
        </p:nvSpPr>
        <p:spPr>
          <a:xfrm>
            <a:off x="6732270" y="160782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Use Cases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46520" y="2141102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48120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542961" y="2226827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27" name="Text 25"/>
          <p:cNvSpPr/>
          <p:nvPr/>
        </p:nvSpPr>
        <p:spPr>
          <a:xfrm>
            <a:off x="6865620" y="2103002"/>
            <a:ext cx="3562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 Gateways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65620" y="2369702"/>
            <a:ext cx="3552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 and deploy RESTful APIs with automatic scaling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46520" y="2750702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542961" y="2836427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1" name="Text 29"/>
          <p:cNvSpPr/>
          <p:nvPr/>
        </p:nvSpPr>
        <p:spPr>
          <a:xfrm>
            <a:off x="6865620" y="2712602"/>
            <a:ext cx="3609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Authentication Layers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65620" y="2979302"/>
            <a:ext cx="3600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 JWT validation, OAuth, and access control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46520" y="3360302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542961" y="3446027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5" name="Text 33"/>
          <p:cNvSpPr/>
          <p:nvPr/>
        </p:nvSpPr>
        <p:spPr>
          <a:xfrm>
            <a:off x="6865620" y="3322202"/>
            <a:ext cx="3676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Request Modification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865620" y="3588902"/>
            <a:ext cx="3667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Rewrite URLs, modify headers, and transform requests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46520" y="3969902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48120">
              <a:alpha val="2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542961" y="4055627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39" name="Text 37"/>
          <p:cNvSpPr/>
          <p:nvPr/>
        </p:nvSpPr>
        <p:spPr>
          <a:xfrm>
            <a:off x="6865620" y="3931802"/>
            <a:ext cx="3819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Full-Stack Applications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865620" y="4198502"/>
            <a:ext cx="381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 complete apps with static assets and dynamic logic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214110" y="4819532"/>
            <a:ext cx="1779270" cy="883920"/>
          </a:xfrm>
          <a:custGeom>
            <a:avLst/>
            <a:gdLst/>
            <a:ahLst/>
            <a:cxnLst/>
            <a:rect l="l" t="t" r="r" b="b"/>
            <a:pathLst>
              <a:path w="1779270" h="883920">
                <a:moveTo>
                  <a:pt x="76203" y="0"/>
                </a:moveTo>
                <a:lnTo>
                  <a:pt x="1703067" y="0"/>
                </a:lnTo>
                <a:cubicBezTo>
                  <a:pt x="1745153" y="0"/>
                  <a:pt x="1779270" y="34117"/>
                  <a:pt x="1779270" y="76203"/>
                </a:cubicBezTo>
                <a:lnTo>
                  <a:pt x="1779270" y="807717"/>
                </a:lnTo>
                <a:cubicBezTo>
                  <a:pt x="1779270" y="849803"/>
                  <a:pt x="1745153" y="883920"/>
                  <a:pt x="1703067" y="883920"/>
                </a:cubicBezTo>
                <a:lnTo>
                  <a:pt x="76203" y="883920"/>
                </a:lnTo>
                <a:cubicBezTo>
                  <a:pt x="34145" y="883920"/>
                  <a:pt x="0" y="849775"/>
                  <a:pt x="0" y="80771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48120">
              <a:alpha val="10196"/>
            </a:srgbClr>
          </a:solidFill>
          <a:ln w="10160">
            <a:solidFill>
              <a:srgbClr val="F48120">
                <a:alpha val="30196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98882" y="4975740"/>
            <a:ext cx="16097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481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100K+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336982" y="5356740"/>
            <a:ext cx="1533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Free requests/day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119110" y="4819532"/>
            <a:ext cx="1779270" cy="883920"/>
          </a:xfrm>
          <a:custGeom>
            <a:avLst/>
            <a:gdLst/>
            <a:ahLst/>
            <a:cxnLst/>
            <a:rect l="l" t="t" r="r" b="b"/>
            <a:pathLst>
              <a:path w="1779270" h="883920">
                <a:moveTo>
                  <a:pt x="76203" y="0"/>
                </a:moveTo>
                <a:lnTo>
                  <a:pt x="1703067" y="0"/>
                </a:lnTo>
                <a:cubicBezTo>
                  <a:pt x="1745153" y="0"/>
                  <a:pt x="1779270" y="34117"/>
                  <a:pt x="1779270" y="76203"/>
                </a:cubicBezTo>
                <a:lnTo>
                  <a:pt x="1779270" y="807717"/>
                </a:lnTo>
                <a:cubicBezTo>
                  <a:pt x="1779270" y="849803"/>
                  <a:pt x="1745153" y="883920"/>
                  <a:pt x="1703067" y="883920"/>
                </a:cubicBezTo>
                <a:lnTo>
                  <a:pt x="76203" y="883920"/>
                </a:lnTo>
                <a:cubicBezTo>
                  <a:pt x="34145" y="883920"/>
                  <a:pt x="0" y="849775"/>
                  <a:pt x="0" y="80771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03882" y="4975740"/>
            <a:ext cx="16097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241982" y="5356740"/>
            <a:ext cx="1533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 execution time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0024110" y="4819532"/>
            <a:ext cx="1779270" cy="883920"/>
          </a:xfrm>
          <a:custGeom>
            <a:avLst/>
            <a:gdLst/>
            <a:ahLst/>
            <a:cxnLst/>
            <a:rect l="l" t="t" r="r" b="b"/>
            <a:pathLst>
              <a:path w="1779270" h="883920">
                <a:moveTo>
                  <a:pt x="76203" y="0"/>
                </a:moveTo>
                <a:lnTo>
                  <a:pt x="1703067" y="0"/>
                </a:lnTo>
                <a:cubicBezTo>
                  <a:pt x="1745153" y="0"/>
                  <a:pt x="1779270" y="34117"/>
                  <a:pt x="1779270" y="76203"/>
                </a:cubicBezTo>
                <a:lnTo>
                  <a:pt x="1779270" y="807717"/>
                </a:lnTo>
                <a:cubicBezTo>
                  <a:pt x="1779270" y="849803"/>
                  <a:pt x="1745153" y="883920"/>
                  <a:pt x="1703067" y="883920"/>
                </a:cubicBezTo>
                <a:lnTo>
                  <a:pt x="76203" y="883920"/>
                </a:lnTo>
                <a:cubicBezTo>
                  <a:pt x="34145" y="883920"/>
                  <a:pt x="0" y="849775"/>
                  <a:pt x="0" y="80771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 w="1016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108883" y="4975740"/>
            <a:ext cx="16097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5MB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0146983" y="5356740"/>
            <a:ext cx="1533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Package size limit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8062" y="358062"/>
            <a:ext cx="11547489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spc="56" kern="0" dirty="0">
                <a:solidFill>
                  <a:srgbClr val="F481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8062" y="644511"/>
            <a:ext cx="11690714" cy="429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83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Workers Work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1642" y="1256796"/>
            <a:ext cx="3695196" cy="2647866"/>
          </a:xfrm>
          <a:custGeom>
            <a:avLst/>
            <a:gdLst/>
            <a:ahLst/>
            <a:cxnLst/>
            <a:rect l="l" t="t" r="r" b="b"/>
            <a:pathLst>
              <a:path w="3695196" h="2647866">
                <a:moveTo>
                  <a:pt x="107424" y="0"/>
                </a:moveTo>
                <a:lnTo>
                  <a:pt x="3587773" y="0"/>
                </a:lnTo>
                <a:cubicBezTo>
                  <a:pt x="3647101" y="0"/>
                  <a:pt x="3695196" y="48095"/>
                  <a:pt x="3695196" y="107424"/>
                </a:cubicBezTo>
                <a:lnTo>
                  <a:pt x="3695196" y="2540442"/>
                </a:lnTo>
                <a:cubicBezTo>
                  <a:pt x="3695196" y="2599771"/>
                  <a:pt x="3647101" y="2647866"/>
                  <a:pt x="3587773" y="2647866"/>
                </a:cubicBezTo>
                <a:lnTo>
                  <a:pt x="107424" y="2647866"/>
                </a:lnTo>
                <a:cubicBezTo>
                  <a:pt x="48095" y="2647866"/>
                  <a:pt x="0" y="2599771"/>
                  <a:pt x="0" y="2540442"/>
                </a:cubicBezTo>
                <a:lnTo>
                  <a:pt x="0" y="107424"/>
                </a:lnTo>
                <a:cubicBezTo>
                  <a:pt x="0" y="48135"/>
                  <a:pt x="48135" y="0"/>
                  <a:pt x="107424" y="0"/>
                </a:cubicBezTo>
                <a:close/>
              </a:path>
            </a:pathLst>
          </a:custGeom>
          <a:solidFill>
            <a:srgbClr val="1E293B">
              <a:alpha val="80000"/>
            </a:srgbClr>
          </a:solidFill>
          <a:ln w="10160">
            <a:solidFill>
              <a:srgbClr val="F48120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4254" y="1439408"/>
            <a:ext cx="429674" cy="429674"/>
          </a:xfrm>
          <a:custGeom>
            <a:avLst/>
            <a:gdLst/>
            <a:ahLst/>
            <a:cxnLst/>
            <a:rect l="l" t="t" r="r" b="b"/>
            <a:pathLst>
              <a:path w="429674" h="429674">
                <a:moveTo>
                  <a:pt x="107419" y="0"/>
                </a:moveTo>
                <a:lnTo>
                  <a:pt x="322256" y="0"/>
                </a:lnTo>
                <a:cubicBezTo>
                  <a:pt x="381581" y="0"/>
                  <a:pt x="429674" y="48093"/>
                  <a:pt x="429674" y="107419"/>
                </a:cubicBezTo>
                <a:lnTo>
                  <a:pt x="429674" y="322256"/>
                </a:lnTo>
                <a:cubicBezTo>
                  <a:pt x="429674" y="381581"/>
                  <a:pt x="381581" y="429674"/>
                  <a:pt x="322256" y="429674"/>
                </a:cubicBezTo>
                <a:lnTo>
                  <a:pt x="107419" y="429674"/>
                </a:lnTo>
                <a:cubicBezTo>
                  <a:pt x="48093" y="429674"/>
                  <a:pt x="0" y="381581"/>
                  <a:pt x="0" y="322256"/>
                </a:cubicBezTo>
                <a:lnTo>
                  <a:pt x="0" y="107419"/>
                </a:lnTo>
                <a:cubicBezTo>
                  <a:pt x="0" y="48133"/>
                  <a:pt x="48133" y="0"/>
                  <a:pt x="107419" y="0"/>
                </a:cubicBezTo>
                <a:close/>
              </a:path>
            </a:pathLst>
          </a:custGeom>
          <a:solidFill>
            <a:srgbClr val="F48120">
              <a:alpha val="2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24963" y="1511021"/>
            <a:ext cx="179031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92" b="1" dirty="0">
                <a:solidFill>
                  <a:srgbClr val="F481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81346" y="1511021"/>
            <a:ext cx="1163700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92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V8 Isolates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4254" y="2012307"/>
            <a:ext cx="3401586" cy="698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8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Workers run on V8 isolates—lightweight sandboxes that provide secure code execution without the overhead of containers.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2157" y="2970011"/>
            <a:ext cx="143225" cy="143225"/>
          </a:xfrm>
          <a:custGeom>
            <a:avLst/>
            <a:gdLst/>
            <a:ahLst/>
            <a:cxnLst/>
            <a:rect l="l" t="t" r="r" b="b"/>
            <a:pathLst>
              <a:path w="143225" h="143225">
                <a:moveTo>
                  <a:pt x="71612" y="143225"/>
                </a:moveTo>
                <a:cubicBezTo>
                  <a:pt x="111136" y="143225"/>
                  <a:pt x="143225" y="111136"/>
                  <a:pt x="143225" y="71612"/>
                </a:cubicBezTo>
                <a:cubicBezTo>
                  <a:pt x="143225" y="32088"/>
                  <a:pt x="111136" y="0"/>
                  <a:pt x="71612" y="0"/>
                </a:cubicBezTo>
                <a:cubicBezTo>
                  <a:pt x="32088" y="0"/>
                  <a:pt x="0" y="32088"/>
                  <a:pt x="0" y="71612"/>
                </a:cubicBezTo>
                <a:cubicBezTo>
                  <a:pt x="0" y="111136"/>
                  <a:pt x="32088" y="143225"/>
                  <a:pt x="71612" y="143225"/>
                </a:cubicBezTo>
                <a:close/>
                <a:moveTo>
                  <a:pt x="95222" y="59500"/>
                </a:moveTo>
                <a:lnTo>
                  <a:pt x="72843" y="95306"/>
                </a:lnTo>
                <a:cubicBezTo>
                  <a:pt x="71668" y="97180"/>
                  <a:pt x="69654" y="98355"/>
                  <a:pt x="67444" y="98467"/>
                </a:cubicBezTo>
                <a:cubicBezTo>
                  <a:pt x="65234" y="98579"/>
                  <a:pt x="63108" y="97572"/>
                  <a:pt x="61794" y="95781"/>
                </a:cubicBezTo>
                <a:lnTo>
                  <a:pt x="48366" y="77878"/>
                </a:lnTo>
                <a:cubicBezTo>
                  <a:pt x="46128" y="74913"/>
                  <a:pt x="46744" y="70717"/>
                  <a:pt x="49709" y="68479"/>
                </a:cubicBezTo>
                <a:cubicBezTo>
                  <a:pt x="52674" y="66241"/>
                  <a:pt x="56870" y="66857"/>
                  <a:pt x="59108" y="69822"/>
                </a:cubicBezTo>
                <a:lnTo>
                  <a:pt x="66661" y="79893"/>
                </a:lnTo>
                <a:lnTo>
                  <a:pt x="83837" y="52394"/>
                </a:lnTo>
                <a:cubicBezTo>
                  <a:pt x="85795" y="49261"/>
                  <a:pt x="89935" y="48282"/>
                  <a:pt x="93096" y="50269"/>
                </a:cubicBezTo>
                <a:cubicBezTo>
                  <a:pt x="96257" y="52255"/>
                  <a:pt x="97208" y="56367"/>
                  <a:pt x="95222" y="59528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10" name="Text 8"/>
          <p:cNvSpPr/>
          <p:nvPr/>
        </p:nvSpPr>
        <p:spPr>
          <a:xfrm>
            <a:off x="794897" y="2934204"/>
            <a:ext cx="2219982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100x faster startup than containers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2157" y="3256460"/>
            <a:ext cx="143225" cy="143225"/>
          </a:xfrm>
          <a:custGeom>
            <a:avLst/>
            <a:gdLst/>
            <a:ahLst/>
            <a:cxnLst/>
            <a:rect l="l" t="t" r="r" b="b"/>
            <a:pathLst>
              <a:path w="143225" h="143225">
                <a:moveTo>
                  <a:pt x="71612" y="143225"/>
                </a:moveTo>
                <a:cubicBezTo>
                  <a:pt x="111136" y="143225"/>
                  <a:pt x="143225" y="111136"/>
                  <a:pt x="143225" y="71612"/>
                </a:cubicBezTo>
                <a:cubicBezTo>
                  <a:pt x="143225" y="32088"/>
                  <a:pt x="111136" y="0"/>
                  <a:pt x="71612" y="0"/>
                </a:cubicBezTo>
                <a:cubicBezTo>
                  <a:pt x="32088" y="0"/>
                  <a:pt x="0" y="32088"/>
                  <a:pt x="0" y="71612"/>
                </a:cubicBezTo>
                <a:cubicBezTo>
                  <a:pt x="0" y="111136"/>
                  <a:pt x="32088" y="143225"/>
                  <a:pt x="71612" y="143225"/>
                </a:cubicBezTo>
                <a:close/>
                <a:moveTo>
                  <a:pt x="95222" y="59500"/>
                </a:moveTo>
                <a:lnTo>
                  <a:pt x="72843" y="95306"/>
                </a:lnTo>
                <a:cubicBezTo>
                  <a:pt x="71668" y="97180"/>
                  <a:pt x="69654" y="98355"/>
                  <a:pt x="67444" y="98467"/>
                </a:cubicBezTo>
                <a:cubicBezTo>
                  <a:pt x="65234" y="98579"/>
                  <a:pt x="63108" y="97572"/>
                  <a:pt x="61794" y="95781"/>
                </a:cubicBezTo>
                <a:lnTo>
                  <a:pt x="48366" y="77878"/>
                </a:lnTo>
                <a:cubicBezTo>
                  <a:pt x="46128" y="74913"/>
                  <a:pt x="46744" y="70717"/>
                  <a:pt x="49709" y="68479"/>
                </a:cubicBezTo>
                <a:cubicBezTo>
                  <a:pt x="52674" y="66241"/>
                  <a:pt x="56870" y="66857"/>
                  <a:pt x="59108" y="69822"/>
                </a:cubicBezTo>
                <a:lnTo>
                  <a:pt x="66661" y="79893"/>
                </a:lnTo>
                <a:lnTo>
                  <a:pt x="83837" y="52394"/>
                </a:lnTo>
                <a:cubicBezTo>
                  <a:pt x="85795" y="49261"/>
                  <a:pt x="89935" y="48282"/>
                  <a:pt x="93096" y="50269"/>
                </a:cubicBezTo>
                <a:cubicBezTo>
                  <a:pt x="96257" y="52255"/>
                  <a:pt x="97208" y="56367"/>
                  <a:pt x="95222" y="59528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12" name="Text 10"/>
          <p:cNvSpPr/>
          <p:nvPr/>
        </p:nvSpPr>
        <p:spPr>
          <a:xfrm>
            <a:off x="794897" y="3220654"/>
            <a:ext cx="1790308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Memory-isolated execution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2157" y="3542909"/>
            <a:ext cx="143225" cy="143225"/>
          </a:xfrm>
          <a:custGeom>
            <a:avLst/>
            <a:gdLst/>
            <a:ahLst/>
            <a:cxnLst/>
            <a:rect l="l" t="t" r="r" b="b"/>
            <a:pathLst>
              <a:path w="143225" h="143225">
                <a:moveTo>
                  <a:pt x="71612" y="143225"/>
                </a:moveTo>
                <a:cubicBezTo>
                  <a:pt x="111136" y="143225"/>
                  <a:pt x="143225" y="111136"/>
                  <a:pt x="143225" y="71612"/>
                </a:cubicBezTo>
                <a:cubicBezTo>
                  <a:pt x="143225" y="32088"/>
                  <a:pt x="111136" y="0"/>
                  <a:pt x="71612" y="0"/>
                </a:cubicBezTo>
                <a:cubicBezTo>
                  <a:pt x="32088" y="0"/>
                  <a:pt x="0" y="32088"/>
                  <a:pt x="0" y="71612"/>
                </a:cubicBezTo>
                <a:cubicBezTo>
                  <a:pt x="0" y="111136"/>
                  <a:pt x="32088" y="143225"/>
                  <a:pt x="71612" y="143225"/>
                </a:cubicBezTo>
                <a:close/>
                <a:moveTo>
                  <a:pt x="95222" y="59500"/>
                </a:moveTo>
                <a:lnTo>
                  <a:pt x="72843" y="95306"/>
                </a:lnTo>
                <a:cubicBezTo>
                  <a:pt x="71668" y="97180"/>
                  <a:pt x="69654" y="98355"/>
                  <a:pt x="67444" y="98467"/>
                </a:cubicBezTo>
                <a:cubicBezTo>
                  <a:pt x="65234" y="98579"/>
                  <a:pt x="63108" y="97572"/>
                  <a:pt x="61794" y="95781"/>
                </a:cubicBezTo>
                <a:lnTo>
                  <a:pt x="48366" y="77878"/>
                </a:lnTo>
                <a:cubicBezTo>
                  <a:pt x="46128" y="74913"/>
                  <a:pt x="46744" y="70717"/>
                  <a:pt x="49709" y="68479"/>
                </a:cubicBezTo>
                <a:cubicBezTo>
                  <a:pt x="52674" y="66241"/>
                  <a:pt x="56870" y="66857"/>
                  <a:pt x="59108" y="69822"/>
                </a:cubicBezTo>
                <a:lnTo>
                  <a:pt x="66661" y="79893"/>
                </a:lnTo>
                <a:lnTo>
                  <a:pt x="83837" y="52394"/>
                </a:lnTo>
                <a:cubicBezTo>
                  <a:pt x="85795" y="49261"/>
                  <a:pt x="89935" y="48282"/>
                  <a:pt x="93096" y="50269"/>
                </a:cubicBezTo>
                <a:cubicBezTo>
                  <a:pt x="96257" y="52255"/>
                  <a:pt x="97208" y="56367"/>
                  <a:pt x="95222" y="59528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14" name="Text 12"/>
          <p:cNvSpPr/>
          <p:nvPr/>
        </p:nvSpPr>
        <p:spPr>
          <a:xfrm>
            <a:off x="794897" y="3507103"/>
            <a:ext cx="2049903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Thousands per runtime instance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245940" y="1256796"/>
            <a:ext cx="3695196" cy="2647866"/>
          </a:xfrm>
          <a:custGeom>
            <a:avLst/>
            <a:gdLst/>
            <a:ahLst/>
            <a:cxnLst/>
            <a:rect l="l" t="t" r="r" b="b"/>
            <a:pathLst>
              <a:path w="3695196" h="2647866">
                <a:moveTo>
                  <a:pt x="107424" y="0"/>
                </a:moveTo>
                <a:lnTo>
                  <a:pt x="3587773" y="0"/>
                </a:lnTo>
                <a:cubicBezTo>
                  <a:pt x="3647101" y="0"/>
                  <a:pt x="3695196" y="48095"/>
                  <a:pt x="3695196" y="107424"/>
                </a:cubicBezTo>
                <a:lnTo>
                  <a:pt x="3695196" y="2540442"/>
                </a:lnTo>
                <a:cubicBezTo>
                  <a:pt x="3695196" y="2599771"/>
                  <a:pt x="3647101" y="2647866"/>
                  <a:pt x="3587773" y="2647866"/>
                </a:cubicBezTo>
                <a:lnTo>
                  <a:pt x="107424" y="2647866"/>
                </a:lnTo>
                <a:cubicBezTo>
                  <a:pt x="48095" y="2647866"/>
                  <a:pt x="0" y="2599771"/>
                  <a:pt x="0" y="2540442"/>
                </a:cubicBezTo>
                <a:lnTo>
                  <a:pt x="0" y="107424"/>
                </a:lnTo>
                <a:cubicBezTo>
                  <a:pt x="0" y="48135"/>
                  <a:pt x="48135" y="0"/>
                  <a:pt x="107424" y="0"/>
                </a:cubicBezTo>
                <a:close/>
              </a:path>
            </a:pathLst>
          </a:custGeom>
          <a:solidFill>
            <a:srgbClr val="1E293B">
              <a:alpha val="80000"/>
            </a:srgbClr>
          </a:soli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28552" y="1439408"/>
            <a:ext cx="429674" cy="429674"/>
          </a:xfrm>
          <a:custGeom>
            <a:avLst/>
            <a:gdLst/>
            <a:ahLst/>
            <a:cxnLst/>
            <a:rect l="l" t="t" r="r" b="b"/>
            <a:pathLst>
              <a:path w="429674" h="429674">
                <a:moveTo>
                  <a:pt x="107419" y="0"/>
                </a:moveTo>
                <a:lnTo>
                  <a:pt x="322256" y="0"/>
                </a:lnTo>
                <a:cubicBezTo>
                  <a:pt x="381581" y="0"/>
                  <a:pt x="429674" y="48093"/>
                  <a:pt x="429674" y="107419"/>
                </a:cubicBezTo>
                <a:lnTo>
                  <a:pt x="429674" y="322256"/>
                </a:lnTo>
                <a:cubicBezTo>
                  <a:pt x="429674" y="381581"/>
                  <a:pt x="381581" y="429674"/>
                  <a:pt x="322256" y="429674"/>
                </a:cubicBezTo>
                <a:lnTo>
                  <a:pt x="107419" y="429674"/>
                </a:lnTo>
                <a:cubicBezTo>
                  <a:pt x="48093" y="429674"/>
                  <a:pt x="0" y="381581"/>
                  <a:pt x="0" y="322256"/>
                </a:cubicBezTo>
                <a:lnTo>
                  <a:pt x="0" y="107419"/>
                </a:lnTo>
                <a:cubicBezTo>
                  <a:pt x="0" y="48133"/>
                  <a:pt x="48133" y="0"/>
                  <a:pt x="107419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588672" y="1511021"/>
            <a:ext cx="214837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92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65644" y="1511021"/>
            <a:ext cx="2219982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92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Per-Request Compute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28552" y="2012307"/>
            <a:ext cx="3401586" cy="698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8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incoming HTTP request invokes the fetch() handler, with code executing only for the duration of that request.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446455" y="2970011"/>
            <a:ext cx="143225" cy="143225"/>
          </a:xfrm>
          <a:custGeom>
            <a:avLst/>
            <a:gdLst/>
            <a:ahLst/>
            <a:cxnLst/>
            <a:rect l="l" t="t" r="r" b="b"/>
            <a:pathLst>
              <a:path w="143225" h="143225">
                <a:moveTo>
                  <a:pt x="71612" y="143225"/>
                </a:moveTo>
                <a:cubicBezTo>
                  <a:pt x="111136" y="143225"/>
                  <a:pt x="143225" y="111136"/>
                  <a:pt x="143225" y="71612"/>
                </a:cubicBezTo>
                <a:cubicBezTo>
                  <a:pt x="143225" y="32088"/>
                  <a:pt x="111136" y="0"/>
                  <a:pt x="71612" y="0"/>
                </a:cubicBezTo>
                <a:cubicBezTo>
                  <a:pt x="32088" y="0"/>
                  <a:pt x="0" y="32088"/>
                  <a:pt x="0" y="71612"/>
                </a:cubicBezTo>
                <a:cubicBezTo>
                  <a:pt x="0" y="111136"/>
                  <a:pt x="32088" y="143225"/>
                  <a:pt x="71612" y="143225"/>
                </a:cubicBezTo>
                <a:close/>
                <a:moveTo>
                  <a:pt x="95222" y="59500"/>
                </a:moveTo>
                <a:lnTo>
                  <a:pt x="72843" y="95306"/>
                </a:lnTo>
                <a:cubicBezTo>
                  <a:pt x="71668" y="97180"/>
                  <a:pt x="69654" y="98355"/>
                  <a:pt x="67444" y="98467"/>
                </a:cubicBezTo>
                <a:cubicBezTo>
                  <a:pt x="65234" y="98579"/>
                  <a:pt x="63108" y="97572"/>
                  <a:pt x="61794" y="95781"/>
                </a:cubicBezTo>
                <a:lnTo>
                  <a:pt x="48366" y="77878"/>
                </a:lnTo>
                <a:cubicBezTo>
                  <a:pt x="46128" y="74913"/>
                  <a:pt x="46744" y="70717"/>
                  <a:pt x="49709" y="68479"/>
                </a:cubicBezTo>
                <a:cubicBezTo>
                  <a:pt x="52674" y="66241"/>
                  <a:pt x="56870" y="66857"/>
                  <a:pt x="59108" y="69822"/>
                </a:cubicBezTo>
                <a:lnTo>
                  <a:pt x="66661" y="79893"/>
                </a:lnTo>
                <a:lnTo>
                  <a:pt x="83837" y="52394"/>
                </a:lnTo>
                <a:cubicBezTo>
                  <a:pt x="85795" y="49261"/>
                  <a:pt x="89935" y="48282"/>
                  <a:pt x="93096" y="50269"/>
                </a:cubicBezTo>
                <a:cubicBezTo>
                  <a:pt x="96257" y="52255"/>
                  <a:pt x="97208" y="56367"/>
                  <a:pt x="95222" y="59528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4679195" y="2934204"/>
            <a:ext cx="1951436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Event-driven execution model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446455" y="3256460"/>
            <a:ext cx="143225" cy="143225"/>
          </a:xfrm>
          <a:custGeom>
            <a:avLst/>
            <a:gdLst/>
            <a:ahLst/>
            <a:cxnLst/>
            <a:rect l="l" t="t" r="r" b="b"/>
            <a:pathLst>
              <a:path w="143225" h="143225">
                <a:moveTo>
                  <a:pt x="71612" y="143225"/>
                </a:moveTo>
                <a:cubicBezTo>
                  <a:pt x="111136" y="143225"/>
                  <a:pt x="143225" y="111136"/>
                  <a:pt x="143225" y="71612"/>
                </a:cubicBezTo>
                <a:cubicBezTo>
                  <a:pt x="143225" y="32088"/>
                  <a:pt x="111136" y="0"/>
                  <a:pt x="71612" y="0"/>
                </a:cubicBezTo>
                <a:cubicBezTo>
                  <a:pt x="32088" y="0"/>
                  <a:pt x="0" y="32088"/>
                  <a:pt x="0" y="71612"/>
                </a:cubicBezTo>
                <a:cubicBezTo>
                  <a:pt x="0" y="111136"/>
                  <a:pt x="32088" y="143225"/>
                  <a:pt x="71612" y="143225"/>
                </a:cubicBezTo>
                <a:close/>
                <a:moveTo>
                  <a:pt x="95222" y="59500"/>
                </a:moveTo>
                <a:lnTo>
                  <a:pt x="72843" y="95306"/>
                </a:lnTo>
                <a:cubicBezTo>
                  <a:pt x="71668" y="97180"/>
                  <a:pt x="69654" y="98355"/>
                  <a:pt x="67444" y="98467"/>
                </a:cubicBezTo>
                <a:cubicBezTo>
                  <a:pt x="65234" y="98579"/>
                  <a:pt x="63108" y="97572"/>
                  <a:pt x="61794" y="95781"/>
                </a:cubicBezTo>
                <a:lnTo>
                  <a:pt x="48366" y="77878"/>
                </a:lnTo>
                <a:cubicBezTo>
                  <a:pt x="46128" y="74913"/>
                  <a:pt x="46744" y="70717"/>
                  <a:pt x="49709" y="68479"/>
                </a:cubicBezTo>
                <a:cubicBezTo>
                  <a:pt x="52674" y="66241"/>
                  <a:pt x="56870" y="66857"/>
                  <a:pt x="59108" y="69822"/>
                </a:cubicBezTo>
                <a:lnTo>
                  <a:pt x="66661" y="79893"/>
                </a:lnTo>
                <a:lnTo>
                  <a:pt x="83837" y="52394"/>
                </a:lnTo>
                <a:cubicBezTo>
                  <a:pt x="85795" y="49261"/>
                  <a:pt x="89935" y="48282"/>
                  <a:pt x="93096" y="50269"/>
                </a:cubicBezTo>
                <a:cubicBezTo>
                  <a:pt x="96257" y="52255"/>
                  <a:pt x="97208" y="56367"/>
                  <a:pt x="95222" y="59528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4679195" y="3220654"/>
            <a:ext cx="1924581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Automatic resource allocation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446455" y="3542909"/>
            <a:ext cx="143225" cy="143225"/>
          </a:xfrm>
          <a:custGeom>
            <a:avLst/>
            <a:gdLst/>
            <a:ahLst/>
            <a:cxnLst/>
            <a:rect l="l" t="t" r="r" b="b"/>
            <a:pathLst>
              <a:path w="143225" h="143225">
                <a:moveTo>
                  <a:pt x="71612" y="143225"/>
                </a:moveTo>
                <a:cubicBezTo>
                  <a:pt x="111136" y="143225"/>
                  <a:pt x="143225" y="111136"/>
                  <a:pt x="143225" y="71612"/>
                </a:cubicBezTo>
                <a:cubicBezTo>
                  <a:pt x="143225" y="32088"/>
                  <a:pt x="111136" y="0"/>
                  <a:pt x="71612" y="0"/>
                </a:cubicBezTo>
                <a:cubicBezTo>
                  <a:pt x="32088" y="0"/>
                  <a:pt x="0" y="32088"/>
                  <a:pt x="0" y="71612"/>
                </a:cubicBezTo>
                <a:cubicBezTo>
                  <a:pt x="0" y="111136"/>
                  <a:pt x="32088" y="143225"/>
                  <a:pt x="71612" y="143225"/>
                </a:cubicBezTo>
                <a:close/>
                <a:moveTo>
                  <a:pt x="95222" y="59500"/>
                </a:moveTo>
                <a:lnTo>
                  <a:pt x="72843" y="95306"/>
                </a:lnTo>
                <a:cubicBezTo>
                  <a:pt x="71668" y="97180"/>
                  <a:pt x="69654" y="98355"/>
                  <a:pt x="67444" y="98467"/>
                </a:cubicBezTo>
                <a:cubicBezTo>
                  <a:pt x="65234" y="98579"/>
                  <a:pt x="63108" y="97572"/>
                  <a:pt x="61794" y="95781"/>
                </a:cubicBezTo>
                <a:lnTo>
                  <a:pt x="48366" y="77878"/>
                </a:lnTo>
                <a:cubicBezTo>
                  <a:pt x="46128" y="74913"/>
                  <a:pt x="46744" y="70717"/>
                  <a:pt x="49709" y="68479"/>
                </a:cubicBezTo>
                <a:cubicBezTo>
                  <a:pt x="52674" y="66241"/>
                  <a:pt x="56870" y="66857"/>
                  <a:pt x="59108" y="69822"/>
                </a:cubicBezTo>
                <a:lnTo>
                  <a:pt x="66661" y="79893"/>
                </a:lnTo>
                <a:lnTo>
                  <a:pt x="83837" y="52394"/>
                </a:lnTo>
                <a:cubicBezTo>
                  <a:pt x="85795" y="49261"/>
                  <a:pt x="89935" y="48282"/>
                  <a:pt x="93096" y="50269"/>
                </a:cubicBezTo>
                <a:cubicBezTo>
                  <a:pt x="96257" y="52255"/>
                  <a:pt x="97208" y="56367"/>
                  <a:pt x="95222" y="59528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5" name="Text 23"/>
          <p:cNvSpPr/>
          <p:nvPr/>
        </p:nvSpPr>
        <p:spPr>
          <a:xfrm>
            <a:off x="4679195" y="3507103"/>
            <a:ext cx="1933533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idle resource consumption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130238" y="1256796"/>
            <a:ext cx="3695196" cy="2647866"/>
          </a:xfrm>
          <a:custGeom>
            <a:avLst/>
            <a:gdLst/>
            <a:ahLst/>
            <a:cxnLst/>
            <a:rect l="l" t="t" r="r" b="b"/>
            <a:pathLst>
              <a:path w="3695196" h="2647866">
                <a:moveTo>
                  <a:pt x="107424" y="0"/>
                </a:moveTo>
                <a:lnTo>
                  <a:pt x="3587773" y="0"/>
                </a:lnTo>
                <a:cubicBezTo>
                  <a:pt x="3647101" y="0"/>
                  <a:pt x="3695196" y="48095"/>
                  <a:pt x="3695196" y="107424"/>
                </a:cubicBezTo>
                <a:lnTo>
                  <a:pt x="3695196" y="2540442"/>
                </a:lnTo>
                <a:cubicBezTo>
                  <a:pt x="3695196" y="2599771"/>
                  <a:pt x="3647101" y="2647866"/>
                  <a:pt x="3587773" y="2647866"/>
                </a:cubicBezTo>
                <a:lnTo>
                  <a:pt x="107424" y="2647866"/>
                </a:lnTo>
                <a:cubicBezTo>
                  <a:pt x="48095" y="2647866"/>
                  <a:pt x="0" y="2599771"/>
                  <a:pt x="0" y="2540442"/>
                </a:cubicBezTo>
                <a:lnTo>
                  <a:pt x="0" y="107424"/>
                </a:lnTo>
                <a:cubicBezTo>
                  <a:pt x="0" y="48135"/>
                  <a:pt x="48135" y="0"/>
                  <a:pt x="107424" y="0"/>
                </a:cubicBezTo>
                <a:close/>
              </a:path>
            </a:pathLst>
          </a:custGeom>
          <a:solidFill>
            <a:srgbClr val="1E293B">
              <a:alpha val="80000"/>
            </a:srgbClr>
          </a:solidFill>
          <a:ln w="1016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12850" y="1439408"/>
            <a:ext cx="429674" cy="429674"/>
          </a:xfrm>
          <a:custGeom>
            <a:avLst/>
            <a:gdLst/>
            <a:ahLst/>
            <a:cxnLst/>
            <a:rect l="l" t="t" r="r" b="b"/>
            <a:pathLst>
              <a:path w="429674" h="429674">
                <a:moveTo>
                  <a:pt x="107419" y="0"/>
                </a:moveTo>
                <a:lnTo>
                  <a:pt x="322256" y="0"/>
                </a:lnTo>
                <a:cubicBezTo>
                  <a:pt x="381581" y="0"/>
                  <a:pt x="429674" y="48093"/>
                  <a:pt x="429674" y="107419"/>
                </a:cubicBezTo>
                <a:lnTo>
                  <a:pt x="429674" y="322256"/>
                </a:lnTo>
                <a:cubicBezTo>
                  <a:pt x="429674" y="381581"/>
                  <a:pt x="381581" y="429674"/>
                  <a:pt x="322256" y="429674"/>
                </a:cubicBezTo>
                <a:lnTo>
                  <a:pt x="107419" y="429674"/>
                </a:lnTo>
                <a:cubicBezTo>
                  <a:pt x="48093" y="429674"/>
                  <a:pt x="0" y="381581"/>
                  <a:pt x="0" y="322256"/>
                </a:cubicBezTo>
                <a:lnTo>
                  <a:pt x="0" y="107419"/>
                </a:lnTo>
                <a:cubicBezTo>
                  <a:pt x="0" y="48133"/>
                  <a:pt x="48133" y="0"/>
                  <a:pt x="107419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8470173" y="1511021"/>
            <a:ext cx="223789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92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849942" y="1511021"/>
            <a:ext cx="1861921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92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Global Distribution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312850" y="2012307"/>
            <a:ext cx="3401586" cy="465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8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Code deploys to all 330+ Cloudflare data centers, executing closest to the user for minimal latency.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330753" y="2970011"/>
            <a:ext cx="143225" cy="143225"/>
          </a:xfrm>
          <a:custGeom>
            <a:avLst/>
            <a:gdLst/>
            <a:ahLst/>
            <a:cxnLst/>
            <a:rect l="l" t="t" r="r" b="b"/>
            <a:pathLst>
              <a:path w="143225" h="143225">
                <a:moveTo>
                  <a:pt x="71612" y="143225"/>
                </a:moveTo>
                <a:cubicBezTo>
                  <a:pt x="111136" y="143225"/>
                  <a:pt x="143225" y="111136"/>
                  <a:pt x="143225" y="71612"/>
                </a:cubicBezTo>
                <a:cubicBezTo>
                  <a:pt x="143225" y="32088"/>
                  <a:pt x="111136" y="0"/>
                  <a:pt x="71612" y="0"/>
                </a:cubicBezTo>
                <a:cubicBezTo>
                  <a:pt x="32088" y="0"/>
                  <a:pt x="0" y="32088"/>
                  <a:pt x="0" y="71612"/>
                </a:cubicBezTo>
                <a:cubicBezTo>
                  <a:pt x="0" y="111136"/>
                  <a:pt x="32088" y="143225"/>
                  <a:pt x="71612" y="143225"/>
                </a:cubicBezTo>
                <a:close/>
                <a:moveTo>
                  <a:pt x="95222" y="59500"/>
                </a:moveTo>
                <a:lnTo>
                  <a:pt x="72843" y="95306"/>
                </a:lnTo>
                <a:cubicBezTo>
                  <a:pt x="71668" y="97180"/>
                  <a:pt x="69654" y="98355"/>
                  <a:pt x="67444" y="98467"/>
                </a:cubicBezTo>
                <a:cubicBezTo>
                  <a:pt x="65234" y="98579"/>
                  <a:pt x="63108" y="97572"/>
                  <a:pt x="61794" y="95781"/>
                </a:cubicBezTo>
                <a:lnTo>
                  <a:pt x="48366" y="77878"/>
                </a:lnTo>
                <a:cubicBezTo>
                  <a:pt x="46128" y="74913"/>
                  <a:pt x="46744" y="70717"/>
                  <a:pt x="49709" y="68479"/>
                </a:cubicBezTo>
                <a:cubicBezTo>
                  <a:pt x="52674" y="66241"/>
                  <a:pt x="56870" y="66857"/>
                  <a:pt x="59108" y="69822"/>
                </a:cubicBezTo>
                <a:lnTo>
                  <a:pt x="66661" y="79893"/>
                </a:lnTo>
                <a:lnTo>
                  <a:pt x="83837" y="52394"/>
                </a:lnTo>
                <a:cubicBezTo>
                  <a:pt x="85795" y="49261"/>
                  <a:pt x="89935" y="48282"/>
                  <a:pt x="93096" y="50269"/>
                </a:cubicBezTo>
                <a:cubicBezTo>
                  <a:pt x="96257" y="52255"/>
                  <a:pt x="97208" y="56367"/>
                  <a:pt x="95222" y="59528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8563493" y="2934204"/>
            <a:ext cx="1745551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Automatic geo-distribution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330753" y="3256460"/>
            <a:ext cx="143225" cy="143225"/>
          </a:xfrm>
          <a:custGeom>
            <a:avLst/>
            <a:gdLst/>
            <a:ahLst/>
            <a:cxnLst/>
            <a:rect l="l" t="t" r="r" b="b"/>
            <a:pathLst>
              <a:path w="143225" h="143225">
                <a:moveTo>
                  <a:pt x="71612" y="143225"/>
                </a:moveTo>
                <a:cubicBezTo>
                  <a:pt x="111136" y="143225"/>
                  <a:pt x="143225" y="111136"/>
                  <a:pt x="143225" y="71612"/>
                </a:cubicBezTo>
                <a:cubicBezTo>
                  <a:pt x="143225" y="32088"/>
                  <a:pt x="111136" y="0"/>
                  <a:pt x="71612" y="0"/>
                </a:cubicBezTo>
                <a:cubicBezTo>
                  <a:pt x="32088" y="0"/>
                  <a:pt x="0" y="32088"/>
                  <a:pt x="0" y="71612"/>
                </a:cubicBezTo>
                <a:cubicBezTo>
                  <a:pt x="0" y="111136"/>
                  <a:pt x="32088" y="143225"/>
                  <a:pt x="71612" y="143225"/>
                </a:cubicBezTo>
                <a:close/>
                <a:moveTo>
                  <a:pt x="95222" y="59500"/>
                </a:moveTo>
                <a:lnTo>
                  <a:pt x="72843" y="95306"/>
                </a:lnTo>
                <a:cubicBezTo>
                  <a:pt x="71668" y="97180"/>
                  <a:pt x="69654" y="98355"/>
                  <a:pt x="67444" y="98467"/>
                </a:cubicBezTo>
                <a:cubicBezTo>
                  <a:pt x="65234" y="98579"/>
                  <a:pt x="63108" y="97572"/>
                  <a:pt x="61794" y="95781"/>
                </a:cubicBezTo>
                <a:lnTo>
                  <a:pt x="48366" y="77878"/>
                </a:lnTo>
                <a:cubicBezTo>
                  <a:pt x="46128" y="74913"/>
                  <a:pt x="46744" y="70717"/>
                  <a:pt x="49709" y="68479"/>
                </a:cubicBezTo>
                <a:cubicBezTo>
                  <a:pt x="52674" y="66241"/>
                  <a:pt x="56870" y="66857"/>
                  <a:pt x="59108" y="69822"/>
                </a:cubicBezTo>
                <a:lnTo>
                  <a:pt x="66661" y="79893"/>
                </a:lnTo>
                <a:lnTo>
                  <a:pt x="83837" y="52394"/>
                </a:lnTo>
                <a:cubicBezTo>
                  <a:pt x="85795" y="49261"/>
                  <a:pt x="89935" y="48282"/>
                  <a:pt x="93096" y="50269"/>
                </a:cubicBezTo>
                <a:cubicBezTo>
                  <a:pt x="96257" y="52255"/>
                  <a:pt x="97208" y="56367"/>
                  <a:pt x="95222" y="59528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4" name="Text 32"/>
          <p:cNvSpPr/>
          <p:nvPr/>
        </p:nvSpPr>
        <p:spPr>
          <a:xfrm>
            <a:off x="8563493" y="3220654"/>
            <a:ext cx="1700793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Edge-optimized execution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330753" y="3542909"/>
            <a:ext cx="143225" cy="143225"/>
          </a:xfrm>
          <a:custGeom>
            <a:avLst/>
            <a:gdLst/>
            <a:ahLst/>
            <a:cxnLst/>
            <a:rect l="l" t="t" r="r" b="b"/>
            <a:pathLst>
              <a:path w="143225" h="143225">
                <a:moveTo>
                  <a:pt x="71612" y="143225"/>
                </a:moveTo>
                <a:cubicBezTo>
                  <a:pt x="111136" y="143225"/>
                  <a:pt x="143225" y="111136"/>
                  <a:pt x="143225" y="71612"/>
                </a:cubicBezTo>
                <a:cubicBezTo>
                  <a:pt x="143225" y="32088"/>
                  <a:pt x="111136" y="0"/>
                  <a:pt x="71612" y="0"/>
                </a:cubicBezTo>
                <a:cubicBezTo>
                  <a:pt x="32088" y="0"/>
                  <a:pt x="0" y="32088"/>
                  <a:pt x="0" y="71612"/>
                </a:cubicBezTo>
                <a:cubicBezTo>
                  <a:pt x="0" y="111136"/>
                  <a:pt x="32088" y="143225"/>
                  <a:pt x="71612" y="143225"/>
                </a:cubicBezTo>
                <a:close/>
                <a:moveTo>
                  <a:pt x="95222" y="59500"/>
                </a:moveTo>
                <a:lnTo>
                  <a:pt x="72843" y="95306"/>
                </a:lnTo>
                <a:cubicBezTo>
                  <a:pt x="71668" y="97180"/>
                  <a:pt x="69654" y="98355"/>
                  <a:pt x="67444" y="98467"/>
                </a:cubicBezTo>
                <a:cubicBezTo>
                  <a:pt x="65234" y="98579"/>
                  <a:pt x="63108" y="97572"/>
                  <a:pt x="61794" y="95781"/>
                </a:cubicBezTo>
                <a:lnTo>
                  <a:pt x="48366" y="77878"/>
                </a:lnTo>
                <a:cubicBezTo>
                  <a:pt x="46128" y="74913"/>
                  <a:pt x="46744" y="70717"/>
                  <a:pt x="49709" y="68479"/>
                </a:cubicBezTo>
                <a:cubicBezTo>
                  <a:pt x="52674" y="66241"/>
                  <a:pt x="56870" y="66857"/>
                  <a:pt x="59108" y="69822"/>
                </a:cubicBezTo>
                <a:lnTo>
                  <a:pt x="66661" y="79893"/>
                </a:lnTo>
                <a:lnTo>
                  <a:pt x="83837" y="52394"/>
                </a:lnTo>
                <a:cubicBezTo>
                  <a:pt x="85795" y="49261"/>
                  <a:pt x="89935" y="48282"/>
                  <a:pt x="93096" y="50269"/>
                </a:cubicBezTo>
                <a:cubicBezTo>
                  <a:pt x="96257" y="52255"/>
                  <a:pt x="97208" y="56367"/>
                  <a:pt x="95222" y="59528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6" name="Text 34"/>
          <p:cNvSpPr/>
          <p:nvPr/>
        </p:nvSpPr>
        <p:spPr>
          <a:xfrm>
            <a:off x="8563493" y="3507103"/>
            <a:ext cx="1888775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Single command deployment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61642" y="4090744"/>
            <a:ext cx="11465135" cy="2844800"/>
          </a:xfrm>
          <a:custGeom>
            <a:avLst/>
            <a:gdLst/>
            <a:ahLst/>
            <a:cxnLst/>
            <a:rect l="l" t="t" r="r" b="b"/>
            <a:pathLst>
              <a:path w="11465135" h="2844800">
                <a:moveTo>
                  <a:pt x="107420" y="0"/>
                </a:moveTo>
                <a:lnTo>
                  <a:pt x="11357715" y="0"/>
                </a:lnTo>
                <a:cubicBezTo>
                  <a:pt x="11417041" y="0"/>
                  <a:pt x="11465135" y="48093"/>
                  <a:pt x="11465135" y="107420"/>
                </a:cubicBezTo>
                <a:lnTo>
                  <a:pt x="11465135" y="2737380"/>
                </a:lnTo>
                <a:cubicBezTo>
                  <a:pt x="11465135" y="2796707"/>
                  <a:pt x="11417041" y="2844800"/>
                  <a:pt x="11357715" y="2844800"/>
                </a:cubicBezTo>
                <a:lnTo>
                  <a:pt x="107420" y="2844800"/>
                </a:lnTo>
                <a:cubicBezTo>
                  <a:pt x="48093" y="2844800"/>
                  <a:pt x="0" y="2796707"/>
                  <a:pt x="0" y="2737380"/>
                </a:cubicBezTo>
                <a:lnTo>
                  <a:pt x="0" y="107420"/>
                </a:lnTo>
                <a:cubicBezTo>
                  <a:pt x="0" y="48133"/>
                  <a:pt x="48133" y="0"/>
                  <a:pt x="107420" y="0"/>
                </a:cubicBezTo>
                <a:close/>
              </a:path>
            </a:pathLst>
          </a:custGeom>
          <a:solidFill>
            <a:srgbClr val="0F172A">
              <a:alpha val="80000"/>
            </a:srgbClr>
          </a:solidFill>
          <a:ln w="10160">
            <a:solidFill>
              <a:srgbClr val="F48120">
                <a:alpha val="30196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55443" y="4309160"/>
            <a:ext cx="201410" cy="179031"/>
          </a:xfrm>
          <a:custGeom>
            <a:avLst/>
            <a:gdLst/>
            <a:ahLst/>
            <a:cxnLst/>
            <a:rect l="l" t="t" r="r" b="b"/>
            <a:pathLst>
              <a:path w="201410" h="179031">
                <a:moveTo>
                  <a:pt x="126161" y="420"/>
                </a:moveTo>
                <a:cubicBezTo>
                  <a:pt x="120216" y="-1294"/>
                  <a:pt x="114027" y="2168"/>
                  <a:pt x="112314" y="8112"/>
                </a:cubicBezTo>
                <a:lnTo>
                  <a:pt x="67556" y="164764"/>
                </a:lnTo>
                <a:cubicBezTo>
                  <a:pt x="65843" y="170709"/>
                  <a:pt x="69305" y="176898"/>
                  <a:pt x="75249" y="178611"/>
                </a:cubicBezTo>
                <a:cubicBezTo>
                  <a:pt x="81193" y="180325"/>
                  <a:pt x="87382" y="176863"/>
                  <a:pt x="89096" y="170919"/>
                </a:cubicBezTo>
                <a:lnTo>
                  <a:pt x="133854" y="14267"/>
                </a:lnTo>
                <a:cubicBezTo>
                  <a:pt x="135567" y="8322"/>
                  <a:pt x="132105" y="2133"/>
                  <a:pt x="126161" y="420"/>
                </a:cubicBezTo>
                <a:close/>
                <a:moveTo>
                  <a:pt x="148749" y="48010"/>
                </a:moveTo>
                <a:cubicBezTo>
                  <a:pt x="144379" y="52381"/>
                  <a:pt x="144379" y="59479"/>
                  <a:pt x="148749" y="63850"/>
                </a:cubicBezTo>
                <a:lnTo>
                  <a:pt x="174415" y="89515"/>
                </a:lnTo>
                <a:lnTo>
                  <a:pt x="148749" y="115181"/>
                </a:lnTo>
                <a:cubicBezTo>
                  <a:pt x="144379" y="119552"/>
                  <a:pt x="144379" y="126650"/>
                  <a:pt x="148749" y="131021"/>
                </a:cubicBezTo>
                <a:cubicBezTo>
                  <a:pt x="153120" y="135392"/>
                  <a:pt x="160219" y="135392"/>
                  <a:pt x="164589" y="131021"/>
                </a:cubicBezTo>
                <a:lnTo>
                  <a:pt x="198158" y="97453"/>
                </a:lnTo>
                <a:cubicBezTo>
                  <a:pt x="202529" y="93082"/>
                  <a:pt x="202529" y="85984"/>
                  <a:pt x="198158" y="81613"/>
                </a:cubicBezTo>
                <a:lnTo>
                  <a:pt x="164589" y="48045"/>
                </a:lnTo>
                <a:cubicBezTo>
                  <a:pt x="160219" y="43674"/>
                  <a:pt x="153120" y="43674"/>
                  <a:pt x="148749" y="48045"/>
                </a:cubicBezTo>
                <a:close/>
                <a:moveTo>
                  <a:pt x="52695" y="48010"/>
                </a:moveTo>
                <a:cubicBezTo>
                  <a:pt x="48324" y="43639"/>
                  <a:pt x="41226" y="43639"/>
                  <a:pt x="36855" y="48010"/>
                </a:cubicBezTo>
                <a:lnTo>
                  <a:pt x="3287" y="81578"/>
                </a:lnTo>
                <a:cubicBezTo>
                  <a:pt x="-1084" y="85949"/>
                  <a:pt x="-1084" y="93047"/>
                  <a:pt x="3287" y="97418"/>
                </a:cubicBezTo>
                <a:lnTo>
                  <a:pt x="36855" y="130986"/>
                </a:lnTo>
                <a:cubicBezTo>
                  <a:pt x="41226" y="135357"/>
                  <a:pt x="48324" y="135357"/>
                  <a:pt x="52695" y="130986"/>
                </a:cubicBezTo>
                <a:cubicBezTo>
                  <a:pt x="57066" y="126615"/>
                  <a:pt x="57066" y="119517"/>
                  <a:pt x="52695" y="115146"/>
                </a:cubicBezTo>
                <a:lnTo>
                  <a:pt x="27029" y="89515"/>
                </a:lnTo>
                <a:lnTo>
                  <a:pt x="52660" y="63850"/>
                </a:lnTo>
                <a:cubicBezTo>
                  <a:pt x="57031" y="59479"/>
                  <a:pt x="57031" y="52381"/>
                  <a:pt x="52660" y="48010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39" name="Text 37"/>
          <p:cNvSpPr/>
          <p:nvPr/>
        </p:nvSpPr>
        <p:spPr>
          <a:xfrm>
            <a:off x="768042" y="4273354"/>
            <a:ext cx="10965639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Basic Worker Structure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44254" y="4631415"/>
            <a:ext cx="11099912" cy="2121515"/>
          </a:xfrm>
          <a:custGeom>
            <a:avLst/>
            <a:gdLst/>
            <a:ahLst/>
            <a:cxnLst/>
            <a:rect l="l" t="t" r="r" b="b"/>
            <a:pathLst>
              <a:path w="11099912" h="2121515">
                <a:moveTo>
                  <a:pt x="71622" y="0"/>
                </a:moveTo>
                <a:lnTo>
                  <a:pt x="11028290" y="0"/>
                </a:lnTo>
                <a:cubicBezTo>
                  <a:pt x="11067845" y="0"/>
                  <a:pt x="11099912" y="32066"/>
                  <a:pt x="11099912" y="71622"/>
                </a:cubicBezTo>
                <a:lnTo>
                  <a:pt x="11099912" y="2049893"/>
                </a:lnTo>
                <a:cubicBezTo>
                  <a:pt x="11099912" y="2089449"/>
                  <a:pt x="11067845" y="2121515"/>
                  <a:pt x="11028290" y="2121515"/>
                </a:cubicBezTo>
                <a:lnTo>
                  <a:pt x="71622" y="2121515"/>
                </a:lnTo>
                <a:cubicBezTo>
                  <a:pt x="32066" y="2121515"/>
                  <a:pt x="0" y="2089449"/>
                  <a:pt x="0" y="2049893"/>
                </a:cubicBezTo>
                <a:lnTo>
                  <a:pt x="0" y="71622"/>
                </a:lnTo>
                <a:cubicBezTo>
                  <a:pt x="0" y="32066"/>
                  <a:pt x="32066" y="0"/>
                  <a:pt x="71622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41" name="Text 39"/>
          <p:cNvSpPr/>
          <p:nvPr/>
        </p:nvSpPr>
        <p:spPr>
          <a:xfrm>
            <a:off x="687478" y="4774640"/>
            <a:ext cx="10876123" cy="1835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87" dirty="0">
                <a:solidFill>
                  <a:srgbClr val="C792E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export default</a:t>
            </a:r>
            <a:pPr>
              <a:lnSpc>
                <a:spcPct val="100000"/>
              </a:lnSpc>
            </a:pPr>
            <a:r>
              <a:rPr lang="en-US" sz="987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87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</a:t>
            </a:r>
            <a:pPr>
              <a:lnSpc>
                <a:spcPct val="100000"/>
              </a:lnSpc>
            </a:pPr>
            <a:r>
              <a:rPr lang="en-US" sz="987" dirty="0">
                <a:solidFill>
                  <a:srgbClr val="82AA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async fetch</a:t>
            </a:r>
            <a:pPr>
              <a:lnSpc>
                <a:spcPct val="100000"/>
              </a:lnSpc>
            </a:pPr>
            <a:r>
              <a:rPr lang="en-US" sz="987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(request, env, ctx)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87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</a:t>
            </a:r>
            <a:pPr>
              <a:lnSpc>
                <a:spcPct val="100000"/>
              </a:lnSpc>
            </a:pPr>
            <a:r>
              <a:rPr lang="en-US" sz="987" dirty="0">
                <a:solidFill>
                  <a:srgbClr val="676E9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 request: Incoming HTTP request// env: Environment variables &amp; bindings// ctx: Execution context (waitUntil, passThroughOnException)</a:t>
            </a:r>
            <a:pPr>
              <a:lnSpc>
                <a:spcPct val="100000"/>
              </a:lnSpc>
            </a:pPr>
            <a:r>
              <a:rPr lang="en-US" sz="987" dirty="0">
                <a:solidFill>
                  <a:srgbClr val="C792E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return new</a:t>
            </a:r>
            <a:pPr>
              <a:lnSpc>
                <a:spcPct val="100000"/>
              </a:lnSpc>
            </a:pPr>
            <a:r>
              <a:rPr lang="en-US" sz="987" dirty="0">
                <a:solidFill>
                  <a:srgbClr val="FFCB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Response</a:t>
            </a:r>
            <a:pPr>
              <a:lnSpc>
                <a:spcPct val="100000"/>
              </a:lnSpc>
            </a:pPr>
            <a:r>
              <a:rPr lang="en-US" sz="987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pPr>
              <a:lnSpc>
                <a:spcPct val="100000"/>
              </a:lnSpc>
            </a:pPr>
            <a:r>
              <a:rPr lang="en-US" sz="987" dirty="0">
                <a:solidFill>
                  <a:srgbClr val="C3E8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'Hello World!'</a:t>
            </a:r>
            <a:pPr>
              <a:lnSpc>
                <a:spcPct val="100000"/>
              </a:lnSpc>
            </a:pPr>
            <a:r>
              <a:rPr lang="en-US" sz="987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87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}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87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};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spc="50" kern="0" dirty="0">
                <a:solidFill>
                  <a:srgbClr val="F481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HANDS-ON EXAMPLE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Workers: Simple Example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1016000"/>
            <a:ext cx="11628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complete API endpoint with routing and JSON responses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675" y="1368425"/>
            <a:ext cx="5689600" cy="7967662"/>
          </a:xfrm>
          <a:custGeom>
            <a:avLst/>
            <a:gdLst/>
            <a:ahLst/>
            <a:cxnLst/>
            <a:rect l="l" t="t" r="r" b="b"/>
            <a:pathLst>
              <a:path w="5689600" h="7967662">
                <a:moveTo>
                  <a:pt x="95244" y="0"/>
                </a:moveTo>
                <a:lnTo>
                  <a:pt x="5594356" y="0"/>
                </a:lnTo>
                <a:cubicBezTo>
                  <a:pt x="5646958" y="0"/>
                  <a:pt x="5689600" y="42642"/>
                  <a:pt x="5689600" y="95244"/>
                </a:cubicBezTo>
                <a:lnTo>
                  <a:pt x="5689600" y="7872419"/>
                </a:lnTo>
                <a:cubicBezTo>
                  <a:pt x="5689600" y="7925020"/>
                  <a:pt x="5646958" y="7967662"/>
                  <a:pt x="5594356" y="7967662"/>
                </a:cubicBezTo>
                <a:lnTo>
                  <a:pt x="95244" y="7967662"/>
                </a:lnTo>
                <a:cubicBezTo>
                  <a:pt x="42642" y="7967662"/>
                  <a:pt x="0" y="7925020"/>
                  <a:pt x="0" y="7872419"/>
                </a:cubicBezTo>
                <a:lnTo>
                  <a:pt x="0" y="95244"/>
                </a:lnTo>
                <a:cubicBezTo>
                  <a:pt x="0" y="42677"/>
                  <a:pt x="42677" y="0"/>
                  <a:pt x="95244" y="0"/>
                </a:cubicBezTo>
                <a:close/>
              </a:path>
            </a:pathLst>
          </a:custGeom>
          <a:solidFill>
            <a:srgbClr val="1E293B">
              <a:alpha val="80000"/>
            </a:srgbClr>
          </a:solidFill>
          <a:ln w="10160">
            <a:solidFill>
              <a:srgbClr val="F48120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2287" y="1562102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0" y="19844"/>
                </a:moveTo>
                <a:cubicBezTo>
                  <a:pt x="0" y="8899"/>
                  <a:pt x="8899" y="0"/>
                  <a:pt x="19844" y="0"/>
                </a:cubicBezTo>
                <a:lnTo>
                  <a:pt x="66198" y="0"/>
                </a:lnTo>
                <a:cubicBezTo>
                  <a:pt x="71469" y="0"/>
                  <a:pt x="76522" y="2077"/>
                  <a:pt x="80243" y="5798"/>
                </a:cubicBezTo>
                <a:lnTo>
                  <a:pt x="113264" y="38850"/>
                </a:lnTo>
                <a:cubicBezTo>
                  <a:pt x="116985" y="42571"/>
                  <a:pt x="119062" y="47625"/>
                  <a:pt x="119062" y="52896"/>
                </a:cubicBezTo>
                <a:lnTo>
                  <a:pt x="119062" y="138906"/>
                </a:lnTo>
                <a:cubicBezTo>
                  <a:pt x="119062" y="149851"/>
                  <a:pt x="110164" y="158750"/>
                  <a:pt x="99219" y="158750"/>
                </a:cubicBezTo>
                <a:lnTo>
                  <a:pt x="19844" y="158750"/>
                </a:lnTo>
                <a:cubicBezTo>
                  <a:pt x="8899" y="158750"/>
                  <a:pt x="0" y="149851"/>
                  <a:pt x="0" y="138906"/>
                </a:cubicBezTo>
                <a:lnTo>
                  <a:pt x="0" y="19844"/>
                </a:lnTo>
                <a:close/>
                <a:moveTo>
                  <a:pt x="64492" y="18138"/>
                </a:moveTo>
                <a:lnTo>
                  <a:pt x="64492" y="47129"/>
                </a:lnTo>
                <a:cubicBezTo>
                  <a:pt x="64492" y="51253"/>
                  <a:pt x="67810" y="54570"/>
                  <a:pt x="71934" y="54570"/>
                </a:cubicBezTo>
                <a:lnTo>
                  <a:pt x="100924" y="54570"/>
                </a:lnTo>
                <a:lnTo>
                  <a:pt x="64492" y="18138"/>
                </a:lnTo>
                <a:close/>
                <a:moveTo>
                  <a:pt x="47811" y="91653"/>
                </a:moveTo>
                <a:cubicBezTo>
                  <a:pt x="50478" y="88522"/>
                  <a:pt x="50136" y="83840"/>
                  <a:pt x="47005" y="81173"/>
                </a:cubicBezTo>
                <a:cubicBezTo>
                  <a:pt x="43873" y="78507"/>
                  <a:pt x="39191" y="78848"/>
                  <a:pt x="36525" y="81979"/>
                </a:cubicBezTo>
                <a:lnTo>
                  <a:pt x="21642" y="99343"/>
                </a:lnTo>
                <a:cubicBezTo>
                  <a:pt x="19255" y="102133"/>
                  <a:pt x="19255" y="106226"/>
                  <a:pt x="21642" y="109017"/>
                </a:cubicBezTo>
                <a:lnTo>
                  <a:pt x="36525" y="126380"/>
                </a:lnTo>
                <a:cubicBezTo>
                  <a:pt x="39191" y="129511"/>
                  <a:pt x="43904" y="129853"/>
                  <a:pt x="47005" y="127186"/>
                </a:cubicBezTo>
                <a:cubicBezTo>
                  <a:pt x="50105" y="124520"/>
                  <a:pt x="50478" y="119807"/>
                  <a:pt x="47811" y="116706"/>
                </a:cubicBezTo>
                <a:lnTo>
                  <a:pt x="37083" y="104180"/>
                </a:lnTo>
                <a:lnTo>
                  <a:pt x="47811" y="91653"/>
                </a:lnTo>
                <a:close/>
                <a:moveTo>
                  <a:pt x="82538" y="81979"/>
                </a:moveTo>
                <a:cubicBezTo>
                  <a:pt x="79871" y="78848"/>
                  <a:pt x="75158" y="78507"/>
                  <a:pt x="72058" y="81173"/>
                </a:cubicBezTo>
                <a:cubicBezTo>
                  <a:pt x="68957" y="83840"/>
                  <a:pt x="68585" y="88553"/>
                  <a:pt x="71251" y="91653"/>
                </a:cubicBezTo>
                <a:lnTo>
                  <a:pt x="81979" y="104180"/>
                </a:lnTo>
                <a:lnTo>
                  <a:pt x="71251" y="116706"/>
                </a:lnTo>
                <a:cubicBezTo>
                  <a:pt x="68585" y="119838"/>
                  <a:pt x="68926" y="124520"/>
                  <a:pt x="72058" y="127186"/>
                </a:cubicBezTo>
                <a:cubicBezTo>
                  <a:pt x="75189" y="129853"/>
                  <a:pt x="79871" y="129511"/>
                  <a:pt x="82538" y="126380"/>
                </a:cubicBezTo>
                <a:lnTo>
                  <a:pt x="97420" y="109017"/>
                </a:lnTo>
                <a:cubicBezTo>
                  <a:pt x="99808" y="106226"/>
                  <a:pt x="99808" y="102133"/>
                  <a:pt x="97420" y="99343"/>
                </a:cubicBezTo>
                <a:lnTo>
                  <a:pt x="82538" y="81979"/>
                </a:ln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7" name="Text 5"/>
          <p:cNvSpPr/>
          <p:nvPr/>
        </p:nvSpPr>
        <p:spPr>
          <a:xfrm>
            <a:off x="681037" y="1530352"/>
            <a:ext cx="5246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Worker Code (index.js)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82600" y="1847852"/>
            <a:ext cx="5365750" cy="7326313"/>
          </a:xfrm>
          <a:custGeom>
            <a:avLst/>
            <a:gdLst/>
            <a:ahLst/>
            <a:cxnLst/>
            <a:rect l="l" t="t" r="r" b="b"/>
            <a:pathLst>
              <a:path w="5365750" h="7326313">
                <a:moveTo>
                  <a:pt x="63477" y="0"/>
                </a:moveTo>
                <a:lnTo>
                  <a:pt x="5302273" y="0"/>
                </a:lnTo>
                <a:cubicBezTo>
                  <a:pt x="5337330" y="0"/>
                  <a:pt x="5365750" y="28420"/>
                  <a:pt x="5365750" y="63477"/>
                </a:cubicBezTo>
                <a:lnTo>
                  <a:pt x="5365750" y="7262836"/>
                </a:lnTo>
                <a:cubicBezTo>
                  <a:pt x="5365750" y="7297893"/>
                  <a:pt x="5337330" y="7326313"/>
                  <a:pt x="5302273" y="7326313"/>
                </a:cubicBezTo>
                <a:lnTo>
                  <a:pt x="63477" y="7326313"/>
                </a:lnTo>
                <a:cubicBezTo>
                  <a:pt x="28420" y="7326313"/>
                  <a:pt x="0" y="7297893"/>
                  <a:pt x="0" y="7262836"/>
                </a:cubicBezTo>
                <a:lnTo>
                  <a:pt x="0" y="63477"/>
                </a:lnTo>
                <a:cubicBezTo>
                  <a:pt x="0" y="28443"/>
                  <a:pt x="28443" y="0"/>
                  <a:pt x="63477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609600" y="1974852"/>
            <a:ext cx="5167313" cy="577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C792E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export default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82AA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async fetch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(request, env, ctx)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C792E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const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url =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C792E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new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FFCB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URL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(request.url);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C792E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const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path = url.pathname;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676E9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 Route: /api/hello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C792E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(path ===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C3E8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'/api/hello'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C792E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return new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FFCB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Response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FFCB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JSON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.stringify({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  message: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C3E8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'Hello from Cloudflare Workers!'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  timestamp: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C792E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new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FFCB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Date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().toISOString(),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  region: request.cf.colo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}),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  headers: {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C3E8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'Content-Type'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C3E8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'application/json'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}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}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}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676E9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 Route: /api/health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C792E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(path ===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C3E8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'/api/health'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C792E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return new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FFCB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Response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FFCB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JSON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.stringify({ status: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C3E8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'ok'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}),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{ headers: {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C3E8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'Content-Type'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C3E8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'application/json'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} }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}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676E9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 Default: 404 Not Found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C792E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return new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FFCB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Response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C3E8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'Not Found'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 { 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status: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F78C6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404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});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}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};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78550" y="1368425"/>
            <a:ext cx="5689600" cy="2165350"/>
          </a:xfrm>
          <a:custGeom>
            <a:avLst/>
            <a:gdLst/>
            <a:ahLst/>
            <a:cxnLst/>
            <a:rect l="l" t="t" r="r" b="b"/>
            <a:pathLst>
              <a:path w="5689600" h="2165350">
                <a:moveTo>
                  <a:pt x="95254" y="0"/>
                </a:moveTo>
                <a:lnTo>
                  <a:pt x="5594346" y="0"/>
                </a:lnTo>
                <a:cubicBezTo>
                  <a:pt x="5646953" y="0"/>
                  <a:pt x="5689600" y="42647"/>
                  <a:pt x="5689600" y="95254"/>
                </a:cubicBezTo>
                <a:lnTo>
                  <a:pt x="5689600" y="2070096"/>
                </a:lnTo>
                <a:cubicBezTo>
                  <a:pt x="5689600" y="2122703"/>
                  <a:pt x="5646953" y="2165350"/>
                  <a:pt x="5594346" y="2165350"/>
                </a:cubicBezTo>
                <a:lnTo>
                  <a:pt x="95254" y="2165350"/>
                </a:lnTo>
                <a:cubicBezTo>
                  <a:pt x="42647" y="2165350"/>
                  <a:pt x="0" y="2122703"/>
                  <a:pt x="0" y="2070096"/>
                </a:cubicBezTo>
                <a:lnTo>
                  <a:pt x="0" y="95254"/>
                </a:lnTo>
                <a:cubicBezTo>
                  <a:pt x="0" y="42647"/>
                  <a:pt x="42647" y="0"/>
                  <a:pt x="95254" y="0"/>
                </a:cubicBezTo>
                <a:close/>
              </a:path>
            </a:pathLst>
          </a:custGeom>
          <a:solidFill>
            <a:srgbClr val="1E293B">
              <a:alpha val="80000"/>
            </a:srgbClr>
          </a:soli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60319" y="1562102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2915" y="36773"/>
                </a:moveTo>
                <a:cubicBezTo>
                  <a:pt x="-961" y="32897"/>
                  <a:pt x="-961" y="26603"/>
                  <a:pt x="2915" y="22727"/>
                </a:cubicBezTo>
                <a:cubicBezTo>
                  <a:pt x="6790" y="18852"/>
                  <a:pt x="13084" y="18852"/>
                  <a:pt x="16960" y="22727"/>
                </a:cubicBezTo>
                <a:lnTo>
                  <a:pt x="66570" y="72337"/>
                </a:lnTo>
                <a:cubicBezTo>
                  <a:pt x="70445" y="76212"/>
                  <a:pt x="70445" y="82507"/>
                  <a:pt x="66570" y="86382"/>
                </a:cubicBezTo>
                <a:lnTo>
                  <a:pt x="16960" y="135992"/>
                </a:lnTo>
                <a:cubicBezTo>
                  <a:pt x="13084" y="139867"/>
                  <a:pt x="6790" y="139867"/>
                  <a:pt x="2915" y="135992"/>
                </a:cubicBezTo>
                <a:cubicBezTo>
                  <a:pt x="-961" y="132116"/>
                  <a:pt x="-961" y="125822"/>
                  <a:pt x="2915" y="121946"/>
                </a:cubicBezTo>
                <a:lnTo>
                  <a:pt x="45486" y="79375"/>
                </a:lnTo>
                <a:lnTo>
                  <a:pt x="2915" y="36773"/>
                </a:lnTo>
                <a:close/>
                <a:moveTo>
                  <a:pt x="69453" y="119062"/>
                </a:moveTo>
                <a:lnTo>
                  <a:pt x="148828" y="119062"/>
                </a:lnTo>
                <a:cubicBezTo>
                  <a:pt x="154316" y="119062"/>
                  <a:pt x="158750" y="123496"/>
                  <a:pt x="158750" y="128984"/>
                </a:cubicBezTo>
                <a:cubicBezTo>
                  <a:pt x="158750" y="134472"/>
                  <a:pt x="154316" y="138906"/>
                  <a:pt x="148828" y="138906"/>
                </a:cubicBezTo>
                <a:lnTo>
                  <a:pt x="69453" y="138906"/>
                </a:lnTo>
                <a:cubicBezTo>
                  <a:pt x="63965" y="138906"/>
                  <a:pt x="59531" y="134472"/>
                  <a:pt x="59531" y="128984"/>
                </a:cubicBezTo>
                <a:cubicBezTo>
                  <a:pt x="59531" y="123496"/>
                  <a:pt x="63965" y="119062"/>
                  <a:pt x="69453" y="119062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6538912" y="1530352"/>
            <a:ext cx="5246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Deployment Commands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40475" y="1847852"/>
            <a:ext cx="5365750" cy="1524000"/>
          </a:xfrm>
          <a:custGeom>
            <a:avLst/>
            <a:gdLst/>
            <a:ahLst/>
            <a:cxnLst/>
            <a:rect l="l" t="t" r="r" b="b"/>
            <a:pathLst>
              <a:path w="5365750" h="1524000">
                <a:moveTo>
                  <a:pt x="63505" y="0"/>
                </a:moveTo>
                <a:lnTo>
                  <a:pt x="5302245" y="0"/>
                </a:lnTo>
                <a:cubicBezTo>
                  <a:pt x="5337318" y="0"/>
                  <a:pt x="5365750" y="28432"/>
                  <a:pt x="5365750" y="63505"/>
                </a:cubicBezTo>
                <a:lnTo>
                  <a:pt x="5365750" y="1460495"/>
                </a:lnTo>
                <a:cubicBezTo>
                  <a:pt x="5365750" y="1495568"/>
                  <a:pt x="5337318" y="1524000"/>
                  <a:pt x="5302245" y="1524000"/>
                </a:cubicBezTo>
                <a:lnTo>
                  <a:pt x="63505" y="1524000"/>
                </a:lnTo>
                <a:cubicBezTo>
                  <a:pt x="28432" y="1524000"/>
                  <a:pt x="0" y="1495568"/>
                  <a:pt x="0" y="1460495"/>
                </a:cubicBezTo>
                <a:lnTo>
                  <a:pt x="0" y="63505"/>
                </a:lnTo>
                <a:cubicBezTo>
                  <a:pt x="0" y="28456"/>
                  <a:pt x="28456" y="0"/>
                  <a:pt x="63505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4" name="Text 12"/>
          <p:cNvSpPr/>
          <p:nvPr/>
        </p:nvSpPr>
        <p:spPr>
          <a:xfrm>
            <a:off x="6467475" y="1974852"/>
            <a:ext cx="5167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76E9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Create new Worker project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67475" y="2197102"/>
            <a:ext cx="5167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C792E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npm create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F8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cloudflare@latest my-api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67475" y="2419352"/>
            <a:ext cx="5167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76E9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Navigate and develop locally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67475" y="2641602"/>
            <a:ext cx="5167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C792E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cd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F8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my-api &amp;&amp; 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C792E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npx wrangler dev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67475" y="2863852"/>
            <a:ext cx="5167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76E9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Deploy to production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67475" y="3098799"/>
            <a:ext cx="1216422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C792E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npx wrangler deploy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78550" y="3667126"/>
            <a:ext cx="5689600" cy="1593850"/>
          </a:xfrm>
          <a:custGeom>
            <a:avLst/>
            <a:gdLst/>
            <a:ahLst/>
            <a:cxnLst/>
            <a:rect l="l" t="t" r="r" b="b"/>
            <a:pathLst>
              <a:path w="5689600" h="1593850">
                <a:moveTo>
                  <a:pt x="95248" y="0"/>
                </a:moveTo>
                <a:lnTo>
                  <a:pt x="5594352" y="0"/>
                </a:lnTo>
                <a:cubicBezTo>
                  <a:pt x="5646956" y="0"/>
                  <a:pt x="5689600" y="42644"/>
                  <a:pt x="5689600" y="95248"/>
                </a:cubicBezTo>
                <a:lnTo>
                  <a:pt x="5689600" y="1498602"/>
                </a:lnTo>
                <a:cubicBezTo>
                  <a:pt x="5689600" y="1551206"/>
                  <a:pt x="5646956" y="1593850"/>
                  <a:pt x="5594352" y="1593850"/>
                </a:cubicBezTo>
                <a:lnTo>
                  <a:pt x="95248" y="1593850"/>
                </a:lnTo>
                <a:cubicBezTo>
                  <a:pt x="42644" y="1593850"/>
                  <a:pt x="0" y="1551206"/>
                  <a:pt x="0" y="1498602"/>
                </a:cubicBezTo>
                <a:lnTo>
                  <a:pt x="0" y="95248"/>
                </a:lnTo>
                <a:cubicBezTo>
                  <a:pt x="0" y="42679"/>
                  <a:pt x="42679" y="0"/>
                  <a:pt x="95248" y="0"/>
                </a:cubicBezTo>
                <a:close/>
              </a:path>
            </a:pathLst>
          </a:custGeom>
          <a:solidFill>
            <a:srgbClr val="1E293B">
              <a:alpha val="80000"/>
            </a:srgbClr>
          </a:solidFill>
          <a:ln w="1016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80162" y="3860799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90816" y="119062"/>
                </a:moveTo>
                <a:cubicBezTo>
                  <a:pt x="93080" y="112148"/>
                  <a:pt x="97606" y="105885"/>
                  <a:pt x="102722" y="100490"/>
                </a:cubicBezTo>
                <a:cubicBezTo>
                  <a:pt x="112861" y="89824"/>
                  <a:pt x="119062" y="75406"/>
                  <a:pt x="119062" y="59531"/>
                </a:cubicBezTo>
                <a:cubicBezTo>
                  <a:pt x="119062" y="26665"/>
                  <a:pt x="92397" y="0"/>
                  <a:pt x="59531" y="0"/>
                </a:cubicBezTo>
                <a:cubicBezTo>
                  <a:pt x="26665" y="0"/>
                  <a:pt x="0" y="26665"/>
                  <a:pt x="0" y="59531"/>
                </a:cubicBezTo>
                <a:cubicBezTo>
                  <a:pt x="0" y="75406"/>
                  <a:pt x="6201" y="89824"/>
                  <a:pt x="16340" y="100490"/>
                </a:cubicBezTo>
                <a:cubicBezTo>
                  <a:pt x="21456" y="105885"/>
                  <a:pt x="26014" y="112148"/>
                  <a:pt x="28246" y="119062"/>
                </a:cubicBezTo>
                <a:lnTo>
                  <a:pt x="90785" y="119062"/>
                </a:lnTo>
                <a:close/>
                <a:moveTo>
                  <a:pt x="89297" y="133945"/>
                </a:moveTo>
                <a:lnTo>
                  <a:pt x="29766" y="133945"/>
                </a:lnTo>
                <a:lnTo>
                  <a:pt x="29766" y="138906"/>
                </a:lnTo>
                <a:cubicBezTo>
                  <a:pt x="29766" y="152611"/>
                  <a:pt x="40866" y="163711"/>
                  <a:pt x="54570" y="163711"/>
                </a:cubicBezTo>
                <a:lnTo>
                  <a:pt x="64492" y="163711"/>
                </a:lnTo>
                <a:cubicBezTo>
                  <a:pt x="78197" y="163711"/>
                  <a:pt x="89297" y="152611"/>
                  <a:pt x="89297" y="138906"/>
                </a:cubicBezTo>
                <a:lnTo>
                  <a:pt x="89297" y="133945"/>
                </a:lnTo>
                <a:close/>
                <a:moveTo>
                  <a:pt x="57051" y="34727"/>
                </a:moveTo>
                <a:cubicBezTo>
                  <a:pt x="44710" y="34727"/>
                  <a:pt x="34727" y="44710"/>
                  <a:pt x="34727" y="57051"/>
                </a:cubicBezTo>
                <a:cubicBezTo>
                  <a:pt x="34727" y="61175"/>
                  <a:pt x="31409" y="64492"/>
                  <a:pt x="27285" y="64492"/>
                </a:cubicBezTo>
                <a:cubicBezTo>
                  <a:pt x="23161" y="64492"/>
                  <a:pt x="19844" y="61175"/>
                  <a:pt x="19844" y="57051"/>
                </a:cubicBezTo>
                <a:cubicBezTo>
                  <a:pt x="19844" y="36494"/>
                  <a:pt x="36494" y="19844"/>
                  <a:pt x="57051" y="19844"/>
                </a:cubicBezTo>
                <a:cubicBezTo>
                  <a:pt x="61175" y="19844"/>
                  <a:pt x="64492" y="23161"/>
                  <a:pt x="64492" y="27285"/>
                </a:cubicBezTo>
                <a:cubicBezTo>
                  <a:pt x="64492" y="31409"/>
                  <a:pt x="61175" y="34727"/>
                  <a:pt x="57051" y="347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6538912" y="3829049"/>
            <a:ext cx="5246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Features Demonstrated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364287" y="4178299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6562725" y="4146549"/>
            <a:ext cx="349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URL Routing: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Parse request URL and route to different handlers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64287" y="4432299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6562725" y="4400549"/>
            <a:ext cx="3413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JSON Responses: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Return structured data with proper headers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64287" y="4686299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6562725" y="4654549"/>
            <a:ext cx="349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CF Object: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Access Cloudflare-specific data (colo, country, etc.)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64287" y="4940299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6562725" y="4908549"/>
            <a:ext cx="2992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Error Handling: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Return appropriate HTTP status codes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78550" y="5394327"/>
            <a:ext cx="5689600" cy="450850"/>
          </a:xfrm>
          <a:custGeom>
            <a:avLst/>
            <a:gdLst/>
            <a:ahLst/>
            <a:cxnLst/>
            <a:rect l="l" t="t" r="r" b="b"/>
            <a:pathLst>
              <a:path w="5689600" h="450850">
                <a:moveTo>
                  <a:pt x="63502" y="0"/>
                </a:moveTo>
                <a:lnTo>
                  <a:pt x="5626098" y="0"/>
                </a:lnTo>
                <a:cubicBezTo>
                  <a:pt x="5661169" y="0"/>
                  <a:pt x="5689600" y="28431"/>
                  <a:pt x="5689600" y="63502"/>
                </a:cubicBezTo>
                <a:lnTo>
                  <a:pt x="5689600" y="387348"/>
                </a:lnTo>
                <a:cubicBezTo>
                  <a:pt x="5689600" y="422419"/>
                  <a:pt x="5661169" y="450850"/>
                  <a:pt x="5626098" y="450850"/>
                </a:cubicBezTo>
                <a:lnTo>
                  <a:pt x="63502" y="450850"/>
                </a:lnTo>
                <a:cubicBezTo>
                  <a:pt x="28431" y="450850"/>
                  <a:pt x="0" y="422419"/>
                  <a:pt x="0" y="3873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48120">
              <a:alpha val="10196"/>
            </a:srgbClr>
          </a:solidFill>
          <a:ln w="10160">
            <a:solidFill>
              <a:srgbClr val="F48120">
                <a:alpha val="30196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28569" y="5540375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158750"/>
                </a:moveTo>
                <a:cubicBezTo>
                  <a:pt x="123183" y="158750"/>
                  <a:pt x="158750" y="123183"/>
                  <a:pt x="158750" y="79375"/>
                </a:cubicBezTo>
                <a:cubicBezTo>
                  <a:pt x="158750" y="35567"/>
                  <a:pt x="123183" y="0"/>
                  <a:pt x="79375" y="0"/>
                </a:cubicBezTo>
                <a:cubicBezTo>
                  <a:pt x="35567" y="0"/>
                  <a:pt x="0" y="35567"/>
                  <a:pt x="0" y="79375"/>
                </a:cubicBezTo>
                <a:cubicBezTo>
                  <a:pt x="0" y="123183"/>
                  <a:pt x="35567" y="158750"/>
                  <a:pt x="79375" y="158750"/>
                </a:cubicBezTo>
                <a:close/>
                <a:moveTo>
                  <a:pt x="69453" y="49609"/>
                </a:moveTo>
                <a:cubicBezTo>
                  <a:pt x="69453" y="44133"/>
                  <a:pt x="73899" y="39688"/>
                  <a:pt x="79375" y="39688"/>
                </a:cubicBezTo>
                <a:cubicBezTo>
                  <a:pt x="84851" y="39688"/>
                  <a:pt x="89297" y="44133"/>
                  <a:pt x="89297" y="49609"/>
                </a:cubicBezTo>
                <a:cubicBezTo>
                  <a:pt x="89297" y="55085"/>
                  <a:pt x="84851" y="59531"/>
                  <a:pt x="79375" y="59531"/>
                </a:cubicBezTo>
                <a:cubicBezTo>
                  <a:pt x="73899" y="59531"/>
                  <a:pt x="69453" y="55085"/>
                  <a:pt x="69453" y="49609"/>
                </a:cubicBezTo>
                <a:close/>
                <a:moveTo>
                  <a:pt x="66973" y="69453"/>
                </a:moveTo>
                <a:lnTo>
                  <a:pt x="81855" y="69453"/>
                </a:lnTo>
                <a:cubicBezTo>
                  <a:pt x="85979" y="69453"/>
                  <a:pt x="89297" y="72771"/>
                  <a:pt x="89297" y="76895"/>
                </a:cubicBezTo>
                <a:lnTo>
                  <a:pt x="89297" y="104180"/>
                </a:lnTo>
                <a:lnTo>
                  <a:pt x="91777" y="104180"/>
                </a:lnTo>
                <a:cubicBezTo>
                  <a:pt x="95901" y="104180"/>
                  <a:pt x="99219" y="107497"/>
                  <a:pt x="99219" y="111621"/>
                </a:cubicBezTo>
                <a:cubicBezTo>
                  <a:pt x="99219" y="115745"/>
                  <a:pt x="95901" y="119062"/>
                  <a:pt x="91777" y="119062"/>
                </a:cubicBezTo>
                <a:lnTo>
                  <a:pt x="66973" y="119062"/>
                </a:lnTo>
                <a:cubicBezTo>
                  <a:pt x="62849" y="119062"/>
                  <a:pt x="59531" y="115745"/>
                  <a:pt x="59531" y="111621"/>
                </a:cubicBezTo>
                <a:cubicBezTo>
                  <a:pt x="59531" y="107497"/>
                  <a:pt x="62849" y="104180"/>
                  <a:pt x="66973" y="104180"/>
                </a:cubicBezTo>
                <a:lnTo>
                  <a:pt x="74414" y="104180"/>
                </a:lnTo>
                <a:lnTo>
                  <a:pt x="74414" y="84336"/>
                </a:lnTo>
                <a:lnTo>
                  <a:pt x="66973" y="84336"/>
                </a:lnTo>
                <a:cubicBezTo>
                  <a:pt x="62849" y="84336"/>
                  <a:pt x="59531" y="81018"/>
                  <a:pt x="59531" y="76895"/>
                </a:cubicBezTo>
                <a:cubicBezTo>
                  <a:pt x="59531" y="72771"/>
                  <a:pt x="62849" y="69453"/>
                  <a:pt x="66973" y="69453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33" name="Text 31"/>
          <p:cNvSpPr/>
          <p:nvPr/>
        </p:nvSpPr>
        <p:spPr>
          <a:xfrm>
            <a:off x="6602412" y="5524500"/>
            <a:ext cx="3246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481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Try it: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Deploy and visit 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F48120"/>
                </a:solidFill>
                <a:highlight>
                  <a:srgbClr val="0F172A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/api/hello 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 see the response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intcdn.com/e2e6dd5e0eddb6cc3f3102c8e9ea565f220fe260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F172A">
                  <a:alpha val="98000"/>
                </a:srgbClr>
              </a:gs>
              <a:gs pos="50000">
                <a:srgbClr val="0F172A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4810" y="1501137"/>
            <a:ext cx="1541145" cy="426720"/>
          </a:xfrm>
          <a:custGeom>
            <a:avLst/>
            <a:gdLst/>
            <a:ahLst/>
            <a:cxnLst/>
            <a:rect l="l" t="t" r="r" b="b"/>
            <a:pathLst>
              <a:path w="1541145" h="426720">
                <a:moveTo>
                  <a:pt x="213360" y="0"/>
                </a:moveTo>
                <a:lnTo>
                  <a:pt x="1327785" y="0"/>
                </a:lnTo>
                <a:cubicBezTo>
                  <a:pt x="1445620" y="0"/>
                  <a:pt x="1541145" y="95525"/>
                  <a:pt x="1541145" y="213360"/>
                </a:cubicBezTo>
                <a:lnTo>
                  <a:pt x="1541145" y="213360"/>
                </a:lnTo>
                <a:cubicBezTo>
                  <a:pt x="1541145" y="331195"/>
                  <a:pt x="1445620" y="426720"/>
                  <a:pt x="1327785" y="426720"/>
                </a:cubicBezTo>
                <a:lnTo>
                  <a:pt x="213360" y="426720"/>
                </a:lnTo>
                <a:cubicBezTo>
                  <a:pt x="95603" y="426720"/>
                  <a:pt x="0" y="331117"/>
                  <a:pt x="0" y="213360"/>
                </a:cubicBezTo>
                <a:lnTo>
                  <a:pt x="0" y="213360"/>
                </a:lnTo>
                <a:cubicBezTo>
                  <a:pt x="0" y="95603"/>
                  <a:pt x="95603" y="0"/>
                  <a:pt x="21336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 w="10160">
            <a:solidFill>
              <a:srgbClr val="10B981">
                <a:alpha val="5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79120" y="1604009"/>
            <a:ext cx="1251585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spc="75" kern="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236468"/>
            <a:ext cx="520065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Cloudflare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Snippets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293868"/>
            <a:ext cx="48863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Lightweight Edge Logic with JavaScript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5208268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9" name="Text 6"/>
          <p:cNvSpPr/>
          <p:nvPr/>
        </p:nvSpPr>
        <p:spPr>
          <a:xfrm>
            <a:off x="1447800" y="5093968"/>
            <a:ext cx="3209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8FAFC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Fast, flexible, and free traffic modifications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CLOUDFLARE SNIPPETS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are Cloudflare Snippets?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333500"/>
            <a:ext cx="5581650" cy="1219200"/>
          </a:xfrm>
          <a:custGeom>
            <a:avLst/>
            <a:gdLst/>
            <a:ahLst/>
            <a:cxnLst/>
            <a:rect l="l" t="t" r="r" b="b"/>
            <a:pathLst>
              <a:path w="5581650" h="1219200">
                <a:moveTo>
                  <a:pt x="0" y="0"/>
                </a:moveTo>
                <a:lnTo>
                  <a:pt x="5467350" y="0"/>
                </a:lnTo>
                <a:cubicBezTo>
                  <a:pt x="5530434" y="0"/>
                  <a:pt x="5581650" y="51216"/>
                  <a:pt x="5581650" y="114300"/>
                </a:cubicBezTo>
                <a:lnTo>
                  <a:pt x="5581650" y="1104900"/>
                </a:lnTo>
                <a:cubicBezTo>
                  <a:pt x="5581650" y="1167984"/>
                  <a:pt x="5530434" y="1219200"/>
                  <a:pt x="5467350" y="1219200"/>
                </a:cubicBez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1E293B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333500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6" name="Shape 4"/>
          <p:cNvSpPr/>
          <p:nvPr/>
        </p:nvSpPr>
        <p:spPr>
          <a:xfrm>
            <a:off x="609600" y="1524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31044" y="16573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1219200" y="1524000"/>
            <a:ext cx="466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Code-Based Rules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19200" y="1866900"/>
            <a:ext cx="4648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Snippets bring JavaScript power to Cloudflare Rules, allowing custom logic for HTTP modifications without a full Workers setup.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00050" y="2705100"/>
            <a:ext cx="5581650" cy="1219200"/>
          </a:xfrm>
          <a:custGeom>
            <a:avLst/>
            <a:gdLst/>
            <a:ahLst/>
            <a:cxnLst/>
            <a:rect l="l" t="t" r="r" b="b"/>
            <a:pathLst>
              <a:path w="5581650" h="1219200">
                <a:moveTo>
                  <a:pt x="0" y="0"/>
                </a:moveTo>
                <a:lnTo>
                  <a:pt x="5467350" y="0"/>
                </a:lnTo>
                <a:cubicBezTo>
                  <a:pt x="5530434" y="0"/>
                  <a:pt x="5581650" y="51216"/>
                  <a:pt x="5581650" y="114300"/>
                </a:cubicBezTo>
                <a:lnTo>
                  <a:pt x="5581650" y="1104900"/>
                </a:lnTo>
                <a:cubicBezTo>
                  <a:pt x="5581650" y="1167984"/>
                  <a:pt x="5530434" y="1219200"/>
                  <a:pt x="5467350" y="1219200"/>
                </a:cubicBez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1E293B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00050" y="2705100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12" name="Shape 10"/>
          <p:cNvSpPr/>
          <p:nvPr/>
        </p:nvSpPr>
        <p:spPr>
          <a:xfrm>
            <a:off x="609600" y="2895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48120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54856" y="30289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26057" y="-3683"/>
                </a:moveTo>
                <a:cubicBezTo>
                  <a:pt x="130485" y="-484"/>
                  <a:pt x="132122" y="5321"/>
                  <a:pt x="130113" y="10381"/>
                </a:cubicBezTo>
                <a:lnTo>
                  <a:pt x="100943" y="83344"/>
                </a:lnTo>
                <a:lnTo>
                  <a:pt x="154781" y="83344"/>
                </a:lnTo>
                <a:cubicBezTo>
                  <a:pt x="159804" y="83344"/>
                  <a:pt x="164269" y="86469"/>
                  <a:pt x="165981" y="91194"/>
                </a:cubicBezTo>
                <a:cubicBezTo>
                  <a:pt x="167692" y="95920"/>
                  <a:pt x="166241" y="101203"/>
                  <a:pt x="162409" y="104403"/>
                </a:cubicBezTo>
                <a:lnTo>
                  <a:pt x="55252" y="193700"/>
                </a:lnTo>
                <a:cubicBezTo>
                  <a:pt x="51048" y="197197"/>
                  <a:pt x="45058" y="197383"/>
                  <a:pt x="40630" y="194183"/>
                </a:cubicBezTo>
                <a:cubicBezTo>
                  <a:pt x="36202" y="190984"/>
                  <a:pt x="34565" y="185179"/>
                  <a:pt x="36575" y="180119"/>
                </a:cubicBezTo>
                <a:lnTo>
                  <a:pt x="65745" y="107156"/>
                </a:lnTo>
                <a:lnTo>
                  <a:pt x="11906" y="107156"/>
                </a:lnTo>
                <a:cubicBezTo>
                  <a:pt x="6883" y="107156"/>
                  <a:pt x="2418" y="104031"/>
                  <a:pt x="707" y="99306"/>
                </a:cubicBezTo>
                <a:cubicBezTo>
                  <a:pt x="-1005" y="94580"/>
                  <a:pt x="446" y="89297"/>
                  <a:pt x="4279" y="86097"/>
                </a:cubicBezTo>
                <a:lnTo>
                  <a:pt x="111435" y="-3200"/>
                </a:lnTo>
                <a:cubicBezTo>
                  <a:pt x="115639" y="-6697"/>
                  <a:pt x="121630" y="-6883"/>
                  <a:pt x="126057" y="-3683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14" name="Text 12"/>
          <p:cNvSpPr/>
          <p:nvPr/>
        </p:nvSpPr>
        <p:spPr>
          <a:xfrm>
            <a:off x="1219200" y="2895600"/>
            <a:ext cx="466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Ultra-Fast Execution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19200" y="3238500"/>
            <a:ext cx="4648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Optimized for speed with 5ms max execution time. Powered by Ruleset Engine and Workers runtime for edge performance.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00050" y="4076700"/>
            <a:ext cx="5581650" cy="1219200"/>
          </a:xfrm>
          <a:custGeom>
            <a:avLst/>
            <a:gdLst/>
            <a:ahLst/>
            <a:cxnLst/>
            <a:rect l="l" t="t" r="r" b="b"/>
            <a:pathLst>
              <a:path w="5581650" h="1219200">
                <a:moveTo>
                  <a:pt x="0" y="0"/>
                </a:moveTo>
                <a:lnTo>
                  <a:pt x="5467350" y="0"/>
                </a:lnTo>
                <a:cubicBezTo>
                  <a:pt x="5530434" y="0"/>
                  <a:pt x="5581650" y="51216"/>
                  <a:pt x="5581650" y="114300"/>
                </a:cubicBezTo>
                <a:lnTo>
                  <a:pt x="5581650" y="1104900"/>
                </a:lnTo>
                <a:cubicBezTo>
                  <a:pt x="5581650" y="1167984"/>
                  <a:pt x="5530434" y="1219200"/>
                  <a:pt x="5467350" y="1219200"/>
                </a:cubicBez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1E293B">
              <a:alpha val="6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00050" y="4076700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8" name="Shape 16"/>
          <p:cNvSpPr/>
          <p:nvPr/>
        </p:nvSpPr>
        <p:spPr>
          <a:xfrm>
            <a:off x="609600" y="4267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78669" y="4400550"/>
            <a:ext cx="119063" cy="190500"/>
          </a:xfrm>
          <a:custGeom>
            <a:avLst/>
            <a:gdLst/>
            <a:ahLst/>
            <a:cxnLst/>
            <a:rect l="l" t="t" r="r" b="b"/>
            <a:pathLst>
              <a:path w="119063" h="190500">
                <a:moveTo>
                  <a:pt x="50602" y="8930"/>
                </a:moveTo>
                <a:cubicBezTo>
                  <a:pt x="50602" y="3981"/>
                  <a:pt x="54583" y="0"/>
                  <a:pt x="59531" y="0"/>
                </a:cubicBezTo>
                <a:cubicBezTo>
                  <a:pt x="64480" y="0"/>
                  <a:pt x="68461" y="3981"/>
                  <a:pt x="68461" y="8930"/>
                </a:cubicBezTo>
                <a:lnTo>
                  <a:pt x="68461" y="23812"/>
                </a:lnTo>
                <a:lnTo>
                  <a:pt x="89297" y="23812"/>
                </a:lnTo>
                <a:cubicBezTo>
                  <a:pt x="95883" y="23812"/>
                  <a:pt x="101203" y="29133"/>
                  <a:pt x="101203" y="35719"/>
                </a:cubicBezTo>
                <a:cubicBezTo>
                  <a:pt x="101203" y="42304"/>
                  <a:pt x="95883" y="47625"/>
                  <a:pt x="89297" y="47625"/>
                </a:cubicBezTo>
                <a:lnTo>
                  <a:pt x="46546" y="47625"/>
                </a:lnTo>
                <a:cubicBezTo>
                  <a:pt x="37281" y="47625"/>
                  <a:pt x="29766" y="55141"/>
                  <a:pt x="29766" y="64405"/>
                </a:cubicBezTo>
                <a:cubicBezTo>
                  <a:pt x="29766" y="72777"/>
                  <a:pt x="35905" y="79846"/>
                  <a:pt x="44165" y="81037"/>
                </a:cubicBezTo>
                <a:lnTo>
                  <a:pt x="78246" y="85911"/>
                </a:lnTo>
                <a:cubicBezTo>
                  <a:pt x="98264" y="88776"/>
                  <a:pt x="113109" y="105891"/>
                  <a:pt x="113109" y="126095"/>
                </a:cubicBezTo>
                <a:cubicBezTo>
                  <a:pt x="113109" y="148530"/>
                  <a:pt x="94915" y="166688"/>
                  <a:pt x="72517" y="166688"/>
                </a:cubicBezTo>
                <a:lnTo>
                  <a:pt x="68461" y="166688"/>
                </a:lnTo>
                <a:lnTo>
                  <a:pt x="68461" y="181570"/>
                </a:lnTo>
                <a:cubicBezTo>
                  <a:pt x="68461" y="186519"/>
                  <a:pt x="64480" y="190500"/>
                  <a:pt x="59531" y="190500"/>
                </a:cubicBezTo>
                <a:cubicBezTo>
                  <a:pt x="54583" y="190500"/>
                  <a:pt x="50602" y="186519"/>
                  <a:pt x="50602" y="181570"/>
                </a:cubicBezTo>
                <a:lnTo>
                  <a:pt x="50602" y="166688"/>
                </a:lnTo>
                <a:lnTo>
                  <a:pt x="23812" y="166688"/>
                </a:lnTo>
                <a:cubicBezTo>
                  <a:pt x="17227" y="166688"/>
                  <a:pt x="11906" y="161367"/>
                  <a:pt x="11906" y="154781"/>
                </a:cubicBezTo>
                <a:cubicBezTo>
                  <a:pt x="11906" y="148196"/>
                  <a:pt x="17227" y="142875"/>
                  <a:pt x="23812" y="142875"/>
                </a:cubicBezTo>
                <a:lnTo>
                  <a:pt x="72517" y="142875"/>
                </a:lnTo>
                <a:cubicBezTo>
                  <a:pt x="81781" y="142875"/>
                  <a:pt x="89297" y="135359"/>
                  <a:pt x="89297" y="126095"/>
                </a:cubicBezTo>
                <a:cubicBezTo>
                  <a:pt x="89297" y="117723"/>
                  <a:pt x="83158" y="110654"/>
                  <a:pt x="74898" y="109463"/>
                </a:cubicBezTo>
                <a:lnTo>
                  <a:pt x="40816" y="104589"/>
                </a:lnTo>
                <a:cubicBezTo>
                  <a:pt x="20799" y="101761"/>
                  <a:pt x="5953" y="84609"/>
                  <a:pt x="5953" y="64405"/>
                </a:cubicBezTo>
                <a:cubicBezTo>
                  <a:pt x="5953" y="42007"/>
                  <a:pt x="24147" y="23812"/>
                  <a:pt x="46546" y="23812"/>
                </a:cubicBezTo>
                <a:lnTo>
                  <a:pt x="50602" y="23812"/>
                </a:lnTo>
                <a:lnTo>
                  <a:pt x="50602" y="893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1219200" y="4267200"/>
            <a:ext cx="466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Additional Cost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19200" y="4610100"/>
            <a:ext cx="4648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Included free on all paid plans (Pro, Business, Enterprise). No usage-based billing—unlimited invocations within limits.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14110" y="1337310"/>
            <a:ext cx="5589270" cy="3284220"/>
          </a:xfrm>
          <a:custGeom>
            <a:avLst/>
            <a:gdLst/>
            <a:ahLst/>
            <a:cxnLst/>
            <a:rect l="l" t="t" r="r" b="b"/>
            <a:pathLst>
              <a:path w="5589270" h="3284220">
                <a:moveTo>
                  <a:pt x="114291" y="0"/>
                </a:moveTo>
                <a:lnTo>
                  <a:pt x="5474979" y="0"/>
                </a:lnTo>
                <a:cubicBezTo>
                  <a:pt x="5538058" y="0"/>
                  <a:pt x="5589270" y="51212"/>
                  <a:pt x="5589270" y="114291"/>
                </a:cubicBezTo>
                <a:lnTo>
                  <a:pt x="5589270" y="3169929"/>
                </a:lnTo>
                <a:cubicBezTo>
                  <a:pt x="5589270" y="3233008"/>
                  <a:pt x="5538058" y="3284220"/>
                  <a:pt x="5474979" y="3284220"/>
                </a:cubicBezTo>
                <a:lnTo>
                  <a:pt x="114291" y="3284220"/>
                </a:lnTo>
                <a:cubicBezTo>
                  <a:pt x="51212" y="3284220"/>
                  <a:pt x="0" y="3233008"/>
                  <a:pt x="0" y="3169929"/>
                </a:cubicBezTo>
                <a:lnTo>
                  <a:pt x="0" y="114291"/>
                </a:lnTo>
                <a:cubicBezTo>
                  <a:pt x="0" y="51212"/>
                  <a:pt x="51212" y="0"/>
                  <a:pt x="114291" y="0"/>
                </a:cubicBezTo>
                <a:close/>
              </a:path>
            </a:pathLst>
          </a:custGeom>
          <a:solidFill>
            <a:srgbClr val="1E293B">
              <a:alpha val="80000"/>
            </a:srgbClr>
          </a:solidFill>
          <a:ln w="1016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46520" y="1607697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85693" y="93985"/>
                </a:moveTo>
                <a:cubicBezTo>
                  <a:pt x="191140" y="92512"/>
                  <a:pt x="196855" y="95101"/>
                  <a:pt x="199311" y="100146"/>
                </a:cubicBezTo>
                <a:lnTo>
                  <a:pt x="207615" y="116934"/>
                </a:lnTo>
                <a:cubicBezTo>
                  <a:pt x="212214" y="117559"/>
                  <a:pt x="216724" y="118809"/>
                  <a:pt x="220965" y="120551"/>
                </a:cubicBezTo>
                <a:lnTo>
                  <a:pt x="236592" y="110148"/>
                </a:lnTo>
                <a:cubicBezTo>
                  <a:pt x="241280" y="107022"/>
                  <a:pt x="247486" y="107647"/>
                  <a:pt x="251460" y="111621"/>
                </a:cubicBezTo>
                <a:lnTo>
                  <a:pt x="260033" y="120194"/>
                </a:lnTo>
                <a:cubicBezTo>
                  <a:pt x="264006" y="124167"/>
                  <a:pt x="264631" y="130418"/>
                  <a:pt x="261506" y="135062"/>
                </a:cubicBezTo>
                <a:lnTo>
                  <a:pt x="251103" y="150644"/>
                </a:lnTo>
                <a:cubicBezTo>
                  <a:pt x="251951" y="152742"/>
                  <a:pt x="252710" y="154930"/>
                  <a:pt x="253335" y="157207"/>
                </a:cubicBezTo>
                <a:cubicBezTo>
                  <a:pt x="253960" y="159484"/>
                  <a:pt x="254362" y="161717"/>
                  <a:pt x="254675" y="163994"/>
                </a:cubicBezTo>
                <a:lnTo>
                  <a:pt x="271507" y="172298"/>
                </a:lnTo>
                <a:cubicBezTo>
                  <a:pt x="276552" y="174799"/>
                  <a:pt x="279142" y="180514"/>
                  <a:pt x="277669" y="185916"/>
                </a:cubicBezTo>
                <a:lnTo>
                  <a:pt x="274543" y="197614"/>
                </a:lnTo>
                <a:cubicBezTo>
                  <a:pt x="273070" y="203016"/>
                  <a:pt x="268025" y="206678"/>
                  <a:pt x="262399" y="206320"/>
                </a:cubicBezTo>
                <a:lnTo>
                  <a:pt x="243647" y="205115"/>
                </a:lnTo>
                <a:cubicBezTo>
                  <a:pt x="240834" y="208731"/>
                  <a:pt x="237574" y="212080"/>
                  <a:pt x="233869" y="214938"/>
                </a:cubicBezTo>
                <a:lnTo>
                  <a:pt x="235074" y="233645"/>
                </a:lnTo>
                <a:cubicBezTo>
                  <a:pt x="235431" y="239271"/>
                  <a:pt x="231770" y="244361"/>
                  <a:pt x="226368" y="245790"/>
                </a:cubicBezTo>
                <a:lnTo>
                  <a:pt x="214670" y="248915"/>
                </a:lnTo>
                <a:cubicBezTo>
                  <a:pt x="209223" y="250388"/>
                  <a:pt x="203552" y="247799"/>
                  <a:pt x="201052" y="242754"/>
                </a:cubicBezTo>
                <a:lnTo>
                  <a:pt x="192747" y="225966"/>
                </a:lnTo>
                <a:cubicBezTo>
                  <a:pt x="188149" y="225341"/>
                  <a:pt x="183639" y="224091"/>
                  <a:pt x="179397" y="222349"/>
                </a:cubicBezTo>
                <a:lnTo>
                  <a:pt x="163770" y="232752"/>
                </a:lnTo>
                <a:cubicBezTo>
                  <a:pt x="159082" y="235878"/>
                  <a:pt x="152876" y="235253"/>
                  <a:pt x="148903" y="231279"/>
                </a:cubicBezTo>
                <a:lnTo>
                  <a:pt x="140330" y="222706"/>
                </a:lnTo>
                <a:cubicBezTo>
                  <a:pt x="136356" y="218733"/>
                  <a:pt x="135731" y="212527"/>
                  <a:pt x="138857" y="207838"/>
                </a:cubicBezTo>
                <a:lnTo>
                  <a:pt x="149260" y="192212"/>
                </a:lnTo>
                <a:cubicBezTo>
                  <a:pt x="148411" y="190113"/>
                  <a:pt x="147652" y="187925"/>
                  <a:pt x="147027" y="185648"/>
                </a:cubicBezTo>
                <a:cubicBezTo>
                  <a:pt x="146402" y="183371"/>
                  <a:pt x="146000" y="181094"/>
                  <a:pt x="145688" y="178862"/>
                </a:cubicBezTo>
                <a:lnTo>
                  <a:pt x="128855" y="170557"/>
                </a:lnTo>
                <a:cubicBezTo>
                  <a:pt x="123810" y="168057"/>
                  <a:pt x="121265" y="162342"/>
                  <a:pt x="122694" y="156939"/>
                </a:cubicBezTo>
                <a:lnTo>
                  <a:pt x="125819" y="145241"/>
                </a:lnTo>
                <a:cubicBezTo>
                  <a:pt x="127293" y="139839"/>
                  <a:pt x="132338" y="136178"/>
                  <a:pt x="137964" y="136535"/>
                </a:cubicBezTo>
                <a:lnTo>
                  <a:pt x="156671" y="137740"/>
                </a:lnTo>
                <a:cubicBezTo>
                  <a:pt x="159484" y="134124"/>
                  <a:pt x="162744" y="130775"/>
                  <a:pt x="166449" y="127918"/>
                </a:cubicBezTo>
                <a:lnTo>
                  <a:pt x="165244" y="109255"/>
                </a:lnTo>
                <a:cubicBezTo>
                  <a:pt x="164887" y="103629"/>
                  <a:pt x="168548" y="98539"/>
                  <a:pt x="173950" y="97110"/>
                </a:cubicBezTo>
                <a:lnTo>
                  <a:pt x="185648" y="93985"/>
                </a:lnTo>
                <a:close/>
                <a:moveTo>
                  <a:pt x="200204" y="151805"/>
                </a:moveTo>
                <a:cubicBezTo>
                  <a:pt x="189361" y="151817"/>
                  <a:pt x="180568" y="160630"/>
                  <a:pt x="180581" y="171472"/>
                </a:cubicBezTo>
                <a:cubicBezTo>
                  <a:pt x="180593" y="182315"/>
                  <a:pt x="189406" y="191108"/>
                  <a:pt x="200248" y="191095"/>
                </a:cubicBezTo>
                <a:cubicBezTo>
                  <a:pt x="211091" y="191083"/>
                  <a:pt x="219884" y="182270"/>
                  <a:pt x="219871" y="171428"/>
                </a:cubicBezTo>
                <a:cubicBezTo>
                  <a:pt x="219859" y="160585"/>
                  <a:pt x="211046" y="151792"/>
                  <a:pt x="200204" y="151805"/>
                </a:cubicBezTo>
                <a:close/>
                <a:moveTo>
                  <a:pt x="100414" y="-20315"/>
                </a:moveTo>
                <a:lnTo>
                  <a:pt x="112112" y="-17190"/>
                </a:lnTo>
                <a:cubicBezTo>
                  <a:pt x="117515" y="-15716"/>
                  <a:pt x="121176" y="-10626"/>
                  <a:pt x="120819" y="-5045"/>
                </a:cubicBezTo>
                <a:lnTo>
                  <a:pt x="119613" y="13618"/>
                </a:lnTo>
                <a:cubicBezTo>
                  <a:pt x="123319" y="16475"/>
                  <a:pt x="126578" y="19779"/>
                  <a:pt x="129391" y="23440"/>
                </a:cubicBezTo>
                <a:lnTo>
                  <a:pt x="148144" y="22235"/>
                </a:lnTo>
                <a:cubicBezTo>
                  <a:pt x="153725" y="21878"/>
                  <a:pt x="158814" y="25539"/>
                  <a:pt x="160288" y="30941"/>
                </a:cubicBezTo>
                <a:lnTo>
                  <a:pt x="163413" y="42639"/>
                </a:lnTo>
                <a:cubicBezTo>
                  <a:pt x="164842" y="48042"/>
                  <a:pt x="162297" y="53757"/>
                  <a:pt x="157252" y="56257"/>
                </a:cubicBezTo>
                <a:lnTo>
                  <a:pt x="140419" y="64562"/>
                </a:lnTo>
                <a:cubicBezTo>
                  <a:pt x="140107" y="66839"/>
                  <a:pt x="139660" y="69116"/>
                  <a:pt x="139080" y="71348"/>
                </a:cubicBezTo>
                <a:cubicBezTo>
                  <a:pt x="138499" y="73581"/>
                  <a:pt x="137696" y="75813"/>
                  <a:pt x="136847" y="77912"/>
                </a:cubicBezTo>
                <a:lnTo>
                  <a:pt x="147251" y="93538"/>
                </a:lnTo>
                <a:cubicBezTo>
                  <a:pt x="150376" y="98227"/>
                  <a:pt x="149751" y="104433"/>
                  <a:pt x="145777" y="108406"/>
                </a:cubicBezTo>
                <a:lnTo>
                  <a:pt x="137205" y="116979"/>
                </a:lnTo>
                <a:cubicBezTo>
                  <a:pt x="133231" y="120953"/>
                  <a:pt x="127025" y="121578"/>
                  <a:pt x="122337" y="118452"/>
                </a:cubicBezTo>
                <a:lnTo>
                  <a:pt x="106710" y="108049"/>
                </a:lnTo>
                <a:cubicBezTo>
                  <a:pt x="102468" y="109791"/>
                  <a:pt x="97959" y="111041"/>
                  <a:pt x="93360" y="111666"/>
                </a:cubicBezTo>
                <a:lnTo>
                  <a:pt x="85055" y="128454"/>
                </a:lnTo>
                <a:cubicBezTo>
                  <a:pt x="82555" y="133499"/>
                  <a:pt x="76840" y="136044"/>
                  <a:pt x="71438" y="134615"/>
                </a:cubicBezTo>
                <a:lnTo>
                  <a:pt x="59740" y="131490"/>
                </a:lnTo>
                <a:cubicBezTo>
                  <a:pt x="54293" y="130016"/>
                  <a:pt x="50676" y="124926"/>
                  <a:pt x="51033" y="119345"/>
                </a:cubicBezTo>
                <a:lnTo>
                  <a:pt x="52239" y="100638"/>
                </a:lnTo>
                <a:cubicBezTo>
                  <a:pt x="48533" y="97780"/>
                  <a:pt x="45274" y="94476"/>
                  <a:pt x="42461" y="90815"/>
                </a:cubicBezTo>
                <a:lnTo>
                  <a:pt x="23708" y="92020"/>
                </a:lnTo>
                <a:cubicBezTo>
                  <a:pt x="18127" y="92378"/>
                  <a:pt x="13037" y="88716"/>
                  <a:pt x="11564" y="83314"/>
                </a:cubicBezTo>
                <a:lnTo>
                  <a:pt x="8439" y="71616"/>
                </a:lnTo>
                <a:cubicBezTo>
                  <a:pt x="7010" y="66214"/>
                  <a:pt x="9555" y="60499"/>
                  <a:pt x="14600" y="57998"/>
                </a:cubicBezTo>
                <a:lnTo>
                  <a:pt x="31433" y="49694"/>
                </a:lnTo>
                <a:cubicBezTo>
                  <a:pt x="31745" y="47417"/>
                  <a:pt x="32192" y="45184"/>
                  <a:pt x="32772" y="42907"/>
                </a:cubicBezTo>
                <a:cubicBezTo>
                  <a:pt x="33397" y="40630"/>
                  <a:pt x="34111" y="38442"/>
                  <a:pt x="35004" y="36344"/>
                </a:cubicBezTo>
                <a:lnTo>
                  <a:pt x="24601" y="20762"/>
                </a:lnTo>
                <a:cubicBezTo>
                  <a:pt x="21476" y="16073"/>
                  <a:pt x="22101" y="9867"/>
                  <a:pt x="26075" y="5894"/>
                </a:cubicBezTo>
                <a:lnTo>
                  <a:pt x="34647" y="-2679"/>
                </a:lnTo>
                <a:cubicBezTo>
                  <a:pt x="38621" y="-6653"/>
                  <a:pt x="44827" y="-7278"/>
                  <a:pt x="49515" y="-4152"/>
                </a:cubicBezTo>
                <a:lnTo>
                  <a:pt x="65142" y="6251"/>
                </a:lnTo>
                <a:cubicBezTo>
                  <a:pt x="69384" y="4509"/>
                  <a:pt x="73893" y="3259"/>
                  <a:pt x="78492" y="2634"/>
                </a:cubicBezTo>
                <a:lnTo>
                  <a:pt x="86797" y="-14154"/>
                </a:lnTo>
                <a:cubicBezTo>
                  <a:pt x="89297" y="-19199"/>
                  <a:pt x="94967" y="-21744"/>
                  <a:pt x="100414" y="-20315"/>
                </a:cubicBezTo>
                <a:close/>
                <a:moveTo>
                  <a:pt x="85904" y="37505"/>
                </a:moveTo>
                <a:cubicBezTo>
                  <a:pt x="75061" y="37505"/>
                  <a:pt x="66258" y="46307"/>
                  <a:pt x="66258" y="57150"/>
                </a:cubicBezTo>
                <a:cubicBezTo>
                  <a:pt x="66258" y="67993"/>
                  <a:pt x="75061" y="76795"/>
                  <a:pt x="85904" y="76795"/>
                </a:cubicBezTo>
                <a:cubicBezTo>
                  <a:pt x="96746" y="76795"/>
                  <a:pt x="105549" y="67993"/>
                  <a:pt x="105549" y="57150"/>
                </a:cubicBezTo>
                <a:cubicBezTo>
                  <a:pt x="105549" y="46307"/>
                  <a:pt x="96746" y="37505"/>
                  <a:pt x="85904" y="37505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6732270" y="1569718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Capabilities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46520" y="2102997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542961" y="2188722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6865620" y="2064897"/>
            <a:ext cx="3438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Header Modification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65620" y="2331597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Dynamically add, remove, or modify HTTP headers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46520" y="2712597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48120">
              <a:alpha val="2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542961" y="2798322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31" name="Text 29"/>
          <p:cNvSpPr/>
          <p:nvPr/>
        </p:nvSpPr>
        <p:spPr>
          <a:xfrm>
            <a:off x="6865620" y="2674497"/>
            <a:ext cx="3171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URL Rewriting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65620" y="2941197"/>
            <a:ext cx="3162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 paths and query strings dynamically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46520" y="3322197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542961" y="3407922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5" name="Text 33"/>
          <p:cNvSpPr/>
          <p:nvPr/>
        </p:nvSpPr>
        <p:spPr>
          <a:xfrm>
            <a:off x="6865620" y="3284097"/>
            <a:ext cx="3228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Redirects &amp; Routing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865620" y="3550797"/>
            <a:ext cx="3219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 complex redirects and traffic routing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46520" y="3931797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542961" y="4017522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9" name="Text 37"/>
          <p:cNvSpPr/>
          <p:nvPr/>
        </p:nvSpPr>
        <p:spPr>
          <a:xfrm>
            <a:off x="6865620" y="3893697"/>
            <a:ext cx="2838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JWT Validation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865620" y="4160397"/>
            <a:ext cx="2828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Validate authentication tokens at the edge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214110" y="4781430"/>
            <a:ext cx="5589270" cy="541020"/>
          </a:xfrm>
          <a:custGeom>
            <a:avLst/>
            <a:gdLst/>
            <a:ahLst/>
            <a:cxnLst/>
            <a:rect l="l" t="t" r="r" b="b"/>
            <a:pathLst>
              <a:path w="5589270" h="541020">
                <a:moveTo>
                  <a:pt x="76203" y="0"/>
                </a:moveTo>
                <a:lnTo>
                  <a:pt x="5513067" y="0"/>
                </a:lnTo>
                <a:cubicBezTo>
                  <a:pt x="5555153" y="0"/>
                  <a:pt x="5589270" y="34117"/>
                  <a:pt x="5589270" y="76203"/>
                </a:cubicBezTo>
                <a:lnTo>
                  <a:pt x="5589270" y="464817"/>
                </a:lnTo>
                <a:cubicBezTo>
                  <a:pt x="5589270" y="506903"/>
                  <a:pt x="5555153" y="541020"/>
                  <a:pt x="5513067" y="541020"/>
                </a:cubicBezTo>
                <a:lnTo>
                  <a:pt x="76203" y="541020"/>
                </a:lnTo>
                <a:cubicBezTo>
                  <a:pt x="34117" y="541020"/>
                  <a:pt x="0" y="506903"/>
                  <a:pt x="0" y="46481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 w="1016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94132" y="495668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83344" y="59531"/>
                </a:moveTo>
                <a:cubicBezTo>
                  <a:pt x="83344" y="52960"/>
                  <a:pt x="88679" y="47625"/>
                  <a:pt x="95250" y="47625"/>
                </a:cubicBezTo>
                <a:cubicBezTo>
                  <a:pt x="101821" y="47625"/>
                  <a:pt x="107156" y="52960"/>
                  <a:pt x="107156" y="59531"/>
                </a:cubicBezTo>
                <a:cubicBezTo>
                  <a:pt x="107156" y="66102"/>
                  <a:pt x="101821" y="71438"/>
                  <a:pt x="95250" y="71438"/>
                </a:cubicBezTo>
                <a:cubicBezTo>
                  <a:pt x="88679" y="71438"/>
                  <a:pt x="83344" y="66102"/>
                  <a:pt x="83344" y="59531"/>
                </a:cubicBezTo>
                <a:close/>
                <a:moveTo>
                  <a:pt x="80367" y="83344"/>
                </a:moveTo>
                <a:lnTo>
                  <a:pt x="98227" y="83344"/>
                </a:lnTo>
                <a:cubicBezTo>
                  <a:pt x="103175" y="83344"/>
                  <a:pt x="107156" y="87325"/>
                  <a:pt x="107156" y="92273"/>
                </a:cubicBezTo>
                <a:lnTo>
                  <a:pt x="107156" y="125016"/>
                </a:lnTo>
                <a:lnTo>
                  <a:pt x="110133" y="125016"/>
                </a:lnTo>
                <a:cubicBezTo>
                  <a:pt x="115081" y="125016"/>
                  <a:pt x="119063" y="128997"/>
                  <a:pt x="119063" y="133945"/>
                </a:cubicBezTo>
                <a:cubicBezTo>
                  <a:pt x="119063" y="138894"/>
                  <a:pt x="115081" y="142875"/>
                  <a:pt x="110133" y="142875"/>
                </a:cubicBezTo>
                <a:lnTo>
                  <a:pt x="80367" y="142875"/>
                </a:lnTo>
                <a:cubicBezTo>
                  <a:pt x="75419" y="142875"/>
                  <a:pt x="71438" y="138894"/>
                  <a:pt x="71438" y="133945"/>
                </a:cubicBezTo>
                <a:cubicBezTo>
                  <a:pt x="71438" y="128997"/>
                  <a:pt x="75419" y="125016"/>
                  <a:pt x="80367" y="125016"/>
                </a:cubicBezTo>
                <a:lnTo>
                  <a:pt x="89297" y="125016"/>
                </a:lnTo>
                <a:lnTo>
                  <a:pt x="89297" y="101203"/>
                </a:lnTo>
                <a:lnTo>
                  <a:pt x="80367" y="101203"/>
                </a:lnTo>
                <a:cubicBezTo>
                  <a:pt x="75419" y="101203"/>
                  <a:pt x="71438" y="97222"/>
                  <a:pt x="71438" y="92273"/>
                </a:cubicBezTo>
                <a:cubicBezTo>
                  <a:pt x="71438" y="87325"/>
                  <a:pt x="75419" y="83344"/>
                  <a:pt x="80367" y="83344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3" name="Text 41"/>
          <p:cNvSpPr/>
          <p:nvPr/>
        </p:nvSpPr>
        <p:spPr>
          <a:xfrm>
            <a:off x="6722745" y="4937638"/>
            <a:ext cx="4733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Execution Order: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Snippets run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F481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before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Workers, allowing preprocessing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1142" y="371142"/>
            <a:ext cx="11523945" cy="222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9" b="1" spc="58" kern="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SPECIFICATIONS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1142" y="668055"/>
            <a:ext cx="11672402" cy="445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07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Snippets: Limits &amp; Specifications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4853" y="1302707"/>
            <a:ext cx="5602382" cy="2456957"/>
          </a:xfrm>
          <a:custGeom>
            <a:avLst/>
            <a:gdLst/>
            <a:ahLst/>
            <a:cxnLst/>
            <a:rect l="l" t="t" r="r" b="b"/>
            <a:pathLst>
              <a:path w="5602382" h="2456957">
                <a:moveTo>
                  <a:pt x="111349" y="0"/>
                </a:moveTo>
                <a:lnTo>
                  <a:pt x="5491032" y="0"/>
                </a:lnTo>
                <a:cubicBezTo>
                  <a:pt x="5552488" y="0"/>
                  <a:pt x="5602382" y="49894"/>
                  <a:pt x="5602382" y="111349"/>
                </a:cubicBezTo>
                <a:lnTo>
                  <a:pt x="5602382" y="2345608"/>
                </a:lnTo>
                <a:cubicBezTo>
                  <a:pt x="5602382" y="2407104"/>
                  <a:pt x="5552529" y="2456957"/>
                  <a:pt x="5491032" y="2456957"/>
                </a:cubicBezTo>
                <a:lnTo>
                  <a:pt x="111349" y="2456957"/>
                </a:lnTo>
                <a:cubicBezTo>
                  <a:pt x="49894" y="2456957"/>
                  <a:pt x="0" y="2407063"/>
                  <a:pt x="0" y="2345608"/>
                </a:cubicBezTo>
                <a:lnTo>
                  <a:pt x="0" y="111349"/>
                </a:lnTo>
                <a:cubicBezTo>
                  <a:pt x="0" y="49853"/>
                  <a:pt x="49853" y="0"/>
                  <a:pt x="111349" y="0"/>
                </a:cubicBezTo>
                <a:close/>
              </a:path>
            </a:pathLst>
          </a:custGeom>
          <a:solidFill>
            <a:srgbClr val="1E293B">
              <a:alpha val="80000"/>
            </a:srgbClr>
          </a:solidFill>
          <a:ln w="10160">
            <a:solidFill>
              <a:srgbClr val="F48120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7331" y="1529101"/>
            <a:ext cx="185571" cy="185571"/>
          </a:xfrm>
          <a:custGeom>
            <a:avLst/>
            <a:gdLst/>
            <a:ahLst/>
            <a:cxnLst/>
            <a:rect l="l" t="t" r="r" b="b"/>
            <a:pathLst>
              <a:path w="185571" h="185571">
                <a:moveTo>
                  <a:pt x="0" y="92785"/>
                </a:moveTo>
                <a:cubicBezTo>
                  <a:pt x="0" y="41576"/>
                  <a:pt x="41576" y="0"/>
                  <a:pt x="92785" y="0"/>
                </a:cubicBezTo>
                <a:cubicBezTo>
                  <a:pt x="143995" y="0"/>
                  <a:pt x="185571" y="41576"/>
                  <a:pt x="185571" y="92785"/>
                </a:cubicBezTo>
                <a:cubicBezTo>
                  <a:pt x="185571" y="143995"/>
                  <a:pt x="143995" y="185571"/>
                  <a:pt x="92785" y="185571"/>
                </a:cubicBezTo>
                <a:cubicBezTo>
                  <a:pt x="41576" y="185571"/>
                  <a:pt x="0" y="143995"/>
                  <a:pt x="0" y="92785"/>
                </a:cubicBezTo>
                <a:close/>
                <a:moveTo>
                  <a:pt x="104384" y="34795"/>
                </a:moveTo>
                <a:cubicBezTo>
                  <a:pt x="104384" y="28393"/>
                  <a:pt x="99187" y="23196"/>
                  <a:pt x="92785" y="23196"/>
                </a:cubicBezTo>
                <a:cubicBezTo>
                  <a:pt x="86384" y="23196"/>
                  <a:pt x="81187" y="28393"/>
                  <a:pt x="81187" y="34795"/>
                </a:cubicBezTo>
                <a:cubicBezTo>
                  <a:pt x="81187" y="41196"/>
                  <a:pt x="86384" y="46393"/>
                  <a:pt x="92785" y="46393"/>
                </a:cubicBezTo>
                <a:cubicBezTo>
                  <a:pt x="99187" y="46393"/>
                  <a:pt x="104384" y="41196"/>
                  <a:pt x="104384" y="34795"/>
                </a:cubicBezTo>
                <a:close/>
                <a:moveTo>
                  <a:pt x="92785" y="150776"/>
                </a:moveTo>
                <a:cubicBezTo>
                  <a:pt x="105580" y="150776"/>
                  <a:pt x="115982" y="140374"/>
                  <a:pt x="115982" y="127580"/>
                </a:cubicBezTo>
                <a:cubicBezTo>
                  <a:pt x="115982" y="121708"/>
                  <a:pt x="113807" y="116308"/>
                  <a:pt x="110183" y="112249"/>
                </a:cubicBezTo>
                <a:lnTo>
                  <a:pt x="135372" y="61905"/>
                </a:lnTo>
                <a:cubicBezTo>
                  <a:pt x="137511" y="57592"/>
                  <a:pt x="135771" y="52373"/>
                  <a:pt x="131494" y="50235"/>
                </a:cubicBezTo>
                <a:cubicBezTo>
                  <a:pt x="127217" y="48096"/>
                  <a:pt x="121962" y="49836"/>
                  <a:pt x="119824" y="54113"/>
                </a:cubicBezTo>
                <a:lnTo>
                  <a:pt x="94634" y="104456"/>
                </a:lnTo>
                <a:cubicBezTo>
                  <a:pt x="94018" y="104420"/>
                  <a:pt x="93402" y="104384"/>
                  <a:pt x="92785" y="104384"/>
                </a:cubicBezTo>
                <a:cubicBezTo>
                  <a:pt x="79991" y="104384"/>
                  <a:pt x="69589" y="114786"/>
                  <a:pt x="69589" y="127580"/>
                </a:cubicBezTo>
                <a:cubicBezTo>
                  <a:pt x="69589" y="140374"/>
                  <a:pt x="79991" y="150776"/>
                  <a:pt x="92785" y="150776"/>
                </a:cubicBezTo>
                <a:close/>
                <a:moveTo>
                  <a:pt x="63790" y="52192"/>
                </a:moveTo>
                <a:cubicBezTo>
                  <a:pt x="63790" y="45791"/>
                  <a:pt x="58593" y="40594"/>
                  <a:pt x="52192" y="40594"/>
                </a:cubicBezTo>
                <a:cubicBezTo>
                  <a:pt x="45791" y="40594"/>
                  <a:pt x="40594" y="45791"/>
                  <a:pt x="40594" y="52192"/>
                </a:cubicBezTo>
                <a:cubicBezTo>
                  <a:pt x="40594" y="58593"/>
                  <a:pt x="45791" y="63790"/>
                  <a:pt x="52192" y="63790"/>
                </a:cubicBezTo>
                <a:cubicBezTo>
                  <a:pt x="58593" y="63790"/>
                  <a:pt x="63790" y="58593"/>
                  <a:pt x="63790" y="52192"/>
                </a:cubicBezTo>
                <a:close/>
                <a:moveTo>
                  <a:pt x="34795" y="104384"/>
                </a:moveTo>
                <a:cubicBezTo>
                  <a:pt x="41196" y="104384"/>
                  <a:pt x="46393" y="99187"/>
                  <a:pt x="46393" y="92785"/>
                </a:cubicBezTo>
                <a:cubicBezTo>
                  <a:pt x="46393" y="86384"/>
                  <a:pt x="41196" y="81187"/>
                  <a:pt x="34795" y="81187"/>
                </a:cubicBezTo>
                <a:cubicBezTo>
                  <a:pt x="28393" y="81187"/>
                  <a:pt x="23196" y="86384"/>
                  <a:pt x="23196" y="92785"/>
                </a:cubicBezTo>
                <a:cubicBezTo>
                  <a:pt x="23196" y="99187"/>
                  <a:pt x="28393" y="104384"/>
                  <a:pt x="34795" y="104384"/>
                </a:cubicBezTo>
                <a:close/>
                <a:moveTo>
                  <a:pt x="162374" y="92785"/>
                </a:moveTo>
                <a:cubicBezTo>
                  <a:pt x="162374" y="86384"/>
                  <a:pt x="157177" y="81187"/>
                  <a:pt x="150776" y="81187"/>
                </a:cubicBezTo>
                <a:cubicBezTo>
                  <a:pt x="144375" y="81187"/>
                  <a:pt x="139178" y="86384"/>
                  <a:pt x="139178" y="92785"/>
                </a:cubicBezTo>
                <a:cubicBezTo>
                  <a:pt x="139178" y="99187"/>
                  <a:pt x="144375" y="104384"/>
                  <a:pt x="150776" y="104384"/>
                </a:cubicBezTo>
                <a:cubicBezTo>
                  <a:pt x="157177" y="104384"/>
                  <a:pt x="162374" y="99187"/>
                  <a:pt x="162374" y="92785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6" name="Text 4"/>
          <p:cNvSpPr/>
          <p:nvPr/>
        </p:nvSpPr>
        <p:spPr>
          <a:xfrm>
            <a:off x="796099" y="1491987"/>
            <a:ext cx="5084639" cy="259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1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Resource Limits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4135" y="1900243"/>
            <a:ext cx="5223817" cy="482484"/>
          </a:xfrm>
          <a:custGeom>
            <a:avLst/>
            <a:gdLst/>
            <a:ahLst/>
            <a:cxnLst/>
            <a:rect l="l" t="t" r="r" b="b"/>
            <a:pathLst>
              <a:path w="5223817" h="482484">
                <a:moveTo>
                  <a:pt x="74230" y="0"/>
                </a:moveTo>
                <a:lnTo>
                  <a:pt x="5149587" y="0"/>
                </a:lnTo>
                <a:cubicBezTo>
                  <a:pt x="5190583" y="0"/>
                  <a:pt x="5223817" y="33234"/>
                  <a:pt x="5223817" y="74230"/>
                </a:cubicBezTo>
                <a:lnTo>
                  <a:pt x="5223817" y="408254"/>
                </a:lnTo>
                <a:cubicBezTo>
                  <a:pt x="5223817" y="449250"/>
                  <a:pt x="5190583" y="482484"/>
                  <a:pt x="5149587" y="482484"/>
                </a:cubicBezTo>
                <a:lnTo>
                  <a:pt x="74230" y="482484"/>
                </a:lnTo>
                <a:cubicBezTo>
                  <a:pt x="33261" y="482484"/>
                  <a:pt x="0" y="449223"/>
                  <a:pt x="0" y="408254"/>
                </a:cubicBezTo>
                <a:lnTo>
                  <a:pt x="0" y="74230"/>
                </a:lnTo>
                <a:cubicBezTo>
                  <a:pt x="0" y="33234"/>
                  <a:pt x="33234" y="0"/>
                  <a:pt x="7423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675478" y="2030142"/>
            <a:ext cx="1373224" cy="222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9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 Execution Time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92710" y="2011585"/>
            <a:ext cx="482484" cy="259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1" b="1" dirty="0">
                <a:solidFill>
                  <a:srgbClr val="F481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 ms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4135" y="2494069"/>
            <a:ext cx="5223817" cy="482484"/>
          </a:xfrm>
          <a:custGeom>
            <a:avLst/>
            <a:gdLst/>
            <a:ahLst/>
            <a:cxnLst/>
            <a:rect l="l" t="t" r="r" b="b"/>
            <a:pathLst>
              <a:path w="5223817" h="482484">
                <a:moveTo>
                  <a:pt x="74230" y="0"/>
                </a:moveTo>
                <a:lnTo>
                  <a:pt x="5149587" y="0"/>
                </a:lnTo>
                <a:cubicBezTo>
                  <a:pt x="5190583" y="0"/>
                  <a:pt x="5223817" y="33234"/>
                  <a:pt x="5223817" y="74230"/>
                </a:cubicBezTo>
                <a:lnTo>
                  <a:pt x="5223817" y="408254"/>
                </a:lnTo>
                <a:cubicBezTo>
                  <a:pt x="5223817" y="449250"/>
                  <a:pt x="5190583" y="482484"/>
                  <a:pt x="5149587" y="482484"/>
                </a:cubicBezTo>
                <a:lnTo>
                  <a:pt x="74230" y="482484"/>
                </a:lnTo>
                <a:cubicBezTo>
                  <a:pt x="33261" y="482484"/>
                  <a:pt x="0" y="449223"/>
                  <a:pt x="0" y="408254"/>
                </a:cubicBezTo>
                <a:lnTo>
                  <a:pt x="0" y="74230"/>
                </a:lnTo>
                <a:cubicBezTo>
                  <a:pt x="0" y="33234"/>
                  <a:pt x="33234" y="0"/>
                  <a:pt x="7423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675478" y="2623969"/>
            <a:ext cx="964968" cy="222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9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Memory Limit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79141" y="2605412"/>
            <a:ext cx="491763" cy="259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1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 MB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4135" y="3087896"/>
            <a:ext cx="5223817" cy="482484"/>
          </a:xfrm>
          <a:custGeom>
            <a:avLst/>
            <a:gdLst/>
            <a:ahLst/>
            <a:cxnLst/>
            <a:rect l="l" t="t" r="r" b="b"/>
            <a:pathLst>
              <a:path w="5223817" h="482484">
                <a:moveTo>
                  <a:pt x="74230" y="0"/>
                </a:moveTo>
                <a:lnTo>
                  <a:pt x="5149587" y="0"/>
                </a:lnTo>
                <a:cubicBezTo>
                  <a:pt x="5190583" y="0"/>
                  <a:pt x="5223817" y="33234"/>
                  <a:pt x="5223817" y="74230"/>
                </a:cubicBezTo>
                <a:lnTo>
                  <a:pt x="5223817" y="408254"/>
                </a:lnTo>
                <a:cubicBezTo>
                  <a:pt x="5223817" y="449250"/>
                  <a:pt x="5190583" y="482484"/>
                  <a:pt x="5149587" y="482484"/>
                </a:cubicBezTo>
                <a:lnTo>
                  <a:pt x="74230" y="482484"/>
                </a:lnTo>
                <a:cubicBezTo>
                  <a:pt x="33261" y="482484"/>
                  <a:pt x="0" y="449223"/>
                  <a:pt x="0" y="408254"/>
                </a:cubicBezTo>
                <a:lnTo>
                  <a:pt x="0" y="74230"/>
                </a:lnTo>
                <a:cubicBezTo>
                  <a:pt x="0" y="33234"/>
                  <a:pt x="33234" y="0"/>
                  <a:pt x="7423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4" name="Text 12"/>
          <p:cNvSpPr/>
          <p:nvPr/>
        </p:nvSpPr>
        <p:spPr>
          <a:xfrm>
            <a:off x="675478" y="3217795"/>
            <a:ext cx="890740" cy="222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9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Package Size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25325" y="3199238"/>
            <a:ext cx="547434" cy="259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1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32 KB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10010" y="1302707"/>
            <a:ext cx="5602382" cy="2753870"/>
          </a:xfrm>
          <a:custGeom>
            <a:avLst/>
            <a:gdLst/>
            <a:ahLst/>
            <a:cxnLst/>
            <a:rect l="l" t="t" r="r" b="b"/>
            <a:pathLst>
              <a:path w="5602382" h="2753870">
                <a:moveTo>
                  <a:pt x="111339" y="0"/>
                </a:moveTo>
                <a:lnTo>
                  <a:pt x="5491043" y="0"/>
                </a:lnTo>
                <a:cubicBezTo>
                  <a:pt x="5552534" y="0"/>
                  <a:pt x="5602382" y="49848"/>
                  <a:pt x="5602382" y="111339"/>
                </a:cubicBezTo>
                <a:lnTo>
                  <a:pt x="5602382" y="2642531"/>
                </a:lnTo>
                <a:cubicBezTo>
                  <a:pt x="5602382" y="2704022"/>
                  <a:pt x="5552534" y="2753870"/>
                  <a:pt x="5491043" y="2753870"/>
                </a:cubicBezTo>
                <a:lnTo>
                  <a:pt x="111339" y="2753870"/>
                </a:lnTo>
                <a:cubicBezTo>
                  <a:pt x="49848" y="2753870"/>
                  <a:pt x="0" y="2704022"/>
                  <a:pt x="0" y="2642531"/>
                </a:cubicBezTo>
                <a:lnTo>
                  <a:pt x="0" y="111339"/>
                </a:lnTo>
                <a:cubicBezTo>
                  <a:pt x="0" y="49889"/>
                  <a:pt x="49889" y="0"/>
                  <a:pt x="111339" y="0"/>
                </a:cubicBezTo>
                <a:close/>
              </a:path>
            </a:pathLst>
          </a:custGeom>
          <a:solidFill>
            <a:srgbClr val="1E293B">
              <a:alpha val="80000"/>
            </a:srgbClr>
          </a:solidFill>
          <a:ln w="1016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10890" y="1529101"/>
            <a:ext cx="208767" cy="185571"/>
          </a:xfrm>
          <a:custGeom>
            <a:avLst/>
            <a:gdLst/>
            <a:ahLst/>
            <a:cxnLst/>
            <a:rect l="l" t="t" r="r" b="b"/>
            <a:pathLst>
              <a:path w="208767" h="185571">
                <a:moveTo>
                  <a:pt x="130769" y="435"/>
                </a:moveTo>
                <a:cubicBezTo>
                  <a:pt x="124608" y="-1341"/>
                  <a:pt x="118193" y="2247"/>
                  <a:pt x="116417" y="8409"/>
                </a:cubicBezTo>
                <a:lnTo>
                  <a:pt x="70024" y="170783"/>
                </a:lnTo>
                <a:cubicBezTo>
                  <a:pt x="68248" y="176945"/>
                  <a:pt x="71836" y="183360"/>
                  <a:pt x="77998" y="185136"/>
                </a:cubicBezTo>
                <a:cubicBezTo>
                  <a:pt x="84159" y="186912"/>
                  <a:pt x="90574" y="183324"/>
                  <a:pt x="92350" y="177162"/>
                </a:cubicBezTo>
                <a:lnTo>
                  <a:pt x="138743" y="14788"/>
                </a:lnTo>
                <a:cubicBezTo>
                  <a:pt x="140519" y="8626"/>
                  <a:pt x="136931" y="2211"/>
                  <a:pt x="130769" y="435"/>
                </a:cubicBezTo>
                <a:close/>
                <a:moveTo>
                  <a:pt x="154183" y="49763"/>
                </a:moveTo>
                <a:cubicBezTo>
                  <a:pt x="149653" y="54294"/>
                  <a:pt x="149653" y="61652"/>
                  <a:pt x="154183" y="66182"/>
                </a:cubicBezTo>
                <a:lnTo>
                  <a:pt x="180787" y="92785"/>
                </a:lnTo>
                <a:lnTo>
                  <a:pt x="154183" y="119389"/>
                </a:lnTo>
                <a:cubicBezTo>
                  <a:pt x="149653" y="123919"/>
                  <a:pt x="149653" y="131277"/>
                  <a:pt x="154183" y="135807"/>
                </a:cubicBezTo>
                <a:cubicBezTo>
                  <a:pt x="158714" y="140338"/>
                  <a:pt x="166071" y="140338"/>
                  <a:pt x="170602" y="135807"/>
                </a:cubicBezTo>
                <a:lnTo>
                  <a:pt x="205396" y="101013"/>
                </a:lnTo>
                <a:cubicBezTo>
                  <a:pt x="209927" y="96482"/>
                  <a:pt x="209927" y="89125"/>
                  <a:pt x="205396" y="84594"/>
                </a:cubicBezTo>
                <a:lnTo>
                  <a:pt x="170602" y="49800"/>
                </a:lnTo>
                <a:cubicBezTo>
                  <a:pt x="166071" y="45269"/>
                  <a:pt x="158714" y="45269"/>
                  <a:pt x="154183" y="49800"/>
                </a:cubicBezTo>
                <a:close/>
                <a:moveTo>
                  <a:pt x="54620" y="49763"/>
                </a:moveTo>
                <a:cubicBezTo>
                  <a:pt x="50090" y="45233"/>
                  <a:pt x="42732" y="45233"/>
                  <a:pt x="38201" y="49763"/>
                </a:cubicBezTo>
                <a:lnTo>
                  <a:pt x="3407" y="84558"/>
                </a:lnTo>
                <a:cubicBezTo>
                  <a:pt x="-1124" y="89088"/>
                  <a:pt x="-1124" y="96446"/>
                  <a:pt x="3407" y="100977"/>
                </a:cubicBezTo>
                <a:lnTo>
                  <a:pt x="38201" y="135771"/>
                </a:lnTo>
                <a:cubicBezTo>
                  <a:pt x="42732" y="140302"/>
                  <a:pt x="50090" y="140302"/>
                  <a:pt x="54620" y="135771"/>
                </a:cubicBezTo>
                <a:cubicBezTo>
                  <a:pt x="59151" y="131241"/>
                  <a:pt x="59151" y="123883"/>
                  <a:pt x="54620" y="119352"/>
                </a:cubicBezTo>
                <a:lnTo>
                  <a:pt x="28017" y="92785"/>
                </a:lnTo>
                <a:lnTo>
                  <a:pt x="54584" y="66182"/>
                </a:lnTo>
                <a:cubicBezTo>
                  <a:pt x="59114" y="61652"/>
                  <a:pt x="59114" y="54294"/>
                  <a:pt x="54584" y="49763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6631256" y="1491987"/>
            <a:ext cx="5084639" cy="259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1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Supported APIs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399292" y="1900243"/>
            <a:ext cx="296913" cy="296913"/>
          </a:xfrm>
          <a:custGeom>
            <a:avLst/>
            <a:gdLst/>
            <a:ahLst/>
            <a:cxnLst/>
            <a:rect l="l" t="t" r="r" b="b"/>
            <a:pathLst>
              <a:path w="296913" h="296913">
                <a:moveTo>
                  <a:pt x="74228" y="0"/>
                </a:moveTo>
                <a:lnTo>
                  <a:pt x="222685" y="0"/>
                </a:lnTo>
                <a:cubicBezTo>
                  <a:pt x="263653" y="0"/>
                  <a:pt x="296913" y="33261"/>
                  <a:pt x="296913" y="74228"/>
                </a:cubicBezTo>
                <a:lnTo>
                  <a:pt x="296913" y="222685"/>
                </a:lnTo>
                <a:cubicBezTo>
                  <a:pt x="296913" y="263653"/>
                  <a:pt x="263653" y="296913"/>
                  <a:pt x="222685" y="296913"/>
                </a:cubicBezTo>
                <a:lnTo>
                  <a:pt x="74228" y="296913"/>
                </a:lnTo>
                <a:cubicBezTo>
                  <a:pt x="33261" y="296913"/>
                  <a:pt x="0" y="263653"/>
                  <a:pt x="0" y="222685"/>
                </a:cubicBezTo>
                <a:lnTo>
                  <a:pt x="0" y="74228"/>
                </a:lnTo>
                <a:cubicBezTo>
                  <a:pt x="0" y="33261"/>
                  <a:pt x="33261" y="0"/>
                  <a:pt x="74228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493237" y="1983750"/>
            <a:ext cx="113662" cy="129900"/>
          </a:xfrm>
          <a:custGeom>
            <a:avLst/>
            <a:gdLst/>
            <a:ahLst/>
            <a:cxnLst/>
            <a:rect l="l" t="t" r="r" b="b"/>
            <a:pathLst>
              <a:path w="113662" h="129900">
                <a:moveTo>
                  <a:pt x="110313" y="17785"/>
                </a:moveTo>
                <a:cubicBezTo>
                  <a:pt x="113941" y="20424"/>
                  <a:pt x="114753" y="25498"/>
                  <a:pt x="112114" y="29126"/>
                </a:cubicBezTo>
                <a:lnTo>
                  <a:pt x="47165" y="118432"/>
                </a:lnTo>
                <a:cubicBezTo>
                  <a:pt x="45769" y="120360"/>
                  <a:pt x="43613" y="121552"/>
                  <a:pt x="41228" y="121755"/>
                </a:cubicBezTo>
                <a:cubicBezTo>
                  <a:pt x="38843" y="121958"/>
                  <a:pt x="36534" y="121070"/>
                  <a:pt x="34860" y="119396"/>
                </a:cubicBezTo>
                <a:lnTo>
                  <a:pt x="2385" y="86921"/>
                </a:lnTo>
                <a:cubicBezTo>
                  <a:pt x="-787" y="83750"/>
                  <a:pt x="-787" y="78599"/>
                  <a:pt x="2385" y="75428"/>
                </a:cubicBezTo>
                <a:cubicBezTo>
                  <a:pt x="5556" y="72257"/>
                  <a:pt x="10707" y="72257"/>
                  <a:pt x="13878" y="75428"/>
                </a:cubicBezTo>
                <a:lnTo>
                  <a:pt x="39630" y="101180"/>
                </a:lnTo>
                <a:lnTo>
                  <a:pt x="98998" y="19561"/>
                </a:lnTo>
                <a:cubicBezTo>
                  <a:pt x="101636" y="15933"/>
                  <a:pt x="106710" y="15121"/>
                  <a:pt x="110338" y="1776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6807548" y="1900243"/>
            <a:ext cx="2894904" cy="222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9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Fetch API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07548" y="2122928"/>
            <a:ext cx="2885626" cy="185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3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Make HTTP requests to origins or external services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399292" y="2419841"/>
            <a:ext cx="296913" cy="296913"/>
          </a:xfrm>
          <a:custGeom>
            <a:avLst/>
            <a:gdLst/>
            <a:ahLst/>
            <a:cxnLst/>
            <a:rect l="l" t="t" r="r" b="b"/>
            <a:pathLst>
              <a:path w="296913" h="296913">
                <a:moveTo>
                  <a:pt x="74228" y="0"/>
                </a:moveTo>
                <a:lnTo>
                  <a:pt x="222685" y="0"/>
                </a:lnTo>
                <a:cubicBezTo>
                  <a:pt x="263653" y="0"/>
                  <a:pt x="296913" y="33261"/>
                  <a:pt x="296913" y="74228"/>
                </a:cubicBezTo>
                <a:lnTo>
                  <a:pt x="296913" y="222685"/>
                </a:lnTo>
                <a:cubicBezTo>
                  <a:pt x="296913" y="263653"/>
                  <a:pt x="263653" y="296913"/>
                  <a:pt x="222685" y="296913"/>
                </a:cubicBezTo>
                <a:lnTo>
                  <a:pt x="74228" y="296913"/>
                </a:lnTo>
                <a:cubicBezTo>
                  <a:pt x="33261" y="296913"/>
                  <a:pt x="0" y="263653"/>
                  <a:pt x="0" y="222685"/>
                </a:cubicBezTo>
                <a:lnTo>
                  <a:pt x="0" y="74228"/>
                </a:lnTo>
                <a:cubicBezTo>
                  <a:pt x="0" y="33261"/>
                  <a:pt x="33261" y="0"/>
                  <a:pt x="74228" y="0"/>
                </a:cubicBezTo>
                <a:close/>
              </a:path>
            </a:pathLst>
          </a:custGeom>
          <a:solidFill>
            <a:srgbClr val="F48120">
              <a:alpha val="2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493237" y="2503348"/>
            <a:ext cx="113662" cy="129900"/>
          </a:xfrm>
          <a:custGeom>
            <a:avLst/>
            <a:gdLst/>
            <a:ahLst/>
            <a:cxnLst/>
            <a:rect l="l" t="t" r="r" b="b"/>
            <a:pathLst>
              <a:path w="113662" h="129900">
                <a:moveTo>
                  <a:pt x="110313" y="17785"/>
                </a:moveTo>
                <a:cubicBezTo>
                  <a:pt x="113941" y="20424"/>
                  <a:pt x="114753" y="25498"/>
                  <a:pt x="112114" y="29126"/>
                </a:cubicBezTo>
                <a:lnTo>
                  <a:pt x="47165" y="118432"/>
                </a:lnTo>
                <a:cubicBezTo>
                  <a:pt x="45769" y="120360"/>
                  <a:pt x="43613" y="121552"/>
                  <a:pt x="41228" y="121755"/>
                </a:cubicBezTo>
                <a:cubicBezTo>
                  <a:pt x="38843" y="121958"/>
                  <a:pt x="36534" y="121070"/>
                  <a:pt x="34860" y="119396"/>
                </a:cubicBezTo>
                <a:lnTo>
                  <a:pt x="2385" y="86921"/>
                </a:lnTo>
                <a:cubicBezTo>
                  <a:pt x="-787" y="83750"/>
                  <a:pt x="-787" y="78599"/>
                  <a:pt x="2385" y="75428"/>
                </a:cubicBezTo>
                <a:cubicBezTo>
                  <a:pt x="5556" y="72257"/>
                  <a:pt x="10707" y="72257"/>
                  <a:pt x="13878" y="75428"/>
                </a:cubicBezTo>
                <a:lnTo>
                  <a:pt x="39630" y="101180"/>
                </a:lnTo>
                <a:lnTo>
                  <a:pt x="98998" y="19561"/>
                </a:lnTo>
                <a:cubicBezTo>
                  <a:pt x="101636" y="15933"/>
                  <a:pt x="106710" y="15121"/>
                  <a:pt x="110338" y="17760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25" name="Text 23"/>
          <p:cNvSpPr/>
          <p:nvPr/>
        </p:nvSpPr>
        <p:spPr>
          <a:xfrm>
            <a:off x="6807548" y="2419841"/>
            <a:ext cx="2152621" cy="222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9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Cache API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07548" y="2642526"/>
            <a:ext cx="2143342" cy="185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3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 with Cloudflare's edge cache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99292" y="2939439"/>
            <a:ext cx="296913" cy="296913"/>
          </a:xfrm>
          <a:custGeom>
            <a:avLst/>
            <a:gdLst/>
            <a:ahLst/>
            <a:cxnLst/>
            <a:rect l="l" t="t" r="r" b="b"/>
            <a:pathLst>
              <a:path w="296913" h="296913">
                <a:moveTo>
                  <a:pt x="74228" y="0"/>
                </a:moveTo>
                <a:lnTo>
                  <a:pt x="222685" y="0"/>
                </a:lnTo>
                <a:cubicBezTo>
                  <a:pt x="263653" y="0"/>
                  <a:pt x="296913" y="33261"/>
                  <a:pt x="296913" y="74228"/>
                </a:cubicBezTo>
                <a:lnTo>
                  <a:pt x="296913" y="222685"/>
                </a:lnTo>
                <a:cubicBezTo>
                  <a:pt x="296913" y="263653"/>
                  <a:pt x="263653" y="296913"/>
                  <a:pt x="222685" y="296913"/>
                </a:cubicBezTo>
                <a:lnTo>
                  <a:pt x="74228" y="296913"/>
                </a:lnTo>
                <a:cubicBezTo>
                  <a:pt x="33261" y="296913"/>
                  <a:pt x="0" y="263653"/>
                  <a:pt x="0" y="222685"/>
                </a:cubicBezTo>
                <a:lnTo>
                  <a:pt x="0" y="74228"/>
                </a:lnTo>
                <a:cubicBezTo>
                  <a:pt x="0" y="33261"/>
                  <a:pt x="33261" y="0"/>
                  <a:pt x="74228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493237" y="3022946"/>
            <a:ext cx="113662" cy="129900"/>
          </a:xfrm>
          <a:custGeom>
            <a:avLst/>
            <a:gdLst/>
            <a:ahLst/>
            <a:cxnLst/>
            <a:rect l="l" t="t" r="r" b="b"/>
            <a:pathLst>
              <a:path w="113662" h="129900">
                <a:moveTo>
                  <a:pt x="110313" y="17785"/>
                </a:moveTo>
                <a:cubicBezTo>
                  <a:pt x="113941" y="20424"/>
                  <a:pt x="114753" y="25498"/>
                  <a:pt x="112114" y="29126"/>
                </a:cubicBezTo>
                <a:lnTo>
                  <a:pt x="47165" y="118432"/>
                </a:lnTo>
                <a:cubicBezTo>
                  <a:pt x="45769" y="120360"/>
                  <a:pt x="43613" y="121552"/>
                  <a:pt x="41228" y="121755"/>
                </a:cubicBezTo>
                <a:cubicBezTo>
                  <a:pt x="38843" y="121958"/>
                  <a:pt x="36534" y="121070"/>
                  <a:pt x="34860" y="119396"/>
                </a:cubicBezTo>
                <a:lnTo>
                  <a:pt x="2385" y="86921"/>
                </a:lnTo>
                <a:cubicBezTo>
                  <a:pt x="-787" y="83750"/>
                  <a:pt x="-787" y="78599"/>
                  <a:pt x="2385" y="75428"/>
                </a:cubicBezTo>
                <a:cubicBezTo>
                  <a:pt x="5556" y="72257"/>
                  <a:pt x="10707" y="72257"/>
                  <a:pt x="13878" y="75428"/>
                </a:cubicBezTo>
                <a:lnTo>
                  <a:pt x="39630" y="101180"/>
                </a:lnTo>
                <a:lnTo>
                  <a:pt x="98998" y="19561"/>
                </a:lnTo>
                <a:cubicBezTo>
                  <a:pt x="101636" y="15933"/>
                  <a:pt x="106710" y="15121"/>
                  <a:pt x="110338" y="1776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9" name="Text 27"/>
          <p:cNvSpPr/>
          <p:nvPr/>
        </p:nvSpPr>
        <p:spPr>
          <a:xfrm>
            <a:off x="6807548" y="2939439"/>
            <a:ext cx="3136146" cy="222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9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request.cf Object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807548" y="3162124"/>
            <a:ext cx="3126868" cy="185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3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Access Cloudflare properties (country, colo, bot score)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99292" y="3459037"/>
            <a:ext cx="296913" cy="296913"/>
          </a:xfrm>
          <a:custGeom>
            <a:avLst/>
            <a:gdLst/>
            <a:ahLst/>
            <a:cxnLst/>
            <a:rect l="l" t="t" r="r" b="b"/>
            <a:pathLst>
              <a:path w="296913" h="296913">
                <a:moveTo>
                  <a:pt x="74228" y="0"/>
                </a:moveTo>
                <a:lnTo>
                  <a:pt x="222685" y="0"/>
                </a:lnTo>
                <a:cubicBezTo>
                  <a:pt x="263653" y="0"/>
                  <a:pt x="296913" y="33261"/>
                  <a:pt x="296913" y="74228"/>
                </a:cubicBezTo>
                <a:lnTo>
                  <a:pt x="296913" y="222685"/>
                </a:lnTo>
                <a:cubicBezTo>
                  <a:pt x="296913" y="263653"/>
                  <a:pt x="263653" y="296913"/>
                  <a:pt x="222685" y="296913"/>
                </a:cubicBezTo>
                <a:lnTo>
                  <a:pt x="74228" y="296913"/>
                </a:lnTo>
                <a:cubicBezTo>
                  <a:pt x="33261" y="296913"/>
                  <a:pt x="0" y="263653"/>
                  <a:pt x="0" y="222685"/>
                </a:cubicBezTo>
                <a:lnTo>
                  <a:pt x="0" y="74228"/>
                </a:lnTo>
                <a:cubicBezTo>
                  <a:pt x="0" y="33261"/>
                  <a:pt x="33261" y="0"/>
                  <a:pt x="74228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493237" y="3542544"/>
            <a:ext cx="113662" cy="129900"/>
          </a:xfrm>
          <a:custGeom>
            <a:avLst/>
            <a:gdLst/>
            <a:ahLst/>
            <a:cxnLst/>
            <a:rect l="l" t="t" r="r" b="b"/>
            <a:pathLst>
              <a:path w="113662" h="129900">
                <a:moveTo>
                  <a:pt x="110313" y="17785"/>
                </a:moveTo>
                <a:cubicBezTo>
                  <a:pt x="113941" y="20424"/>
                  <a:pt x="114753" y="25498"/>
                  <a:pt x="112114" y="29126"/>
                </a:cubicBezTo>
                <a:lnTo>
                  <a:pt x="47165" y="118432"/>
                </a:lnTo>
                <a:cubicBezTo>
                  <a:pt x="45769" y="120360"/>
                  <a:pt x="43613" y="121552"/>
                  <a:pt x="41228" y="121755"/>
                </a:cubicBezTo>
                <a:cubicBezTo>
                  <a:pt x="38843" y="121958"/>
                  <a:pt x="36534" y="121070"/>
                  <a:pt x="34860" y="119396"/>
                </a:cubicBezTo>
                <a:lnTo>
                  <a:pt x="2385" y="86921"/>
                </a:lnTo>
                <a:cubicBezTo>
                  <a:pt x="-787" y="83750"/>
                  <a:pt x="-787" y="78599"/>
                  <a:pt x="2385" y="75428"/>
                </a:cubicBezTo>
                <a:cubicBezTo>
                  <a:pt x="5556" y="72257"/>
                  <a:pt x="10707" y="72257"/>
                  <a:pt x="13878" y="75428"/>
                </a:cubicBezTo>
                <a:lnTo>
                  <a:pt x="39630" y="101180"/>
                </a:lnTo>
                <a:lnTo>
                  <a:pt x="98998" y="19561"/>
                </a:lnTo>
                <a:cubicBezTo>
                  <a:pt x="101636" y="15933"/>
                  <a:pt x="106710" y="15121"/>
                  <a:pt x="110338" y="1776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6807548" y="3459037"/>
            <a:ext cx="2171178" cy="222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9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HTMLRewriter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807548" y="3681722"/>
            <a:ext cx="2161900" cy="185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3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Parse and transform HTML responses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TRANSFORMATION CAPABILITIES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Snippets Transformation Rules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2192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 main types of HTTP traffic modifications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680210"/>
            <a:ext cx="3674745" cy="3865245"/>
          </a:xfrm>
          <a:custGeom>
            <a:avLst/>
            <a:gdLst/>
            <a:ahLst/>
            <a:cxnLst/>
            <a:rect l="l" t="t" r="r" b="b"/>
            <a:pathLst>
              <a:path w="3674745" h="3865245">
                <a:moveTo>
                  <a:pt x="114285" y="0"/>
                </a:moveTo>
                <a:lnTo>
                  <a:pt x="3560460" y="0"/>
                </a:lnTo>
                <a:cubicBezTo>
                  <a:pt x="3623536" y="0"/>
                  <a:pt x="3674745" y="51209"/>
                  <a:pt x="3674745" y="114285"/>
                </a:cubicBezTo>
                <a:lnTo>
                  <a:pt x="3674745" y="3750960"/>
                </a:lnTo>
                <a:cubicBezTo>
                  <a:pt x="3674745" y="3814036"/>
                  <a:pt x="3623536" y="3865245"/>
                  <a:pt x="3560460" y="3865245"/>
                </a:cubicBezTo>
                <a:lnTo>
                  <a:pt x="114285" y="3865245"/>
                </a:lnTo>
                <a:cubicBezTo>
                  <a:pt x="51209" y="3865245"/>
                  <a:pt x="0" y="3814036"/>
                  <a:pt x="0" y="3750960"/>
                </a:cubicBezTo>
                <a:lnTo>
                  <a:pt x="0" y="114285"/>
                </a:lnTo>
                <a:cubicBezTo>
                  <a:pt x="0" y="51209"/>
                  <a:pt x="51209" y="0"/>
                  <a:pt x="114285" y="0"/>
                </a:cubicBezTo>
                <a:close/>
              </a:path>
            </a:pathLst>
          </a:custGeom>
          <a:solidFill>
            <a:srgbClr val="1E293B">
              <a:alpha val="80000"/>
            </a:srgbClr>
          </a:solidFill>
          <a:ln w="10160">
            <a:solidFill>
              <a:srgbClr val="F48120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9120" y="1874518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48120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17233" y="2026918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87300" y="42863"/>
                </a:moveTo>
                <a:cubicBezTo>
                  <a:pt x="179889" y="42863"/>
                  <a:pt x="172700" y="44872"/>
                  <a:pt x="166405" y="48533"/>
                </a:cubicBezTo>
                <a:cubicBezTo>
                  <a:pt x="159350" y="41389"/>
                  <a:pt x="151135" y="35406"/>
                  <a:pt x="142071" y="30897"/>
                </a:cubicBezTo>
                <a:cubicBezTo>
                  <a:pt x="154662" y="20181"/>
                  <a:pt x="170691" y="14288"/>
                  <a:pt x="187300" y="14288"/>
                </a:cubicBezTo>
                <a:cubicBezTo>
                  <a:pt x="225876" y="14288"/>
                  <a:pt x="257175" y="45541"/>
                  <a:pt x="257175" y="84162"/>
                </a:cubicBezTo>
                <a:cubicBezTo>
                  <a:pt x="257175" y="102691"/>
                  <a:pt x="249808" y="120461"/>
                  <a:pt x="236726" y="133543"/>
                </a:cubicBezTo>
                <a:lnTo>
                  <a:pt x="204981" y="165289"/>
                </a:lnTo>
                <a:cubicBezTo>
                  <a:pt x="191899" y="178371"/>
                  <a:pt x="174129" y="185738"/>
                  <a:pt x="155600" y="185738"/>
                </a:cubicBezTo>
                <a:cubicBezTo>
                  <a:pt x="117024" y="185738"/>
                  <a:pt x="85725" y="154484"/>
                  <a:pt x="85725" y="115863"/>
                </a:cubicBezTo>
                <a:cubicBezTo>
                  <a:pt x="85725" y="115193"/>
                  <a:pt x="85725" y="114523"/>
                  <a:pt x="85770" y="113854"/>
                </a:cubicBezTo>
                <a:cubicBezTo>
                  <a:pt x="85993" y="105951"/>
                  <a:pt x="92556" y="99745"/>
                  <a:pt x="100459" y="99968"/>
                </a:cubicBezTo>
                <a:cubicBezTo>
                  <a:pt x="108362" y="100191"/>
                  <a:pt x="114568" y="106754"/>
                  <a:pt x="114345" y="114657"/>
                </a:cubicBezTo>
                <a:cubicBezTo>
                  <a:pt x="114345" y="115059"/>
                  <a:pt x="114345" y="115461"/>
                  <a:pt x="114345" y="115818"/>
                </a:cubicBezTo>
                <a:cubicBezTo>
                  <a:pt x="114345" y="138633"/>
                  <a:pt x="132829" y="157118"/>
                  <a:pt x="155644" y="157118"/>
                </a:cubicBezTo>
                <a:cubicBezTo>
                  <a:pt x="166583" y="157118"/>
                  <a:pt x="177076" y="152787"/>
                  <a:pt x="184845" y="145018"/>
                </a:cubicBezTo>
                <a:lnTo>
                  <a:pt x="216590" y="113273"/>
                </a:lnTo>
                <a:cubicBezTo>
                  <a:pt x="224314" y="105549"/>
                  <a:pt x="228689" y="95012"/>
                  <a:pt x="228689" y="84073"/>
                </a:cubicBezTo>
                <a:cubicBezTo>
                  <a:pt x="228689" y="61258"/>
                  <a:pt x="210205" y="42773"/>
                  <a:pt x="187389" y="42773"/>
                </a:cubicBezTo>
                <a:close/>
                <a:moveTo>
                  <a:pt x="122873" y="77376"/>
                </a:moveTo>
                <a:cubicBezTo>
                  <a:pt x="122024" y="77019"/>
                  <a:pt x="121176" y="76527"/>
                  <a:pt x="120417" y="75992"/>
                </a:cubicBezTo>
                <a:cubicBezTo>
                  <a:pt x="114791" y="73089"/>
                  <a:pt x="108362" y="71438"/>
                  <a:pt x="101620" y="71438"/>
                </a:cubicBezTo>
                <a:cubicBezTo>
                  <a:pt x="90681" y="71438"/>
                  <a:pt x="80189" y="75768"/>
                  <a:pt x="72420" y="83537"/>
                </a:cubicBezTo>
                <a:lnTo>
                  <a:pt x="40675" y="115282"/>
                </a:lnTo>
                <a:cubicBezTo>
                  <a:pt x="32951" y="123006"/>
                  <a:pt x="28575" y="133543"/>
                  <a:pt x="28575" y="144482"/>
                </a:cubicBezTo>
                <a:cubicBezTo>
                  <a:pt x="28575" y="167298"/>
                  <a:pt x="47059" y="185782"/>
                  <a:pt x="69875" y="185782"/>
                </a:cubicBezTo>
                <a:cubicBezTo>
                  <a:pt x="77242" y="185782"/>
                  <a:pt x="84430" y="183818"/>
                  <a:pt x="90726" y="180156"/>
                </a:cubicBezTo>
                <a:cubicBezTo>
                  <a:pt x="97780" y="187300"/>
                  <a:pt x="105995" y="193283"/>
                  <a:pt x="115104" y="197793"/>
                </a:cubicBezTo>
                <a:cubicBezTo>
                  <a:pt x="102513" y="208464"/>
                  <a:pt x="86529" y="214402"/>
                  <a:pt x="69875" y="214402"/>
                </a:cubicBezTo>
                <a:cubicBezTo>
                  <a:pt x="31299" y="214402"/>
                  <a:pt x="0" y="183148"/>
                  <a:pt x="0" y="144527"/>
                </a:cubicBezTo>
                <a:cubicBezTo>
                  <a:pt x="0" y="125998"/>
                  <a:pt x="7367" y="108228"/>
                  <a:pt x="20449" y="95146"/>
                </a:cubicBezTo>
                <a:lnTo>
                  <a:pt x="52194" y="63401"/>
                </a:lnTo>
                <a:cubicBezTo>
                  <a:pt x="65276" y="50319"/>
                  <a:pt x="83046" y="42952"/>
                  <a:pt x="101575" y="42952"/>
                </a:cubicBezTo>
                <a:cubicBezTo>
                  <a:pt x="140241" y="42952"/>
                  <a:pt x="171450" y="74474"/>
                  <a:pt x="171450" y="113005"/>
                </a:cubicBezTo>
                <a:cubicBezTo>
                  <a:pt x="171450" y="113586"/>
                  <a:pt x="171450" y="114166"/>
                  <a:pt x="171450" y="114746"/>
                </a:cubicBezTo>
                <a:cubicBezTo>
                  <a:pt x="171271" y="122649"/>
                  <a:pt x="164708" y="128855"/>
                  <a:pt x="156805" y="128677"/>
                </a:cubicBezTo>
                <a:cubicBezTo>
                  <a:pt x="148903" y="128498"/>
                  <a:pt x="142696" y="121935"/>
                  <a:pt x="142875" y="114032"/>
                </a:cubicBezTo>
                <a:cubicBezTo>
                  <a:pt x="142875" y="113675"/>
                  <a:pt x="142875" y="113362"/>
                  <a:pt x="142875" y="113005"/>
                </a:cubicBezTo>
                <a:cubicBezTo>
                  <a:pt x="142875" y="97959"/>
                  <a:pt x="134838" y="84743"/>
                  <a:pt x="122873" y="77465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8" name="Text 6"/>
          <p:cNvSpPr/>
          <p:nvPr/>
        </p:nvSpPr>
        <p:spPr>
          <a:xfrm>
            <a:off x="1226820" y="1988818"/>
            <a:ext cx="13620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URL Rewrite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9120" y="2560318"/>
            <a:ext cx="33623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Modify the URL path and query string of HTTP requests dynamically using JavaScript logic.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6270" y="3749036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73551" y="69473"/>
                </a:move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2205" y="134303"/>
                  <a:pt x="16163" y="134303"/>
                  <a:pt x="12442" y="130582"/>
                </a:cubicBezTo>
                <a:cubicBezTo>
                  <a:pt x="8721" y="126861"/>
                  <a:pt x="8721" y="120819"/>
                  <a:pt x="12442" y="117098"/>
                </a:cubicBezTo>
                <a:lnTo>
                  <a:pt x="53340" y="76200"/>
                </a:lnTo>
                <a:lnTo>
                  <a:pt x="12472" y="35302"/>
                </a:lnTo>
                <a:cubicBezTo>
                  <a:pt x="8751" y="31581"/>
                  <a:pt x="8751" y="25539"/>
                  <a:pt x="12472" y="21818"/>
                </a:cubicBezTo>
                <a:cubicBezTo>
                  <a:pt x="16193" y="18098"/>
                  <a:pt x="22235" y="18098"/>
                  <a:pt x="25956" y="21818"/>
                </a:cubicBezTo>
                <a:lnTo>
                  <a:pt x="73581" y="69443"/>
                </a:ln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11" name="Text 9"/>
          <p:cNvSpPr/>
          <p:nvPr/>
        </p:nvSpPr>
        <p:spPr>
          <a:xfrm>
            <a:off x="845820" y="3710936"/>
            <a:ext cx="2343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Rewrite paths based on conditions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6270" y="4053836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73551" y="69473"/>
                </a:move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2205" y="134303"/>
                  <a:pt x="16163" y="134303"/>
                  <a:pt x="12442" y="130582"/>
                </a:cubicBezTo>
                <a:cubicBezTo>
                  <a:pt x="8721" y="126861"/>
                  <a:pt x="8721" y="120819"/>
                  <a:pt x="12442" y="117098"/>
                </a:cubicBezTo>
                <a:lnTo>
                  <a:pt x="53340" y="76200"/>
                </a:lnTo>
                <a:lnTo>
                  <a:pt x="12472" y="35302"/>
                </a:lnTo>
                <a:cubicBezTo>
                  <a:pt x="8751" y="31581"/>
                  <a:pt x="8751" y="25539"/>
                  <a:pt x="12472" y="21818"/>
                </a:cubicBezTo>
                <a:cubicBezTo>
                  <a:pt x="16193" y="18098"/>
                  <a:pt x="22235" y="18098"/>
                  <a:pt x="25956" y="21818"/>
                </a:cubicBezTo>
                <a:lnTo>
                  <a:pt x="73581" y="69443"/>
                </a:ln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13" name="Text 11"/>
          <p:cNvSpPr/>
          <p:nvPr/>
        </p:nvSpPr>
        <p:spPr>
          <a:xfrm>
            <a:off x="845820" y="4015736"/>
            <a:ext cx="1743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Modify query parameters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36270" y="4358636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73551" y="69473"/>
                </a:move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2205" y="134303"/>
                  <a:pt x="16163" y="134303"/>
                  <a:pt x="12442" y="130582"/>
                </a:cubicBezTo>
                <a:cubicBezTo>
                  <a:pt x="8721" y="126861"/>
                  <a:pt x="8721" y="120819"/>
                  <a:pt x="12442" y="117098"/>
                </a:cubicBezTo>
                <a:lnTo>
                  <a:pt x="53340" y="76200"/>
                </a:lnTo>
                <a:lnTo>
                  <a:pt x="12472" y="35302"/>
                </a:lnTo>
                <a:cubicBezTo>
                  <a:pt x="8751" y="31581"/>
                  <a:pt x="8751" y="25539"/>
                  <a:pt x="12472" y="21818"/>
                </a:cubicBezTo>
                <a:cubicBezTo>
                  <a:pt x="16193" y="18098"/>
                  <a:pt x="22235" y="18098"/>
                  <a:pt x="25956" y="21818"/>
                </a:cubicBezTo>
                <a:lnTo>
                  <a:pt x="73581" y="69443"/>
                </a:ln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15" name="Text 13"/>
          <p:cNvSpPr/>
          <p:nvPr/>
        </p:nvSpPr>
        <p:spPr>
          <a:xfrm>
            <a:off x="845820" y="432053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Dynamic URL construction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79120" y="4701536"/>
            <a:ext cx="3286125" cy="647700"/>
          </a:xfrm>
          <a:custGeom>
            <a:avLst/>
            <a:gdLst/>
            <a:ahLst/>
            <a:cxnLst/>
            <a:rect l="l" t="t" r="r" b="b"/>
            <a:pathLst>
              <a:path w="3286125" h="647700">
                <a:moveTo>
                  <a:pt x="76202" y="0"/>
                </a:moveTo>
                <a:lnTo>
                  <a:pt x="3209923" y="0"/>
                </a:lnTo>
                <a:cubicBezTo>
                  <a:pt x="3252008" y="0"/>
                  <a:pt x="3286125" y="34117"/>
                  <a:pt x="3286125" y="76202"/>
                </a:cubicBezTo>
                <a:lnTo>
                  <a:pt x="3286125" y="571498"/>
                </a:lnTo>
                <a:cubicBezTo>
                  <a:pt x="3286125" y="613583"/>
                  <a:pt x="3252008" y="647700"/>
                  <a:pt x="3209923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7" name="Text 15"/>
          <p:cNvSpPr/>
          <p:nvPr/>
        </p:nvSpPr>
        <p:spPr>
          <a:xfrm>
            <a:off x="693420" y="4815836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481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Case Example: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3420" y="5044436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 UTM parameters for social media traffic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258270" y="1680210"/>
            <a:ext cx="3674745" cy="3865245"/>
          </a:xfrm>
          <a:custGeom>
            <a:avLst/>
            <a:gdLst/>
            <a:ahLst/>
            <a:cxnLst/>
            <a:rect l="l" t="t" r="r" b="b"/>
            <a:pathLst>
              <a:path w="3674745" h="3865245">
                <a:moveTo>
                  <a:pt x="114285" y="0"/>
                </a:moveTo>
                <a:lnTo>
                  <a:pt x="3560460" y="0"/>
                </a:lnTo>
                <a:cubicBezTo>
                  <a:pt x="3623536" y="0"/>
                  <a:pt x="3674745" y="51209"/>
                  <a:pt x="3674745" y="114285"/>
                </a:cubicBezTo>
                <a:lnTo>
                  <a:pt x="3674745" y="3750960"/>
                </a:lnTo>
                <a:cubicBezTo>
                  <a:pt x="3674745" y="3814036"/>
                  <a:pt x="3623536" y="3865245"/>
                  <a:pt x="3560460" y="3865245"/>
                </a:cubicBezTo>
                <a:lnTo>
                  <a:pt x="114285" y="3865245"/>
                </a:lnTo>
                <a:cubicBezTo>
                  <a:pt x="51209" y="3865245"/>
                  <a:pt x="0" y="3814036"/>
                  <a:pt x="0" y="3750960"/>
                </a:cubicBezTo>
                <a:lnTo>
                  <a:pt x="0" y="114285"/>
                </a:lnTo>
                <a:cubicBezTo>
                  <a:pt x="0" y="51209"/>
                  <a:pt x="51209" y="0"/>
                  <a:pt x="114285" y="0"/>
                </a:cubicBezTo>
                <a:close/>
              </a:path>
            </a:pathLst>
          </a:custGeom>
          <a:solidFill>
            <a:srgbClr val="1E293B">
              <a:alpha val="80000"/>
            </a:srgbClr>
          </a:soli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52580" y="1874518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604980" y="202691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5100281" y="1988818"/>
            <a:ext cx="1847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Request Headers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452580" y="2560318"/>
            <a:ext cx="33623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Set, modify, or remove HTTP request headers before they reach your origin server.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509730" y="3749036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73551" y="69473"/>
                </a:move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2205" y="134303"/>
                  <a:pt x="16163" y="134303"/>
                  <a:pt x="12442" y="130582"/>
                </a:cubicBezTo>
                <a:cubicBezTo>
                  <a:pt x="8721" y="126861"/>
                  <a:pt x="8721" y="120819"/>
                  <a:pt x="12442" y="117098"/>
                </a:cubicBezTo>
                <a:lnTo>
                  <a:pt x="53340" y="76200"/>
                </a:lnTo>
                <a:lnTo>
                  <a:pt x="12472" y="35302"/>
                </a:lnTo>
                <a:cubicBezTo>
                  <a:pt x="8751" y="31581"/>
                  <a:pt x="8751" y="25539"/>
                  <a:pt x="12472" y="21818"/>
                </a:cubicBezTo>
                <a:cubicBezTo>
                  <a:pt x="16193" y="18098"/>
                  <a:pt x="22235" y="18098"/>
                  <a:pt x="25956" y="21818"/>
                </a:cubicBezTo>
                <a:lnTo>
                  <a:pt x="73581" y="69443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5" name="Text 23"/>
          <p:cNvSpPr/>
          <p:nvPr/>
        </p:nvSpPr>
        <p:spPr>
          <a:xfrm>
            <a:off x="4719280" y="3710936"/>
            <a:ext cx="1790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 authentication tokens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509730" y="4053836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73551" y="69473"/>
                </a:move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2205" y="134303"/>
                  <a:pt x="16163" y="134303"/>
                  <a:pt x="12442" y="130582"/>
                </a:cubicBezTo>
                <a:cubicBezTo>
                  <a:pt x="8721" y="126861"/>
                  <a:pt x="8721" y="120819"/>
                  <a:pt x="12442" y="117098"/>
                </a:cubicBezTo>
                <a:lnTo>
                  <a:pt x="53340" y="76200"/>
                </a:lnTo>
                <a:lnTo>
                  <a:pt x="12472" y="35302"/>
                </a:lnTo>
                <a:cubicBezTo>
                  <a:pt x="8751" y="31581"/>
                  <a:pt x="8751" y="25539"/>
                  <a:pt x="12472" y="21818"/>
                </a:cubicBezTo>
                <a:cubicBezTo>
                  <a:pt x="16193" y="18098"/>
                  <a:pt x="22235" y="18098"/>
                  <a:pt x="25956" y="21818"/>
                </a:cubicBezTo>
                <a:lnTo>
                  <a:pt x="73581" y="69443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7" name="Text 25"/>
          <p:cNvSpPr/>
          <p:nvPr/>
        </p:nvSpPr>
        <p:spPr>
          <a:xfrm>
            <a:off x="4719280" y="4015736"/>
            <a:ext cx="2028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Modify X-Forwarded headers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509730" y="4358636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73551" y="69473"/>
                </a:move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2205" y="134303"/>
                  <a:pt x="16163" y="134303"/>
                  <a:pt x="12442" y="130582"/>
                </a:cubicBezTo>
                <a:cubicBezTo>
                  <a:pt x="8721" y="126861"/>
                  <a:pt x="8721" y="120819"/>
                  <a:pt x="12442" y="117098"/>
                </a:cubicBezTo>
                <a:lnTo>
                  <a:pt x="53340" y="76200"/>
                </a:lnTo>
                <a:lnTo>
                  <a:pt x="12472" y="35302"/>
                </a:lnTo>
                <a:cubicBezTo>
                  <a:pt x="8751" y="31581"/>
                  <a:pt x="8751" y="25539"/>
                  <a:pt x="12472" y="21818"/>
                </a:cubicBezTo>
                <a:cubicBezTo>
                  <a:pt x="16193" y="18098"/>
                  <a:pt x="22235" y="18098"/>
                  <a:pt x="25956" y="21818"/>
                </a:cubicBezTo>
                <a:lnTo>
                  <a:pt x="73581" y="69443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9" name="Text 27"/>
          <p:cNvSpPr/>
          <p:nvPr/>
        </p:nvSpPr>
        <p:spPr>
          <a:xfrm>
            <a:off x="4719280" y="4320536"/>
            <a:ext cx="2028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 custom request identifiers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452580" y="4701536"/>
            <a:ext cx="3286125" cy="647700"/>
          </a:xfrm>
          <a:custGeom>
            <a:avLst/>
            <a:gdLst/>
            <a:ahLst/>
            <a:cxnLst/>
            <a:rect l="l" t="t" r="r" b="b"/>
            <a:pathLst>
              <a:path w="3286125" h="647700">
                <a:moveTo>
                  <a:pt x="76202" y="0"/>
                </a:moveTo>
                <a:lnTo>
                  <a:pt x="3209923" y="0"/>
                </a:lnTo>
                <a:cubicBezTo>
                  <a:pt x="3252008" y="0"/>
                  <a:pt x="3286125" y="34117"/>
                  <a:pt x="3286125" y="76202"/>
                </a:cubicBezTo>
                <a:lnTo>
                  <a:pt x="3286125" y="571498"/>
                </a:lnTo>
                <a:cubicBezTo>
                  <a:pt x="3286125" y="613583"/>
                  <a:pt x="3252008" y="647700"/>
                  <a:pt x="3209923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31" name="Text 29"/>
          <p:cNvSpPr/>
          <p:nvPr/>
        </p:nvSpPr>
        <p:spPr>
          <a:xfrm>
            <a:off x="4566880" y="4815836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Case Example: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566880" y="5044436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 bot score headers for origin processing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131731" y="1680210"/>
            <a:ext cx="3674745" cy="3865245"/>
          </a:xfrm>
          <a:custGeom>
            <a:avLst/>
            <a:gdLst/>
            <a:ahLst/>
            <a:cxnLst/>
            <a:rect l="l" t="t" r="r" b="b"/>
            <a:pathLst>
              <a:path w="3674745" h="3865245">
                <a:moveTo>
                  <a:pt x="114285" y="0"/>
                </a:moveTo>
                <a:lnTo>
                  <a:pt x="3560460" y="0"/>
                </a:lnTo>
                <a:cubicBezTo>
                  <a:pt x="3623536" y="0"/>
                  <a:pt x="3674745" y="51209"/>
                  <a:pt x="3674745" y="114285"/>
                </a:cubicBezTo>
                <a:lnTo>
                  <a:pt x="3674745" y="3750960"/>
                </a:lnTo>
                <a:cubicBezTo>
                  <a:pt x="3674745" y="3814036"/>
                  <a:pt x="3623536" y="3865245"/>
                  <a:pt x="3560460" y="3865245"/>
                </a:cubicBezTo>
                <a:lnTo>
                  <a:pt x="114285" y="3865245"/>
                </a:lnTo>
                <a:cubicBezTo>
                  <a:pt x="51209" y="3865245"/>
                  <a:pt x="0" y="3814036"/>
                  <a:pt x="0" y="3750960"/>
                </a:cubicBezTo>
                <a:lnTo>
                  <a:pt x="0" y="114285"/>
                </a:lnTo>
                <a:cubicBezTo>
                  <a:pt x="0" y="51209"/>
                  <a:pt x="51209" y="0"/>
                  <a:pt x="114285" y="0"/>
                </a:cubicBezTo>
                <a:close/>
              </a:path>
            </a:pathLst>
          </a:custGeom>
          <a:solidFill>
            <a:srgbClr val="1E293B">
              <a:alpha val="80000"/>
            </a:srgbClr>
          </a:solidFill>
          <a:ln w="1016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26041" y="1874518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8478441" y="202691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4197" y="104209"/>
                </a:moveTo>
                <a:cubicBezTo>
                  <a:pt x="-1384" y="109791"/>
                  <a:pt x="-1384" y="118854"/>
                  <a:pt x="4197" y="124435"/>
                </a:cubicBezTo>
                <a:lnTo>
                  <a:pt x="75634" y="195873"/>
                </a:lnTo>
                <a:cubicBezTo>
                  <a:pt x="81216" y="201454"/>
                  <a:pt x="90279" y="201454"/>
                  <a:pt x="95860" y="195873"/>
                </a:cubicBezTo>
                <a:cubicBezTo>
                  <a:pt x="101441" y="190292"/>
                  <a:pt x="101441" y="181228"/>
                  <a:pt x="95860" y="175647"/>
                </a:cubicBezTo>
                <a:lnTo>
                  <a:pt x="48801" y="128588"/>
                </a:lnTo>
                <a:lnTo>
                  <a:pt x="214313" y="128588"/>
                </a:lnTo>
                <a:cubicBezTo>
                  <a:pt x="222215" y="128588"/>
                  <a:pt x="228600" y="122203"/>
                  <a:pt x="228600" y="114300"/>
                </a:cubicBezTo>
                <a:cubicBezTo>
                  <a:pt x="228600" y="106397"/>
                  <a:pt x="222215" y="100013"/>
                  <a:pt x="214313" y="100013"/>
                </a:cubicBezTo>
                <a:lnTo>
                  <a:pt x="48801" y="100013"/>
                </a:lnTo>
                <a:lnTo>
                  <a:pt x="95860" y="52953"/>
                </a:lnTo>
                <a:cubicBezTo>
                  <a:pt x="101441" y="47372"/>
                  <a:pt x="101441" y="38308"/>
                  <a:pt x="95860" y="32727"/>
                </a:cubicBezTo>
                <a:cubicBezTo>
                  <a:pt x="90279" y="27146"/>
                  <a:pt x="81216" y="27146"/>
                  <a:pt x="75634" y="32727"/>
                </a:cubicBezTo>
                <a:lnTo>
                  <a:pt x="4197" y="104165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6" name="Text 34"/>
          <p:cNvSpPr/>
          <p:nvPr/>
        </p:nvSpPr>
        <p:spPr>
          <a:xfrm>
            <a:off x="8973741" y="1988818"/>
            <a:ext cx="2000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Response Headers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326041" y="2560318"/>
            <a:ext cx="33623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Set, modify, or remove HTTP response headers before they reach the website visitor.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383191" y="3749036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73551" y="69473"/>
                </a:move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2205" y="134303"/>
                  <a:pt x="16163" y="134303"/>
                  <a:pt x="12442" y="130582"/>
                </a:cubicBezTo>
                <a:cubicBezTo>
                  <a:pt x="8721" y="126861"/>
                  <a:pt x="8721" y="120819"/>
                  <a:pt x="12442" y="117098"/>
                </a:cubicBezTo>
                <a:lnTo>
                  <a:pt x="53340" y="76200"/>
                </a:lnTo>
                <a:lnTo>
                  <a:pt x="12472" y="35302"/>
                </a:lnTo>
                <a:cubicBezTo>
                  <a:pt x="8751" y="31581"/>
                  <a:pt x="8751" y="25539"/>
                  <a:pt x="12472" y="21818"/>
                </a:cubicBezTo>
                <a:cubicBezTo>
                  <a:pt x="16193" y="18098"/>
                  <a:pt x="22235" y="18098"/>
                  <a:pt x="25956" y="21818"/>
                </a:cubicBezTo>
                <a:lnTo>
                  <a:pt x="73581" y="69443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9" name="Text 37"/>
          <p:cNvSpPr/>
          <p:nvPr/>
        </p:nvSpPr>
        <p:spPr>
          <a:xfrm>
            <a:off x="8592741" y="3710936"/>
            <a:ext cx="1657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 cookies dynamically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383191" y="4053836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73551" y="69473"/>
                </a:move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2205" y="134303"/>
                  <a:pt x="16163" y="134303"/>
                  <a:pt x="12442" y="130582"/>
                </a:cubicBezTo>
                <a:cubicBezTo>
                  <a:pt x="8721" y="126861"/>
                  <a:pt x="8721" y="120819"/>
                  <a:pt x="12442" y="117098"/>
                </a:cubicBezTo>
                <a:lnTo>
                  <a:pt x="53340" y="76200"/>
                </a:lnTo>
                <a:lnTo>
                  <a:pt x="12472" y="35302"/>
                </a:lnTo>
                <a:cubicBezTo>
                  <a:pt x="8751" y="31581"/>
                  <a:pt x="8751" y="25539"/>
                  <a:pt x="12472" y="21818"/>
                </a:cubicBezTo>
                <a:cubicBezTo>
                  <a:pt x="16193" y="18098"/>
                  <a:pt x="22235" y="18098"/>
                  <a:pt x="25956" y="21818"/>
                </a:cubicBezTo>
                <a:lnTo>
                  <a:pt x="73581" y="69443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1" name="Text 39"/>
          <p:cNvSpPr/>
          <p:nvPr/>
        </p:nvSpPr>
        <p:spPr>
          <a:xfrm>
            <a:off x="8592741" y="4015736"/>
            <a:ext cx="1466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 security headers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383191" y="4358636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73551" y="69473"/>
                </a:move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2205" y="134303"/>
                  <a:pt x="16163" y="134303"/>
                  <a:pt x="12442" y="130582"/>
                </a:cubicBezTo>
                <a:cubicBezTo>
                  <a:pt x="8721" y="126861"/>
                  <a:pt x="8721" y="120819"/>
                  <a:pt x="12442" y="117098"/>
                </a:cubicBezTo>
                <a:lnTo>
                  <a:pt x="53340" y="76200"/>
                </a:lnTo>
                <a:lnTo>
                  <a:pt x="12472" y="35302"/>
                </a:lnTo>
                <a:cubicBezTo>
                  <a:pt x="8751" y="31581"/>
                  <a:pt x="8751" y="25539"/>
                  <a:pt x="12472" y="21818"/>
                </a:cubicBezTo>
                <a:cubicBezTo>
                  <a:pt x="16193" y="18098"/>
                  <a:pt x="22235" y="18098"/>
                  <a:pt x="25956" y="21818"/>
                </a:cubicBezTo>
                <a:lnTo>
                  <a:pt x="73581" y="69443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3" name="Text 41"/>
          <p:cNvSpPr/>
          <p:nvPr/>
        </p:nvSpPr>
        <p:spPr>
          <a:xfrm>
            <a:off x="8592741" y="4320536"/>
            <a:ext cx="2066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Modify cache-control headers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326041" y="4701536"/>
            <a:ext cx="3286125" cy="647700"/>
          </a:xfrm>
          <a:custGeom>
            <a:avLst/>
            <a:gdLst/>
            <a:ahLst/>
            <a:cxnLst/>
            <a:rect l="l" t="t" r="r" b="b"/>
            <a:pathLst>
              <a:path w="3286125" h="647700">
                <a:moveTo>
                  <a:pt x="76202" y="0"/>
                </a:moveTo>
                <a:lnTo>
                  <a:pt x="3209923" y="0"/>
                </a:lnTo>
                <a:cubicBezTo>
                  <a:pt x="3252008" y="0"/>
                  <a:pt x="3286125" y="34117"/>
                  <a:pt x="3286125" y="76202"/>
                </a:cubicBezTo>
                <a:lnTo>
                  <a:pt x="3286125" y="571498"/>
                </a:lnTo>
                <a:cubicBezTo>
                  <a:pt x="3286125" y="613583"/>
                  <a:pt x="3252008" y="647700"/>
                  <a:pt x="3209923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45" name="Text 43"/>
          <p:cNvSpPr/>
          <p:nvPr/>
        </p:nvSpPr>
        <p:spPr>
          <a:xfrm>
            <a:off x="8440341" y="4815836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Case Example: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440341" y="5044436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 A/B testing cookies with expiry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384810" y="5703569"/>
            <a:ext cx="11418570" cy="769620"/>
          </a:xfrm>
          <a:custGeom>
            <a:avLst/>
            <a:gdLst/>
            <a:ahLst/>
            <a:cxnLst/>
            <a:rect l="l" t="t" r="r" b="b"/>
            <a:pathLst>
              <a:path w="11418570" h="769620">
                <a:moveTo>
                  <a:pt x="76200" y="0"/>
                </a:moveTo>
                <a:lnTo>
                  <a:pt x="11342370" y="0"/>
                </a:lnTo>
                <a:cubicBezTo>
                  <a:pt x="11384454" y="0"/>
                  <a:pt x="11418570" y="34116"/>
                  <a:pt x="11418570" y="76200"/>
                </a:cubicBezTo>
                <a:lnTo>
                  <a:pt x="11418570" y="693420"/>
                </a:lnTo>
                <a:cubicBezTo>
                  <a:pt x="11418570" y="735504"/>
                  <a:pt x="11384454" y="769620"/>
                  <a:pt x="11342370" y="769620"/>
                </a:cubicBezTo>
                <a:lnTo>
                  <a:pt x="76200" y="769620"/>
                </a:lnTo>
                <a:cubicBezTo>
                  <a:pt x="34116" y="769620"/>
                  <a:pt x="0" y="735504"/>
                  <a:pt x="0" y="69342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 w="1016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67727" y="5859777"/>
            <a:ext cx="10858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Advantage: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Snippets extend beyond built-in Transform Rules, enabling complex logic like dynamic calculations, conditional transformations, and JavaScript-powered modifications.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spc="50" kern="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SNIPPETS EXAMPLE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Geolocation-Based Redirects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1016000"/>
            <a:ext cx="11628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Route users to country-specific website versions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675" y="1368425"/>
            <a:ext cx="5689600" cy="10134600"/>
          </a:xfrm>
          <a:custGeom>
            <a:avLst/>
            <a:gdLst/>
            <a:ahLst/>
            <a:cxnLst/>
            <a:rect l="l" t="t" r="r" b="b"/>
            <a:pathLst>
              <a:path w="5689600" h="10134600">
                <a:moveTo>
                  <a:pt x="95244" y="0"/>
                </a:moveTo>
                <a:lnTo>
                  <a:pt x="5594356" y="0"/>
                </a:lnTo>
                <a:cubicBezTo>
                  <a:pt x="5646958" y="0"/>
                  <a:pt x="5689600" y="42642"/>
                  <a:pt x="5689600" y="95244"/>
                </a:cubicBezTo>
                <a:lnTo>
                  <a:pt x="5689600" y="10039356"/>
                </a:lnTo>
                <a:cubicBezTo>
                  <a:pt x="5689600" y="10091958"/>
                  <a:pt x="5646958" y="10134600"/>
                  <a:pt x="5594356" y="10134600"/>
                </a:cubicBezTo>
                <a:lnTo>
                  <a:pt x="95244" y="10134600"/>
                </a:lnTo>
                <a:cubicBezTo>
                  <a:pt x="42642" y="10134600"/>
                  <a:pt x="0" y="10091958"/>
                  <a:pt x="0" y="10039356"/>
                </a:cubicBezTo>
                <a:lnTo>
                  <a:pt x="0" y="95244"/>
                </a:lnTo>
                <a:cubicBezTo>
                  <a:pt x="0" y="42677"/>
                  <a:pt x="42677" y="0"/>
                  <a:pt x="95244" y="0"/>
                </a:cubicBezTo>
                <a:close/>
              </a:path>
            </a:pathLst>
          </a:custGeom>
          <a:solidFill>
            <a:srgbClr val="1E293B">
              <a:alpha val="80000"/>
            </a:srgbClr>
          </a:solidFill>
          <a:ln w="1016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2287" y="1562106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0" y="19844"/>
                </a:moveTo>
                <a:cubicBezTo>
                  <a:pt x="0" y="8899"/>
                  <a:pt x="8899" y="0"/>
                  <a:pt x="19844" y="0"/>
                </a:cubicBezTo>
                <a:lnTo>
                  <a:pt x="66198" y="0"/>
                </a:lnTo>
                <a:cubicBezTo>
                  <a:pt x="71469" y="0"/>
                  <a:pt x="76522" y="2077"/>
                  <a:pt x="80243" y="5798"/>
                </a:cubicBezTo>
                <a:lnTo>
                  <a:pt x="113264" y="38850"/>
                </a:lnTo>
                <a:cubicBezTo>
                  <a:pt x="116985" y="42571"/>
                  <a:pt x="119062" y="47625"/>
                  <a:pt x="119062" y="52896"/>
                </a:cubicBezTo>
                <a:lnTo>
                  <a:pt x="119062" y="138906"/>
                </a:lnTo>
                <a:cubicBezTo>
                  <a:pt x="119062" y="149851"/>
                  <a:pt x="110164" y="158750"/>
                  <a:pt x="99219" y="158750"/>
                </a:cubicBezTo>
                <a:lnTo>
                  <a:pt x="19844" y="158750"/>
                </a:lnTo>
                <a:cubicBezTo>
                  <a:pt x="8899" y="158750"/>
                  <a:pt x="0" y="149851"/>
                  <a:pt x="0" y="138906"/>
                </a:cubicBezTo>
                <a:lnTo>
                  <a:pt x="0" y="19844"/>
                </a:lnTo>
                <a:close/>
                <a:moveTo>
                  <a:pt x="64492" y="18138"/>
                </a:moveTo>
                <a:lnTo>
                  <a:pt x="64492" y="47129"/>
                </a:lnTo>
                <a:cubicBezTo>
                  <a:pt x="64492" y="51253"/>
                  <a:pt x="67810" y="54570"/>
                  <a:pt x="71934" y="54570"/>
                </a:cubicBezTo>
                <a:lnTo>
                  <a:pt x="100924" y="54570"/>
                </a:lnTo>
                <a:lnTo>
                  <a:pt x="64492" y="18138"/>
                </a:lnTo>
                <a:close/>
                <a:moveTo>
                  <a:pt x="47811" y="91653"/>
                </a:moveTo>
                <a:cubicBezTo>
                  <a:pt x="50478" y="88522"/>
                  <a:pt x="50136" y="83840"/>
                  <a:pt x="47005" y="81173"/>
                </a:cubicBezTo>
                <a:cubicBezTo>
                  <a:pt x="43873" y="78507"/>
                  <a:pt x="39191" y="78848"/>
                  <a:pt x="36525" y="81979"/>
                </a:cubicBezTo>
                <a:lnTo>
                  <a:pt x="21642" y="99343"/>
                </a:lnTo>
                <a:cubicBezTo>
                  <a:pt x="19255" y="102133"/>
                  <a:pt x="19255" y="106226"/>
                  <a:pt x="21642" y="109017"/>
                </a:cubicBezTo>
                <a:lnTo>
                  <a:pt x="36525" y="126380"/>
                </a:lnTo>
                <a:cubicBezTo>
                  <a:pt x="39191" y="129511"/>
                  <a:pt x="43904" y="129853"/>
                  <a:pt x="47005" y="127186"/>
                </a:cubicBezTo>
                <a:cubicBezTo>
                  <a:pt x="50105" y="124520"/>
                  <a:pt x="50478" y="119807"/>
                  <a:pt x="47811" y="116706"/>
                </a:cubicBezTo>
                <a:lnTo>
                  <a:pt x="37083" y="104180"/>
                </a:lnTo>
                <a:lnTo>
                  <a:pt x="47811" y="91653"/>
                </a:lnTo>
                <a:close/>
                <a:moveTo>
                  <a:pt x="82538" y="81979"/>
                </a:moveTo>
                <a:cubicBezTo>
                  <a:pt x="79871" y="78848"/>
                  <a:pt x="75158" y="78507"/>
                  <a:pt x="72058" y="81173"/>
                </a:cubicBezTo>
                <a:cubicBezTo>
                  <a:pt x="68957" y="83840"/>
                  <a:pt x="68585" y="88553"/>
                  <a:pt x="71251" y="91653"/>
                </a:cubicBezTo>
                <a:lnTo>
                  <a:pt x="81979" y="104180"/>
                </a:lnTo>
                <a:lnTo>
                  <a:pt x="71251" y="116706"/>
                </a:lnTo>
                <a:cubicBezTo>
                  <a:pt x="68585" y="119838"/>
                  <a:pt x="68926" y="124520"/>
                  <a:pt x="72058" y="127186"/>
                </a:cubicBezTo>
                <a:cubicBezTo>
                  <a:pt x="75189" y="129853"/>
                  <a:pt x="79871" y="129511"/>
                  <a:pt x="82538" y="126380"/>
                </a:cubicBezTo>
                <a:lnTo>
                  <a:pt x="97420" y="109017"/>
                </a:lnTo>
                <a:cubicBezTo>
                  <a:pt x="99808" y="106226"/>
                  <a:pt x="99808" y="102133"/>
                  <a:pt x="97420" y="99343"/>
                </a:cubicBezTo>
                <a:lnTo>
                  <a:pt x="82538" y="81979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681037" y="1530356"/>
            <a:ext cx="5246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Snippet Code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82600" y="1847856"/>
            <a:ext cx="5365750" cy="9493250"/>
          </a:xfrm>
          <a:custGeom>
            <a:avLst/>
            <a:gdLst/>
            <a:ahLst/>
            <a:cxnLst/>
            <a:rect l="l" t="t" r="r" b="b"/>
            <a:pathLst>
              <a:path w="5365750" h="9493250">
                <a:moveTo>
                  <a:pt x="63477" y="0"/>
                </a:moveTo>
                <a:lnTo>
                  <a:pt x="5302273" y="0"/>
                </a:lnTo>
                <a:cubicBezTo>
                  <a:pt x="5337330" y="0"/>
                  <a:pt x="5365750" y="28420"/>
                  <a:pt x="5365750" y="63477"/>
                </a:cubicBezTo>
                <a:lnTo>
                  <a:pt x="5365750" y="9429773"/>
                </a:lnTo>
                <a:cubicBezTo>
                  <a:pt x="5365750" y="9464830"/>
                  <a:pt x="5337330" y="9493250"/>
                  <a:pt x="5302273" y="9493250"/>
                </a:cubicBezTo>
                <a:lnTo>
                  <a:pt x="63477" y="9493250"/>
                </a:lnTo>
                <a:cubicBezTo>
                  <a:pt x="28420" y="9493250"/>
                  <a:pt x="0" y="9464830"/>
                  <a:pt x="0" y="9429773"/>
                </a:cubicBezTo>
                <a:lnTo>
                  <a:pt x="0" y="63477"/>
                </a:lnTo>
                <a:cubicBezTo>
                  <a:pt x="0" y="28443"/>
                  <a:pt x="28443" y="0"/>
                  <a:pt x="63477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609600" y="1974856"/>
            <a:ext cx="5167313" cy="758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C792E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export default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82AA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async fetch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(request)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676E9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 Access Cloudflare geolocation data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C792E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const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country = request.cf.country;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C792E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const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continent = request.cf.continent;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676E9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 Define country-to-URL mapping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C792E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const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redirectMap =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C3E8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'US'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C3E8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'https://example.com/us'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C3E8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'GB'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C3E8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'https://example.com/uk'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C3E8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'DE'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C3E8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'https://example.com/de'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C3E8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'FR'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C3E8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'https://example.com/fr'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C3E8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'JP'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C3E8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'https://example.com/jp'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C3E8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'AU'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C3E8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'https://example.com/au'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};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676E9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 Define continent fallback mapping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C792E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const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continentMap =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C3E8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'EU'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C3E8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'https://example.com/eu'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C3E8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'AS'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C3E8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'https://example.com/asia'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};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676E9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 Check for country-specific redirect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C792E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(redirectMap[country])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C792E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return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FFCB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Response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.redirect(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redirectMap[country], 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F78C6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301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}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676E9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 Fallback to continent-specific redirect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C792E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(continentMap[continent])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C792E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return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FFCB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Response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.redirect(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continentMap[continent], 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F78C6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301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}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676E9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 No match - proceed to origin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C792E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return fetch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(request);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}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F8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};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78550" y="1368425"/>
            <a:ext cx="5689600" cy="2355850"/>
          </a:xfrm>
          <a:custGeom>
            <a:avLst/>
            <a:gdLst/>
            <a:ahLst/>
            <a:cxnLst/>
            <a:rect l="l" t="t" r="r" b="b"/>
            <a:pathLst>
              <a:path w="5689600" h="2355850">
                <a:moveTo>
                  <a:pt x="95247" y="0"/>
                </a:moveTo>
                <a:lnTo>
                  <a:pt x="5594353" y="0"/>
                </a:lnTo>
                <a:cubicBezTo>
                  <a:pt x="5646956" y="0"/>
                  <a:pt x="5689600" y="42644"/>
                  <a:pt x="5689600" y="95247"/>
                </a:cubicBezTo>
                <a:lnTo>
                  <a:pt x="5689600" y="2260603"/>
                </a:lnTo>
                <a:cubicBezTo>
                  <a:pt x="5689600" y="2313206"/>
                  <a:pt x="5646956" y="2355850"/>
                  <a:pt x="5594353" y="2355850"/>
                </a:cubicBezTo>
                <a:lnTo>
                  <a:pt x="95247" y="2355850"/>
                </a:lnTo>
                <a:cubicBezTo>
                  <a:pt x="42644" y="2355850"/>
                  <a:pt x="0" y="2313206"/>
                  <a:pt x="0" y="2260603"/>
                </a:cubicBezTo>
                <a:lnTo>
                  <a:pt x="0" y="95247"/>
                </a:lnTo>
                <a:cubicBezTo>
                  <a:pt x="0" y="42644"/>
                  <a:pt x="42644" y="0"/>
                  <a:pt x="95247" y="0"/>
                </a:cubicBezTo>
                <a:close/>
              </a:path>
            </a:pathLst>
          </a:custGeom>
          <a:solidFill>
            <a:srgbClr val="1E293B">
              <a:alpha val="80000"/>
            </a:srgbClr>
          </a:solidFill>
          <a:ln w="10160">
            <a:solidFill>
              <a:srgbClr val="F48120">
                <a:alpha val="30196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60319" y="1562106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09110" y="86816"/>
                </a:moveTo>
                <a:lnTo>
                  <a:pt x="49919" y="86816"/>
                </a:lnTo>
                <a:cubicBezTo>
                  <a:pt x="50819" y="106815"/>
                  <a:pt x="55252" y="125233"/>
                  <a:pt x="61547" y="138720"/>
                </a:cubicBezTo>
                <a:cubicBezTo>
                  <a:pt x="65081" y="146317"/>
                  <a:pt x="68895" y="151681"/>
                  <a:pt x="72430" y="154967"/>
                </a:cubicBezTo>
                <a:cubicBezTo>
                  <a:pt x="75902" y="158223"/>
                  <a:pt x="78290" y="158750"/>
                  <a:pt x="79530" y="158750"/>
                </a:cubicBezTo>
                <a:cubicBezTo>
                  <a:pt x="80770" y="158750"/>
                  <a:pt x="83158" y="158223"/>
                  <a:pt x="86630" y="154967"/>
                </a:cubicBezTo>
                <a:cubicBezTo>
                  <a:pt x="90165" y="151681"/>
                  <a:pt x="93979" y="146286"/>
                  <a:pt x="97513" y="138720"/>
                </a:cubicBezTo>
                <a:cubicBezTo>
                  <a:pt x="103808" y="125233"/>
                  <a:pt x="108241" y="106815"/>
                  <a:pt x="109141" y="86816"/>
                </a:cubicBezTo>
                <a:close/>
                <a:moveTo>
                  <a:pt x="49888" y="71934"/>
                </a:moveTo>
                <a:lnTo>
                  <a:pt x="109079" y="71934"/>
                </a:lnTo>
                <a:cubicBezTo>
                  <a:pt x="108210" y="51935"/>
                  <a:pt x="103777" y="33517"/>
                  <a:pt x="97482" y="20030"/>
                </a:cubicBezTo>
                <a:cubicBezTo>
                  <a:pt x="93948" y="12464"/>
                  <a:pt x="90134" y="7069"/>
                  <a:pt x="86599" y="3783"/>
                </a:cubicBezTo>
                <a:cubicBezTo>
                  <a:pt x="83127" y="527"/>
                  <a:pt x="80739" y="0"/>
                  <a:pt x="79499" y="0"/>
                </a:cubicBezTo>
                <a:cubicBezTo>
                  <a:pt x="78259" y="0"/>
                  <a:pt x="75871" y="527"/>
                  <a:pt x="72399" y="3783"/>
                </a:cubicBezTo>
                <a:cubicBezTo>
                  <a:pt x="68864" y="7069"/>
                  <a:pt x="65050" y="12464"/>
                  <a:pt x="61516" y="20030"/>
                </a:cubicBezTo>
                <a:cubicBezTo>
                  <a:pt x="55221" y="33517"/>
                  <a:pt x="50788" y="51935"/>
                  <a:pt x="49888" y="71934"/>
                </a:cubicBezTo>
                <a:close/>
                <a:moveTo>
                  <a:pt x="35006" y="71934"/>
                </a:moveTo>
                <a:cubicBezTo>
                  <a:pt x="36091" y="45393"/>
                  <a:pt x="42943" y="20743"/>
                  <a:pt x="52958" y="4558"/>
                </a:cubicBezTo>
                <a:cubicBezTo>
                  <a:pt x="24402" y="14666"/>
                  <a:pt x="3380" y="40680"/>
                  <a:pt x="465" y="71934"/>
                </a:cubicBezTo>
                <a:lnTo>
                  <a:pt x="35006" y="71934"/>
                </a:lnTo>
                <a:close/>
                <a:moveTo>
                  <a:pt x="465" y="86816"/>
                </a:moveTo>
                <a:cubicBezTo>
                  <a:pt x="3380" y="118070"/>
                  <a:pt x="24402" y="144084"/>
                  <a:pt x="52958" y="154192"/>
                </a:cubicBezTo>
                <a:cubicBezTo>
                  <a:pt x="42943" y="138007"/>
                  <a:pt x="36091" y="113357"/>
                  <a:pt x="35006" y="86816"/>
                </a:cubicBezTo>
                <a:lnTo>
                  <a:pt x="465" y="86816"/>
                </a:lnTo>
                <a:close/>
                <a:moveTo>
                  <a:pt x="123992" y="86816"/>
                </a:moveTo>
                <a:cubicBezTo>
                  <a:pt x="122907" y="113357"/>
                  <a:pt x="116055" y="138007"/>
                  <a:pt x="106040" y="154192"/>
                </a:cubicBezTo>
                <a:cubicBezTo>
                  <a:pt x="134596" y="144053"/>
                  <a:pt x="155618" y="118070"/>
                  <a:pt x="158533" y="86816"/>
                </a:cubicBezTo>
                <a:lnTo>
                  <a:pt x="123992" y="86816"/>
                </a:lnTo>
                <a:close/>
                <a:moveTo>
                  <a:pt x="158533" y="71934"/>
                </a:moveTo>
                <a:cubicBezTo>
                  <a:pt x="155618" y="40680"/>
                  <a:pt x="134596" y="14666"/>
                  <a:pt x="106040" y="4558"/>
                </a:cubicBezTo>
                <a:cubicBezTo>
                  <a:pt x="116055" y="20743"/>
                  <a:pt x="122907" y="45393"/>
                  <a:pt x="123992" y="71934"/>
                </a:cubicBezTo>
                <a:lnTo>
                  <a:pt x="158533" y="71934"/>
                </a:ln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12" name="Text 10"/>
          <p:cNvSpPr/>
          <p:nvPr/>
        </p:nvSpPr>
        <p:spPr>
          <a:xfrm>
            <a:off x="6538912" y="1530356"/>
            <a:ext cx="5246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request.cf Properties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40475" y="1847856"/>
            <a:ext cx="5365750" cy="381000"/>
          </a:xfrm>
          <a:custGeom>
            <a:avLst/>
            <a:gdLst/>
            <a:ahLst/>
            <a:cxnLst/>
            <a:rect l="l" t="t" r="r" b="b"/>
            <a:pathLst>
              <a:path w="5365750" h="381000">
                <a:moveTo>
                  <a:pt x="63501" y="0"/>
                </a:moveTo>
                <a:lnTo>
                  <a:pt x="5302249" y="0"/>
                </a:lnTo>
                <a:cubicBezTo>
                  <a:pt x="5337320" y="0"/>
                  <a:pt x="5365750" y="28430"/>
                  <a:pt x="5365750" y="63501"/>
                </a:cubicBezTo>
                <a:lnTo>
                  <a:pt x="5365750" y="317499"/>
                </a:lnTo>
                <a:cubicBezTo>
                  <a:pt x="5365750" y="352570"/>
                  <a:pt x="5337320" y="381000"/>
                  <a:pt x="530224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4" name="Text 12"/>
          <p:cNvSpPr/>
          <p:nvPr/>
        </p:nvSpPr>
        <p:spPr>
          <a:xfrm>
            <a:off x="6435725" y="1943106"/>
            <a:ext cx="1063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request.cf.country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636547" y="1958981"/>
            <a:ext cx="1031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481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"US", "GB", "DE"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40475" y="2292356"/>
            <a:ext cx="5365750" cy="381000"/>
          </a:xfrm>
          <a:custGeom>
            <a:avLst/>
            <a:gdLst/>
            <a:ahLst/>
            <a:cxnLst/>
            <a:rect l="l" t="t" r="r" b="b"/>
            <a:pathLst>
              <a:path w="5365750" h="381000">
                <a:moveTo>
                  <a:pt x="63501" y="0"/>
                </a:moveTo>
                <a:lnTo>
                  <a:pt x="5302249" y="0"/>
                </a:lnTo>
                <a:cubicBezTo>
                  <a:pt x="5337320" y="0"/>
                  <a:pt x="5365750" y="28430"/>
                  <a:pt x="5365750" y="63501"/>
                </a:cubicBezTo>
                <a:lnTo>
                  <a:pt x="5365750" y="317499"/>
                </a:lnTo>
                <a:cubicBezTo>
                  <a:pt x="5365750" y="352570"/>
                  <a:pt x="5337320" y="381000"/>
                  <a:pt x="530224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7" name="Text 15"/>
          <p:cNvSpPr/>
          <p:nvPr/>
        </p:nvSpPr>
        <p:spPr>
          <a:xfrm>
            <a:off x="6435725" y="2387606"/>
            <a:ext cx="1158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request.cf.continent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636547" y="2403481"/>
            <a:ext cx="1031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B82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"NA", "EU", "AS"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340475" y="2736856"/>
            <a:ext cx="5365750" cy="381000"/>
          </a:xfrm>
          <a:custGeom>
            <a:avLst/>
            <a:gdLst/>
            <a:ahLst/>
            <a:cxnLst/>
            <a:rect l="l" t="t" r="r" b="b"/>
            <a:pathLst>
              <a:path w="5365750" h="381000">
                <a:moveTo>
                  <a:pt x="63501" y="0"/>
                </a:moveTo>
                <a:lnTo>
                  <a:pt x="5302249" y="0"/>
                </a:lnTo>
                <a:cubicBezTo>
                  <a:pt x="5337320" y="0"/>
                  <a:pt x="5365750" y="28430"/>
                  <a:pt x="5365750" y="63501"/>
                </a:cubicBezTo>
                <a:lnTo>
                  <a:pt x="5365750" y="317499"/>
                </a:lnTo>
                <a:cubicBezTo>
                  <a:pt x="5365750" y="352570"/>
                  <a:pt x="5337320" y="381000"/>
                  <a:pt x="530224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20" name="Text 18"/>
          <p:cNvSpPr/>
          <p:nvPr/>
        </p:nvSpPr>
        <p:spPr>
          <a:xfrm>
            <a:off x="6435725" y="2832106"/>
            <a:ext cx="833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request.cf.city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697667" y="2847981"/>
            <a:ext cx="968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"San Francisco"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340475" y="3181356"/>
            <a:ext cx="5365750" cy="381000"/>
          </a:xfrm>
          <a:custGeom>
            <a:avLst/>
            <a:gdLst/>
            <a:ahLst/>
            <a:cxnLst/>
            <a:rect l="l" t="t" r="r" b="b"/>
            <a:pathLst>
              <a:path w="5365750" h="381000">
                <a:moveTo>
                  <a:pt x="63501" y="0"/>
                </a:moveTo>
                <a:lnTo>
                  <a:pt x="5302249" y="0"/>
                </a:lnTo>
                <a:cubicBezTo>
                  <a:pt x="5337320" y="0"/>
                  <a:pt x="5365750" y="28430"/>
                  <a:pt x="5365750" y="63501"/>
                </a:cubicBezTo>
                <a:lnTo>
                  <a:pt x="5365750" y="317499"/>
                </a:lnTo>
                <a:cubicBezTo>
                  <a:pt x="5365750" y="352570"/>
                  <a:pt x="5337320" y="381000"/>
                  <a:pt x="530224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23" name="Text 21"/>
          <p:cNvSpPr/>
          <p:nvPr/>
        </p:nvSpPr>
        <p:spPr>
          <a:xfrm>
            <a:off x="6435725" y="3276606"/>
            <a:ext cx="873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request.cf.colo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392172" y="3292481"/>
            <a:ext cx="1277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481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"SJC" (airport code)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78550" y="3857630"/>
            <a:ext cx="5689600" cy="1530350"/>
          </a:xfrm>
          <a:custGeom>
            <a:avLst/>
            <a:gdLst/>
            <a:ahLst/>
            <a:cxnLst/>
            <a:rect l="l" t="t" r="r" b="b"/>
            <a:pathLst>
              <a:path w="5689600" h="1530350">
                <a:moveTo>
                  <a:pt x="95249" y="0"/>
                </a:moveTo>
                <a:lnTo>
                  <a:pt x="5594351" y="0"/>
                </a:lnTo>
                <a:cubicBezTo>
                  <a:pt x="5646956" y="0"/>
                  <a:pt x="5689600" y="42644"/>
                  <a:pt x="5689600" y="95249"/>
                </a:cubicBezTo>
                <a:lnTo>
                  <a:pt x="5689600" y="1435101"/>
                </a:lnTo>
                <a:cubicBezTo>
                  <a:pt x="5689600" y="1487706"/>
                  <a:pt x="5646956" y="1530350"/>
                  <a:pt x="5594351" y="1530350"/>
                </a:cubicBezTo>
                <a:lnTo>
                  <a:pt x="95249" y="1530350"/>
                </a:lnTo>
                <a:cubicBezTo>
                  <a:pt x="42644" y="1530350"/>
                  <a:pt x="0" y="1487706"/>
                  <a:pt x="0" y="1435101"/>
                </a:cubicBezTo>
                <a:lnTo>
                  <a:pt x="0" y="95249"/>
                </a:lnTo>
                <a:cubicBezTo>
                  <a:pt x="0" y="42644"/>
                  <a:pt x="42644" y="0"/>
                  <a:pt x="95249" y="0"/>
                </a:cubicBezTo>
                <a:close/>
              </a:path>
            </a:pathLst>
          </a:custGeom>
          <a:solidFill>
            <a:srgbClr val="1E293B">
              <a:alpha val="80000"/>
            </a:srgbClr>
          </a:soli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60319" y="405130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59531" y="19844"/>
                </a:moveTo>
                <a:cubicBezTo>
                  <a:pt x="59531" y="14356"/>
                  <a:pt x="63965" y="9922"/>
                  <a:pt x="69453" y="9922"/>
                </a:cubicBezTo>
                <a:lnTo>
                  <a:pt x="89297" y="9922"/>
                </a:lnTo>
                <a:cubicBezTo>
                  <a:pt x="94785" y="9922"/>
                  <a:pt x="99219" y="14356"/>
                  <a:pt x="99219" y="19844"/>
                </a:cubicBezTo>
                <a:lnTo>
                  <a:pt x="99219" y="39688"/>
                </a:lnTo>
                <a:cubicBezTo>
                  <a:pt x="99219" y="45176"/>
                  <a:pt x="94785" y="49609"/>
                  <a:pt x="89297" y="49609"/>
                </a:cubicBezTo>
                <a:lnTo>
                  <a:pt x="86816" y="49609"/>
                </a:lnTo>
                <a:lnTo>
                  <a:pt x="86816" y="69453"/>
                </a:lnTo>
                <a:lnTo>
                  <a:pt x="124023" y="69453"/>
                </a:lnTo>
                <a:cubicBezTo>
                  <a:pt x="136364" y="69453"/>
                  <a:pt x="146348" y="79437"/>
                  <a:pt x="146348" y="91777"/>
                </a:cubicBezTo>
                <a:lnTo>
                  <a:pt x="146348" y="109141"/>
                </a:lnTo>
                <a:lnTo>
                  <a:pt x="148828" y="109141"/>
                </a:lnTo>
                <a:cubicBezTo>
                  <a:pt x="154316" y="109141"/>
                  <a:pt x="158750" y="113574"/>
                  <a:pt x="158750" y="119062"/>
                </a:cubicBezTo>
                <a:lnTo>
                  <a:pt x="158750" y="138906"/>
                </a:lnTo>
                <a:cubicBezTo>
                  <a:pt x="158750" y="144394"/>
                  <a:pt x="154316" y="148828"/>
                  <a:pt x="148828" y="148828"/>
                </a:cubicBezTo>
                <a:lnTo>
                  <a:pt x="128984" y="148828"/>
                </a:lnTo>
                <a:cubicBezTo>
                  <a:pt x="123496" y="148828"/>
                  <a:pt x="119062" y="144394"/>
                  <a:pt x="119062" y="138906"/>
                </a:cubicBezTo>
                <a:lnTo>
                  <a:pt x="119062" y="119062"/>
                </a:lnTo>
                <a:cubicBezTo>
                  <a:pt x="119062" y="113574"/>
                  <a:pt x="123496" y="109141"/>
                  <a:pt x="128984" y="109141"/>
                </a:cubicBezTo>
                <a:lnTo>
                  <a:pt x="131465" y="109141"/>
                </a:lnTo>
                <a:lnTo>
                  <a:pt x="131465" y="91777"/>
                </a:lnTo>
                <a:cubicBezTo>
                  <a:pt x="131465" y="87654"/>
                  <a:pt x="128147" y="84336"/>
                  <a:pt x="124023" y="84336"/>
                </a:cubicBezTo>
                <a:lnTo>
                  <a:pt x="86816" y="84336"/>
                </a:lnTo>
                <a:lnTo>
                  <a:pt x="86816" y="109141"/>
                </a:lnTo>
                <a:lnTo>
                  <a:pt x="89297" y="109141"/>
                </a:lnTo>
                <a:cubicBezTo>
                  <a:pt x="94785" y="109141"/>
                  <a:pt x="99219" y="113574"/>
                  <a:pt x="99219" y="119062"/>
                </a:cubicBezTo>
                <a:lnTo>
                  <a:pt x="99219" y="138906"/>
                </a:lnTo>
                <a:cubicBezTo>
                  <a:pt x="99219" y="144394"/>
                  <a:pt x="94785" y="148828"/>
                  <a:pt x="89297" y="148828"/>
                </a:cubicBezTo>
                <a:lnTo>
                  <a:pt x="69453" y="148828"/>
                </a:lnTo>
                <a:cubicBezTo>
                  <a:pt x="63965" y="148828"/>
                  <a:pt x="59531" y="144394"/>
                  <a:pt x="59531" y="138906"/>
                </a:cubicBezTo>
                <a:lnTo>
                  <a:pt x="59531" y="119062"/>
                </a:lnTo>
                <a:cubicBezTo>
                  <a:pt x="59531" y="113574"/>
                  <a:pt x="63965" y="109141"/>
                  <a:pt x="69453" y="109141"/>
                </a:cubicBezTo>
                <a:lnTo>
                  <a:pt x="71934" y="109141"/>
                </a:lnTo>
                <a:lnTo>
                  <a:pt x="71934" y="84336"/>
                </a:lnTo>
                <a:lnTo>
                  <a:pt x="34727" y="84336"/>
                </a:lnTo>
                <a:cubicBezTo>
                  <a:pt x="30603" y="84336"/>
                  <a:pt x="27285" y="87654"/>
                  <a:pt x="27285" y="91777"/>
                </a:cubicBezTo>
                <a:lnTo>
                  <a:pt x="27285" y="109141"/>
                </a:lnTo>
                <a:lnTo>
                  <a:pt x="29766" y="109141"/>
                </a:lnTo>
                <a:cubicBezTo>
                  <a:pt x="35254" y="109141"/>
                  <a:pt x="39688" y="113574"/>
                  <a:pt x="39688" y="119062"/>
                </a:cubicBezTo>
                <a:lnTo>
                  <a:pt x="39688" y="138906"/>
                </a:lnTo>
                <a:cubicBezTo>
                  <a:pt x="39688" y="144394"/>
                  <a:pt x="35254" y="148828"/>
                  <a:pt x="29766" y="148828"/>
                </a:cubicBezTo>
                <a:lnTo>
                  <a:pt x="9922" y="148828"/>
                </a:lnTo>
                <a:cubicBezTo>
                  <a:pt x="4434" y="148828"/>
                  <a:pt x="0" y="144394"/>
                  <a:pt x="0" y="138906"/>
                </a:cubicBezTo>
                <a:lnTo>
                  <a:pt x="0" y="119062"/>
                </a:lnTo>
                <a:cubicBezTo>
                  <a:pt x="0" y="113574"/>
                  <a:pt x="4434" y="109141"/>
                  <a:pt x="9922" y="109141"/>
                </a:cubicBezTo>
                <a:lnTo>
                  <a:pt x="12402" y="109141"/>
                </a:lnTo>
                <a:lnTo>
                  <a:pt x="12402" y="91777"/>
                </a:lnTo>
                <a:cubicBezTo>
                  <a:pt x="12402" y="79437"/>
                  <a:pt x="22386" y="69453"/>
                  <a:pt x="34727" y="69453"/>
                </a:cubicBezTo>
                <a:lnTo>
                  <a:pt x="71934" y="69453"/>
                </a:lnTo>
                <a:lnTo>
                  <a:pt x="71934" y="49609"/>
                </a:lnTo>
                <a:lnTo>
                  <a:pt x="69453" y="49609"/>
                </a:lnTo>
                <a:cubicBezTo>
                  <a:pt x="63965" y="49609"/>
                  <a:pt x="59531" y="45176"/>
                  <a:pt x="59531" y="39688"/>
                </a:cubicBezTo>
                <a:lnTo>
                  <a:pt x="59531" y="19844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7" name="Text 25"/>
          <p:cNvSpPr/>
          <p:nvPr/>
        </p:nvSpPr>
        <p:spPr>
          <a:xfrm>
            <a:off x="6538912" y="4019553"/>
            <a:ext cx="5246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Redirect Logic Flow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40475" y="4337053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F48120">
              <a:alpha val="2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312694" y="4337053"/>
            <a:ext cx="309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481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689725" y="4368803"/>
            <a:ext cx="1539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Check country code match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40475" y="4654553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312694" y="4654553"/>
            <a:ext cx="309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689725" y="4686303"/>
            <a:ext cx="1611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no match, check continent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40475" y="4972053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312694" y="4972053"/>
            <a:ext cx="309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689725" y="5003803"/>
            <a:ext cx="1682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no match, proceed to origin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178550" y="5521327"/>
            <a:ext cx="5689600" cy="450850"/>
          </a:xfrm>
          <a:custGeom>
            <a:avLst/>
            <a:gdLst/>
            <a:ahLst/>
            <a:cxnLst/>
            <a:rect l="l" t="t" r="r" b="b"/>
            <a:pathLst>
              <a:path w="5689600" h="450850">
                <a:moveTo>
                  <a:pt x="63502" y="0"/>
                </a:moveTo>
                <a:lnTo>
                  <a:pt x="5626098" y="0"/>
                </a:lnTo>
                <a:cubicBezTo>
                  <a:pt x="5661169" y="0"/>
                  <a:pt x="5689600" y="28431"/>
                  <a:pt x="5689600" y="63502"/>
                </a:cubicBezTo>
                <a:lnTo>
                  <a:pt x="5689600" y="387348"/>
                </a:lnTo>
                <a:cubicBezTo>
                  <a:pt x="5689600" y="422419"/>
                  <a:pt x="5661169" y="450850"/>
                  <a:pt x="5626098" y="450850"/>
                </a:cubicBezTo>
                <a:lnTo>
                  <a:pt x="63502" y="450850"/>
                </a:lnTo>
                <a:cubicBezTo>
                  <a:pt x="28431" y="450850"/>
                  <a:pt x="0" y="422419"/>
                  <a:pt x="0" y="3873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 w="1016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08725" y="5667375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178594" y="14883"/>
                </a:moveTo>
                <a:cubicBezTo>
                  <a:pt x="178594" y="11441"/>
                  <a:pt x="176826" y="8248"/>
                  <a:pt x="173881" y="6449"/>
                </a:cubicBezTo>
                <a:cubicBezTo>
                  <a:pt x="170935" y="4651"/>
                  <a:pt x="167308" y="4465"/>
                  <a:pt x="164238" y="6015"/>
                </a:cubicBezTo>
                <a:lnTo>
                  <a:pt x="128209" y="24030"/>
                </a:lnTo>
                <a:lnTo>
                  <a:pt x="72585" y="5457"/>
                </a:lnTo>
                <a:cubicBezTo>
                  <a:pt x="70073" y="4620"/>
                  <a:pt x="67376" y="4806"/>
                  <a:pt x="65019" y="5984"/>
                </a:cubicBezTo>
                <a:lnTo>
                  <a:pt x="25332" y="25828"/>
                </a:lnTo>
                <a:cubicBezTo>
                  <a:pt x="21952" y="27533"/>
                  <a:pt x="19844" y="30975"/>
                  <a:pt x="19844" y="34727"/>
                </a:cubicBezTo>
                <a:lnTo>
                  <a:pt x="19844" y="143867"/>
                </a:lnTo>
                <a:cubicBezTo>
                  <a:pt x="19844" y="147309"/>
                  <a:pt x="21611" y="150502"/>
                  <a:pt x="24557" y="152301"/>
                </a:cubicBezTo>
                <a:cubicBezTo>
                  <a:pt x="27502" y="154099"/>
                  <a:pt x="31130" y="154285"/>
                  <a:pt x="34199" y="152735"/>
                </a:cubicBezTo>
                <a:lnTo>
                  <a:pt x="70197" y="134720"/>
                </a:lnTo>
                <a:lnTo>
                  <a:pt x="123930" y="152642"/>
                </a:lnTo>
                <a:cubicBezTo>
                  <a:pt x="122597" y="150657"/>
                  <a:pt x="121295" y="148580"/>
                  <a:pt x="120024" y="146472"/>
                </a:cubicBezTo>
                <a:cubicBezTo>
                  <a:pt x="116613" y="140798"/>
                  <a:pt x="113233" y="134286"/>
                  <a:pt x="110722" y="127310"/>
                </a:cubicBezTo>
                <a:lnTo>
                  <a:pt x="79344" y="116861"/>
                </a:lnTo>
                <a:lnTo>
                  <a:pt x="79344" y="28649"/>
                </a:lnTo>
                <a:lnTo>
                  <a:pt x="119031" y="41889"/>
                </a:lnTo>
                <a:lnTo>
                  <a:pt x="119031" y="72678"/>
                </a:lnTo>
                <a:cubicBezTo>
                  <a:pt x="128643" y="61578"/>
                  <a:pt x="142906" y="54570"/>
                  <a:pt x="158719" y="54570"/>
                </a:cubicBezTo>
                <a:cubicBezTo>
                  <a:pt x="165726" y="54570"/>
                  <a:pt x="172424" y="55935"/>
                  <a:pt x="178563" y="58446"/>
                </a:cubicBezTo>
                <a:lnTo>
                  <a:pt x="178594" y="14883"/>
                </a:lnTo>
                <a:close/>
                <a:moveTo>
                  <a:pt x="158750" y="69453"/>
                </a:moveTo>
                <a:cubicBezTo>
                  <a:pt x="138193" y="69453"/>
                  <a:pt x="121543" y="85824"/>
                  <a:pt x="121543" y="106009"/>
                </a:cubicBezTo>
                <a:cubicBezTo>
                  <a:pt x="121543" y="127372"/>
                  <a:pt x="141418" y="152642"/>
                  <a:pt x="152115" y="164703"/>
                </a:cubicBezTo>
                <a:cubicBezTo>
                  <a:pt x="155711" y="168734"/>
                  <a:pt x="161820" y="168734"/>
                  <a:pt x="165416" y="164703"/>
                </a:cubicBezTo>
                <a:cubicBezTo>
                  <a:pt x="176113" y="152642"/>
                  <a:pt x="195988" y="127372"/>
                  <a:pt x="195988" y="106009"/>
                </a:cubicBezTo>
                <a:cubicBezTo>
                  <a:pt x="195988" y="85824"/>
                  <a:pt x="179338" y="69453"/>
                  <a:pt x="158781" y="69453"/>
                </a:cubicBezTo>
                <a:close/>
                <a:moveTo>
                  <a:pt x="146348" y="106660"/>
                </a:moveTo>
                <a:cubicBezTo>
                  <a:pt x="146348" y="99815"/>
                  <a:pt x="151905" y="94258"/>
                  <a:pt x="158750" y="94258"/>
                </a:cubicBezTo>
                <a:cubicBezTo>
                  <a:pt x="165595" y="94258"/>
                  <a:pt x="171152" y="99815"/>
                  <a:pt x="171152" y="106660"/>
                </a:cubicBezTo>
                <a:cubicBezTo>
                  <a:pt x="171152" y="113505"/>
                  <a:pt x="165595" y="119062"/>
                  <a:pt x="158750" y="119062"/>
                </a:cubicBezTo>
                <a:cubicBezTo>
                  <a:pt x="151905" y="119062"/>
                  <a:pt x="146348" y="113505"/>
                  <a:pt x="146348" y="10666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9" name="Text 37"/>
          <p:cNvSpPr/>
          <p:nvPr/>
        </p:nvSpPr>
        <p:spPr>
          <a:xfrm>
            <a:off x="6602412" y="5651500"/>
            <a:ext cx="2714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Result: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Users automatically see localized content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F481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 COMPARISON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Workers vs Snippets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2192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Choose the right tool for your edge computing needs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642110"/>
            <a:ext cx="11418570" cy="3712845"/>
          </a:xfrm>
          <a:custGeom>
            <a:avLst/>
            <a:gdLst/>
            <a:ahLst/>
            <a:cxnLst/>
            <a:rect l="l" t="t" r="r" b="b"/>
            <a:pathLst>
              <a:path w="11418570" h="3712845">
                <a:moveTo>
                  <a:pt x="114318" y="0"/>
                </a:moveTo>
                <a:lnTo>
                  <a:pt x="11304252" y="0"/>
                </a:lnTo>
                <a:cubicBezTo>
                  <a:pt x="11367388" y="0"/>
                  <a:pt x="11418570" y="51182"/>
                  <a:pt x="11418570" y="114318"/>
                </a:cubicBezTo>
                <a:lnTo>
                  <a:pt x="11418570" y="3598527"/>
                </a:lnTo>
                <a:cubicBezTo>
                  <a:pt x="11418570" y="3661663"/>
                  <a:pt x="11367388" y="3712845"/>
                  <a:pt x="11304252" y="3712845"/>
                </a:cubicBezTo>
                <a:lnTo>
                  <a:pt x="114318" y="3712845"/>
                </a:lnTo>
                <a:cubicBezTo>
                  <a:pt x="51182" y="3712845"/>
                  <a:pt x="0" y="3661663"/>
                  <a:pt x="0" y="3598527"/>
                </a:cubicBezTo>
                <a:lnTo>
                  <a:pt x="0" y="114318"/>
                </a:lnTo>
                <a:cubicBezTo>
                  <a:pt x="0" y="51224"/>
                  <a:pt x="51224" y="0"/>
                  <a:pt x="114318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w="10160">
            <a:solidFill>
              <a:srgbClr val="F48120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8620" y="1645918"/>
            <a:ext cx="11410950" cy="575310"/>
          </a:xfrm>
          <a:custGeom>
            <a:avLst/>
            <a:gdLst/>
            <a:ahLst/>
            <a:cxnLst/>
            <a:rect l="l" t="t" r="r" b="b"/>
            <a:pathLst>
              <a:path w="11410950" h="575310">
                <a:moveTo>
                  <a:pt x="0" y="0"/>
                </a:moveTo>
                <a:lnTo>
                  <a:pt x="11410950" y="0"/>
                </a:lnTo>
                <a:lnTo>
                  <a:pt x="11410950" y="575310"/>
                </a:lnTo>
                <a:lnTo>
                  <a:pt x="0" y="575310"/>
                </a:lnTo>
                <a:lnTo>
                  <a:pt x="0" y="0"/>
                </a:lnTo>
                <a:close/>
              </a:path>
            </a:pathLst>
          </a:custGeom>
          <a:solidFill>
            <a:srgbClr val="0F172A">
              <a:alpha val="8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88620" y="2221228"/>
            <a:ext cx="11410950" cy="7620"/>
          </a:xfrm>
          <a:custGeom>
            <a:avLst/>
            <a:gdLst/>
            <a:ahLst/>
            <a:cxnLst/>
            <a:rect l="l" t="t" r="r" b="b"/>
            <a:pathLst>
              <a:path w="11410950" h="7620">
                <a:moveTo>
                  <a:pt x="0" y="0"/>
                </a:moveTo>
                <a:lnTo>
                  <a:pt x="11410950" y="0"/>
                </a:lnTo>
                <a:lnTo>
                  <a:pt x="1141095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F48120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88620" y="1645918"/>
            <a:ext cx="3886200" cy="57150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50638" y="1645918"/>
            <a:ext cx="3886200" cy="57150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481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Workers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955518" y="1645918"/>
            <a:ext cx="3886200" cy="57150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Snippets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8620" y="2686056"/>
            <a:ext cx="11268075" cy="7620"/>
          </a:xfrm>
          <a:custGeom>
            <a:avLst/>
            <a:gdLst/>
            <a:ahLst/>
            <a:cxnLst/>
            <a:rect l="l" t="t" r="r" b="b"/>
            <a:pathLst>
              <a:path w="11268075" h="7620">
                <a:moveTo>
                  <a:pt x="0" y="0"/>
                </a:moveTo>
                <a:lnTo>
                  <a:pt x="11268075" y="0"/>
                </a:lnTo>
                <a:lnTo>
                  <a:pt x="1126807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F48120">
              <a:alpha val="10196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88620" y="2225046"/>
            <a:ext cx="3829050" cy="4572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Execution Time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107180" y="2225046"/>
            <a:ext cx="3829050" cy="4572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481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30s (HTTP) / 15min (Cron)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863840" y="2225046"/>
            <a:ext cx="3829050" cy="4572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 ms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8620" y="3150874"/>
            <a:ext cx="11268075" cy="7620"/>
          </a:xfrm>
          <a:custGeom>
            <a:avLst/>
            <a:gdLst/>
            <a:ahLst/>
            <a:cxnLst/>
            <a:rect l="l" t="t" r="r" b="b"/>
            <a:pathLst>
              <a:path w="11268075" h="7620">
                <a:moveTo>
                  <a:pt x="0" y="0"/>
                </a:moveTo>
                <a:lnTo>
                  <a:pt x="11268075" y="0"/>
                </a:lnTo>
                <a:lnTo>
                  <a:pt x="1126807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F48120">
              <a:alpha val="10196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88620" y="2689864"/>
            <a:ext cx="3829050" cy="4572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Memory Limit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107180" y="2689864"/>
            <a:ext cx="3829050" cy="4572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481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128 MB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863840" y="2689864"/>
            <a:ext cx="3829050" cy="4572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 MB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8620" y="3615692"/>
            <a:ext cx="11268075" cy="7620"/>
          </a:xfrm>
          <a:custGeom>
            <a:avLst/>
            <a:gdLst/>
            <a:ahLst/>
            <a:cxnLst/>
            <a:rect l="l" t="t" r="r" b="b"/>
            <a:pathLst>
              <a:path w="11268075" h="7620">
                <a:moveTo>
                  <a:pt x="0" y="0"/>
                </a:moveTo>
                <a:lnTo>
                  <a:pt x="11268075" y="0"/>
                </a:lnTo>
                <a:lnTo>
                  <a:pt x="1126807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F48120">
              <a:alpha val="10196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88620" y="3154682"/>
            <a:ext cx="3829050" cy="4572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Package Size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107180" y="3154682"/>
            <a:ext cx="3829050" cy="4572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481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 MB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863840" y="3154682"/>
            <a:ext cx="3829050" cy="4572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32 KB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88620" y="4080510"/>
            <a:ext cx="11268075" cy="7620"/>
          </a:xfrm>
          <a:custGeom>
            <a:avLst/>
            <a:gdLst/>
            <a:ahLst/>
            <a:cxnLst/>
            <a:rect l="l" t="t" r="r" b="b"/>
            <a:pathLst>
              <a:path w="11268075" h="7620">
                <a:moveTo>
                  <a:pt x="0" y="0"/>
                </a:moveTo>
                <a:lnTo>
                  <a:pt x="11268075" y="0"/>
                </a:lnTo>
                <a:lnTo>
                  <a:pt x="1126807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F48120">
              <a:alpha val="10196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388620" y="3619500"/>
            <a:ext cx="3829050" cy="4572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Languages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107180" y="3619500"/>
            <a:ext cx="3829050" cy="4572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481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JS, TS, Python, Rust, WASM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863840" y="3619500"/>
            <a:ext cx="3829050" cy="4572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JavaScript only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88620" y="4545328"/>
            <a:ext cx="11268075" cy="7620"/>
          </a:xfrm>
          <a:custGeom>
            <a:avLst/>
            <a:gdLst/>
            <a:ahLst/>
            <a:cxnLst/>
            <a:rect l="l" t="t" r="r" b="b"/>
            <a:pathLst>
              <a:path w="11268075" h="7620">
                <a:moveTo>
                  <a:pt x="0" y="0"/>
                </a:moveTo>
                <a:lnTo>
                  <a:pt x="11268075" y="0"/>
                </a:lnTo>
                <a:lnTo>
                  <a:pt x="1126807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F48120">
              <a:alpha val="10196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388620" y="4084318"/>
            <a:ext cx="3829050" cy="4572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State Management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157550" y="42291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4297680" y="4084318"/>
            <a:ext cx="3638550" cy="4572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481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KV, D1, Durable Objects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225796" y="42291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6401" y="21848"/>
                </a:moveTo>
                <a:cubicBezTo>
                  <a:pt x="12680" y="18127"/>
                  <a:pt x="6638" y="18127"/>
                  <a:pt x="2917" y="21848"/>
                </a:cubicBezTo>
                <a:cubicBezTo>
                  <a:pt x="-804" y="25569"/>
                  <a:pt x="-804" y="31611"/>
                  <a:pt x="2917" y="35332"/>
                </a:cubicBezTo>
                <a:lnTo>
                  <a:pt x="43815" y="76200"/>
                </a:lnTo>
                <a:lnTo>
                  <a:pt x="2947" y="117098"/>
                </a:lnTo>
                <a:cubicBezTo>
                  <a:pt x="-774" y="120819"/>
                  <a:pt x="-774" y="126861"/>
                  <a:pt x="2947" y="130582"/>
                </a:cubicBezTo>
                <a:cubicBezTo>
                  <a:pt x="6668" y="134303"/>
                  <a:pt x="12710" y="134303"/>
                  <a:pt x="16431" y="130582"/>
                </a:cubicBezTo>
                <a:lnTo>
                  <a:pt x="57299" y="89684"/>
                </a:lnTo>
                <a:lnTo>
                  <a:pt x="98197" y="130552"/>
                </a:lnTo>
                <a:cubicBezTo>
                  <a:pt x="101918" y="134273"/>
                  <a:pt x="107960" y="134273"/>
                  <a:pt x="111681" y="130552"/>
                </a:cubicBezTo>
                <a:cubicBezTo>
                  <a:pt x="115401" y="126831"/>
                  <a:pt x="115401" y="120789"/>
                  <a:pt x="111681" y="117068"/>
                </a:cubicBezTo>
                <a:lnTo>
                  <a:pt x="70783" y="76200"/>
                </a:lnTo>
                <a:lnTo>
                  <a:pt x="111651" y="35302"/>
                </a:lnTo>
                <a:cubicBezTo>
                  <a:pt x="115372" y="31581"/>
                  <a:pt x="115372" y="25539"/>
                  <a:pt x="111651" y="21818"/>
                </a:cubicBezTo>
                <a:cubicBezTo>
                  <a:pt x="107930" y="18098"/>
                  <a:pt x="101888" y="18098"/>
                  <a:pt x="98167" y="21818"/>
                </a:cubicBezTo>
                <a:lnTo>
                  <a:pt x="57299" y="62716"/>
                </a:lnTo>
                <a:lnTo>
                  <a:pt x="16401" y="21848"/>
                </a:ln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32" name="Text 30"/>
          <p:cNvSpPr/>
          <p:nvPr/>
        </p:nvSpPr>
        <p:spPr>
          <a:xfrm>
            <a:off x="8054340" y="4084318"/>
            <a:ext cx="3638550" cy="4572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8FAFC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 supported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88620" y="5010156"/>
            <a:ext cx="11268075" cy="7620"/>
          </a:xfrm>
          <a:custGeom>
            <a:avLst/>
            <a:gdLst/>
            <a:ahLst/>
            <a:cxnLst/>
            <a:rect l="l" t="t" r="r" b="b"/>
            <a:pathLst>
              <a:path w="11268075" h="7620">
                <a:moveTo>
                  <a:pt x="0" y="0"/>
                </a:moveTo>
                <a:lnTo>
                  <a:pt x="11268075" y="0"/>
                </a:lnTo>
                <a:lnTo>
                  <a:pt x="1126807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F48120">
              <a:alpha val="10196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388620" y="4549146"/>
            <a:ext cx="3829050" cy="4572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Deployment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107180" y="4549146"/>
            <a:ext cx="3829050" cy="4572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481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Wrangler CLI, API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863840" y="4549146"/>
            <a:ext cx="3829050" cy="4572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Dashboard, API, Terraform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88620" y="5474974"/>
            <a:ext cx="11268075" cy="7620"/>
          </a:xfrm>
          <a:custGeom>
            <a:avLst/>
            <a:gdLst/>
            <a:ahLst/>
            <a:cxnLst/>
            <a:rect l="l" t="t" r="r" b="b"/>
            <a:pathLst>
              <a:path w="11268075" h="7620">
                <a:moveTo>
                  <a:pt x="0" y="0"/>
                </a:moveTo>
                <a:lnTo>
                  <a:pt x="11268075" y="0"/>
                </a:lnTo>
                <a:lnTo>
                  <a:pt x="1126807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F48120">
              <a:alpha val="10196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388620" y="5013964"/>
            <a:ext cx="3829050" cy="4572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Pricing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107180" y="5013964"/>
            <a:ext cx="3829050" cy="4572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481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Usage-based ($5/mo + usage)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863840" y="5013964"/>
            <a:ext cx="3829050" cy="4572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Free on paid plans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88620" y="5939792"/>
            <a:ext cx="11268075" cy="7620"/>
          </a:xfrm>
          <a:custGeom>
            <a:avLst/>
            <a:gdLst/>
            <a:ahLst/>
            <a:cxnLst/>
            <a:rect l="l" t="t" r="r" b="b"/>
            <a:pathLst>
              <a:path w="11268075" h="7620">
                <a:moveTo>
                  <a:pt x="0" y="0"/>
                </a:moveTo>
                <a:lnTo>
                  <a:pt x="11268075" y="0"/>
                </a:lnTo>
                <a:lnTo>
                  <a:pt x="1126807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F48120">
              <a:alpha val="10196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388620" y="5478782"/>
            <a:ext cx="3829050" cy="4572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Request Matching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425440" y="5623564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6401" y="21848"/>
                </a:moveTo>
                <a:cubicBezTo>
                  <a:pt x="12680" y="18127"/>
                  <a:pt x="6638" y="18127"/>
                  <a:pt x="2917" y="21848"/>
                </a:cubicBezTo>
                <a:cubicBezTo>
                  <a:pt x="-804" y="25569"/>
                  <a:pt x="-804" y="31611"/>
                  <a:pt x="2917" y="35332"/>
                </a:cubicBezTo>
                <a:lnTo>
                  <a:pt x="43815" y="76200"/>
                </a:lnTo>
                <a:lnTo>
                  <a:pt x="2947" y="117098"/>
                </a:lnTo>
                <a:cubicBezTo>
                  <a:pt x="-774" y="120819"/>
                  <a:pt x="-774" y="126861"/>
                  <a:pt x="2947" y="130582"/>
                </a:cubicBezTo>
                <a:cubicBezTo>
                  <a:pt x="6668" y="134303"/>
                  <a:pt x="12710" y="134303"/>
                  <a:pt x="16431" y="130582"/>
                </a:cubicBezTo>
                <a:lnTo>
                  <a:pt x="57299" y="89684"/>
                </a:lnTo>
                <a:lnTo>
                  <a:pt x="98197" y="130552"/>
                </a:lnTo>
                <a:cubicBezTo>
                  <a:pt x="101918" y="134273"/>
                  <a:pt x="107960" y="134273"/>
                  <a:pt x="111681" y="130552"/>
                </a:cubicBezTo>
                <a:cubicBezTo>
                  <a:pt x="115401" y="126831"/>
                  <a:pt x="115401" y="120789"/>
                  <a:pt x="111681" y="117068"/>
                </a:cubicBezTo>
                <a:lnTo>
                  <a:pt x="70783" y="76200"/>
                </a:lnTo>
                <a:lnTo>
                  <a:pt x="111651" y="35302"/>
                </a:lnTo>
                <a:cubicBezTo>
                  <a:pt x="115372" y="31581"/>
                  <a:pt x="115372" y="25539"/>
                  <a:pt x="111651" y="21818"/>
                </a:cubicBezTo>
                <a:cubicBezTo>
                  <a:pt x="107930" y="18098"/>
                  <a:pt x="101888" y="18098"/>
                  <a:pt x="98167" y="21818"/>
                </a:cubicBezTo>
                <a:lnTo>
                  <a:pt x="57299" y="62716"/>
                </a:lnTo>
                <a:lnTo>
                  <a:pt x="16401" y="21848"/>
                </a:ln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44" name="Text 42"/>
          <p:cNvSpPr/>
          <p:nvPr/>
        </p:nvSpPr>
        <p:spPr>
          <a:xfrm>
            <a:off x="4297680" y="5478782"/>
            <a:ext cx="3638550" cy="4572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8FAFC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URL routes only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9016127" y="5623564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6" name="Text 44"/>
          <p:cNvSpPr/>
          <p:nvPr/>
        </p:nvSpPr>
        <p:spPr>
          <a:xfrm>
            <a:off x="8054340" y="5478782"/>
            <a:ext cx="3638550" cy="4572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Ruleset Engine filters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388620" y="6404610"/>
            <a:ext cx="11268075" cy="7620"/>
          </a:xfrm>
          <a:custGeom>
            <a:avLst/>
            <a:gdLst/>
            <a:ahLst/>
            <a:cxnLst/>
            <a:rect l="l" t="t" r="r" b="b"/>
            <a:pathLst>
              <a:path w="11268075" h="7620">
                <a:moveTo>
                  <a:pt x="0" y="0"/>
                </a:moveTo>
                <a:lnTo>
                  <a:pt x="11268075" y="0"/>
                </a:lnTo>
                <a:lnTo>
                  <a:pt x="1126807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F48120">
              <a:alpha val="10196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388620" y="5943600"/>
            <a:ext cx="3829050" cy="4572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Observability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5199340" y="6088382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50" name="Text 48"/>
          <p:cNvSpPr/>
          <p:nvPr/>
        </p:nvSpPr>
        <p:spPr>
          <a:xfrm>
            <a:off x="4297680" y="5943600"/>
            <a:ext cx="3638550" cy="4572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481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Logs, analytics, tracing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9460349" y="6088382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6401" y="21848"/>
                </a:moveTo>
                <a:cubicBezTo>
                  <a:pt x="12680" y="18127"/>
                  <a:pt x="6638" y="18127"/>
                  <a:pt x="2917" y="21848"/>
                </a:cubicBezTo>
                <a:cubicBezTo>
                  <a:pt x="-804" y="25569"/>
                  <a:pt x="-804" y="31611"/>
                  <a:pt x="2917" y="35332"/>
                </a:cubicBezTo>
                <a:lnTo>
                  <a:pt x="43815" y="76200"/>
                </a:lnTo>
                <a:lnTo>
                  <a:pt x="2947" y="117098"/>
                </a:lnTo>
                <a:cubicBezTo>
                  <a:pt x="-774" y="120819"/>
                  <a:pt x="-774" y="126861"/>
                  <a:pt x="2947" y="130582"/>
                </a:cubicBezTo>
                <a:cubicBezTo>
                  <a:pt x="6668" y="134303"/>
                  <a:pt x="12710" y="134303"/>
                  <a:pt x="16431" y="130582"/>
                </a:cubicBezTo>
                <a:lnTo>
                  <a:pt x="57299" y="89684"/>
                </a:lnTo>
                <a:lnTo>
                  <a:pt x="98197" y="130552"/>
                </a:lnTo>
                <a:cubicBezTo>
                  <a:pt x="101918" y="134273"/>
                  <a:pt x="107960" y="134273"/>
                  <a:pt x="111681" y="130552"/>
                </a:cubicBezTo>
                <a:cubicBezTo>
                  <a:pt x="115401" y="126831"/>
                  <a:pt x="115401" y="120789"/>
                  <a:pt x="111681" y="117068"/>
                </a:cubicBezTo>
                <a:lnTo>
                  <a:pt x="70783" y="76200"/>
                </a:lnTo>
                <a:lnTo>
                  <a:pt x="111651" y="35302"/>
                </a:lnTo>
                <a:cubicBezTo>
                  <a:pt x="115372" y="31581"/>
                  <a:pt x="115372" y="25539"/>
                  <a:pt x="111651" y="21818"/>
                </a:cubicBezTo>
                <a:cubicBezTo>
                  <a:pt x="107930" y="18098"/>
                  <a:pt x="101888" y="18098"/>
                  <a:pt x="98167" y="21818"/>
                </a:cubicBezTo>
                <a:lnTo>
                  <a:pt x="57299" y="62716"/>
                </a:lnTo>
                <a:lnTo>
                  <a:pt x="16401" y="21848"/>
                </a:ln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52" name="Text 50"/>
          <p:cNvSpPr/>
          <p:nvPr/>
        </p:nvSpPr>
        <p:spPr>
          <a:xfrm>
            <a:off x="8054340" y="5943600"/>
            <a:ext cx="3638550" cy="4572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8FAFC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Limited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388620" y="6408418"/>
            <a:ext cx="3829050" cy="4572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For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4107180" y="6408418"/>
            <a:ext cx="3829050" cy="4572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481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Full-stack apps, APIs, complex logic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863840" y="6408418"/>
            <a:ext cx="3829050" cy="4572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Header mods, redirects, rewrites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384810" y="5513074"/>
            <a:ext cx="5627370" cy="960120"/>
          </a:xfrm>
          <a:custGeom>
            <a:avLst/>
            <a:gdLst/>
            <a:ahLst/>
            <a:cxnLst/>
            <a:rect l="l" t="t" r="r" b="b"/>
            <a:pathLst>
              <a:path w="5627370" h="960120">
                <a:moveTo>
                  <a:pt x="76205" y="0"/>
                </a:moveTo>
                <a:lnTo>
                  <a:pt x="5551165" y="0"/>
                </a:lnTo>
                <a:cubicBezTo>
                  <a:pt x="5593252" y="0"/>
                  <a:pt x="5627370" y="34118"/>
                  <a:pt x="5627370" y="76205"/>
                </a:cubicBezTo>
                <a:lnTo>
                  <a:pt x="5627370" y="883915"/>
                </a:lnTo>
                <a:cubicBezTo>
                  <a:pt x="5627370" y="926002"/>
                  <a:pt x="5593252" y="960120"/>
                  <a:pt x="5551165" y="960120"/>
                </a:cubicBezTo>
                <a:lnTo>
                  <a:pt x="76205" y="960120"/>
                </a:lnTo>
                <a:cubicBezTo>
                  <a:pt x="34118" y="960120"/>
                  <a:pt x="0" y="926002"/>
                  <a:pt x="0" y="883915"/>
                </a:cubicBezTo>
                <a:lnTo>
                  <a:pt x="0" y="76205"/>
                </a:lnTo>
                <a:cubicBezTo>
                  <a:pt x="0" y="34118"/>
                  <a:pt x="34118" y="0"/>
                  <a:pt x="76205" y="0"/>
                </a:cubicBezTo>
                <a:close/>
              </a:path>
            </a:pathLst>
          </a:custGeom>
          <a:solidFill>
            <a:srgbClr val="F48120">
              <a:alpha val="10196"/>
            </a:srgbClr>
          </a:solidFill>
          <a:ln w="10160">
            <a:solidFill>
              <a:srgbClr val="F48120">
                <a:alpha val="30196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60070" y="570738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58" name="Text 56"/>
          <p:cNvSpPr/>
          <p:nvPr/>
        </p:nvSpPr>
        <p:spPr>
          <a:xfrm>
            <a:off x="883325" y="5669282"/>
            <a:ext cx="5048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481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Workers When: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83325" y="5935982"/>
            <a:ext cx="5038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Building APIs, full-stack apps, need state/storage, complex compute, or advanced features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176010" y="5513074"/>
            <a:ext cx="5627370" cy="960120"/>
          </a:xfrm>
          <a:custGeom>
            <a:avLst/>
            <a:gdLst/>
            <a:ahLst/>
            <a:cxnLst/>
            <a:rect l="l" t="t" r="r" b="b"/>
            <a:pathLst>
              <a:path w="5627370" h="960120">
                <a:moveTo>
                  <a:pt x="76205" y="0"/>
                </a:moveTo>
                <a:lnTo>
                  <a:pt x="5551165" y="0"/>
                </a:lnTo>
                <a:cubicBezTo>
                  <a:pt x="5593252" y="0"/>
                  <a:pt x="5627370" y="34118"/>
                  <a:pt x="5627370" y="76205"/>
                </a:cubicBezTo>
                <a:lnTo>
                  <a:pt x="5627370" y="883915"/>
                </a:lnTo>
                <a:cubicBezTo>
                  <a:pt x="5627370" y="926002"/>
                  <a:pt x="5593252" y="960120"/>
                  <a:pt x="5551165" y="960120"/>
                </a:cubicBezTo>
                <a:lnTo>
                  <a:pt x="76205" y="960120"/>
                </a:lnTo>
                <a:cubicBezTo>
                  <a:pt x="34118" y="960120"/>
                  <a:pt x="0" y="926002"/>
                  <a:pt x="0" y="883915"/>
                </a:cubicBezTo>
                <a:lnTo>
                  <a:pt x="0" y="76205"/>
                </a:lnTo>
                <a:cubicBezTo>
                  <a:pt x="0" y="34118"/>
                  <a:pt x="34118" y="0"/>
                  <a:pt x="76205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 w="1016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348889" y="5707382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26057" y="-3683"/>
                </a:moveTo>
                <a:cubicBezTo>
                  <a:pt x="130485" y="-484"/>
                  <a:pt x="132122" y="5321"/>
                  <a:pt x="130113" y="10381"/>
                </a:cubicBezTo>
                <a:lnTo>
                  <a:pt x="100943" y="83344"/>
                </a:lnTo>
                <a:lnTo>
                  <a:pt x="154781" y="83344"/>
                </a:lnTo>
                <a:cubicBezTo>
                  <a:pt x="159804" y="83344"/>
                  <a:pt x="164269" y="86469"/>
                  <a:pt x="165981" y="91194"/>
                </a:cubicBezTo>
                <a:cubicBezTo>
                  <a:pt x="167692" y="95920"/>
                  <a:pt x="166241" y="101203"/>
                  <a:pt x="162409" y="104403"/>
                </a:cubicBezTo>
                <a:lnTo>
                  <a:pt x="55252" y="193700"/>
                </a:lnTo>
                <a:cubicBezTo>
                  <a:pt x="51048" y="197197"/>
                  <a:pt x="45058" y="197383"/>
                  <a:pt x="40630" y="194183"/>
                </a:cubicBezTo>
                <a:cubicBezTo>
                  <a:pt x="36202" y="190984"/>
                  <a:pt x="34565" y="185179"/>
                  <a:pt x="36575" y="180119"/>
                </a:cubicBezTo>
                <a:lnTo>
                  <a:pt x="65745" y="107156"/>
                </a:lnTo>
                <a:lnTo>
                  <a:pt x="11906" y="107156"/>
                </a:lnTo>
                <a:cubicBezTo>
                  <a:pt x="6883" y="107156"/>
                  <a:pt x="2418" y="104031"/>
                  <a:pt x="707" y="99306"/>
                </a:cubicBezTo>
                <a:cubicBezTo>
                  <a:pt x="-1005" y="94580"/>
                  <a:pt x="446" y="89297"/>
                  <a:pt x="4279" y="86097"/>
                </a:cubicBezTo>
                <a:lnTo>
                  <a:pt x="111435" y="-3200"/>
                </a:lnTo>
                <a:cubicBezTo>
                  <a:pt x="115639" y="-6697"/>
                  <a:pt x="121630" y="-6883"/>
                  <a:pt x="126057" y="-3683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62" name="Text 60"/>
          <p:cNvSpPr/>
          <p:nvPr/>
        </p:nvSpPr>
        <p:spPr>
          <a:xfrm>
            <a:off x="6643926" y="5669282"/>
            <a:ext cx="5086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Snippets When: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643926" y="5935982"/>
            <a:ext cx="50768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Modifying headers/URLs, simple redirects, lightweight logic, or when you need free unlimited invocations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Cloudflare Workers &amp; Snippets</dc:title>
  <dc:subject>Cloudflare Workers &amp; Snippets</dc:subject>
  <dc:creator>Kimi</dc:creator>
  <cp:lastModifiedBy>Kimi</cp:lastModifiedBy>
  <cp:revision>1</cp:revision>
  <dcterms:created xsi:type="dcterms:W3CDTF">2026-02-05T06:03:39Z</dcterms:created>
  <dcterms:modified xsi:type="dcterms:W3CDTF">2026-02-05T06:03:39Z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{"Label":"Cloudflare Workers &amp; Snippets","ContentProducer":"001191110108MACG2KBH8F10000","ProduceID":"19c2b8b5-6422-86cf-8000-0000ae27b502","ReservedCode1":"","ContentPropagator":"001191110108MACG2KBH8F20000","PropagateID":"19c2b8b5-6422-86cf-8000-0000ae27b502","ReservedCode2":""}</vt:lpwstr>
  </property>
</Properties>
</file>