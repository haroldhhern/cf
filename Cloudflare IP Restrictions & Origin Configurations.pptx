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embeddedFontLst>
    <p:embeddedFont>
      <p:font typeface="Liter" charset="-122" pitchFamily="34"/>
      <p:regular r:id="rId26"/>
    </p:embeddedFont>
    <p:embeddedFont>
      <p:font typeface="MiSans" charset="-122" pitchFamily="34"/>
      <p:regular r:id="rId2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font" Target="fonts/font1.fntdata"/><Relationship Id="rId2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p:bgPr>
    </p:bg>
    <p:spTree>
      <p:nvGrpSpPr>
        <p:cNvPr id="1" name=""/>
        <p:cNvGrpSpPr/>
        <p:nvPr/>
      </p:nvGrpSpPr>
      <p:grpSpPr>
        <a:xfrm>
          <a:off x="0" y="0"/>
          <a:ext cx="0" cy="0"/>
          <a:chOff x="0" y="0"/>
          <a:chExt cx="0" cy="0"/>
        </a:xfrm>
      </p:grpSpPr>
      <p:pic>
        <p:nvPicPr>
          <p:cNvPr id="2" name="Image 0" descr="https://kimi-web-img.moonshot.cn/img/media.datacenterdynamics.com/dd90a6eea04a510de6de6cbb60472c881fa57975.jpg">    </p:cNvPr>
          <p:cNvPicPr>
            <a:picLocks noChangeAspect="1"/>
          </p:cNvPicPr>
          <p:nvPr/>
        </p:nvPicPr>
        <p:blipFill>
          <a:blip r:embed="rId1">
            <a:alphaModFix amt="40000"/>
          </a:blip>
          <a:srcRect l="4667" r="4667"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1D21">
                  <a:alpha val="95000"/>
                </a:srgbClr>
              </a:gs>
              <a:gs pos="50000">
                <a:srgbClr val="1A1D21">
                  <a:alpha val="85000"/>
                </a:srgbClr>
              </a:gs>
              <a:gs pos="100000">
                <a:srgbClr val="F47C20">
                  <a:alpha val="20000"/>
                </a:srgbClr>
              </a:gs>
            </a:gsLst>
            <a:lin ang="2700000" scaled="1"/>
          </a:gradFill>
          <a:ln/>
        </p:spPr>
      </p:sp>
      <p:sp>
        <p:nvSpPr>
          <p:cNvPr id="4" name="Text 1"/>
          <p:cNvSpPr/>
          <p:nvPr/>
        </p:nvSpPr>
        <p:spPr>
          <a:xfrm>
            <a:off x="381000" y="2055495"/>
            <a:ext cx="11772900" cy="1714500"/>
          </a:xfrm>
          <a:prstGeom prst="rect">
            <a:avLst/>
          </a:prstGeom>
          <a:noFill/>
          <a:ln/>
        </p:spPr>
        <p:txBody>
          <a:bodyPr wrap="square" lIns="0" tIns="0" rIns="0" bIns="0" rtlCol="0" anchor="ctr"/>
          <a:lstStyle/>
          <a:p>
            <a:pPr>
              <a:lnSpc>
                <a:spcPct val="100000"/>
              </a:lnSpc>
            </a:pPr>
            <a:r>
              <a:rPr lang="en-US" sz="5400" b="1" dirty="0">
                <a:solidFill>
                  <a:srgbClr val="E8EAED"/>
                </a:solidFill>
                <a:latin typeface="Liter" pitchFamily="34" charset="0"/>
                <a:ea typeface="Liter" pitchFamily="34" charset="-122"/>
                <a:cs typeface="Liter" pitchFamily="34" charset="-120"/>
              </a:rPr>
              <a:t>Cloudflare IP Restrictions</a:t>
            </a:r>
            <a:endParaRPr lang="en-US" sz="1600" dirty="0"/>
          </a:p>
          <a:p>
            <a:pPr>
              <a:lnSpc>
                <a:spcPct val="100000"/>
              </a:lnSpc>
            </a:pPr>
            <a:r>
              <a:rPr lang="en-US" sz="5400" b="1" dirty="0">
                <a:solidFill>
                  <a:srgbClr val="F47C20"/>
                </a:solidFill>
                <a:latin typeface="Liter" pitchFamily="34" charset="0"/>
                <a:ea typeface="Liter" pitchFamily="34" charset="-122"/>
                <a:cs typeface="Liter" pitchFamily="34" charset="-120"/>
              </a:rPr>
              <a:t>&amp; Origin Configurations</a:t>
            </a:r>
            <a:endParaRPr lang="en-US" sz="1600" dirty="0"/>
          </a:p>
        </p:txBody>
      </p:sp>
      <p:sp>
        <p:nvSpPr>
          <p:cNvPr id="5" name="Text 2"/>
          <p:cNvSpPr/>
          <p:nvPr/>
        </p:nvSpPr>
        <p:spPr>
          <a:xfrm>
            <a:off x="381000" y="4074795"/>
            <a:ext cx="7429500" cy="742950"/>
          </a:xfrm>
          <a:prstGeom prst="rect">
            <a:avLst/>
          </a:prstGeom>
          <a:noFill/>
          <a:ln/>
        </p:spPr>
        <p:txBody>
          <a:bodyPr wrap="square" lIns="0" tIns="0" rIns="0" bIns="0" rtlCol="0" anchor="ctr"/>
          <a:lstStyle/>
          <a:p>
            <a:pPr>
              <a:lnSpc>
                <a:spcPct val="140000"/>
              </a:lnSpc>
            </a:pPr>
            <a:r>
              <a:rPr lang="en-US" sz="1800" dirty="0">
                <a:solidFill>
                  <a:srgbClr val="E8EAED">
                    <a:alpha val="80000"/>
                  </a:srgbClr>
                </a:solidFill>
                <a:latin typeface="Liter" pitchFamily="34" charset="0"/>
                <a:ea typeface="Liter" pitchFamily="34" charset="-122"/>
                <a:cs typeface="Liter" pitchFamily="34" charset="-120"/>
              </a:rPr>
              <a:t>Palo Alto FW, F5, AWS ALB, and mTLS with Cloudflare Aegis</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E8EAED"/>
                </a:solidFill>
                <a:latin typeface="Liter" pitchFamily="34" charset="0"/>
                <a:ea typeface="Liter" pitchFamily="34" charset="-122"/>
                <a:cs typeface="Liter" pitchFamily="34" charset="-120"/>
              </a:rPr>
              <a:t>Contents</a:t>
            </a:r>
            <a:endParaRPr lang="en-US" sz="1600" dirty="0"/>
          </a:p>
        </p:txBody>
      </p:sp>
      <p:sp>
        <p:nvSpPr>
          <p:cNvPr id="3" name="Shape 1"/>
          <p:cNvSpPr/>
          <p:nvPr/>
        </p:nvSpPr>
        <p:spPr>
          <a:xfrm>
            <a:off x="384810" y="1375410"/>
            <a:ext cx="5627370" cy="1588770"/>
          </a:xfrm>
          <a:custGeom>
            <a:avLst/>
            <a:gdLst/>
            <a:ahLst/>
            <a:cxnLst/>
            <a:rect l="l" t="t" r="r" b="b"/>
            <a:pathLst>
              <a:path w="5627370" h="1588770">
                <a:moveTo>
                  <a:pt x="114296" y="0"/>
                </a:moveTo>
                <a:lnTo>
                  <a:pt x="5513074" y="0"/>
                </a:lnTo>
                <a:cubicBezTo>
                  <a:pt x="5576198" y="0"/>
                  <a:pt x="5627370" y="51172"/>
                  <a:pt x="5627370" y="114296"/>
                </a:cubicBezTo>
                <a:lnTo>
                  <a:pt x="5627370" y="1474474"/>
                </a:lnTo>
                <a:cubicBezTo>
                  <a:pt x="5627370" y="1537598"/>
                  <a:pt x="5576198" y="1588770"/>
                  <a:pt x="5513074" y="1588770"/>
                </a:cubicBezTo>
                <a:lnTo>
                  <a:pt x="114296" y="1588770"/>
                </a:lnTo>
                <a:cubicBezTo>
                  <a:pt x="51172" y="1588770"/>
                  <a:pt x="0" y="1537598"/>
                  <a:pt x="0" y="1474474"/>
                </a:cubicBezTo>
                <a:lnTo>
                  <a:pt x="0" y="114296"/>
                </a:lnTo>
                <a:cubicBezTo>
                  <a:pt x="0" y="51214"/>
                  <a:pt x="51214" y="0"/>
                  <a:pt x="114296" y="0"/>
                </a:cubicBezTo>
                <a:close/>
              </a:path>
            </a:pathLst>
          </a:custGeom>
          <a:solidFill>
            <a:srgbClr val="48515E">
              <a:alpha val="20000"/>
            </a:srgbClr>
          </a:solidFill>
          <a:ln w="10160">
            <a:solidFill>
              <a:srgbClr val="48515E">
                <a:alpha val="40000"/>
              </a:srgbClr>
            </a:solidFill>
            <a:prstDash val="solid"/>
          </a:ln>
        </p:spPr>
      </p:sp>
      <p:sp>
        <p:nvSpPr>
          <p:cNvPr id="4" name="Shape 2"/>
          <p:cNvSpPr/>
          <p:nvPr/>
        </p:nvSpPr>
        <p:spPr>
          <a:xfrm>
            <a:off x="579120" y="156972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F47C20">
              <a:alpha val="20000"/>
            </a:srgbClr>
          </a:solidFill>
          <a:ln/>
        </p:spPr>
      </p:sp>
      <p:sp>
        <p:nvSpPr>
          <p:cNvPr id="5" name="Text 3"/>
          <p:cNvSpPr/>
          <p:nvPr/>
        </p:nvSpPr>
        <p:spPr>
          <a:xfrm>
            <a:off x="727115" y="1684020"/>
            <a:ext cx="352425" cy="304800"/>
          </a:xfrm>
          <a:prstGeom prst="rect">
            <a:avLst/>
          </a:prstGeom>
          <a:noFill/>
          <a:ln/>
        </p:spPr>
        <p:txBody>
          <a:bodyPr wrap="square" lIns="0" tIns="0" rIns="0" bIns="0" rtlCol="0" anchor="ctr"/>
          <a:lstStyle/>
          <a:p>
            <a:pPr>
              <a:lnSpc>
                <a:spcPct val="110000"/>
              </a:lnSpc>
            </a:pPr>
            <a:r>
              <a:rPr lang="en-US" sz="1800" b="1" dirty="0">
                <a:solidFill>
                  <a:srgbClr val="F47C20"/>
                </a:solidFill>
                <a:latin typeface="Liter" pitchFamily="34" charset="0"/>
                <a:ea typeface="Liter" pitchFamily="34" charset="-122"/>
                <a:cs typeface="Liter" pitchFamily="34" charset="-120"/>
              </a:rPr>
              <a:t>01</a:t>
            </a:r>
            <a:endParaRPr lang="en-US" sz="1600" dirty="0"/>
          </a:p>
        </p:txBody>
      </p:sp>
      <p:sp>
        <p:nvSpPr>
          <p:cNvPr id="6" name="Text 4"/>
          <p:cNvSpPr/>
          <p:nvPr/>
        </p:nvSpPr>
        <p:spPr>
          <a:xfrm>
            <a:off x="1264920" y="1569720"/>
            <a:ext cx="4648200" cy="266700"/>
          </a:xfrm>
          <a:prstGeom prst="rect">
            <a:avLst/>
          </a:prstGeom>
          <a:noFill/>
          <a:ln/>
        </p:spPr>
        <p:txBody>
          <a:bodyPr wrap="square" lIns="0" tIns="0" rIns="0" bIns="0" rtlCol="0" anchor="ctr"/>
          <a:lstStyle/>
          <a:p>
            <a:pPr>
              <a:lnSpc>
                <a:spcPct val="120000"/>
              </a:lnSpc>
            </a:pPr>
            <a:r>
              <a:rPr lang="en-US" sz="1500" b="1" dirty="0">
                <a:solidFill>
                  <a:srgbClr val="E8EAED"/>
                </a:solidFill>
                <a:latin typeface="Liter" pitchFamily="34" charset="0"/>
                <a:ea typeface="Liter" pitchFamily="34" charset="-122"/>
                <a:cs typeface="Liter" pitchFamily="34" charset="-120"/>
              </a:rPr>
              <a:t>Cloudflare Aegis Overview</a:t>
            </a:r>
            <a:endParaRPr lang="en-US" sz="1600" dirty="0"/>
          </a:p>
        </p:txBody>
      </p:sp>
      <p:sp>
        <p:nvSpPr>
          <p:cNvPr id="7" name="Text 5"/>
          <p:cNvSpPr/>
          <p:nvPr/>
        </p:nvSpPr>
        <p:spPr>
          <a:xfrm>
            <a:off x="1264920" y="1912620"/>
            <a:ext cx="4629150" cy="495300"/>
          </a:xfrm>
          <a:prstGeom prst="rect">
            <a:avLst/>
          </a:prstGeom>
          <a:noFill/>
          <a:ln/>
        </p:spPr>
        <p:txBody>
          <a:bodyPr wrap="square" lIns="0" tIns="0" rIns="0" bIns="0" rtlCol="0" anchor="ctr"/>
          <a:lstStyle/>
          <a:p>
            <a:pPr>
              <a:lnSpc>
                <a:spcPct val="140000"/>
              </a:lnSpc>
            </a:pPr>
            <a:r>
              <a:rPr lang="en-US" sz="1200" dirty="0">
                <a:solidFill>
                  <a:srgbClr val="E8EAED">
                    <a:alpha val="70000"/>
                  </a:srgbClr>
                </a:solidFill>
                <a:latin typeface="Liter" pitchFamily="34" charset="0"/>
                <a:ea typeface="Liter" pitchFamily="34" charset="-122"/>
                <a:cs typeface="Liter" pitchFamily="34" charset="-120"/>
              </a:rPr>
              <a:t>Understanding Dedicated CDN Egress IPs, IPv4 vs IPv6 capabilities, and origin protection fundamentals</a:t>
            </a:r>
            <a:endParaRPr lang="en-US" sz="1600" dirty="0"/>
          </a:p>
        </p:txBody>
      </p:sp>
      <p:sp>
        <p:nvSpPr>
          <p:cNvPr id="8" name="Shape 6"/>
          <p:cNvSpPr/>
          <p:nvPr/>
        </p:nvSpPr>
        <p:spPr>
          <a:xfrm>
            <a:off x="6176010" y="1375410"/>
            <a:ext cx="5627370" cy="1588770"/>
          </a:xfrm>
          <a:custGeom>
            <a:avLst/>
            <a:gdLst/>
            <a:ahLst/>
            <a:cxnLst/>
            <a:rect l="l" t="t" r="r" b="b"/>
            <a:pathLst>
              <a:path w="5627370" h="1588770">
                <a:moveTo>
                  <a:pt x="114296" y="0"/>
                </a:moveTo>
                <a:lnTo>
                  <a:pt x="5513074" y="0"/>
                </a:lnTo>
                <a:cubicBezTo>
                  <a:pt x="5576198" y="0"/>
                  <a:pt x="5627370" y="51172"/>
                  <a:pt x="5627370" y="114296"/>
                </a:cubicBezTo>
                <a:lnTo>
                  <a:pt x="5627370" y="1474474"/>
                </a:lnTo>
                <a:cubicBezTo>
                  <a:pt x="5627370" y="1537598"/>
                  <a:pt x="5576198" y="1588770"/>
                  <a:pt x="5513074" y="1588770"/>
                </a:cubicBezTo>
                <a:lnTo>
                  <a:pt x="114296" y="1588770"/>
                </a:lnTo>
                <a:cubicBezTo>
                  <a:pt x="51172" y="1588770"/>
                  <a:pt x="0" y="1537598"/>
                  <a:pt x="0" y="1474474"/>
                </a:cubicBezTo>
                <a:lnTo>
                  <a:pt x="0" y="114296"/>
                </a:lnTo>
                <a:cubicBezTo>
                  <a:pt x="0" y="51214"/>
                  <a:pt x="51214" y="0"/>
                  <a:pt x="114296" y="0"/>
                </a:cubicBezTo>
                <a:close/>
              </a:path>
            </a:pathLst>
          </a:custGeom>
          <a:solidFill>
            <a:srgbClr val="48515E">
              <a:alpha val="20000"/>
            </a:srgbClr>
          </a:solidFill>
          <a:ln w="10160">
            <a:solidFill>
              <a:srgbClr val="48515E">
                <a:alpha val="40000"/>
              </a:srgbClr>
            </a:solidFill>
            <a:prstDash val="solid"/>
          </a:ln>
        </p:spPr>
      </p:sp>
      <p:sp>
        <p:nvSpPr>
          <p:cNvPr id="9" name="Shape 7"/>
          <p:cNvSpPr/>
          <p:nvPr/>
        </p:nvSpPr>
        <p:spPr>
          <a:xfrm>
            <a:off x="6370320" y="156972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0A4E0">
              <a:alpha val="20000"/>
            </a:srgbClr>
          </a:solidFill>
          <a:ln/>
        </p:spPr>
      </p:sp>
      <p:sp>
        <p:nvSpPr>
          <p:cNvPr id="10" name="Text 8"/>
          <p:cNvSpPr/>
          <p:nvPr/>
        </p:nvSpPr>
        <p:spPr>
          <a:xfrm>
            <a:off x="6497598" y="1684020"/>
            <a:ext cx="390525" cy="304800"/>
          </a:xfrm>
          <a:prstGeom prst="rect">
            <a:avLst/>
          </a:prstGeom>
          <a:noFill/>
          <a:ln/>
        </p:spPr>
        <p:txBody>
          <a:bodyPr wrap="square" lIns="0" tIns="0" rIns="0" bIns="0" rtlCol="0" anchor="ctr"/>
          <a:lstStyle/>
          <a:p>
            <a:pPr>
              <a:lnSpc>
                <a:spcPct val="110000"/>
              </a:lnSpc>
            </a:pPr>
            <a:r>
              <a:rPr lang="en-US" sz="1800" b="1" dirty="0">
                <a:solidFill>
                  <a:srgbClr val="00A4E0"/>
                </a:solidFill>
                <a:latin typeface="Liter" pitchFamily="34" charset="0"/>
                <a:ea typeface="Liter" pitchFamily="34" charset="-122"/>
                <a:cs typeface="Liter" pitchFamily="34" charset="-120"/>
              </a:rPr>
              <a:t>02</a:t>
            </a:r>
            <a:endParaRPr lang="en-US" sz="1600" dirty="0"/>
          </a:p>
        </p:txBody>
      </p:sp>
      <p:sp>
        <p:nvSpPr>
          <p:cNvPr id="11" name="Text 9"/>
          <p:cNvSpPr/>
          <p:nvPr/>
        </p:nvSpPr>
        <p:spPr>
          <a:xfrm>
            <a:off x="7056120" y="1569720"/>
            <a:ext cx="4648200" cy="266700"/>
          </a:xfrm>
          <a:prstGeom prst="rect">
            <a:avLst/>
          </a:prstGeom>
          <a:noFill/>
          <a:ln/>
        </p:spPr>
        <p:txBody>
          <a:bodyPr wrap="square" lIns="0" tIns="0" rIns="0" bIns="0" rtlCol="0" anchor="ctr"/>
          <a:lstStyle/>
          <a:p>
            <a:pPr>
              <a:lnSpc>
                <a:spcPct val="120000"/>
              </a:lnSpc>
            </a:pPr>
            <a:r>
              <a:rPr lang="en-US" sz="1500" b="1" dirty="0">
                <a:solidFill>
                  <a:srgbClr val="E8EAED"/>
                </a:solidFill>
                <a:latin typeface="Liter" pitchFamily="34" charset="0"/>
                <a:ea typeface="Liter" pitchFamily="34" charset="-122"/>
                <a:cs typeface="Liter" pitchFamily="34" charset="-120"/>
              </a:rPr>
              <a:t>Palo Alto Firewall</a:t>
            </a:r>
            <a:endParaRPr lang="en-US" sz="1600" dirty="0"/>
          </a:p>
        </p:txBody>
      </p:sp>
      <p:sp>
        <p:nvSpPr>
          <p:cNvPr id="12" name="Text 10"/>
          <p:cNvSpPr/>
          <p:nvPr/>
        </p:nvSpPr>
        <p:spPr>
          <a:xfrm>
            <a:off x="7056120" y="1912620"/>
            <a:ext cx="4629150" cy="495300"/>
          </a:xfrm>
          <a:prstGeom prst="rect">
            <a:avLst/>
          </a:prstGeom>
          <a:noFill/>
          <a:ln/>
        </p:spPr>
        <p:txBody>
          <a:bodyPr wrap="square" lIns="0" tIns="0" rIns="0" bIns="0" rtlCol="0" anchor="ctr"/>
          <a:lstStyle/>
          <a:p>
            <a:pPr>
              <a:lnSpc>
                <a:spcPct val="140000"/>
              </a:lnSpc>
            </a:pPr>
            <a:r>
              <a:rPr lang="en-US" sz="1200" dirty="0">
                <a:solidFill>
                  <a:srgbClr val="E8EAED">
                    <a:alpha val="70000"/>
                  </a:srgbClr>
                </a:solidFill>
                <a:latin typeface="Liter" pitchFamily="34" charset="0"/>
                <a:ea typeface="Liter" pitchFamily="34" charset="-122"/>
                <a:cs typeface="Liter" pitchFamily="34" charset="-120"/>
              </a:rPr>
              <a:t>Address objects, groups, and security policy configuration for Aegis IP restrictions</a:t>
            </a:r>
            <a:endParaRPr lang="en-US" sz="1600" dirty="0"/>
          </a:p>
        </p:txBody>
      </p:sp>
      <p:sp>
        <p:nvSpPr>
          <p:cNvPr id="13" name="Shape 11"/>
          <p:cNvSpPr/>
          <p:nvPr/>
        </p:nvSpPr>
        <p:spPr>
          <a:xfrm>
            <a:off x="384810" y="3128010"/>
            <a:ext cx="5627370" cy="1588770"/>
          </a:xfrm>
          <a:custGeom>
            <a:avLst/>
            <a:gdLst/>
            <a:ahLst/>
            <a:cxnLst/>
            <a:rect l="l" t="t" r="r" b="b"/>
            <a:pathLst>
              <a:path w="5627370" h="1588770">
                <a:moveTo>
                  <a:pt x="114296" y="0"/>
                </a:moveTo>
                <a:lnTo>
                  <a:pt x="5513074" y="0"/>
                </a:lnTo>
                <a:cubicBezTo>
                  <a:pt x="5576198" y="0"/>
                  <a:pt x="5627370" y="51172"/>
                  <a:pt x="5627370" y="114296"/>
                </a:cubicBezTo>
                <a:lnTo>
                  <a:pt x="5627370" y="1474474"/>
                </a:lnTo>
                <a:cubicBezTo>
                  <a:pt x="5627370" y="1537598"/>
                  <a:pt x="5576198" y="1588770"/>
                  <a:pt x="5513074" y="1588770"/>
                </a:cubicBezTo>
                <a:lnTo>
                  <a:pt x="114296" y="1588770"/>
                </a:lnTo>
                <a:cubicBezTo>
                  <a:pt x="51172" y="1588770"/>
                  <a:pt x="0" y="1537598"/>
                  <a:pt x="0" y="1474474"/>
                </a:cubicBezTo>
                <a:lnTo>
                  <a:pt x="0" y="114296"/>
                </a:lnTo>
                <a:cubicBezTo>
                  <a:pt x="0" y="51214"/>
                  <a:pt x="51214" y="0"/>
                  <a:pt x="114296" y="0"/>
                </a:cubicBezTo>
                <a:close/>
              </a:path>
            </a:pathLst>
          </a:custGeom>
          <a:solidFill>
            <a:srgbClr val="48515E">
              <a:alpha val="20000"/>
            </a:srgbClr>
          </a:solidFill>
          <a:ln w="10160">
            <a:solidFill>
              <a:srgbClr val="48515E">
                <a:alpha val="40000"/>
              </a:srgbClr>
            </a:solidFill>
            <a:prstDash val="solid"/>
          </a:ln>
        </p:spPr>
      </p:sp>
      <p:sp>
        <p:nvSpPr>
          <p:cNvPr id="14" name="Shape 12"/>
          <p:cNvSpPr/>
          <p:nvPr/>
        </p:nvSpPr>
        <p:spPr>
          <a:xfrm>
            <a:off x="579120" y="332232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F47C20">
              <a:alpha val="20000"/>
            </a:srgbClr>
          </a:solidFill>
          <a:ln/>
        </p:spPr>
      </p:sp>
      <p:sp>
        <p:nvSpPr>
          <p:cNvPr id="15" name="Text 13"/>
          <p:cNvSpPr/>
          <p:nvPr/>
        </p:nvSpPr>
        <p:spPr>
          <a:xfrm>
            <a:off x="705445" y="3436620"/>
            <a:ext cx="390525" cy="304800"/>
          </a:xfrm>
          <a:prstGeom prst="rect">
            <a:avLst/>
          </a:prstGeom>
          <a:noFill/>
          <a:ln/>
        </p:spPr>
        <p:txBody>
          <a:bodyPr wrap="square" lIns="0" tIns="0" rIns="0" bIns="0" rtlCol="0" anchor="ctr"/>
          <a:lstStyle/>
          <a:p>
            <a:pPr>
              <a:lnSpc>
                <a:spcPct val="110000"/>
              </a:lnSpc>
            </a:pPr>
            <a:r>
              <a:rPr lang="en-US" sz="1800" b="1" dirty="0">
                <a:solidFill>
                  <a:srgbClr val="F47C20"/>
                </a:solidFill>
                <a:latin typeface="Liter" pitchFamily="34" charset="0"/>
                <a:ea typeface="Liter" pitchFamily="34" charset="-122"/>
                <a:cs typeface="Liter" pitchFamily="34" charset="-120"/>
              </a:rPr>
              <a:t>03</a:t>
            </a:r>
            <a:endParaRPr lang="en-US" sz="1600" dirty="0"/>
          </a:p>
        </p:txBody>
      </p:sp>
      <p:sp>
        <p:nvSpPr>
          <p:cNvPr id="16" name="Text 14"/>
          <p:cNvSpPr/>
          <p:nvPr/>
        </p:nvSpPr>
        <p:spPr>
          <a:xfrm>
            <a:off x="1264920" y="3322320"/>
            <a:ext cx="4648200" cy="266700"/>
          </a:xfrm>
          <a:prstGeom prst="rect">
            <a:avLst/>
          </a:prstGeom>
          <a:noFill/>
          <a:ln/>
        </p:spPr>
        <p:txBody>
          <a:bodyPr wrap="square" lIns="0" tIns="0" rIns="0" bIns="0" rtlCol="0" anchor="ctr"/>
          <a:lstStyle/>
          <a:p>
            <a:pPr>
              <a:lnSpc>
                <a:spcPct val="120000"/>
              </a:lnSpc>
            </a:pPr>
            <a:r>
              <a:rPr lang="en-US" sz="1500" b="1" dirty="0">
                <a:solidFill>
                  <a:srgbClr val="E8EAED"/>
                </a:solidFill>
                <a:latin typeface="Liter" pitchFamily="34" charset="0"/>
                <a:ea typeface="Liter" pitchFamily="34" charset="-122"/>
                <a:cs typeface="Liter" pitchFamily="34" charset="-120"/>
              </a:rPr>
              <a:t>F5 Load Balancer</a:t>
            </a:r>
            <a:endParaRPr lang="en-US" sz="1600" dirty="0"/>
          </a:p>
        </p:txBody>
      </p:sp>
      <p:sp>
        <p:nvSpPr>
          <p:cNvPr id="17" name="Text 15"/>
          <p:cNvSpPr/>
          <p:nvPr/>
        </p:nvSpPr>
        <p:spPr>
          <a:xfrm>
            <a:off x="1264920" y="3665220"/>
            <a:ext cx="4629150" cy="495300"/>
          </a:xfrm>
          <a:prstGeom prst="rect">
            <a:avLst/>
          </a:prstGeom>
          <a:noFill/>
          <a:ln/>
        </p:spPr>
        <p:txBody>
          <a:bodyPr wrap="square" lIns="0" tIns="0" rIns="0" bIns="0" rtlCol="0" anchor="ctr"/>
          <a:lstStyle/>
          <a:p>
            <a:pPr>
              <a:lnSpc>
                <a:spcPct val="140000"/>
              </a:lnSpc>
            </a:pPr>
            <a:r>
              <a:rPr lang="en-US" sz="1200" dirty="0">
                <a:solidFill>
                  <a:srgbClr val="E8EAED">
                    <a:alpha val="70000"/>
                  </a:srgbClr>
                </a:solidFill>
                <a:latin typeface="Liter" pitchFamily="34" charset="0"/>
                <a:ea typeface="Liter" pitchFamily="34" charset="-122"/>
                <a:cs typeface="Liter" pitchFamily="34" charset="-120"/>
              </a:rPr>
              <a:t>iRule development, data groups, and virtual server configuration for IP-based access control</a:t>
            </a:r>
            <a:endParaRPr lang="en-US" sz="1600" dirty="0"/>
          </a:p>
        </p:txBody>
      </p:sp>
      <p:sp>
        <p:nvSpPr>
          <p:cNvPr id="18" name="Shape 16"/>
          <p:cNvSpPr/>
          <p:nvPr/>
        </p:nvSpPr>
        <p:spPr>
          <a:xfrm>
            <a:off x="6176010" y="3128010"/>
            <a:ext cx="5627370" cy="1588770"/>
          </a:xfrm>
          <a:custGeom>
            <a:avLst/>
            <a:gdLst/>
            <a:ahLst/>
            <a:cxnLst/>
            <a:rect l="l" t="t" r="r" b="b"/>
            <a:pathLst>
              <a:path w="5627370" h="1588770">
                <a:moveTo>
                  <a:pt x="114296" y="0"/>
                </a:moveTo>
                <a:lnTo>
                  <a:pt x="5513074" y="0"/>
                </a:lnTo>
                <a:cubicBezTo>
                  <a:pt x="5576198" y="0"/>
                  <a:pt x="5627370" y="51172"/>
                  <a:pt x="5627370" y="114296"/>
                </a:cubicBezTo>
                <a:lnTo>
                  <a:pt x="5627370" y="1474474"/>
                </a:lnTo>
                <a:cubicBezTo>
                  <a:pt x="5627370" y="1537598"/>
                  <a:pt x="5576198" y="1588770"/>
                  <a:pt x="5513074" y="1588770"/>
                </a:cubicBezTo>
                <a:lnTo>
                  <a:pt x="114296" y="1588770"/>
                </a:lnTo>
                <a:cubicBezTo>
                  <a:pt x="51172" y="1588770"/>
                  <a:pt x="0" y="1537598"/>
                  <a:pt x="0" y="1474474"/>
                </a:cubicBezTo>
                <a:lnTo>
                  <a:pt x="0" y="114296"/>
                </a:lnTo>
                <a:cubicBezTo>
                  <a:pt x="0" y="51214"/>
                  <a:pt x="51214" y="0"/>
                  <a:pt x="114296" y="0"/>
                </a:cubicBezTo>
                <a:close/>
              </a:path>
            </a:pathLst>
          </a:custGeom>
          <a:solidFill>
            <a:srgbClr val="48515E">
              <a:alpha val="20000"/>
            </a:srgbClr>
          </a:solidFill>
          <a:ln w="10160">
            <a:solidFill>
              <a:srgbClr val="48515E">
                <a:alpha val="40000"/>
              </a:srgbClr>
            </a:solidFill>
            <a:prstDash val="solid"/>
          </a:ln>
        </p:spPr>
      </p:sp>
      <p:sp>
        <p:nvSpPr>
          <p:cNvPr id="19" name="Shape 17"/>
          <p:cNvSpPr/>
          <p:nvPr/>
        </p:nvSpPr>
        <p:spPr>
          <a:xfrm>
            <a:off x="6370320" y="332232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0A4E0">
              <a:alpha val="20000"/>
            </a:srgbClr>
          </a:solidFill>
          <a:ln/>
        </p:spPr>
      </p:sp>
      <p:sp>
        <p:nvSpPr>
          <p:cNvPr id="20" name="Text 18"/>
          <p:cNvSpPr/>
          <p:nvPr/>
        </p:nvSpPr>
        <p:spPr>
          <a:xfrm>
            <a:off x="6496764" y="3436620"/>
            <a:ext cx="390525" cy="304800"/>
          </a:xfrm>
          <a:prstGeom prst="rect">
            <a:avLst/>
          </a:prstGeom>
          <a:noFill/>
          <a:ln/>
        </p:spPr>
        <p:txBody>
          <a:bodyPr wrap="square" lIns="0" tIns="0" rIns="0" bIns="0" rtlCol="0" anchor="ctr"/>
          <a:lstStyle/>
          <a:p>
            <a:pPr>
              <a:lnSpc>
                <a:spcPct val="110000"/>
              </a:lnSpc>
            </a:pPr>
            <a:r>
              <a:rPr lang="en-US" sz="1800" b="1" dirty="0">
                <a:solidFill>
                  <a:srgbClr val="00A4E0"/>
                </a:solidFill>
                <a:latin typeface="Liter" pitchFamily="34" charset="0"/>
                <a:ea typeface="Liter" pitchFamily="34" charset="-122"/>
                <a:cs typeface="Liter" pitchFamily="34" charset="-120"/>
              </a:rPr>
              <a:t>04</a:t>
            </a:r>
            <a:endParaRPr lang="en-US" sz="1600" dirty="0"/>
          </a:p>
        </p:txBody>
      </p:sp>
      <p:sp>
        <p:nvSpPr>
          <p:cNvPr id="21" name="Text 19"/>
          <p:cNvSpPr/>
          <p:nvPr/>
        </p:nvSpPr>
        <p:spPr>
          <a:xfrm>
            <a:off x="7056120" y="3322320"/>
            <a:ext cx="4648200" cy="266700"/>
          </a:xfrm>
          <a:prstGeom prst="rect">
            <a:avLst/>
          </a:prstGeom>
          <a:noFill/>
          <a:ln/>
        </p:spPr>
        <p:txBody>
          <a:bodyPr wrap="square" lIns="0" tIns="0" rIns="0" bIns="0" rtlCol="0" anchor="ctr"/>
          <a:lstStyle/>
          <a:p>
            <a:pPr>
              <a:lnSpc>
                <a:spcPct val="120000"/>
              </a:lnSpc>
            </a:pPr>
            <a:r>
              <a:rPr lang="en-US" sz="1500" b="1" dirty="0">
                <a:solidFill>
                  <a:srgbClr val="E8EAED"/>
                </a:solidFill>
                <a:latin typeface="Liter" pitchFamily="34" charset="0"/>
                <a:ea typeface="Liter" pitchFamily="34" charset="-122"/>
                <a:cs typeface="Liter" pitchFamily="34" charset="-120"/>
              </a:rPr>
              <a:t>AWS ALB</a:t>
            </a:r>
            <a:endParaRPr lang="en-US" sz="1600" dirty="0"/>
          </a:p>
        </p:txBody>
      </p:sp>
      <p:sp>
        <p:nvSpPr>
          <p:cNvPr id="22" name="Text 20"/>
          <p:cNvSpPr/>
          <p:nvPr/>
        </p:nvSpPr>
        <p:spPr>
          <a:xfrm>
            <a:off x="7056120" y="3665220"/>
            <a:ext cx="4629150" cy="495300"/>
          </a:xfrm>
          <a:prstGeom prst="rect">
            <a:avLst/>
          </a:prstGeom>
          <a:noFill/>
          <a:ln/>
        </p:spPr>
        <p:txBody>
          <a:bodyPr wrap="square" lIns="0" tIns="0" rIns="0" bIns="0" rtlCol="0" anchor="ctr"/>
          <a:lstStyle/>
          <a:p>
            <a:pPr>
              <a:lnSpc>
                <a:spcPct val="140000"/>
              </a:lnSpc>
            </a:pPr>
            <a:r>
              <a:rPr lang="en-US" sz="1200" dirty="0">
                <a:solidFill>
                  <a:srgbClr val="E8EAED">
                    <a:alpha val="70000"/>
                  </a:srgbClr>
                </a:solidFill>
                <a:latin typeface="Liter" pitchFamily="34" charset="0"/>
                <a:ea typeface="Liter" pitchFamily="34" charset="-122"/>
                <a:cs typeface="Liter" pitchFamily="34" charset="-120"/>
              </a:rPr>
              <a:t>Security group inbound rules, CLI configuration, and Terraform examples for ALB protection</a:t>
            </a:r>
            <a:endParaRPr lang="en-US" sz="1600" dirty="0"/>
          </a:p>
        </p:txBody>
      </p:sp>
      <p:sp>
        <p:nvSpPr>
          <p:cNvPr id="23" name="Shape 21"/>
          <p:cNvSpPr/>
          <p:nvPr/>
        </p:nvSpPr>
        <p:spPr>
          <a:xfrm>
            <a:off x="384810" y="4880610"/>
            <a:ext cx="5627370" cy="1588770"/>
          </a:xfrm>
          <a:custGeom>
            <a:avLst/>
            <a:gdLst/>
            <a:ahLst/>
            <a:cxnLst/>
            <a:rect l="l" t="t" r="r" b="b"/>
            <a:pathLst>
              <a:path w="5627370" h="1588770">
                <a:moveTo>
                  <a:pt x="114296" y="0"/>
                </a:moveTo>
                <a:lnTo>
                  <a:pt x="5513074" y="0"/>
                </a:lnTo>
                <a:cubicBezTo>
                  <a:pt x="5576198" y="0"/>
                  <a:pt x="5627370" y="51172"/>
                  <a:pt x="5627370" y="114296"/>
                </a:cubicBezTo>
                <a:lnTo>
                  <a:pt x="5627370" y="1474474"/>
                </a:lnTo>
                <a:cubicBezTo>
                  <a:pt x="5627370" y="1537598"/>
                  <a:pt x="5576198" y="1588770"/>
                  <a:pt x="5513074" y="1588770"/>
                </a:cubicBezTo>
                <a:lnTo>
                  <a:pt x="114296" y="1588770"/>
                </a:lnTo>
                <a:cubicBezTo>
                  <a:pt x="51172" y="1588770"/>
                  <a:pt x="0" y="1537598"/>
                  <a:pt x="0" y="1474474"/>
                </a:cubicBezTo>
                <a:lnTo>
                  <a:pt x="0" y="114296"/>
                </a:lnTo>
                <a:cubicBezTo>
                  <a:pt x="0" y="51214"/>
                  <a:pt x="51214" y="0"/>
                  <a:pt x="114296" y="0"/>
                </a:cubicBezTo>
                <a:close/>
              </a:path>
            </a:pathLst>
          </a:custGeom>
          <a:solidFill>
            <a:srgbClr val="48515E">
              <a:alpha val="20000"/>
            </a:srgbClr>
          </a:solidFill>
          <a:ln w="10160">
            <a:solidFill>
              <a:srgbClr val="48515E">
                <a:alpha val="40000"/>
              </a:srgbClr>
            </a:solidFill>
            <a:prstDash val="solid"/>
          </a:ln>
        </p:spPr>
      </p:sp>
      <p:sp>
        <p:nvSpPr>
          <p:cNvPr id="24" name="Shape 22"/>
          <p:cNvSpPr/>
          <p:nvPr/>
        </p:nvSpPr>
        <p:spPr>
          <a:xfrm>
            <a:off x="579120" y="507492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F47C20">
              <a:alpha val="20000"/>
            </a:srgbClr>
          </a:solidFill>
          <a:ln/>
        </p:spPr>
      </p:sp>
      <p:sp>
        <p:nvSpPr>
          <p:cNvPr id="25" name="Text 23"/>
          <p:cNvSpPr/>
          <p:nvPr/>
        </p:nvSpPr>
        <p:spPr>
          <a:xfrm>
            <a:off x="706993" y="5189220"/>
            <a:ext cx="390525" cy="304800"/>
          </a:xfrm>
          <a:prstGeom prst="rect">
            <a:avLst/>
          </a:prstGeom>
          <a:noFill/>
          <a:ln/>
        </p:spPr>
        <p:txBody>
          <a:bodyPr wrap="square" lIns="0" tIns="0" rIns="0" bIns="0" rtlCol="0" anchor="ctr"/>
          <a:lstStyle/>
          <a:p>
            <a:pPr>
              <a:lnSpc>
                <a:spcPct val="110000"/>
              </a:lnSpc>
            </a:pPr>
            <a:r>
              <a:rPr lang="en-US" sz="1800" b="1" dirty="0">
                <a:solidFill>
                  <a:srgbClr val="F47C20"/>
                </a:solidFill>
                <a:latin typeface="Liter" pitchFamily="34" charset="0"/>
                <a:ea typeface="Liter" pitchFamily="34" charset="-122"/>
                <a:cs typeface="Liter" pitchFamily="34" charset="-120"/>
              </a:rPr>
              <a:t>05</a:t>
            </a:r>
            <a:endParaRPr lang="en-US" sz="1600" dirty="0"/>
          </a:p>
        </p:txBody>
      </p:sp>
      <p:sp>
        <p:nvSpPr>
          <p:cNvPr id="26" name="Text 24"/>
          <p:cNvSpPr/>
          <p:nvPr/>
        </p:nvSpPr>
        <p:spPr>
          <a:xfrm>
            <a:off x="1264920" y="5074920"/>
            <a:ext cx="4648200" cy="266700"/>
          </a:xfrm>
          <a:prstGeom prst="rect">
            <a:avLst/>
          </a:prstGeom>
          <a:noFill/>
          <a:ln/>
        </p:spPr>
        <p:txBody>
          <a:bodyPr wrap="square" lIns="0" tIns="0" rIns="0" bIns="0" rtlCol="0" anchor="ctr"/>
          <a:lstStyle/>
          <a:p>
            <a:pPr>
              <a:lnSpc>
                <a:spcPct val="120000"/>
              </a:lnSpc>
            </a:pPr>
            <a:r>
              <a:rPr lang="en-US" sz="1500" b="1" dirty="0">
                <a:solidFill>
                  <a:srgbClr val="E8EAED"/>
                </a:solidFill>
                <a:latin typeface="Liter" pitchFamily="34" charset="0"/>
                <a:ea typeface="Liter" pitchFamily="34" charset="-122"/>
                <a:cs typeface="Liter" pitchFamily="34" charset="-120"/>
              </a:rPr>
              <a:t>mTLS &amp; Authenticated Origin Pulls</a:t>
            </a:r>
            <a:endParaRPr lang="en-US" sz="1600" dirty="0"/>
          </a:p>
        </p:txBody>
      </p:sp>
      <p:sp>
        <p:nvSpPr>
          <p:cNvPr id="27" name="Text 25"/>
          <p:cNvSpPr/>
          <p:nvPr/>
        </p:nvSpPr>
        <p:spPr>
          <a:xfrm>
            <a:off x="1264920" y="5417820"/>
            <a:ext cx="4629150" cy="495300"/>
          </a:xfrm>
          <a:prstGeom prst="rect">
            <a:avLst/>
          </a:prstGeom>
          <a:noFill/>
          <a:ln/>
        </p:spPr>
        <p:txBody>
          <a:bodyPr wrap="square" lIns="0" tIns="0" rIns="0" bIns="0" rtlCol="0" anchor="ctr"/>
          <a:lstStyle/>
          <a:p>
            <a:pPr>
              <a:lnSpc>
                <a:spcPct val="140000"/>
              </a:lnSpc>
            </a:pPr>
            <a:r>
              <a:rPr lang="en-US" sz="1200" dirty="0">
                <a:solidFill>
                  <a:srgbClr val="E8EAED">
                    <a:alpha val="70000"/>
                  </a:srgbClr>
                </a:solidFill>
                <a:latin typeface="Liter" pitchFamily="34" charset="0"/>
                <a:ea typeface="Liter" pitchFamily="34" charset="-122"/>
                <a:cs typeface="Liter" pitchFamily="34" charset="-120"/>
              </a:rPr>
              <a:t>Certificate-based authentication, Nginx and Apache configuration for enhanced security</a:t>
            </a:r>
            <a:endParaRPr lang="en-US" sz="1600" dirty="0"/>
          </a:p>
        </p:txBody>
      </p:sp>
      <p:sp>
        <p:nvSpPr>
          <p:cNvPr id="28" name="Shape 26"/>
          <p:cNvSpPr/>
          <p:nvPr/>
        </p:nvSpPr>
        <p:spPr>
          <a:xfrm>
            <a:off x="6176010" y="4880610"/>
            <a:ext cx="5627370" cy="1588770"/>
          </a:xfrm>
          <a:custGeom>
            <a:avLst/>
            <a:gdLst/>
            <a:ahLst/>
            <a:cxnLst/>
            <a:rect l="l" t="t" r="r" b="b"/>
            <a:pathLst>
              <a:path w="5627370" h="1588770">
                <a:moveTo>
                  <a:pt x="114296" y="0"/>
                </a:moveTo>
                <a:lnTo>
                  <a:pt x="5513074" y="0"/>
                </a:lnTo>
                <a:cubicBezTo>
                  <a:pt x="5576198" y="0"/>
                  <a:pt x="5627370" y="51172"/>
                  <a:pt x="5627370" y="114296"/>
                </a:cubicBezTo>
                <a:lnTo>
                  <a:pt x="5627370" y="1474474"/>
                </a:lnTo>
                <a:cubicBezTo>
                  <a:pt x="5627370" y="1537598"/>
                  <a:pt x="5576198" y="1588770"/>
                  <a:pt x="5513074" y="1588770"/>
                </a:cubicBezTo>
                <a:lnTo>
                  <a:pt x="114296" y="1588770"/>
                </a:lnTo>
                <a:cubicBezTo>
                  <a:pt x="51172" y="1588770"/>
                  <a:pt x="0" y="1537598"/>
                  <a:pt x="0" y="1474474"/>
                </a:cubicBezTo>
                <a:lnTo>
                  <a:pt x="0" y="114296"/>
                </a:lnTo>
                <a:cubicBezTo>
                  <a:pt x="0" y="51214"/>
                  <a:pt x="51214" y="0"/>
                  <a:pt x="114296" y="0"/>
                </a:cubicBezTo>
                <a:close/>
              </a:path>
            </a:pathLst>
          </a:custGeom>
          <a:solidFill>
            <a:srgbClr val="48515E">
              <a:alpha val="20000"/>
            </a:srgbClr>
          </a:solidFill>
          <a:ln w="10160">
            <a:solidFill>
              <a:srgbClr val="48515E">
                <a:alpha val="40000"/>
              </a:srgbClr>
            </a:solidFill>
            <a:prstDash val="solid"/>
          </a:ln>
        </p:spPr>
      </p:sp>
      <p:sp>
        <p:nvSpPr>
          <p:cNvPr id="29" name="Shape 27"/>
          <p:cNvSpPr/>
          <p:nvPr/>
        </p:nvSpPr>
        <p:spPr>
          <a:xfrm>
            <a:off x="6370320" y="507492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0A4E0">
              <a:alpha val="20000"/>
            </a:srgbClr>
          </a:solidFill>
          <a:ln/>
        </p:spPr>
      </p:sp>
      <p:sp>
        <p:nvSpPr>
          <p:cNvPr id="30" name="Text 28"/>
          <p:cNvSpPr/>
          <p:nvPr/>
        </p:nvSpPr>
        <p:spPr>
          <a:xfrm>
            <a:off x="6495693" y="5189220"/>
            <a:ext cx="400050" cy="304800"/>
          </a:xfrm>
          <a:prstGeom prst="rect">
            <a:avLst/>
          </a:prstGeom>
          <a:noFill/>
          <a:ln/>
        </p:spPr>
        <p:txBody>
          <a:bodyPr wrap="square" lIns="0" tIns="0" rIns="0" bIns="0" rtlCol="0" anchor="ctr"/>
          <a:lstStyle/>
          <a:p>
            <a:pPr>
              <a:lnSpc>
                <a:spcPct val="110000"/>
              </a:lnSpc>
            </a:pPr>
            <a:r>
              <a:rPr lang="en-US" sz="1800" b="1" dirty="0">
                <a:solidFill>
                  <a:srgbClr val="00A4E0"/>
                </a:solidFill>
                <a:latin typeface="Liter" pitchFamily="34" charset="0"/>
                <a:ea typeface="Liter" pitchFamily="34" charset="-122"/>
                <a:cs typeface="Liter" pitchFamily="34" charset="-120"/>
              </a:rPr>
              <a:t>06</a:t>
            </a:r>
            <a:endParaRPr lang="en-US" sz="1600" dirty="0"/>
          </a:p>
        </p:txBody>
      </p:sp>
      <p:sp>
        <p:nvSpPr>
          <p:cNvPr id="31" name="Text 29"/>
          <p:cNvSpPr/>
          <p:nvPr/>
        </p:nvSpPr>
        <p:spPr>
          <a:xfrm>
            <a:off x="7056120" y="5074920"/>
            <a:ext cx="4648200" cy="266700"/>
          </a:xfrm>
          <a:prstGeom prst="rect">
            <a:avLst/>
          </a:prstGeom>
          <a:noFill/>
          <a:ln/>
        </p:spPr>
        <p:txBody>
          <a:bodyPr wrap="square" lIns="0" tIns="0" rIns="0" bIns="0" rtlCol="0" anchor="ctr"/>
          <a:lstStyle/>
          <a:p>
            <a:pPr>
              <a:lnSpc>
                <a:spcPct val="120000"/>
              </a:lnSpc>
            </a:pPr>
            <a:r>
              <a:rPr lang="en-US" sz="1500" b="1" dirty="0">
                <a:solidFill>
                  <a:srgbClr val="E8EAED"/>
                </a:solidFill>
                <a:latin typeface="Liter" pitchFamily="34" charset="0"/>
                <a:ea typeface="Liter" pitchFamily="34" charset="-122"/>
                <a:cs typeface="Liter" pitchFamily="34" charset="-120"/>
              </a:rPr>
              <a:t>Best Practices</a:t>
            </a:r>
            <a:endParaRPr lang="en-US" sz="1600" dirty="0"/>
          </a:p>
        </p:txBody>
      </p:sp>
      <p:sp>
        <p:nvSpPr>
          <p:cNvPr id="32" name="Text 30"/>
          <p:cNvSpPr/>
          <p:nvPr/>
        </p:nvSpPr>
        <p:spPr>
          <a:xfrm>
            <a:off x="7056120" y="5608320"/>
            <a:ext cx="4629150" cy="495300"/>
          </a:xfrm>
          <a:prstGeom prst="rect">
            <a:avLst/>
          </a:prstGeom>
          <a:noFill/>
          <a:ln/>
        </p:spPr>
        <p:txBody>
          <a:bodyPr wrap="square" lIns="0" tIns="0" rIns="0" bIns="0" rtlCol="0" anchor="ctr"/>
          <a:lstStyle/>
          <a:p>
            <a:pPr>
              <a:lnSpc>
                <a:spcPct val="140000"/>
              </a:lnSpc>
            </a:pPr>
            <a:r>
              <a:rPr lang="en-US" sz="1200" dirty="0">
                <a:solidFill>
                  <a:srgbClr val="E6E6E6"/>
                </a:solidFill>
                <a:highlight>
                  <a:srgbClr val="1A1A1A">
                    <a:alpha val="100000"/>
                  </a:srgbClr>
                </a:highlight>
                <a:latin typeface="Inter, sans-serif" pitchFamily="34" charset="0"/>
                <a:ea typeface="Inter, sans-serif" pitchFamily="34" charset="-122"/>
                <a:cs typeface="Inter, sans-serif" pitchFamily="34" charset="-120"/>
              </a:rPr>
              <a:t>mTLS implementation ensures only Cloudflare can communicate with your origin server by presenting a client certificate during the TLS handshake. This blocks any direct traffic that doesn't possess the correct certificate, even if the IP is allowlisted.</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1"/>
        </a:solidFill>
      </p:bgPr>
    </p:bg>
    <p:spTree>
      <p:nvGrpSpPr>
        <p:cNvPr id="1" name=""/>
        <p:cNvGrpSpPr/>
        <p:nvPr/>
      </p:nvGrpSpPr>
      <p:grpSpPr>
        <a:xfrm>
          <a:off x="0" y="0"/>
          <a:ext cx="0" cy="0"/>
          <a:chOff x="0" y="0"/>
          <a:chExt cx="0" cy="0"/>
        </a:xfrm>
      </p:grpSpPr>
      <p:pic>
        <p:nvPicPr>
          <p:cNvPr id="2" name="Image 0" descr="https://kimi-web-img.moonshot.cn/img/img.freepik.com/fcffff3d49bd59c356d3aaf6fc4b6d36d75eeade.jpg">    </p:cNvPr>
          <p:cNvPicPr>
            <a:picLocks noChangeAspect="1"/>
          </p:cNvPicPr>
          <p:nvPr/>
        </p:nvPicPr>
        <p:blipFill>
          <a:blip r:embed="rId1">
            <a:alphaModFix amt="30000"/>
          </a:blip>
          <a:srcRect l="0" r="0" t="7575" b="75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1D21">
                  <a:alpha val="95000"/>
                </a:srgbClr>
              </a:gs>
              <a:gs pos="50000">
                <a:srgbClr val="1A1D21">
                  <a:alpha val="90000"/>
                </a:srgbClr>
              </a:gs>
              <a:gs pos="100000">
                <a:srgbClr val="F47C20">
                  <a:alpha val="30000"/>
                </a:srgbClr>
              </a:gs>
            </a:gsLst>
            <a:lin ang="2700000" scaled="1"/>
          </a:gradFill>
          <a:ln/>
        </p:spPr>
      </p:sp>
      <p:sp>
        <p:nvSpPr>
          <p:cNvPr id="4" name="Shape 1"/>
          <p:cNvSpPr/>
          <p:nvPr/>
        </p:nvSpPr>
        <p:spPr>
          <a:xfrm>
            <a:off x="5715238" y="1658303"/>
            <a:ext cx="760095" cy="579120"/>
          </a:xfrm>
          <a:custGeom>
            <a:avLst/>
            <a:gdLst/>
            <a:ahLst/>
            <a:cxnLst/>
            <a:rect l="l" t="t" r="r" b="b"/>
            <a:pathLst>
              <a:path w="760095" h="579120">
                <a:moveTo>
                  <a:pt x="289560" y="0"/>
                </a:moveTo>
                <a:lnTo>
                  <a:pt x="470535" y="0"/>
                </a:lnTo>
                <a:cubicBezTo>
                  <a:pt x="630348" y="0"/>
                  <a:pt x="760095" y="129747"/>
                  <a:pt x="760095" y="289560"/>
                </a:cubicBezTo>
                <a:lnTo>
                  <a:pt x="760095" y="289560"/>
                </a:lnTo>
                <a:cubicBezTo>
                  <a:pt x="760095" y="449373"/>
                  <a:pt x="630348" y="579120"/>
                  <a:pt x="470535" y="579120"/>
                </a:cubicBezTo>
                <a:lnTo>
                  <a:pt x="289560" y="579120"/>
                </a:lnTo>
                <a:cubicBezTo>
                  <a:pt x="129747" y="579120"/>
                  <a:pt x="0" y="449373"/>
                  <a:pt x="0" y="289560"/>
                </a:cubicBezTo>
                <a:lnTo>
                  <a:pt x="0" y="289560"/>
                </a:lnTo>
                <a:cubicBezTo>
                  <a:pt x="0" y="129747"/>
                  <a:pt x="129747" y="0"/>
                  <a:pt x="289560" y="0"/>
                </a:cubicBezTo>
                <a:close/>
              </a:path>
            </a:pathLst>
          </a:custGeom>
          <a:solidFill>
            <a:srgbClr val="F47C20">
              <a:alpha val="20000"/>
            </a:srgbClr>
          </a:solidFill>
          <a:ln w="10160">
            <a:solidFill>
              <a:srgbClr val="F47C20">
                <a:alpha val="40000"/>
              </a:srgbClr>
            </a:solidFill>
            <a:prstDash val="solid"/>
          </a:ln>
        </p:spPr>
      </p:sp>
      <p:sp>
        <p:nvSpPr>
          <p:cNvPr id="5" name="Text 2"/>
          <p:cNvSpPr/>
          <p:nvPr/>
        </p:nvSpPr>
        <p:spPr>
          <a:xfrm>
            <a:off x="5876211" y="1776413"/>
            <a:ext cx="438150" cy="342900"/>
          </a:xfrm>
          <a:prstGeom prst="rect">
            <a:avLst/>
          </a:prstGeom>
          <a:noFill/>
          <a:ln/>
        </p:spPr>
        <p:txBody>
          <a:bodyPr wrap="square" lIns="0" tIns="0" rIns="0" bIns="0" rtlCol="0" anchor="ctr"/>
          <a:lstStyle/>
          <a:p>
            <a:pPr algn="ctr">
              <a:lnSpc>
                <a:spcPct val="100000"/>
              </a:lnSpc>
            </a:pPr>
            <a:r>
              <a:rPr lang="en-US" sz="2250" b="1" dirty="0">
                <a:solidFill>
                  <a:srgbClr val="F47C20"/>
                </a:solidFill>
                <a:latin typeface="Liter" pitchFamily="34" charset="0"/>
                <a:ea typeface="Liter" pitchFamily="34" charset="-122"/>
                <a:cs typeface="Liter" pitchFamily="34" charset="-120"/>
              </a:rPr>
              <a:t>01</a:t>
            </a:r>
            <a:endParaRPr lang="en-US" sz="1600" dirty="0"/>
          </a:p>
        </p:txBody>
      </p:sp>
      <p:sp>
        <p:nvSpPr>
          <p:cNvPr id="6" name="Text 3"/>
          <p:cNvSpPr/>
          <p:nvPr/>
        </p:nvSpPr>
        <p:spPr>
          <a:xfrm>
            <a:off x="2737009" y="2546033"/>
            <a:ext cx="6715125" cy="1371600"/>
          </a:xfrm>
          <a:prstGeom prst="rect">
            <a:avLst/>
          </a:prstGeom>
          <a:noFill/>
          <a:ln/>
        </p:spPr>
        <p:txBody>
          <a:bodyPr wrap="square" lIns="0" tIns="0" rIns="0" bIns="0" rtlCol="0" anchor="ctr"/>
          <a:lstStyle/>
          <a:p>
            <a:pPr algn="ctr">
              <a:lnSpc>
                <a:spcPct val="80000"/>
              </a:lnSpc>
            </a:pPr>
            <a:r>
              <a:rPr lang="en-US" sz="5400" b="1" dirty="0">
                <a:solidFill>
                  <a:srgbClr val="E8EAED"/>
                </a:solidFill>
                <a:latin typeface="Liter" pitchFamily="34" charset="0"/>
                <a:ea typeface="Liter" pitchFamily="34" charset="-122"/>
                <a:cs typeface="Liter" pitchFamily="34" charset="-120"/>
              </a:rPr>
              <a:t>Cloudflare Aegis</a:t>
            </a:r>
            <a:endParaRPr lang="en-US" sz="1600" dirty="0"/>
          </a:p>
          <a:p>
            <a:pPr algn="ctr">
              <a:lnSpc>
                <a:spcPct val="80000"/>
              </a:lnSpc>
            </a:pPr>
            <a:r>
              <a:rPr lang="en-US" sz="2600" dirty="0">
                <a:solidFill>
                  <a:srgbClr val="E8EAED"/>
                </a:solidFill>
                <a:latin typeface="微软雅黑" pitchFamily="34" charset="0"/>
                <a:ea typeface="微软雅黑" pitchFamily="34" charset="-122"/>
                <a:cs typeface="微软雅黑" pitchFamily="34" charset="-120"/>
              </a:rPr>
              <a:t>Now: Dedicated CDN Egress IPs</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F47C20"/>
                </a:solidFill>
                <a:latin typeface="Liter" pitchFamily="34" charset="0"/>
                <a:ea typeface="Liter" pitchFamily="34" charset="-122"/>
                <a:cs typeface="Liter" pitchFamily="34" charset="-120"/>
              </a:rPr>
              <a:t>CLOUDFLARE AEGIS</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8EAED"/>
                </a:solidFill>
                <a:latin typeface="Liter" pitchFamily="34" charset="0"/>
                <a:ea typeface="Liter" pitchFamily="34" charset="-122"/>
                <a:cs typeface="Liter" pitchFamily="34" charset="-120"/>
              </a:rPr>
              <a:t>What is Cloudflare Aegis?</a:t>
            </a:r>
            <a:endParaRPr lang="en-US" sz="1600" dirty="0"/>
          </a:p>
        </p:txBody>
      </p:sp>
      <p:sp>
        <p:nvSpPr>
          <p:cNvPr id="4" name="Shape 2"/>
          <p:cNvSpPr/>
          <p:nvPr/>
        </p:nvSpPr>
        <p:spPr>
          <a:xfrm>
            <a:off x="384810" y="1223010"/>
            <a:ext cx="5627370" cy="2522220"/>
          </a:xfrm>
          <a:custGeom>
            <a:avLst/>
            <a:gdLst/>
            <a:ahLst/>
            <a:cxnLst/>
            <a:rect l="l" t="t" r="r" b="b"/>
            <a:pathLst>
              <a:path w="5627370" h="2522220">
                <a:moveTo>
                  <a:pt x="114307" y="0"/>
                </a:moveTo>
                <a:lnTo>
                  <a:pt x="5513063" y="0"/>
                </a:lnTo>
                <a:cubicBezTo>
                  <a:pt x="5576193" y="0"/>
                  <a:pt x="5627370" y="51177"/>
                  <a:pt x="5627370" y="114307"/>
                </a:cubicBezTo>
                <a:lnTo>
                  <a:pt x="5627370" y="2407913"/>
                </a:lnTo>
                <a:cubicBezTo>
                  <a:pt x="5627370" y="2471043"/>
                  <a:pt x="5576193" y="2522220"/>
                  <a:pt x="5513063" y="2522220"/>
                </a:cubicBezTo>
                <a:lnTo>
                  <a:pt x="114307" y="2522220"/>
                </a:lnTo>
                <a:cubicBezTo>
                  <a:pt x="51219" y="2522220"/>
                  <a:pt x="0" y="2471001"/>
                  <a:pt x="0" y="2407913"/>
                </a:cubicBezTo>
                <a:lnTo>
                  <a:pt x="0" y="114307"/>
                </a:lnTo>
                <a:cubicBezTo>
                  <a:pt x="0" y="51219"/>
                  <a:pt x="51219" y="0"/>
                  <a:pt x="114307" y="0"/>
                </a:cubicBezTo>
                <a:close/>
              </a:path>
            </a:pathLst>
          </a:custGeom>
          <a:solidFill>
            <a:srgbClr val="48515E">
              <a:alpha val="20000"/>
            </a:srgbClr>
          </a:solidFill>
          <a:ln w="10160">
            <a:solidFill>
              <a:srgbClr val="48515E">
                <a:alpha val="40000"/>
              </a:srgbClr>
            </a:solidFill>
            <a:prstDash val="solid"/>
          </a:ln>
        </p:spPr>
      </p:sp>
      <p:sp>
        <p:nvSpPr>
          <p:cNvPr id="5" name="Shape 3"/>
          <p:cNvSpPr/>
          <p:nvPr/>
        </p:nvSpPr>
        <p:spPr>
          <a:xfrm>
            <a:off x="579120" y="141732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47C20">
              <a:alpha val="20000"/>
            </a:srgbClr>
          </a:solidFill>
          <a:ln/>
        </p:spPr>
      </p:sp>
      <p:sp>
        <p:nvSpPr>
          <p:cNvPr id="6" name="Shape 4"/>
          <p:cNvSpPr/>
          <p:nvPr/>
        </p:nvSpPr>
        <p:spPr>
          <a:xfrm>
            <a:off x="686276" y="1522095"/>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75009" y="53578"/>
                </a:moveTo>
                <a:cubicBezTo>
                  <a:pt x="75009" y="47664"/>
                  <a:pt x="79811" y="42863"/>
                  <a:pt x="85725" y="42863"/>
                </a:cubicBezTo>
                <a:cubicBezTo>
                  <a:pt x="91639" y="42863"/>
                  <a:pt x="96441" y="47664"/>
                  <a:pt x="96441" y="53578"/>
                </a:cubicBezTo>
                <a:cubicBezTo>
                  <a:pt x="96441" y="59492"/>
                  <a:pt x="91639" y="64294"/>
                  <a:pt x="85725" y="64294"/>
                </a:cubicBezTo>
                <a:cubicBezTo>
                  <a:pt x="79811" y="64294"/>
                  <a:pt x="75009" y="59492"/>
                  <a:pt x="75009" y="53578"/>
                </a:cubicBezTo>
                <a:close/>
                <a:moveTo>
                  <a:pt x="72330" y="75009"/>
                </a:moveTo>
                <a:lnTo>
                  <a:pt x="88404" y="75009"/>
                </a:lnTo>
                <a:cubicBezTo>
                  <a:pt x="92858" y="75009"/>
                  <a:pt x="96441" y="78592"/>
                  <a:pt x="96441" y="83046"/>
                </a:cubicBezTo>
                <a:lnTo>
                  <a:pt x="96441" y="112514"/>
                </a:lnTo>
                <a:lnTo>
                  <a:pt x="99120" y="112514"/>
                </a:lnTo>
                <a:cubicBezTo>
                  <a:pt x="103573" y="112514"/>
                  <a:pt x="107156" y="116097"/>
                  <a:pt x="107156" y="120551"/>
                </a:cubicBezTo>
                <a:cubicBezTo>
                  <a:pt x="107156" y="125004"/>
                  <a:pt x="103573" y="128588"/>
                  <a:pt x="99120" y="128588"/>
                </a:cubicBezTo>
                <a:lnTo>
                  <a:pt x="72330" y="128588"/>
                </a:lnTo>
                <a:cubicBezTo>
                  <a:pt x="67877" y="128588"/>
                  <a:pt x="64294" y="125004"/>
                  <a:pt x="64294" y="120551"/>
                </a:cubicBezTo>
                <a:cubicBezTo>
                  <a:pt x="64294" y="116097"/>
                  <a:pt x="67877" y="112514"/>
                  <a:pt x="72330" y="112514"/>
                </a:cubicBezTo>
                <a:lnTo>
                  <a:pt x="80367" y="112514"/>
                </a:lnTo>
                <a:lnTo>
                  <a:pt x="80367" y="91083"/>
                </a:lnTo>
                <a:lnTo>
                  <a:pt x="72330" y="91083"/>
                </a:lnTo>
                <a:cubicBezTo>
                  <a:pt x="67877" y="91083"/>
                  <a:pt x="64294" y="87500"/>
                  <a:pt x="64294" y="83046"/>
                </a:cubicBezTo>
                <a:cubicBezTo>
                  <a:pt x="64294" y="78592"/>
                  <a:pt x="67877" y="75009"/>
                  <a:pt x="72330" y="75009"/>
                </a:cubicBezTo>
                <a:close/>
              </a:path>
            </a:pathLst>
          </a:custGeom>
          <a:solidFill>
            <a:srgbClr val="F47C20"/>
          </a:solidFill>
          <a:ln/>
        </p:spPr>
      </p:sp>
      <p:sp>
        <p:nvSpPr>
          <p:cNvPr id="7" name="Text 5"/>
          <p:cNvSpPr/>
          <p:nvPr/>
        </p:nvSpPr>
        <p:spPr>
          <a:xfrm>
            <a:off x="1074420" y="1474470"/>
            <a:ext cx="1257300" cy="266700"/>
          </a:xfrm>
          <a:prstGeom prst="rect">
            <a:avLst/>
          </a:prstGeom>
          <a:noFill/>
          <a:ln/>
        </p:spPr>
        <p:txBody>
          <a:bodyPr wrap="square" lIns="0" tIns="0" rIns="0" bIns="0" rtlCol="0" anchor="ctr"/>
          <a:lstStyle/>
          <a:p>
            <a:pPr>
              <a:lnSpc>
                <a:spcPct val="120000"/>
              </a:lnSpc>
            </a:pPr>
            <a:r>
              <a:rPr lang="en-US" sz="1500" b="1" dirty="0">
                <a:solidFill>
                  <a:srgbClr val="E8EAED"/>
                </a:solidFill>
                <a:latin typeface="Liter" pitchFamily="34" charset="0"/>
                <a:ea typeface="Liter" pitchFamily="34" charset="-122"/>
                <a:cs typeface="Liter" pitchFamily="34" charset="-120"/>
              </a:rPr>
              <a:t>Core Concept</a:t>
            </a:r>
            <a:endParaRPr lang="en-US" sz="1600" dirty="0"/>
          </a:p>
        </p:txBody>
      </p:sp>
      <p:sp>
        <p:nvSpPr>
          <p:cNvPr id="8" name="Text 6"/>
          <p:cNvSpPr/>
          <p:nvPr/>
        </p:nvSpPr>
        <p:spPr>
          <a:xfrm>
            <a:off x="579120" y="1950720"/>
            <a:ext cx="5314950" cy="742950"/>
          </a:xfrm>
          <a:prstGeom prst="rect">
            <a:avLst/>
          </a:prstGeom>
          <a:noFill/>
          <a:ln/>
        </p:spPr>
        <p:txBody>
          <a:bodyPr wrap="square" lIns="0" tIns="0" rIns="0" bIns="0" rtlCol="0" anchor="ctr"/>
          <a:lstStyle/>
          <a:p>
            <a:pPr>
              <a:lnSpc>
                <a:spcPct val="140000"/>
              </a:lnSpc>
            </a:pPr>
            <a:r>
              <a:rPr lang="en-US" sz="1200" b="1" dirty="0">
                <a:solidFill>
                  <a:srgbClr val="F47C20"/>
                </a:solidFill>
                <a:latin typeface="Liter" pitchFamily="34" charset="0"/>
                <a:ea typeface="Liter" pitchFamily="34" charset="-122"/>
                <a:cs typeface="Liter" pitchFamily="34" charset="-120"/>
              </a:rPr>
              <a:t>Cloudflare Aegis</a:t>
            </a:r>
            <a:pPr>
              <a:lnSpc>
                <a:spcPct val="140000"/>
              </a:lnSpc>
            </a:pPr>
            <a:r>
              <a:rPr lang="en-US" sz="1200" dirty="0">
                <a:solidFill>
                  <a:srgbClr val="E8EAED">
                    <a:alpha val="80000"/>
                  </a:srgbClr>
                </a:solidFill>
                <a:latin typeface="Liter" pitchFamily="34" charset="0"/>
                <a:ea typeface="Liter" pitchFamily="34" charset="-122"/>
                <a:cs typeface="Liter" pitchFamily="34" charset="-120"/>
              </a:rPr>
              <a:t> (now called </a:t>
            </a:r>
            <a:pPr>
              <a:lnSpc>
                <a:spcPct val="140000"/>
              </a:lnSpc>
            </a:pPr>
            <a:r>
              <a:rPr lang="en-US" sz="1200" b="1" dirty="0">
                <a:solidFill>
                  <a:srgbClr val="F47C20"/>
                </a:solidFill>
                <a:latin typeface="Liter" pitchFamily="34" charset="0"/>
                <a:ea typeface="Liter" pitchFamily="34" charset="-122"/>
                <a:cs typeface="Liter" pitchFamily="34" charset="-120"/>
              </a:rPr>
              <a:t>Dedicated CDN Egress IPs </a:t>
            </a:r>
            <a:pPr>
              <a:lnSpc>
                <a:spcPct val="140000"/>
              </a:lnSpc>
            </a:pPr>
            <a:r>
              <a:rPr lang="en-US" sz="1200" b="1" dirty="0">
                <a:solidFill>
                  <a:srgbClr val="BABABA"/>
                </a:solidFill>
                <a:latin typeface="Liter" pitchFamily="34" charset="0"/>
                <a:ea typeface="Liter" pitchFamily="34" charset="-122"/>
                <a:cs typeface="Liter" pitchFamily="34" charset="-120"/>
              </a:rPr>
              <a:t>as of Jan 21 2026</a:t>
            </a:r>
            <a:pPr>
              <a:lnSpc>
                <a:spcPct val="140000"/>
              </a:lnSpc>
            </a:pPr>
            <a:r>
              <a:rPr lang="en-US" sz="1200" dirty="0">
                <a:solidFill>
                  <a:srgbClr val="E8EAED">
                    <a:alpha val="80000"/>
                  </a:srgbClr>
                </a:solidFill>
                <a:latin typeface="Liter" pitchFamily="34" charset="0"/>
                <a:ea typeface="Liter" pitchFamily="34" charset="-122"/>
                <a:cs typeface="Liter" pitchFamily="34" charset="-120"/>
              </a:rPr>
              <a:t>) provides dedicated IP addresses reserved exclusively for your account, allowing you to lock down your origin firewall to only accept traffic from a small, known list of IPs.</a:t>
            </a:r>
            <a:endParaRPr lang="en-US" sz="1600" dirty="0"/>
          </a:p>
        </p:txBody>
      </p:sp>
      <p:sp>
        <p:nvSpPr>
          <p:cNvPr id="9" name="Text 7"/>
          <p:cNvSpPr/>
          <p:nvPr/>
        </p:nvSpPr>
        <p:spPr>
          <a:xfrm>
            <a:off x="579120" y="2807970"/>
            <a:ext cx="5314950" cy="742950"/>
          </a:xfrm>
          <a:prstGeom prst="rect">
            <a:avLst/>
          </a:prstGeom>
          <a:noFill/>
          <a:ln/>
        </p:spPr>
        <p:txBody>
          <a:bodyPr wrap="square" lIns="0" tIns="0" rIns="0" bIns="0" rtlCol="0" anchor="ctr"/>
          <a:lstStyle/>
          <a:p>
            <a:pPr>
              <a:lnSpc>
                <a:spcPct val="140000"/>
              </a:lnSpc>
            </a:pPr>
            <a:r>
              <a:rPr lang="en-US" sz="1200" dirty="0">
                <a:solidFill>
                  <a:srgbClr val="E8EAED">
                    <a:alpha val="80000"/>
                  </a:srgbClr>
                </a:solidFill>
                <a:latin typeface="Liter" pitchFamily="34" charset="0"/>
                <a:ea typeface="Liter" pitchFamily="34" charset="-122"/>
                <a:cs typeface="Liter" pitchFamily="34" charset="-120"/>
              </a:rPr>
              <a:t>Instead of using Cloudflare's publicly listed IP ranges (distributed across the entire network since March 2023), Aegis routes all your traffic through specific, dedicated egress IPs that you control.</a:t>
            </a:r>
            <a:endParaRPr lang="en-US" sz="1600" dirty="0"/>
          </a:p>
        </p:txBody>
      </p:sp>
      <p:sp>
        <p:nvSpPr>
          <p:cNvPr id="10" name="Shape 8"/>
          <p:cNvSpPr/>
          <p:nvPr/>
        </p:nvSpPr>
        <p:spPr>
          <a:xfrm>
            <a:off x="384810" y="3905251"/>
            <a:ext cx="5627370" cy="2522220"/>
          </a:xfrm>
          <a:custGeom>
            <a:avLst/>
            <a:gdLst/>
            <a:ahLst/>
            <a:cxnLst/>
            <a:rect l="l" t="t" r="r" b="b"/>
            <a:pathLst>
              <a:path w="5627370" h="2522220">
                <a:moveTo>
                  <a:pt x="114307" y="0"/>
                </a:moveTo>
                <a:lnTo>
                  <a:pt x="5513063" y="0"/>
                </a:lnTo>
                <a:cubicBezTo>
                  <a:pt x="5576193" y="0"/>
                  <a:pt x="5627370" y="51177"/>
                  <a:pt x="5627370" y="114307"/>
                </a:cubicBezTo>
                <a:lnTo>
                  <a:pt x="5627370" y="2407913"/>
                </a:lnTo>
                <a:cubicBezTo>
                  <a:pt x="5627370" y="2471043"/>
                  <a:pt x="5576193" y="2522220"/>
                  <a:pt x="5513063" y="2522220"/>
                </a:cubicBezTo>
                <a:lnTo>
                  <a:pt x="114307" y="2522220"/>
                </a:lnTo>
                <a:cubicBezTo>
                  <a:pt x="51219" y="2522220"/>
                  <a:pt x="0" y="2471001"/>
                  <a:pt x="0" y="2407913"/>
                </a:cubicBezTo>
                <a:lnTo>
                  <a:pt x="0" y="114307"/>
                </a:lnTo>
                <a:cubicBezTo>
                  <a:pt x="0" y="51219"/>
                  <a:pt x="51219" y="0"/>
                  <a:pt x="114307" y="0"/>
                </a:cubicBezTo>
                <a:close/>
              </a:path>
            </a:pathLst>
          </a:custGeom>
          <a:solidFill>
            <a:srgbClr val="48515E">
              <a:alpha val="20000"/>
            </a:srgbClr>
          </a:solidFill>
          <a:ln w="10160">
            <a:solidFill>
              <a:srgbClr val="48515E">
                <a:alpha val="40000"/>
              </a:srgbClr>
            </a:solidFill>
            <a:prstDash val="solid"/>
          </a:ln>
        </p:spPr>
      </p:sp>
      <p:sp>
        <p:nvSpPr>
          <p:cNvPr id="11" name="Shape 9"/>
          <p:cNvSpPr/>
          <p:nvPr/>
        </p:nvSpPr>
        <p:spPr>
          <a:xfrm>
            <a:off x="579120" y="4099561"/>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00A4E0">
              <a:alpha val="20000"/>
            </a:srgbClr>
          </a:solidFill>
          <a:ln/>
        </p:spPr>
      </p:sp>
      <p:sp>
        <p:nvSpPr>
          <p:cNvPr id="12" name="Shape 10"/>
          <p:cNvSpPr/>
          <p:nvPr/>
        </p:nvSpPr>
        <p:spPr>
          <a:xfrm>
            <a:off x="686276" y="4204336"/>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00A4E0"/>
          </a:solidFill>
          <a:ln/>
        </p:spPr>
      </p:sp>
      <p:sp>
        <p:nvSpPr>
          <p:cNvPr id="13" name="Text 11"/>
          <p:cNvSpPr/>
          <p:nvPr/>
        </p:nvSpPr>
        <p:spPr>
          <a:xfrm>
            <a:off x="1074420" y="4156711"/>
            <a:ext cx="1143000" cy="266700"/>
          </a:xfrm>
          <a:prstGeom prst="rect">
            <a:avLst/>
          </a:prstGeom>
          <a:noFill/>
          <a:ln/>
        </p:spPr>
        <p:txBody>
          <a:bodyPr wrap="square" lIns="0" tIns="0" rIns="0" bIns="0" rtlCol="0" anchor="ctr"/>
          <a:lstStyle/>
          <a:p>
            <a:pPr>
              <a:lnSpc>
                <a:spcPct val="120000"/>
              </a:lnSpc>
            </a:pPr>
            <a:r>
              <a:rPr lang="en-US" sz="1500" b="1" dirty="0">
                <a:solidFill>
                  <a:srgbClr val="E8EAED"/>
                </a:solidFill>
                <a:latin typeface="Liter" pitchFamily="34" charset="0"/>
                <a:ea typeface="Liter" pitchFamily="34" charset="-122"/>
                <a:cs typeface="Liter" pitchFamily="34" charset="-120"/>
              </a:rPr>
              <a:t>Key Benefits</a:t>
            </a:r>
            <a:endParaRPr lang="en-US" sz="1600" dirty="0"/>
          </a:p>
        </p:txBody>
      </p:sp>
      <p:sp>
        <p:nvSpPr>
          <p:cNvPr id="14" name="Shape 12"/>
          <p:cNvSpPr/>
          <p:nvPr/>
        </p:nvSpPr>
        <p:spPr>
          <a:xfrm>
            <a:off x="626745" y="4671061"/>
            <a:ext cx="76200" cy="152400"/>
          </a:xfrm>
          <a:custGeom>
            <a:avLst/>
            <a:gdLst/>
            <a:ahLst/>
            <a:cxnLst/>
            <a:rect l="l" t="t" r="r" b="b"/>
            <a:pathLst>
              <a:path w="76200" h="152400">
                <a:moveTo>
                  <a:pt x="73551" y="69473"/>
                </a:moveTo>
                <a:cubicBezTo>
                  <a:pt x="77272" y="73194"/>
                  <a:pt x="77272" y="79236"/>
                  <a:pt x="73551" y="82957"/>
                </a:cubicBezTo>
                <a:lnTo>
                  <a:pt x="25926" y="130582"/>
                </a:lnTo>
                <a:cubicBezTo>
                  <a:pt x="22205" y="134303"/>
                  <a:pt x="16163" y="134303"/>
                  <a:pt x="12442" y="130582"/>
                </a:cubicBezTo>
                <a:cubicBezTo>
                  <a:pt x="8721" y="126861"/>
                  <a:pt x="8721" y="120819"/>
                  <a:pt x="12442" y="117098"/>
                </a:cubicBezTo>
                <a:lnTo>
                  <a:pt x="53340" y="76200"/>
                </a:lnTo>
                <a:lnTo>
                  <a:pt x="12472" y="35302"/>
                </a:lnTo>
                <a:cubicBezTo>
                  <a:pt x="8751" y="31581"/>
                  <a:pt x="8751" y="25539"/>
                  <a:pt x="12472" y="21818"/>
                </a:cubicBezTo>
                <a:cubicBezTo>
                  <a:pt x="16193" y="18098"/>
                  <a:pt x="22235" y="18098"/>
                  <a:pt x="25956" y="21818"/>
                </a:cubicBezTo>
                <a:lnTo>
                  <a:pt x="73581" y="69443"/>
                </a:lnTo>
                <a:close/>
              </a:path>
            </a:pathLst>
          </a:custGeom>
          <a:solidFill>
            <a:srgbClr val="F47C20"/>
          </a:solidFill>
          <a:ln/>
        </p:spPr>
      </p:sp>
      <p:sp>
        <p:nvSpPr>
          <p:cNvPr id="15" name="Text 13"/>
          <p:cNvSpPr/>
          <p:nvPr/>
        </p:nvSpPr>
        <p:spPr>
          <a:xfrm>
            <a:off x="867132" y="4632961"/>
            <a:ext cx="5029200" cy="4572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Simplified Allowlist Management:</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Only 2-4 IPs to manage instead of 15+ IP ranges</a:t>
            </a:r>
            <a:endParaRPr lang="en-US" sz="1600" dirty="0"/>
          </a:p>
        </p:txBody>
      </p:sp>
      <p:sp>
        <p:nvSpPr>
          <p:cNvPr id="16" name="Shape 14"/>
          <p:cNvSpPr/>
          <p:nvPr/>
        </p:nvSpPr>
        <p:spPr>
          <a:xfrm>
            <a:off x="636270" y="5204461"/>
            <a:ext cx="76200" cy="152400"/>
          </a:xfrm>
          <a:custGeom>
            <a:avLst/>
            <a:gdLst/>
            <a:ahLst/>
            <a:cxnLst/>
            <a:rect l="l" t="t" r="r" b="b"/>
            <a:pathLst>
              <a:path w="76200" h="152400">
                <a:moveTo>
                  <a:pt x="73551" y="69473"/>
                </a:moveTo>
                <a:cubicBezTo>
                  <a:pt x="77272" y="73194"/>
                  <a:pt x="77272" y="79236"/>
                  <a:pt x="73551" y="82957"/>
                </a:cubicBezTo>
                <a:lnTo>
                  <a:pt x="25926" y="130582"/>
                </a:lnTo>
                <a:cubicBezTo>
                  <a:pt x="22205" y="134303"/>
                  <a:pt x="16163" y="134303"/>
                  <a:pt x="12442" y="130582"/>
                </a:cubicBezTo>
                <a:cubicBezTo>
                  <a:pt x="8721" y="126861"/>
                  <a:pt x="8721" y="120819"/>
                  <a:pt x="12442" y="117098"/>
                </a:cubicBezTo>
                <a:lnTo>
                  <a:pt x="53340" y="76200"/>
                </a:lnTo>
                <a:lnTo>
                  <a:pt x="12472" y="35302"/>
                </a:lnTo>
                <a:cubicBezTo>
                  <a:pt x="8751" y="31581"/>
                  <a:pt x="8751" y="25539"/>
                  <a:pt x="12472" y="21818"/>
                </a:cubicBezTo>
                <a:cubicBezTo>
                  <a:pt x="16193" y="18098"/>
                  <a:pt x="22235" y="18098"/>
                  <a:pt x="25956" y="21818"/>
                </a:cubicBezTo>
                <a:lnTo>
                  <a:pt x="73581" y="69443"/>
                </a:lnTo>
                <a:close/>
              </a:path>
            </a:pathLst>
          </a:custGeom>
          <a:solidFill>
            <a:srgbClr val="F47C20"/>
          </a:solidFill>
          <a:ln/>
        </p:spPr>
      </p:sp>
      <p:sp>
        <p:nvSpPr>
          <p:cNvPr id="17" name="Text 15"/>
          <p:cNvSpPr/>
          <p:nvPr/>
        </p:nvSpPr>
        <p:spPr>
          <a:xfrm>
            <a:off x="883920" y="5166361"/>
            <a:ext cx="4505325" cy="2286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Enhanced Origin Security:</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Block all non-Cloudflare traffic at layer 3</a:t>
            </a:r>
            <a:endParaRPr lang="en-US" sz="1600" dirty="0"/>
          </a:p>
        </p:txBody>
      </p:sp>
      <p:sp>
        <p:nvSpPr>
          <p:cNvPr id="18" name="Shape 16"/>
          <p:cNvSpPr/>
          <p:nvPr/>
        </p:nvSpPr>
        <p:spPr>
          <a:xfrm>
            <a:off x="636270" y="5509261"/>
            <a:ext cx="76200" cy="152400"/>
          </a:xfrm>
          <a:custGeom>
            <a:avLst/>
            <a:gdLst/>
            <a:ahLst/>
            <a:cxnLst/>
            <a:rect l="l" t="t" r="r" b="b"/>
            <a:pathLst>
              <a:path w="76200" h="152400">
                <a:moveTo>
                  <a:pt x="73551" y="69473"/>
                </a:moveTo>
                <a:cubicBezTo>
                  <a:pt x="77272" y="73194"/>
                  <a:pt x="77272" y="79236"/>
                  <a:pt x="73551" y="82957"/>
                </a:cubicBezTo>
                <a:lnTo>
                  <a:pt x="25926" y="130582"/>
                </a:lnTo>
                <a:cubicBezTo>
                  <a:pt x="22205" y="134303"/>
                  <a:pt x="16163" y="134303"/>
                  <a:pt x="12442" y="130582"/>
                </a:cubicBezTo>
                <a:cubicBezTo>
                  <a:pt x="8721" y="126861"/>
                  <a:pt x="8721" y="120819"/>
                  <a:pt x="12442" y="117098"/>
                </a:cubicBezTo>
                <a:lnTo>
                  <a:pt x="53340" y="76200"/>
                </a:lnTo>
                <a:lnTo>
                  <a:pt x="12472" y="35302"/>
                </a:lnTo>
                <a:cubicBezTo>
                  <a:pt x="8751" y="31581"/>
                  <a:pt x="8751" y="25539"/>
                  <a:pt x="12472" y="21818"/>
                </a:cubicBezTo>
                <a:cubicBezTo>
                  <a:pt x="16193" y="18098"/>
                  <a:pt x="22235" y="18098"/>
                  <a:pt x="25956" y="21818"/>
                </a:cubicBezTo>
                <a:lnTo>
                  <a:pt x="73581" y="69443"/>
                </a:lnTo>
                <a:close/>
              </a:path>
            </a:pathLst>
          </a:custGeom>
          <a:solidFill>
            <a:srgbClr val="F47C20"/>
          </a:solidFill>
          <a:ln/>
        </p:spPr>
      </p:sp>
      <p:sp>
        <p:nvSpPr>
          <p:cNvPr id="19" name="Text 17"/>
          <p:cNvSpPr/>
          <p:nvPr/>
        </p:nvSpPr>
        <p:spPr>
          <a:xfrm>
            <a:off x="883920" y="5471161"/>
            <a:ext cx="5000625" cy="2286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Reduced Attack Surface:</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Prevent direct origin attacks and reconnaissance</a:t>
            </a:r>
            <a:endParaRPr lang="en-US" sz="1600" dirty="0"/>
          </a:p>
        </p:txBody>
      </p:sp>
      <p:sp>
        <p:nvSpPr>
          <p:cNvPr id="20" name="Shape 18"/>
          <p:cNvSpPr/>
          <p:nvPr/>
        </p:nvSpPr>
        <p:spPr>
          <a:xfrm>
            <a:off x="636270" y="5814061"/>
            <a:ext cx="76200" cy="152400"/>
          </a:xfrm>
          <a:custGeom>
            <a:avLst/>
            <a:gdLst/>
            <a:ahLst/>
            <a:cxnLst/>
            <a:rect l="l" t="t" r="r" b="b"/>
            <a:pathLst>
              <a:path w="76200" h="152400">
                <a:moveTo>
                  <a:pt x="73551" y="69473"/>
                </a:moveTo>
                <a:cubicBezTo>
                  <a:pt x="77272" y="73194"/>
                  <a:pt x="77272" y="79236"/>
                  <a:pt x="73551" y="82957"/>
                </a:cubicBezTo>
                <a:lnTo>
                  <a:pt x="25926" y="130582"/>
                </a:lnTo>
                <a:cubicBezTo>
                  <a:pt x="22205" y="134303"/>
                  <a:pt x="16163" y="134303"/>
                  <a:pt x="12442" y="130582"/>
                </a:cubicBezTo>
                <a:cubicBezTo>
                  <a:pt x="8721" y="126861"/>
                  <a:pt x="8721" y="120819"/>
                  <a:pt x="12442" y="117098"/>
                </a:cubicBezTo>
                <a:lnTo>
                  <a:pt x="53340" y="76200"/>
                </a:lnTo>
                <a:lnTo>
                  <a:pt x="12472" y="35302"/>
                </a:lnTo>
                <a:cubicBezTo>
                  <a:pt x="8751" y="31581"/>
                  <a:pt x="8751" y="25539"/>
                  <a:pt x="12472" y="21818"/>
                </a:cubicBezTo>
                <a:cubicBezTo>
                  <a:pt x="16193" y="18098"/>
                  <a:pt x="22235" y="18098"/>
                  <a:pt x="25956" y="21818"/>
                </a:cubicBezTo>
                <a:lnTo>
                  <a:pt x="73581" y="69443"/>
                </a:lnTo>
                <a:close/>
              </a:path>
            </a:pathLst>
          </a:custGeom>
          <a:solidFill>
            <a:srgbClr val="F47C20"/>
          </a:solidFill>
          <a:ln/>
        </p:spPr>
      </p:sp>
      <p:sp>
        <p:nvSpPr>
          <p:cNvPr id="21" name="Text 19"/>
          <p:cNvSpPr/>
          <p:nvPr/>
        </p:nvSpPr>
        <p:spPr>
          <a:xfrm>
            <a:off x="857726" y="5661661"/>
            <a:ext cx="5010150" cy="457200"/>
          </a:xfrm>
          <a:prstGeom prst="rect">
            <a:avLst/>
          </a:prstGeom>
          <a:noFill/>
          <a:ln/>
        </p:spPr>
        <p:txBody>
          <a:bodyPr wrap="square" lIns="0" tIns="0" rIns="0" bIns="0" rtlCol="0" anchor="ctr"/>
          <a:lstStyle/>
          <a:p>
            <a:pPr>
              <a:lnSpc>
                <a:spcPct val="90000"/>
              </a:lnSpc>
            </a:pPr>
            <a:r>
              <a:rPr lang="en-US" sz="1200" b="1" dirty="0">
                <a:solidFill>
                  <a:srgbClr val="E8EAED">
                    <a:alpha val="80000"/>
                  </a:srgbClr>
                </a:solidFill>
                <a:latin typeface="Liter" pitchFamily="34" charset="0"/>
                <a:ea typeface="Liter" pitchFamily="34" charset="-122"/>
                <a:cs typeface="Liter" pitchFamily="34" charset="-120"/>
              </a:rPr>
              <a:t>Compliance Ready:</a:t>
            </a:r>
            <a:pPr>
              <a:lnSpc>
                <a:spcPct val="90000"/>
              </a:lnSpc>
            </a:pPr>
            <a:r>
              <a:rPr lang="en-US" sz="1200" dirty="0">
                <a:solidFill>
                  <a:srgbClr val="E8EAED">
                    <a:alpha val="80000"/>
                  </a:srgbClr>
                </a:solidFill>
                <a:latin typeface="Liter" pitchFamily="34" charset="0"/>
                <a:ea typeface="Liter" pitchFamily="34" charset="-122"/>
                <a:cs typeface="Liter" pitchFamily="34" charset="-120"/>
              </a:rPr>
              <a:t> Meet regulatory requirements for origin access control</a:t>
            </a:r>
            <a:endParaRPr lang="en-US" sz="1600" dirty="0"/>
          </a:p>
        </p:txBody>
      </p:sp>
      <p:sp>
        <p:nvSpPr>
          <p:cNvPr id="22" name="Shape 20"/>
          <p:cNvSpPr/>
          <p:nvPr/>
        </p:nvSpPr>
        <p:spPr>
          <a:xfrm>
            <a:off x="6176010" y="1223010"/>
            <a:ext cx="5627370" cy="3246120"/>
          </a:xfrm>
          <a:custGeom>
            <a:avLst/>
            <a:gdLst/>
            <a:ahLst/>
            <a:cxnLst/>
            <a:rect l="l" t="t" r="r" b="b"/>
            <a:pathLst>
              <a:path w="5627370" h="3246120">
                <a:moveTo>
                  <a:pt x="114296" y="0"/>
                </a:moveTo>
                <a:lnTo>
                  <a:pt x="5513074" y="0"/>
                </a:lnTo>
                <a:cubicBezTo>
                  <a:pt x="5576198" y="0"/>
                  <a:pt x="5627370" y="51172"/>
                  <a:pt x="5627370" y="114296"/>
                </a:cubicBezTo>
                <a:lnTo>
                  <a:pt x="5627370" y="3131824"/>
                </a:lnTo>
                <a:cubicBezTo>
                  <a:pt x="5627370" y="3194948"/>
                  <a:pt x="5576198" y="3246120"/>
                  <a:pt x="5513074" y="3246120"/>
                </a:cubicBezTo>
                <a:lnTo>
                  <a:pt x="114296" y="3246120"/>
                </a:lnTo>
                <a:cubicBezTo>
                  <a:pt x="51172" y="3246120"/>
                  <a:pt x="0" y="3194948"/>
                  <a:pt x="0" y="3131824"/>
                </a:cubicBezTo>
                <a:lnTo>
                  <a:pt x="0" y="114296"/>
                </a:lnTo>
                <a:cubicBezTo>
                  <a:pt x="0" y="51214"/>
                  <a:pt x="51214" y="0"/>
                  <a:pt x="114296" y="0"/>
                </a:cubicBezTo>
                <a:close/>
              </a:path>
            </a:pathLst>
          </a:custGeom>
          <a:solidFill>
            <a:srgbClr val="48515E">
              <a:alpha val="20000"/>
            </a:srgbClr>
          </a:solidFill>
          <a:ln w="10160">
            <a:solidFill>
              <a:srgbClr val="48515E">
                <a:alpha val="40000"/>
              </a:srgbClr>
            </a:solidFill>
            <a:prstDash val="solid"/>
          </a:ln>
        </p:spPr>
      </p:sp>
      <p:sp>
        <p:nvSpPr>
          <p:cNvPr id="23" name="Shape 21"/>
          <p:cNvSpPr/>
          <p:nvPr/>
        </p:nvSpPr>
        <p:spPr>
          <a:xfrm>
            <a:off x="6370320" y="141732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47C20">
              <a:alpha val="20000"/>
            </a:srgbClr>
          </a:solidFill>
          <a:ln/>
        </p:spPr>
      </p:sp>
      <p:sp>
        <p:nvSpPr>
          <p:cNvPr id="24" name="Shape 22"/>
          <p:cNvSpPr/>
          <p:nvPr/>
        </p:nvSpPr>
        <p:spPr>
          <a:xfrm>
            <a:off x="6456045" y="1522095"/>
            <a:ext cx="214313" cy="171450"/>
          </a:xfrm>
          <a:custGeom>
            <a:avLst/>
            <a:gdLst/>
            <a:ahLst/>
            <a:cxnLst/>
            <a:rect l="l" t="t" r="r" b="b"/>
            <a:pathLst>
              <a:path w="214313" h="171450">
                <a:moveTo>
                  <a:pt x="139270" y="70489"/>
                </a:moveTo>
                <a:cubicBezTo>
                  <a:pt x="143355" y="69384"/>
                  <a:pt x="147641" y="71326"/>
                  <a:pt x="149483" y="75110"/>
                </a:cubicBezTo>
                <a:lnTo>
                  <a:pt x="155711" y="87701"/>
                </a:lnTo>
                <a:cubicBezTo>
                  <a:pt x="159161" y="88170"/>
                  <a:pt x="162543" y="89107"/>
                  <a:pt x="165724" y="90413"/>
                </a:cubicBezTo>
                <a:lnTo>
                  <a:pt x="177444" y="82611"/>
                </a:lnTo>
                <a:cubicBezTo>
                  <a:pt x="180960" y="80267"/>
                  <a:pt x="185615" y="80736"/>
                  <a:pt x="188595" y="83716"/>
                </a:cubicBezTo>
                <a:lnTo>
                  <a:pt x="195024" y="90145"/>
                </a:lnTo>
                <a:cubicBezTo>
                  <a:pt x="198005" y="93125"/>
                  <a:pt x="198473" y="97814"/>
                  <a:pt x="196129" y="101296"/>
                </a:cubicBezTo>
                <a:lnTo>
                  <a:pt x="188327" y="112983"/>
                </a:lnTo>
                <a:cubicBezTo>
                  <a:pt x="188963" y="114557"/>
                  <a:pt x="189533" y="116198"/>
                  <a:pt x="190001" y="117905"/>
                </a:cubicBezTo>
                <a:cubicBezTo>
                  <a:pt x="190470" y="119613"/>
                  <a:pt x="190772" y="121287"/>
                  <a:pt x="191006" y="122995"/>
                </a:cubicBezTo>
                <a:lnTo>
                  <a:pt x="203630" y="129224"/>
                </a:lnTo>
                <a:cubicBezTo>
                  <a:pt x="207414" y="131099"/>
                  <a:pt x="209357" y="135385"/>
                  <a:pt x="208251" y="139437"/>
                </a:cubicBezTo>
                <a:lnTo>
                  <a:pt x="205907" y="148210"/>
                </a:lnTo>
                <a:cubicBezTo>
                  <a:pt x="204802" y="152262"/>
                  <a:pt x="201018" y="155008"/>
                  <a:pt x="196799" y="154740"/>
                </a:cubicBezTo>
                <a:lnTo>
                  <a:pt x="182735" y="153836"/>
                </a:lnTo>
                <a:cubicBezTo>
                  <a:pt x="180625" y="156549"/>
                  <a:pt x="178181" y="159060"/>
                  <a:pt x="175401" y="161203"/>
                </a:cubicBezTo>
                <a:lnTo>
                  <a:pt x="176306" y="175234"/>
                </a:lnTo>
                <a:cubicBezTo>
                  <a:pt x="176573" y="179453"/>
                  <a:pt x="173828" y="183271"/>
                  <a:pt x="169776" y="184342"/>
                </a:cubicBezTo>
                <a:lnTo>
                  <a:pt x="161002" y="186686"/>
                </a:lnTo>
                <a:cubicBezTo>
                  <a:pt x="156917" y="187791"/>
                  <a:pt x="152664" y="185849"/>
                  <a:pt x="150789" y="182065"/>
                </a:cubicBezTo>
                <a:lnTo>
                  <a:pt x="144560" y="169474"/>
                </a:lnTo>
                <a:cubicBezTo>
                  <a:pt x="141111" y="169005"/>
                  <a:pt x="137729" y="168068"/>
                  <a:pt x="134548" y="166762"/>
                </a:cubicBezTo>
                <a:lnTo>
                  <a:pt x="122828" y="174564"/>
                </a:lnTo>
                <a:cubicBezTo>
                  <a:pt x="119312" y="176908"/>
                  <a:pt x="114657" y="176439"/>
                  <a:pt x="111677" y="173459"/>
                </a:cubicBezTo>
                <a:lnTo>
                  <a:pt x="105248" y="167030"/>
                </a:lnTo>
                <a:cubicBezTo>
                  <a:pt x="102267" y="164050"/>
                  <a:pt x="101798" y="159395"/>
                  <a:pt x="104142" y="155879"/>
                </a:cubicBezTo>
                <a:lnTo>
                  <a:pt x="111945" y="144159"/>
                </a:lnTo>
                <a:cubicBezTo>
                  <a:pt x="111309" y="142585"/>
                  <a:pt x="110739" y="140944"/>
                  <a:pt x="110270" y="139236"/>
                </a:cubicBezTo>
                <a:cubicBezTo>
                  <a:pt x="109802" y="137528"/>
                  <a:pt x="109500" y="135821"/>
                  <a:pt x="109266" y="134146"/>
                </a:cubicBezTo>
                <a:lnTo>
                  <a:pt x="96642" y="127918"/>
                </a:lnTo>
                <a:cubicBezTo>
                  <a:pt x="92858" y="126043"/>
                  <a:pt x="90949" y="121756"/>
                  <a:pt x="92020" y="117704"/>
                </a:cubicBezTo>
                <a:lnTo>
                  <a:pt x="94364" y="108931"/>
                </a:lnTo>
                <a:cubicBezTo>
                  <a:pt x="95470" y="104879"/>
                  <a:pt x="99253" y="102133"/>
                  <a:pt x="103473" y="102401"/>
                </a:cubicBezTo>
                <a:lnTo>
                  <a:pt x="117504" y="103305"/>
                </a:lnTo>
                <a:cubicBezTo>
                  <a:pt x="119613" y="100593"/>
                  <a:pt x="122058" y="98081"/>
                  <a:pt x="124837" y="95938"/>
                </a:cubicBezTo>
                <a:lnTo>
                  <a:pt x="123933" y="81941"/>
                </a:lnTo>
                <a:cubicBezTo>
                  <a:pt x="123665" y="77722"/>
                  <a:pt x="126411" y="73904"/>
                  <a:pt x="130463" y="72833"/>
                </a:cubicBezTo>
                <a:lnTo>
                  <a:pt x="139236" y="70489"/>
                </a:lnTo>
                <a:close/>
                <a:moveTo>
                  <a:pt x="150153" y="113854"/>
                </a:moveTo>
                <a:cubicBezTo>
                  <a:pt x="142021" y="113863"/>
                  <a:pt x="135426" y="120472"/>
                  <a:pt x="135435" y="128604"/>
                </a:cubicBezTo>
                <a:cubicBezTo>
                  <a:pt x="135445" y="136736"/>
                  <a:pt x="142054" y="143331"/>
                  <a:pt x="150186" y="143321"/>
                </a:cubicBezTo>
                <a:cubicBezTo>
                  <a:pt x="158318" y="143312"/>
                  <a:pt x="164913" y="136703"/>
                  <a:pt x="164903" y="128571"/>
                </a:cubicBezTo>
                <a:cubicBezTo>
                  <a:pt x="164894" y="120439"/>
                  <a:pt x="158285" y="113844"/>
                  <a:pt x="150153" y="113854"/>
                </a:cubicBezTo>
                <a:close/>
                <a:moveTo>
                  <a:pt x="75311" y="-15236"/>
                </a:moveTo>
                <a:lnTo>
                  <a:pt x="84084" y="-12892"/>
                </a:lnTo>
                <a:cubicBezTo>
                  <a:pt x="88136" y="-11787"/>
                  <a:pt x="90882" y="-7970"/>
                  <a:pt x="90614" y="-3784"/>
                </a:cubicBezTo>
                <a:lnTo>
                  <a:pt x="89710" y="10213"/>
                </a:lnTo>
                <a:cubicBezTo>
                  <a:pt x="92489" y="12356"/>
                  <a:pt x="94934" y="14834"/>
                  <a:pt x="97043" y="17580"/>
                </a:cubicBezTo>
                <a:lnTo>
                  <a:pt x="111108" y="16676"/>
                </a:lnTo>
                <a:cubicBezTo>
                  <a:pt x="115293" y="16408"/>
                  <a:pt x="119111" y="19154"/>
                  <a:pt x="120216" y="23206"/>
                </a:cubicBezTo>
                <a:lnTo>
                  <a:pt x="122560" y="31979"/>
                </a:lnTo>
                <a:cubicBezTo>
                  <a:pt x="123632" y="36031"/>
                  <a:pt x="121723" y="40318"/>
                  <a:pt x="117939" y="42193"/>
                </a:cubicBezTo>
                <a:lnTo>
                  <a:pt x="105315" y="48421"/>
                </a:lnTo>
                <a:cubicBezTo>
                  <a:pt x="105080" y="50129"/>
                  <a:pt x="104745" y="51837"/>
                  <a:pt x="104310" y="53511"/>
                </a:cubicBezTo>
                <a:cubicBezTo>
                  <a:pt x="103875" y="55185"/>
                  <a:pt x="103272" y="56860"/>
                  <a:pt x="102636" y="58434"/>
                </a:cubicBezTo>
                <a:lnTo>
                  <a:pt x="110438" y="70154"/>
                </a:lnTo>
                <a:cubicBezTo>
                  <a:pt x="112782" y="73670"/>
                  <a:pt x="112313" y="78325"/>
                  <a:pt x="109333" y="81305"/>
                </a:cubicBezTo>
                <a:lnTo>
                  <a:pt x="102903" y="87734"/>
                </a:lnTo>
                <a:cubicBezTo>
                  <a:pt x="99923" y="90714"/>
                  <a:pt x="95269" y="91183"/>
                  <a:pt x="91753" y="88839"/>
                </a:cubicBezTo>
                <a:lnTo>
                  <a:pt x="80032" y="81037"/>
                </a:lnTo>
                <a:cubicBezTo>
                  <a:pt x="76851" y="82343"/>
                  <a:pt x="73469" y="83280"/>
                  <a:pt x="70020" y="83749"/>
                </a:cubicBezTo>
                <a:lnTo>
                  <a:pt x="63791" y="96340"/>
                </a:lnTo>
                <a:cubicBezTo>
                  <a:pt x="61916" y="100124"/>
                  <a:pt x="57630" y="102033"/>
                  <a:pt x="53578" y="100961"/>
                </a:cubicBezTo>
                <a:lnTo>
                  <a:pt x="44805" y="98617"/>
                </a:lnTo>
                <a:cubicBezTo>
                  <a:pt x="40719" y="97512"/>
                  <a:pt x="38007" y="93695"/>
                  <a:pt x="38275" y="89509"/>
                </a:cubicBezTo>
                <a:lnTo>
                  <a:pt x="39179" y="75478"/>
                </a:lnTo>
                <a:cubicBezTo>
                  <a:pt x="36400" y="73335"/>
                  <a:pt x="33955" y="70857"/>
                  <a:pt x="31845" y="68111"/>
                </a:cubicBezTo>
                <a:lnTo>
                  <a:pt x="17781" y="69015"/>
                </a:lnTo>
                <a:cubicBezTo>
                  <a:pt x="13595" y="69283"/>
                  <a:pt x="9778" y="66537"/>
                  <a:pt x="8673" y="62485"/>
                </a:cubicBezTo>
                <a:lnTo>
                  <a:pt x="6329" y="53712"/>
                </a:lnTo>
                <a:cubicBezTo>
                  <a:pt x="5257" y="49660"/>
                  <a:pt x="7166" y="45374"/>
                  <a:pt x="10950" y="43499"/>
                </a:cubicBezTo>
                <a:lnTo>
                  <a:pt x="23574" y="37270"/>
                </a:lnTo>
                <a:cubicBezTo>
                  <a:pt x="23809" y="35562"/>
                  <a:pt x="24144" y="33888"/>
                  <a:pt x="24579" y="32180"/>
                </a:cubicBezTo>
                <a:cubicBezTo>
                  <a:pt x="25048" y="30473"/>
                  <a:pt x="25584" y="28832"/>
                  <a:pt x="26253" y="27258"/>
                </a:cubicBezTo>
                <a:lnTo>
                  <a:pt x="18451" y="15571"/>
                </a:lnTo>
                <a:cubicBezTo>
                  <a:pt x="16107" y="12055"/>
                  <a:pt x="16576" y="7400"/>
                  <a:pt x="19556" y="4420"/>
                </a:cubicBezTo>
                <a:lnTo>
                  <a:pt x="25985" y="-2009"/>
                </a:lnTo>
                <a:cubicBezTo>
                  <a:pt x="28966" y="-4989"/>
                  <a:pt x="33620" y="-5458"/>
                  <a:pt x="37136" y="-3114"/>
                </a:cubicBezTo>
                <a:lnTo>
                  <a:pt x="48857" y="4688"/>
                </a:lnTo>
                <a:cubicBezTo>
                  <a:pt x="52038" y="3382"/>
                  <a:pt x="55420" y="2445"/>
                  <a:pt x="58869" y="1976"/>
                </a:cubicBezTo>
                <a:lnTo>
                  <a:pt x="65097" y="-10615"/>
                </a:lnTo>
                <a:cubicBezTo>
                  <a:pt x="66973" y="-14399"/>
                  <a:pt x="71225" y="-16308"/>
                  <a:pt x="75311" y="-15236"/>
                </a:cubicBezTo>
                <a:close/>
                <a:moveTo>
                  <a:pt x="64428" y="28129"/>
                </a:moveTo>
                <a:cubicBezTo>
                  <a:pt x="56296" y="28129"/>
                  <a:pt x="49694" y="34731"/>
                  <a:pt x="49694" y="42863"/>
                </a:cubicBezTo>
                <a:cubicBezTo>
                  <a:pt x="49694" y="50994"/>
                  <a:pt x="56296" y="57596"/>
                  <a:pt x="64428" y="57596"/>
                </a:cubicBezTo>
                <a:cubicBezTo>
                  <a:pt x="72560" y="57596"/>
                  <a:pt x="79162" y="50994"/>
                  <a:pt x="79162" y="42863"/>
                </a:cubicBezTo>
                <a:cubicBezTo>
                  <a:pt x="79162" y="34731"/>
                  <a:pt x="72560" y="28129"/>
                  <a:pt x="64428" y="28129"/>
                </a:cubicBezTo>
                <a:close/>
              </a:path>
            </a:pathLst>
          </a:custGeom>
          <a:solidFill>
            <a:srgbClr val="F47C20"/>
          </a:solidFill>
          <a:ln/>
        </p:spPr>
      </p:sp>
      <p:sp>
        <p:nvSpPr>
          <p:cNvPr id="25" name="Text 23"/>
          <p:cNvSpPr/>
          <p:nvPr/>
        </p:nvSpPr>
        <p:spPr>
          <a:xfrm>
            <a:off x="6865620" y="1474470"/>
            <a:ext cx="1228725" cy="266700"/>
          </a:xfrm>
          <a:prstGeom prst="rect">
            <a:avLst/>
          </a:prstGeom>
          <a:noFill/>
          <a:ln/>
        </p:spPr>
        <p:txBody>
          <a:bodyPr wrap="square" lIns="0" tIns="0" rIns="0" bIns="0" rtlCol="0" anchor="ctr"/>
          <a:lstStyle/>
          <a:p>
            <a:pPr>
              <a:lnSpc>
                <a:spcPct val="120000"/>
              </a:lnSpc>
            </a:pPr>
            <a:r>
              <a:rPr lang="en-US" sz="1500" b="1" dirty="0">
                <a:solidFill>
                  <a:srgbClr val="E8EAED"/>
                </a:solidFill>
                <a:latin typeface="Liter" pitchFamily="34" charset="0"/>
                <a:ea typeface="Liter" pitchFamily="34" charset="-122"/>
                <a:cs typeface="Liter" pitchFamily="34" charset="-120"/>
              </a:rPr>
              <a:t>How It Works</a:t>
            </a:r>
            <a:endParaRPr lang="en-US" sz="1600" dirty="0"/>
          </a:p>
        </p:txBody>
      </p:sp>
      <p:sp>
        <p:nvSpPr>
          <p:cNvPr id="26" name="Shape 24"/>
          <p:cNvSpPr/>
          <p:nvPr/>
        </p:nvSpPr>
        <p:spPr>
          <a:xfrm>
            <a:off x="6370320" y="1969770"/>
            <a:ext cx="266700" cy="266700"/>
          </a:xfrm>
          <a:custGeom>
            <a:avLst/>
            <a:gdLst/>
            <a:ahLst/>
            <a:cxnLst/>
            <a:rect l="l" t="t" r="r" b="b"/>
            <a:pathLst>
              <a:path w="266700" h="266700">
                <a:moveTo>
                  <a:pt x="133350" y="0"/>
                </a:moveTo>
                <a:lnTo>
                  <a:pt x="133350" y="0"/>
                </a:lnTo>
                <a:cubicBezTo>
                  <a:pt x="206948" y="0"/>
                  <a:pt x="266700" y="59752"/>
                  <a:pt x="266700" y="133350"/>
                </a:cubicBezTo>
                <a:lnTo>
                  <a:pt x="266700" y="133350"/>
                </a:lnTo>
                <a:cubicBezTo>
                  <a:pt x="266700" y="206948"/>
                  <a:pt x="206948" y="266700"/>
                  <a:pt x="133350" y="266700"/>
                </a:cubicBezTo>
                <a:lnTo>
                  <a:pt x="133350" y="266700"/>
                </a:lnTo>
                <a:cubicBezTo>
                  <a:pt x="59752" y="266700"/>
                  <a:pt x="0" y="206948"/>
                  <a:pt x="0" y="133350"/>
                </a:cubicBezTo>
                <a:lnTo>
                  <a:pt x="0" y="133350"/>
                </a:lnTo>
                <a:cubicBezTo>
                  <a:pt x="0" y="59752"/>
                  <a:pt x="59752" y="0"/>
                  <a:pt x="133350" y="0"/>
                </a:cubicBezTo>
                <a:close/>
              </a:path>
            </a:pathLst>
          </a:custGeom>
          <a:solidFill>
            <a:srgbClr val="F47C20">
              <a:alpha val="20000"/>
            </a:srgbClr>
          </a:solidFill>
          <a:ln/>
        </p:spPr>
      </p:sp>
      <p:sp>
        <p:nvSpPr>
          <p:cNvPr id="27" name="Text 25"/>
          <p:cNvSpPr/>
          <p:nvPr/>
        </p:nvSpPr>
        <p:spPr>
          <a:xfrm>
            <a:off x="6477000" y="2007870"/>
            <a:ext cx="123825" cy="190500"/>
          </a:xfrm>
          <a:prstGeom prst="rect">
            <a:avLst/>
          </a:prstGeom>
          <a:noFill/>
          <a:ln/>
        </p:spPr>
        <p:txBody>
          <a:bodyPr wrap="square" lIns="0" tIns="0" rIns="0" bIns="0" rtlCol="0" anchor="ctr"/>
          <a:lstStyle/>
          <a:p>
            <a:pPr>
              <a:lnSpc>
                <a:spcPct val="120000"/>
              </a:lnSpc>
            </a:pPr>
            <a:r>
              <a:rPr lang="en-US" sz="1050" b="1" dirty="0">
                <a:solidFill>
                  <a:srgbClr val="F47C20"/>
                </a:solidFill>
                <a:latin typeface="Liter" pitchFamily="34" charset="0"/>
                <a:ea typeface="Liter" pitchFamily="34" charset="-122"/>
                <a:cs typeface="Liter" pitchFamily="34" charset="-120"/>
              </a:rPr>
              <a:t>1</a:t>
            </a:r>
            <a:endParaRPr lang="en-US" sz="1600" dirty="0"/>
          </a:p>
        </p:txBody>
      </p:sp>
      <p:sp>
        <p:nvSpPr>
          <p:cNvPr id="28" name="Text 26"/>
          <p:cNvSpPr/>
          <p:nvPr/>
        </p:nvSpPr>
        <p:spPr>
          <a:xfrm>
            <a:off x="6751320" y="1950720"/>
            <a:ext cx="4362450" cy="228600"/>
          </a:xfrm>
          <a:prstGeom prst="rect">
            <a:avLst/>
          </a:prstGeom>
          <a:noFill/>
          <a:ln/>
        </p:spPr>
        <p:txBody>
          <a:bodyPr wrap="square" lIns="0" tIns="0" rIns="0" bIns="0" rtlCol="0" anchor="ctr"/>
          <a:lstStyle/>
          <a:p>
            <a:pPr>
              <a:lnSpc>
                <a:spcPct val="130000"/>
              </a:lnSpc>
            </a:pPr>
            <a:r>
              <a:rPr lang="en-US" sz="1200" b="1" dirty="0">
                <a:solidFill>
                  <a:srgbClr val="E8EAED"/>
                </a:solidFill>
                <a:latin typeface="Liter" pitchFamily="34" charset="0"/>
                <a:ea typeface="Liter" pitchFamily="34" charset="-122"/>
                <a:cs typeface="Liter" pitchFamily="34" charset="-120"/>
              </a:rPr>
              <a:t>Traffic Ingress</a:t>
            </a:r>
            <a:endParaRPr lang="en-US" sz="1600" dirty="0"/>
          </a:p>
        </p:txBody>
      </p:sp>
      <p:sp>
        <p:nvSpPr>
          <p:cNvPr id="29" name="Text 27"/>
          <p:cNvSpPr/>
          <p:nvPr/>
        </p:nvSpPr>
        <p:spPr>
          <a:xfrm>
            <a:off x="6751320" y="2217420"/>
            <a:ext cx="4362450" cy="228600"/>
          </a:xfrm>
          <a:prstGeom prst="rect">
            <a:avLst/>
          </a:prstGeom>
          <a:noFill/>
          <a:ln/>
        </p:spPr>
        <p:txBody>
          <a:bodyPr wrap="square" lIns="0" tIns="0" rIns="0" bIns="0" rtlCol="0" anchor="ctr"/>
          <a:lstStyle/>
          <a:p>
            <a:pPr>
              <a:lnSpc>
                <a:spcPct val="130000"/>
              </a:lnSpc>
            </a:pPr>
            <a:r>
              <a:rPr lang="en-US" sz="1200" dirty="0">
                <a:solidFill>
                  <a:srgbClr val="E8EAED">
                    <a:alpha val="70000"/>
                  </a:srgbClr>
                </a:solidFill>
                <a:latin typeface="Liter" pitchFamily="34" charset="0"/>
                <a:ea typeface="Liter" pitchFamily="34" charset="-122"/>
                <a:cs typeface="Liter" pitchFamily="34" charset="-120"/>
              </a:rPr>
              <a:t>Client requests enter Cloudflare's network at nearest data center</a:t>
            </a:r>
            <a:endParaRPr lang="en-US" sz="1600" dirty="0"/>
          </a:p>
        </p:txBody>
      </p:sp>
      <p:sp>
        <p:nvSpPr>
          <p:cNvPr id="30" name="Shape 28"/>
          <p:cNvSpPr/>
          <p:nvPr/>
        </p:nvSpPr>
        <p:spPr>
          <a:xfrm>
            <a:off x="6370320" y="2579370"/>
            <a:ext cx="266700" cy="266700"/>
          </a:xfrm>
          <a:custGeom>
            <a:avLst/>
            <a:gdLst/>
            <a:ahLst/>
            <a:cxnLst/>
            <a:rect l="l" t="t" r="r" b="b"/>
            <a:pathLst>
              <a:path w="266700" h="266700">
                <a:moveTo>
                  <a:pt x="133350" y="0"/>
                </a:moveTo>
                <a:lnTo>
                  <a:pt x="133350" y="0"/>
                </a:lnTo>
                <a:cubicBezTo>
                  <a:pt x="206948" y="0"/>
                  <a:pt x="266700" y="59752"/>
                  <a:pt x="266700" y="133350"/>
                </a:cubicBezTo>
                <a:lnTo>
                  <a:pt x="266700" y="133350"/>
                </a:lnTo>
                <a:cubicBezTo>
                  <a:pt x="266700" y="206948"/>
                  <a:pt x="206948" y="266700"/>
                  <a:pt x="133350" y="266700"/>
                </a:cubicBezTo>
                <a:lnTo>
                  <a:pt x="133350" y="266700"/>
                </a:lnTo>
                <a:cubicBezTo>
                  <a:pt x="59752" y="266700"/>
                  <a:pt x="0" y="206948"/>
                  <a:pt x="0" y="133350"/>
                </a:cubicBezTo>
                <a:lnTo>
                  <a:pt x="0" y="133350"/>
                </a:lnTo>
                <a:cubicBezTo>
                  <a:pt x="0" y="59752"/>
                  <a:pt x="59752" y="0"/>
                  <a:pt x="133350" y="0"/>
                </a:cubicBezTo>
                <a:close/>
              </a:path>
            </a:pathLst>
          </a:custGeom>
          <a:solidFill>
            <a:srgbClr val="F47C20">
              <a:alpha val="20000"/>
            </a:srgbClr>
          </a:solidFill>
          <a:ln/>
        </p:spPr>
      </p:sp>
      <p:sp>
        <p:nvSpPr>
          <p:cNvPr id="31" name="Text 29"/>
          <p:cNvSpPr/>
          <p:nvPr/>
        </p:nvSpPr>
        <p:spPr>
          <a:xfrm>
            <a:off x="6464856" y="2617470"/>
            <a:ext cx="142875" cy="190500"/>
          </a:xfrm>
          <a:prstGeom prst="rect">
            <a:avLst/>
          </a:prstGeom>
          <a:noFill/>
          <a:ln/>
        </p:spPr>
        <p:txBody>
          <a:bodyPr wrap="square" lIns="0" tIns="0" rIns="0" bIns="0" rtlCol="0" anchor="ctr"/>
          <a:lstStyle/>
          <a:p>
            <a:pPr>
              <a:lnSpc>
                <a:spcPct val="120000"/>
              </a:lnSpc>
            </a:pPr>
            <a:r>
              <a:rPr lang="en-US" sz="1050" b="1" dirty="0">
                <a:solidFill>
                  <a:srgbClr val="F47C20"/>
                </a:solidFill>
                <a:latin typeface="Liter" pitchFamily="34" charset="0"/>
                <a:ea typeface="Liter" pitchFamily="34" charset="-122"/>
                <a:cs typeface="Liter" pitchFamily="34" charset="-120"/>
              </a:rPr>
              <a:t>2</a:t>
            </a:r>
            <a:endParaRPr lang="en-US" sz="1600" dirty="0"/>
          </a:p>
        </p:txBody>
      </p:sp>
      <p:sp>
        <p:nvSpPr>
          <p:cNvPr id="32" name="Text 30"/>
          <p:cNvSpPr/>
          <p:nvPr/>
        </p:nvSpPr>
        <p:spPr>
          <a:xfrm>
            <a:off x="6751320" y="2560320"/>
            <a:ext cx="3409950" cy="228600"/>
          </a:xfrm>
          <a:prstGeom prst="rect">
            <a:avLst/>
          </a:prstGeom>
          <a:noFill/>
          <a:ln/>
        </p:spPr>
        <p:txBody>
          <a:bodyPr wrap="square" lIns="0" tIns="0" rIns="0" bIns="0" rtlCol="0" anchor="ctr"/>
          <a:lstStyle/>
          <a:p>
            <a:pPr>
              <a:lnSpc>
                <a:spcPct val="130000"/>
              </a:lnSpc>
            </a:pPr>
            <a:r>
              <a:rPr lang="en-US" sz="1200" b="1" dirty="0">
                <a:solidFill>
                  <a:srgbClr val="E8EAED"/>
                </a:solidFill>
                <a:latin typeface="Liter" pitchFamily="34" charset="0"/>
                <a:ea typeface="Liter" pitchFamily="34" charset="-122"/>
                <a:cs typeface="Liter" pitchFamily="34" charset="-120"/>
              </a:rPr>
              <a:t>Request Processing</a:t>
            </a:r>
            <a:endParaRPr lang="en-US" sz="1600" dirty="0"/>
          </a:p>
        </p:txBody>
      </p:sp>
      <p:sp>
        <p:nvSpPr>
          <p:cNvPr id="33" name="Text 31"/>
          <p:cNvSpPr/>
          <p:nvPr/>
        </p:nvSpPr>
        <p:spPr>
          <a:xfrm>
            <a:off x="6751320" y="2827020"/>
            <a:ext cx="3409950" cy="228600"/>
          </a:xfrm>
          <a:prstGeom prst="rect">
            <a:avLst/>
          </a:prstGeom>
          <a:noFill/>
          <a:ln/>
        </p:spPr>
        <p:txBody>
          <a:bodyPr wrap="square" lIns="0" tIns="0" rIns="0" bIns="0" rtlCol="0" anchor="ctr"/>
          <a:lstStyle/>
          <a:p>
            <a:pPr>
              <a:lnSpc>
                <a:spcPct val="130000"/>
              </a:lnSpc>
            </a:pPr>
            <a:r>
              <a:rPr lang="en-US" sz="1200" dirty="0">
                <a:solidFill>
                  <a:srgbClr val="E8EAED">
                    <a:alpha val="70000"/>
                  </a:srgbClr>
                </a:solidFill>
                <a:latin typeface="Liter" pitchFamily="34" charset="0"/>
                <a:ea typeface="Liter" pitchFamily="34" charset="-122"/>
                <a:cs typeface="Liter" pitchFamily="34" charset="-120"/>
              </a:rPr>
              <a:t>WAF, DDoS protection, and other services applied</a:t>
            </a:r>
            <a:endParaRPr lang="en-US" sz="1600" dirty="0"/>
          </a:p>
        </p:txBody>
      </p:sp>
      <p:sp>
        <p:nvSpPr>
          <p:cNvPr id="34" name="Shape 32"/>
          <p:cNvSpPr/>
          <p:nvPr/>
        </p:nvSpPr>
        <p:spPr>
          <a:xfrm>
            <a:off x="6370320" y="3188970"/>
            <a:ext cx="266700" cy="266700"/>
          </a:xfrm>
          <a:custGeom>
            <a:avLst/>
            <a:gdLst/>
            <a:ahLst/>
            <a:cxnLst/>
            <a:rect l="l" t="t" r="r" b="b"/>
            <a:pathLst>
              <a:path w="266700" h="266700">
                <a:moveTo>
                  <a:pt x="133350" y="0"/>
                </a:moveTo>
                <a:lnTo>
                  <a:pt x="133350" y="0"/>
                </a:lnTo>
                <a:cubicBezTo>
                  <a:pt x="206948" y="0"/>
                  <a:pt x="266700" y="59752"/>
                  <a:pt x="266700" y="133350"/>
                </a:cubicBezTo>
                <a:lnTo>
                  <a:pt x="266700" y="133350"/>
                </a:lnTo>
                <a:cubicBezTo>
                  <a:pt x="266700" y="206948"/>
                  <a:pt x="206948" y="266700"/>
                  <a:pt x="133350" y="266700"/>
                </a:cubicBezTo>
                <a:lnTo>
                  <a:pt x="133350" y="266700"/>
                </a:lnTo>
                <a:cubicBezTo>
                  <a:pt x="59752" y="266700"/>
                  <a:pt x="0" y="206948"/>
                  <a:pt x="0" y="133350"/>
                </a:cubicBezTo>
                <a:lnTo>
                  <a:pt x="0" y="133350"/>
                </a:lnTo>
                <a:cubicBezTo>
                  <a:pt x="0" y="59752"/>
                  <a:pt x="59752" y="0"/>
                  <a:pt x="133350" y="0"/>
                </a:cubicBezTo>
                <a:close/>
              </a:path>
            </a:pathLst>
          </a:custGeom>
          <a:solidFill>
            <a:srgbClr val="F47C20">
              <a:alpha val="20000"/>
            </a:srgbClr>
          </a:solidFill>
          <a:ln/>
        </p:spPr>
      </p:sp>
      <p:sp>
        <p:nvSpPr>
          <p:cNvPr id="35" name="Text 33"/>
          <p:cNvSpPr/>
          <p:nvPr/>
        </p:nvSpPr>
        <p:spPr>
          <a:xfrm>
            <a:off x="6464261" y="3227070"/>
            <a:ext cx="142875" cy="190500"/>
          </a:xfrm>
          <a:prstGeom prst="rect">
            <a:avLst/>
          </a:prstGeom>
          <a:noFill/>
          <a:ln/>
        </p:spPr>
        <p:txBody>
          <a:bodyPr wrap="square" lIns="0" tIns="0" rIns="0" bIns="0" rtlCol="0" anchor="ctr"/>
          <a:lstStyle/>
          <a:p>
            <a:pPr>
              <a:lnSpc>
                <a:spcPct val="120000"/>
              </a:lnSpc>
            </a:pPr>
            <a:r>
              <a:rPr lang="en-US" sz="1050" b="1" dirty="0">
                <a:solidFill>
                  <a:srgbClr val="F47C20"/>
                </a:solidFill>
                <a:latin typeface="Liter" pitchFamily="34" charset="0"/>
                <a:ea typeface="Liter" pitchFamily="34" charset="-122"/>
                <a:cs typeface="Liter" pitchFamily="34" charset="-120"/>
              </a:rPr>
              <a:t>3</a:t>
            </a:r>
            <a:endParaRPr lang="en-US" sz="1600" dirty="0"/>
          </a:p>
        </p:txBody>
      </p:sp>
      <p:sp>
        <p:nvSpPr>
          <p:cNvPr id="36" name="Text 34"/>
          <p:cNvSpPr/>
          <p:nvPr/>
        </p:nvSpPr>
        <p:spPr>
          <a:xfrm>
            <a:off x="6751320" y="3169920"/>
            <a:ext cx="3886200" cy="228600"/>
          </a:xfrm>
          <a:prstGeom prst="rect">
            <a:avLst/>
          </a:prstGeom>
          <a:noFill/>
          <a:ln/>
        </p:spPr>
        <p:txBody>
          <a:bodyPr wrap="square" lIns="0" tIns="0" rIns="0" bIns="0" rtlCol="0" anchor="ctr"/>
          <a:lstStyle/>
          <a:p>
            <a:pPr>
              <a:lnSpc>
                <a:spcPct val="130000"/>
              </a:lnSpc>
            </a:pPr>
            <a:r>
              <a:rPr lang="en-US" sz="1200" b="1" dirty="0">
                <a:solidFill>
                  <a:srgbClr val="E8EAED"/>
                </a:solidFill>
                <a:latin typeface="Liter" pitchFamily="34" charset="0"/>
                <a:ea typeface="Liter" pitchFamily="34" charset="-122"/>
                <a:cs typeface="Liter" pitchFamily="34" charset="-120"/>
              </a:rPr>
              <a:t>Dedicated Egress</a:t>
            </a:r>
            <a:endParaRPr lang="en-US" sz="1600" dirty="0"/>
          </a:p>
        </p:txBody>
      </p:sp>
      <p:sp>
        <p:nvSpPr>
          <p:cNvPr id="37" name="Text 35"/>
          <p:cNvSpPr/>
          <p:nvPr/>
        </p:nvSpPr>
        <p:spPr>
          <a:xfrm>
            <a:off x="6751320" y="3436620"/>
            <a:ext cx="3886200" cy="228600"/>
          </a:xfrm>
          <a:prstGeom prst="rect">
            <a:avLst/>
          </a:prstGeom>
          <a:noFill/>
          <a:ln/>
        </p:spPr>
        <p:txBody>
          <a:bodyPr wrap="square" lIns="0" tIns="0" rIns="0" bIns="0" rtlCol="0" anchor="ctr"/>
          <a:lstStyle/>
          <a:p>
            <a:pPr>
              <a:lnSpc>
                <a:spcPct val="130000"/>
              </a:lnSpc>
            </a:pPr>
            <a:r>
              <a:rPr lang="en-US" sz="1200" dirty="0">
                <a:solidFill>
                  <a:srgbClr val="E8EAED">
                    <a:alpha val="70000"/>
                  </a:srgbClr>
                </a:solidFill>
                <a:latin typeface="Liter" pitchFamily="34" charset="0"/>
                <a:ea typeface="Liter" pitchFamily="34" charset="-122"/>
                <a:cs typeface="Liter" pitchFamily="34" charset="-120"/>
              </a:rPr>
              <a:t>Traffic routed through your dedicated Aegis IP addresses</a:t>
            </a:r>
            <a:endParaRPr lang="en-US" sz="1600" dirty="0"/>
          </a:p>
        </p:txBody>
      </p:sp>
      <p:sp>
        <p:nvSpPr>
          <p:cNvPr id="38" name="Shape 36"/>
          <p:cNvSpPr/>
          <p:nvPr/>
        </p:nvSpPr>
        <p:spPr>
          <a:xfrm>
            <a:off x="6370320" y="3798570"/>
            <a:ext cx="266700" cy="266700"/>
          </a:xfrm>
          <a:custGeom>
            <a:avLst/>
            <a:gdLst/>
            <a:ahLst/>
            <a:cxnLst/>
            <a:rect l="l" t="t" r="r" b="b"/>
            <a:pathLst>
              <a:path w="266700" h="266700">
                <a:moveTo>
                  <a:pt x="133350" y="0"/>
                </a:moveTo>
                <a:lnTo>
                  <a:pt x="133350" y="0"/>
                </a:lnTo>
                <a:cubicBezTo>
                  <a:pt x="206948" y="0"/>
                  <a:pt x="266700" y="59752"/>
                  <a:pt x="266700" y="133350"/>
                </a:cubicBezTo>
                <a:lnTo>
                  <a:pt x="266700" y="133350"/>
                </a:lnTo>
                <a:cubicBezTo>
                  <a:pt x="266700" y="206948"/>
                  <a:pt x="206948" y="266700"/>
                  <a:pt x="133350" y="266700"/>
                </a:cubicBezTo>
                <a:lnTo>
                  <a:pt x="133350" y="266700"/>
                </a:lnTo>
                <a:cubicBezTo>
                  <a:pt x="59752" y="266700"/>
                  <a:pt x="0" y="206948"/>
                  <a:pt x="0" y="133350"/>
                </a:cubicBezTo>
                <a:lnTo>
                  <a:pt x="0" y="133350"/>
                </a:lnTo>
                <a:cubicBezTo>
                  <a:pt x="0" y="59752"/>
                  <a:pt x="59752" y="0"/>
                  <a:pt x="133350" y="0"/>
                </a:cubicBezTo>
                <a:close/>
              </a:path>
            </a:pathLst>
          </a:custGeom>
          <a:solidFill>
            <a:srgbClr val="F47C20">
              <a:alpha val="20000"/>
            </a:srgbClr>
          </a:solidFill>
          <a:ln/>
        </p:spPr>
      </p:sp>
      <p:sp>
        <p:nvSpPr>
          <p:cNvPr id="39" name="Text 37"/>
          <p:cNvSpPr/>
          <p:nvPr/>
        </p:nvSpPr>
        <p:spPr>
          <a:xfrm>
            <a:off x="6464379" y="3836670"/>
            <a:ext cx="142875" cy="190500"/>
          </a:xfrm>
          <a:prstGeom prst="rect">
            <a:avLst/>
          </a:prstGeom>
          <a:noFill/>
          <a:ln/>
        </p:spPr>
        <p:txBody>
          <a:bodyPr wrap="square" lIns="0" tIns="0" rIns="0" bIns="0" rtlCol="0" anchor="ctr"/>
          <a:lstStyle/>
          <a:p>
            <a:pPr>
              <a:lnSpc>
                <a:spcPct val="120000"/>
              </a:lnSpc>
            </a:pPr>
            <a:r>
              <a:rPr lang="en-US" sz="1050" b="1" dirty="0">
                <a:solidFill>
                  <a:srgbClr val="F47C20"/>
                </a:solidFill>
                <a:latin typeface="Liter" pitchFamily="34" charset="0"/>
                <a:ea typeface="Liter" pitchFamily="34" charset="-122"/>
                <a:cs typeface="Liter" pitchFamily="34" charset="-120"/>
              </a:rPr>
              <a:t>4</a:t>
            </a:r>
            <a:endParaRPr lang="en-US" sz="1600" dirty="0"/>
          </a:p>
        </p:txBody>
      </p:sp>
      <p:sp>
        <p:nvSpPr>
          <p:cNvPr id="40" name="Text 38"/>
          <p:cNvSpPr/>
          <p:nvPr/>
        </p:nvSpPr>
        <p:spPr>
          <a:xfrm>
            <a:off x="6751320" y="3779520"/>
            <a:ext cx="3581400" cy="228600"/>
          </a:xfrm>
          <a:prstGeom prst="rect">
            <a:avLst/>
          </a:prstGeom>
          <a:noFill/>
          <a:ln/>
        </p:spPr>
        <p:txBody>
          <a:bodyPr wrap="square" lIns="0" tIns="0" rIns="0" bIns="0" rtlCol="0" anchor="ctr"/>
          <a:lstStyle/>
          <a:p>
            <a:pPr>
              <a:lnSpc>
                <a:spcPct val="130000"/>
              </a:lnSpc>
            </a:pPr>
            <a:r>
              <a:rPr lang="en-US" sz="1200" b="1" dirty="0">
                <a:solidFill>
                  <a:srgbClr val="E8EAED"/>
                </a:solidFill>
                <a:latin typeface="Liter" pitchFamily="34" charset="0"/>
                <a:ea typeface="Liter" pitchFamily="34" charset="-122"/>
                <a:cs typeface="Liter" pitchFamily="34" charset="-120"/>
              </a:rPr>
              <a:t>Origin Connection</a:t>
            </a:r>
            <a:endParaRPr lang="en-US" sz="1600" dirty="0"/>
          </a:p>
        </p:txBody>
      </p:sp>
      <p:sp>
        <p:nvSpPr>
          <p:cNvPr id="41" name="Text 39"/>
          <p:cNvSpPr/>
          <p:nvPr/>
        </p:nvSpPr>
        <p:spPr>
          <a:xfrm>
            <a:off x="6751320" y="4046220"/>
            <a:ext cx="3581400" cy="228600"/>
          </a:xfrm>
          <a:prstGeom prst="rect">
            <a:avLst/>
          </a:prstGeom>
          <a:noFill/>
          <a:ln/>
        </p:spPr>
        <p:txBody>
          <a:bodyPr wrap="square" lIns="0" tIns="0" rIns="0" bIns="0" rtlCol="0" anchor="ctr"/>
          <a:lstStyle/>
          <a:p>
            <a:pPr>
              <a:lnSpc>
                <a:spcPct val="130000"/>
              </a:lnSpc>
            </a:pPr>
            <a:r>
              <a:rPr lang="en-US" sz="1200" dirty="0">
                <a:solidFill>
                  <a:srgbClr val="E8EAED">
                    <a:alpha val="70000"/>
                  </a:srgbClr>
                </a:solidFill>
                <a:latin typeface="Liter" pitchFamily="34" charset="0"/>
                <a:ea typeface="Liter" pitchFamily="34" charset="-122"/>
                <a:cs typeface="Liter" pitchFamily="34" charset="-120"/>
              </a:rPr>
              <a:t>Origin receives traffic only from allowlisted Aegis IPs</a:t>
            </a:r>
            <a:endParaRPr lang="en-US" sz="1600" dirty="0"/>
          </a:p>
        </p:txBody>
      </p:sp>
      <p:sp>
        <p:nvSpPr>
          <p:cNvPr id="42" name="Shape 40"/>
          <p:cNvSpPr/>
          <p:nvPr/>
        </p:nvSpPr>
        <p:spPr>
          <a:xfrm>
            <a:off x="6176010" y="4629151"/>
            <a:ext cx="5627370" cy="1512570"/>
          </a:xfrm>
          <a:custGeom>
            <a:avLst/>
            <a:gdLst/>
            <a:ahLst/>
            <a:cxnLst/>
            <a:rect l="l" t="t" r="r" b="b"/>
            <a:pathLst>
              <a:path w="5627370" h="1512570">
                <a:moveTo>
                  <a:pt x="114305" y="0"/>
                </a:moveTo>
                <a:lnTo>
                  <a:pt x="5513065" y="0"/>
                </a:lnTo>
                <a:cubicBezTo>
                  <a:pt x="5576194" y="0"/>
                  <a:pt x="5627370" y="51176"/>
                  <a:pt x="5627370" y="114305"/>
                </a:cubicBezTo>
                <a:lnTo>
                  <a:pt x="5627370" y="1398265"/>
                </a:lnTo>
                <a:cubicBezTo>
                  <a:pt x="5627370" y="1461394"/>
                  <a:pt x="5576194" y="1512570"/>
                  <a:pt x="5513065" y="1512570"/>
                </a:cubicBezTo>
                <a:lnTo>
                  <a:pt x="114305" y="1512570"/>
                </a:lnTo>
                <a:cubicBezTo>
                  <a:pt x="51176" y="1512570"/>
                  <a:pt x="0" y="1461394"/>
                  <a:pt x="0" y="1398265"/>
                </a:cubicBezTo>
                <a:lnTo>
                  <a:pt x="0" y="114305"/>
                </a:lnTo>
                <a:cubicBezTo>
                  <a:pt x="0" y="51218"/>
                  <a:pt x="51218" y="0"/>
                  <a:pt x="114305" y="0"/>
                </a:cubicBezTo>
                <a:close/>
              </a:path>
            </a:pathLst>
          </a:custGeom>
          <a:solidFill>
            <a:srgbClr val="F47C20">
              <a:alpha val="10196"/>
            </a:srgbClr>
          </a:solidFill>
          <a:ln w="10160">
            <a:solidFill>
              <a:srgbClr val="F47C20">
                <a:alpha val="30196"/>
              </a:srgbClr>
            </a:solidFill>
            <a:prstDash val="solid"/>
          </a:ln>
        </p:spPr>
      </p:sp>
      <p:sp>
        <p:nvSpPr>
          <p:cNvPr id="43" name="Shape 41"/>
          <p:cNvSpPr/>
          <p:nvPr/>
        </p:nvSpPr>
        <p:spPr>
          <a:xfrm>
            <a:off x="6417945" y="4861561"/>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47C20"/>
          </a:solidFill>
          <a:ln/>
        </p:spPr>
      </p:sp>
      <p:sp>
        <p:nvSpPr>
          <p:cNvPr id="44" name="Text 42"/>
          <p:cNvSpPr/>
          <p:nvPr/>
        </p:nvSpPr>
        <p:spPr>
          <a:xfrm>
            <a:off x="6722745" y="4823461"/>
            <a:ext cx="1371600" cy="266700"/>
          </a:xfrm>
          <a:prstGeom prst="rect">
            <a:avLst/>
          </a:prstGeom>
          <a:noFill/>
          <a:ln/>
        </p:spPr>
        <p:txBody>
          <a:bodyPr wrap="square" lIns="0" tIns="0" rIns="0" bIns="0" rtlCol="0" anchor="ctr"/>
          <a:lstStyle/>
          <a:p>
            <a:pPr>
              <a:lnSpc>
                <a:spcPct val="130000"/>
              </a:lnSpc>
            </a:pPr>
            <a:r>
              <a:rPr lang="en-US" sz="1350" b="1" dirty="0">
                <a:solidFill>
                  <a:srgbClr val="E8EAED"/>
                </a:solidFill>
                <a:latin typeface="Liter" pitchFamily="34" charset="0"/>
                <a:ea typeface="Liter" pitchFamily="34" charset="-122"/>
                <a:cs typeface="Liter" pitchFamily="34" charset="-120"/>
              </a:rPr>
              <a:t>Capacity Metrics</a:t>
            </a:r>
            <a:endParaRPr lang="en-US" sz="1600" dirty="0"/>
          </a:p>
        </p:txBody>
      </p:sp>
      <p:sp>
        <p:nvSpPr>
          <p:cNvPr id="45" name="Text 43"/>
          <p:cNvSpPr/>
          <p:nvPr/>
        </p:nvSpPr>
        <p:spPr>
          <a:xfrm>
            <a:off x="6370320" y="5204461"/>
            <a:ext cx="5314950" cy="742950"/>
          </a:xfrm>
          <a:prstGeom prst="rect">
            <a:avLst/>
          </a:prstGeom>
          <a:noFill/>
          <a:ln/>
        </p:spPr>
        <p:txBody>
          <a:bodyPr wrap="square" lIns="0" tIns="0" rIns="0" bIns="0" rtlCol="0" anchor="ctr"/>
          <a:lstStyle/>
          <a:p>
            <a:pPr>
              <a:lnSpc>
                <a:spcPct val="140000"/>
              </a:lnSpc>
            </a:pPr>
            <a:r>
              <a:rPr lang="en-US" sz="1200" dirty="0">
                <a:solidFill>
                  <a:srgbClr val="BABABA"/>
                </a:solidFill>
                <a:latin typeface="Liter" pitchFamily="34" charset="0"/>
                <a:ea typeface="Liter" pitchFamily="34" charset="-122"/>
                <a:cs typeface="Liter" pitchFamily="34" charset="-120"/>
              </a:rPr>
              <a:t>Each Aegis IPv4 supports up to </a:t>
            </a:r>
            <a:pPr>
              <a:lnSpc>
                <a:spcPct val="140000"/>
              </a:lnSpc>
            </a:pPr>
            <a:r>
              <a:rPr lang="en-US" sz="1200" b="1" dirty="0">
                <a:solidFill>
                  <a:srgbClr val="BABABA"/>
                </a:solidFill>
                <a:latin typeface="Liter" pitchFamily="34" charset="0"/>
                <a:ea typeface="Liter" pitchFamily="34" charset="-122"/>
                <a:cs typeface="Liter" pitchFamily="34" charset="-120"/>
              </a:rPr>
              <a:t>40,000 concurrent connections</a:t>
            </a:r>
            <a:pPr>
              <a:lnSpc>
                <a:spcPct val="140000"/>
              </a:lnSpc>
            </a:pPr>
            <a:r>
              <a:rPr lang="en-US" sz="1200" dirty="0">
                <a:solidFill>
                  <a:srgbClr val="BABABA"/>
                </a:solidFill>
                <a:latin typeface="Liter" pitchFamily="34" charset="0"/>
                <a:ea typeface="Liter" pitchFamily="34" charset="-122"/>
                <a:cs typeface="Liter" pitchFamily="34" charset="-120"/>
              </a:rPr>
              <a:t> per origin IP, while IPv6 has ~50,000x capacity of IPv4~50,000x capacity of IPv4 config, using two /64 prefixes for all Aegis customers, allowing for vast scaling</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66126" y="366126"/>
            <a:ext cx="11532973" cy="219676"/>
          </a:xfrm>
          <a:prstGeom prst="rect">
            <a:avLst/>
          </a:prstGeom>
          <a:noFill/>
          <a:ln/>
        </p:spPr>
        <p:txBody>
          <a:bodyPr wrap="square" lIns="0" tIns="0" rIns="0" bIns="0" rtlCol="0" anchor="ctr"/>
          <a:lstStyle/>
          <a:p>
            <a:pPr>
              <a:lnSpc>
                <a:spcPct val="130000"/>
              </a:lnSpc>
            </a:pPr>
            <a:r>
              <a:rPr lang="en-US" sz="1153" b="1" spc="58" kern="0" dirty="0">
                <a:solidFill>
                  <a:srgbClr val="F47C20"/>
                </a:solidFill>
                <a:latin typeface="Liter" pitchFamily="34" charset="0"/>
                <a:ea typeface="Liter" pitchFamily="34" charset="-122"/>
                <a:cs typeface="Liter" pitchFamily="34" charset="-120"/>
              </a:rPr>
              <a:t>AEGIS CONFIGURATION</a:t>
            </a:r>
            <a:endParaRPr lang="en-US" sz="1600" dirty="0"/>
          </a:p>
        </p:txBody>
      </p:sp>
      <p:sp>
        <p:nvSpPr>
          <p:cNvPr id="3" name="Text 1"/>
          <p:cNvSpPr/>
          <p:nvPr/>
        </p:nvSpPr>
        <p:spPr>
          <a:xfrm>
            <a:off x="366126" y="659027"/>
            <a:ext cx="11624505" cy="366126"/>
          </a:xfrm>
          <a:prstGeom prst="rect">
            <a:avLst/>
          </a:prstGeom>
          <a:noFill/>
          <a:ln/>
        </p:spPr>
        <p:txBody>
          <a:bodyPr wrap="square" lIns="0" tIns="0" rIns="0" bIns="0" rtlCol="0" anchor="ctr"/>
          <a:lstStyle/>
          <a:p>
            <a:pPr>
              <a:lnSpc>
                <a:spcPct val="90000"/>
              </a:lnSpc>
            </a:pPr>
            <a:r>
              <a:rPr lang="en-US" sz="2595" b="1" dirty="0">
                <a:solidFill>
                  <a:srgbClr val="E8EAED"/>
                </a:solidFill>
                <a:latin typeface="Liter" pitchFamily="34" charset="0"/>
                <a:ea typeface="Liter" pitchFamily="34" charset="-122"/>
                <a:cs typeface="Liter" pitchFamily="34" charset="-120"/>
              </a:rPr>
              <a:t>IPv4 vs IPv6: Key Differences</a:t>
            </a:r>
            <a:endParaRPr lang="en-US" sz="1600" dirty="0"/>
          </a:p>
        </p:txBody>
      </p:sp>
      <p:sp>
        <p:nvSpPr>
          <p:cNvPr id="4" name="Shape 2"/>
          <p:cNvSpPr/>
          <p:nvPr/>
        </p:nvSpPr>
        <p:spPr>
          <a:xfrm>
            <a:off x="369787" y="1175265"/>
            <a:ext cx="11448764" cy="3467214"/>
          </a:xfrm>
          <a:custGeom>
            <a:avLst/>
            <a:gdLst/>
            <a:ahLst/>
            <a:cxnLst/>
            <a:rect l="l" t="t" r="r" b="b"/>
            <a:pathLst>
              <a:path w="11448764" h="3467214">
                <a:moveTo>
                  <a:pt x="109841" y="0"/>
                </a:moveTo>
                <a:lnTo>
                  <a:pt x="11338923" y="0"/>
                </a:lnTo>
                <a:cubicBezTo>
                  <a:pt x="11399586" y="0"/>
                  <a:pt x="11448764" y="49178"/>
                  <a:pt x="11448764" y="109841"/>
                </a:cubicBezTo>
                <a:lnTo>
                  <a:pt x="11448764" y="3357373"/>
                </a:lnTo>
                <a:cubicBezTo>
                  <a:pt x="11448764" y="3418037"/>
                  <a:pt x="11399586" y="3467214"/>
                  <a:pt x="11338923" y="3467214"/>
                </a:cubicBezTo>
                <a:lnTo>
                  <a:pt x="109841" y="3467214"/>
                </a:lnTo>
                <a:cubicBezTo>
                  <a:pt x="49178" y="3467214"/>
                  <a:pt x="0" y="3418037"/>
                  <a:pt x="0" y="3357373"/>
                </a:cubicBezTo>
                <a:lnTo>
                  <a:pt x="0" y="109841"/>
                </a:lnTo>
                <a:cubicBezTo>
                  <a:pt x="0" y="49218"/>
                  <a:pt x="49218" y="0"/>
                  <a:pt x="109841" y="0"/>
                </a:cubicBezTo>
                <a:close/>
              </a:path>
            </a:pathLst>
          </a:custGeom>
          <a:solidFill>
            <a:srgbClr val="48515E">
              <a:alpha val="20000"/>
            </a:srgbClr>
          </a:solidFill>
          <a:ln w="10160">
            <a:solidFill>
              <a:srgbClr val="48515E">
                <a:alpha val="40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19899" y="1325377"/>
          <a:ext cx="11148541" cy="3166991"/>
        </p:xfrm>
        <a:graphic>
          <a:graphicData uri="http://schemas.openxmlformats.org/drawingml/2006/table">
            <a:tbl>
              <a:tblPr/>
              <a:tblGrid>
                <a:gridCol w="2864937"/>
                <a:gridCol w="4356901"/>
                <a:gridCol w="3926703"/>
              </a:tblGrid>
              <a:tr h="452427">
                <a:tc>
                  <a:txBody>
                    <a:bodyPr/>
                    <a:lstStyle/>
                    <a:p>
                      <a:pPr algn="l"/>
                      <a:r>
                        <a:rPr lang="en-US" sz="1200" b="1" u="none" dirty="0">
                          <a:solidFill>
                            <a:srgbClr val="E8EAED"/>
                          </a:solidFill>
                          <a:latin typeface="微软雅黑" pitchFamily="34" charset="0"/>
                          <a:ea typeface="微软雅黑" pitchFamily="34" charset="-122"/>
                          <a:cs typeface="微软雅黑" pitchFamily="34" charset="-120"/>
                        </a:rPr>
                        <a:t>Feature</a:t>
                      </a:r>
                      <a:endParaRPr lang="en-US" sz="12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c>
                  <a:txBody>
                    <a:bodyPr/>
                    <a:lstStyle/>
                    <a:p>
                      <a:pPr algn="l"/>
                      <a:r>
                        <a:rPr lang="en-US" sz="1200" b="1" u="none" dirty="0">
                          <a:solidFill>
                            <a:srgbClr val="F47C20"/>
                          </a:solidFill>
                          <a:latin typeface="微软雅黑" pitchFamily="34" charset="0"/>
                          <a:ea typeface="微软雅黑" pitchFamily="34" charset="-122"/>
                          <a:cs typeface="微软雅黑" pitchFamily="34" charset="-120"/>
                        </a:rPr>
                        <a:t>Aegis IPv4</a:t>
                      </a:r>
                      <a:endParaRPr lang="en-US" sz="12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c>
                  <a:txBody>
                    <a:bodyPr/>
                    <a:lstStyle/>
                    <a:p>
                      <a:pPr algn="l"/>
                      <a:r>
                        <a:rPr lang="en-US" sz="1200" b="1" u="none" dirty="0">
                          <a:solidFill>
                            <a:srgbClr val="00A4E0"/>
                          </a:solidFill>
                          <a:latin typeface="微软雅黑" pitchFamily="34" charset="0"/>
                          <a:ea typeface="微软雅黑" pitchFamily="34" charset="-122"/>
                          <a:cs typeface="微软雅黑" pitchFamily="34" charset="-120"/>
                        </a:rPr>
                        <a:t>Aegis IPv6</a:t>
                      </a:r>
                      <a:endParaRPr lang="en-US" sz="12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r>
              <a:tr h="452427">
                <a:tc>
                  <a:txBody>
                    <a:bodyPr/>
                    <a:lstStyle/>
                    <a:p>
                      <a:r>
                        <a:rPr lang="en-US" sz="1100" b="1" u="none" dirty="0">
                          <a:solidFill>
                            <a:srgbClr val="E8EAED"/>
                          </a:solidFill>
                          <a:latin typeface="微软雅黑" pitchFamily="34" charset="0"/>
                          <a:ea typeface="微软雅黑" pitchFamily="34" charset="-122"/>
                          <a:cs typeface="微软雅黑" pitchFamily="34" charset="-120"/>
                        </a:rPr>
                        <a:t>Physical Egress Points</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8EAED"/>
                          </a:solidFill>
                          <a:latin typeface="微软雅黑" pitchFamily="34" charset="0"/>
                          <a:ea typeface="微软雅黑" pitchFamily="34" charset="-122"/>
                          <a:cs typeface="微软雅黑" pitchFamily="34" charset="-120"/>
                        </a:rPr>
                        <a:t>4 data centers per IP (1-2 cities)</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8EAED"/>
                          </a:solidFill>
                          <a:latin typeface="微软雅黑" pitchFamily="34" charset="0"/>
                          <a:ea typeface="微软雅黑" pitchFamily="34" charset="-122"/>
                          <a:cs typeface="微软雅黑" pitchFamily="34" charset="-120"/>
                        </a:rPr>
                        <a:t>300+ locations globally</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452427">
                <a:tc>
                  <a:txBody>
                    <a:bodyPr/>
                    <a:lstStyle/>
                    <a:p>
                      <a:r>
                        <a:rPr lang="en-US" sz="1100" b="1" u="none" dirty="0">
                          <a:solidFill>
                            <a:srgbClr val="E8EAED"/>
                          </a:solidFill>
                          <a:latin typeface="微软雅黑" pitchFamily="34" charset="0"/>
                          <a:ea typeface="微软雅黑" pitchFamily="34" charset="-122"/>
                          <a:cs typeface="微软雅黑" pitchFamily="34" charset="-120"/>
                        </a:rPr>
                        <a:t>IP Allocation</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8EAED"/>
                          </a:solidFill>
                          <a:latin typeface="微软雅黑" pitchFamily="34" charset="0"/>
                          <a:ea typeface="微软雅黑" pitchFamily="34" charset="-122"/>
                          <a:cs typeface="微软雅黑" pitchFamily="34" charset="-120"/>
                        </a:rPr>
                        <a:t>Custom number (typically 2-4 IPs)</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8EAED"/>
                          </a:solidFill>
                          <a:latin typeface="微软雅黑" pitchFamily="34" charset="0"/>
                          <a:ea typeface="微软雅黑" pitchFamily="34" charset="-122"/>
                          <a:cs typeface="微软雅黑" pitchFamily="34" charset="-120"/>
                        </a:rPr>
                        <a:t>Two /64 prefixes (all customers)</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452427">
                <a:tc>
                  <a:txBody>
                    <a:bodyPr/>
                    <a:lstStyle/>
                    <a:p>
                      <a:r>
                        <a:rPr lang="en-US" sz="1100" b="1" u="none" dirty="0">
                          <a:solidFill>
                            <a:srgbClr val="E8EAED"/>
                          </a:solidFill>
                          <a:latin typeface="微软雅黑" pitchFamily="34" charset="0"/>
                          <a:ea typeface="微软雅黑" pitchFamily="34" charset="-122"/>
                          <a:cs typeface="微软雅黑" pitchFamily="34" charset="-120"/>
                        </a:rPr>
                        <a:t>Total Capacity</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8EAED"/>
                          </a:solidFill>
                          <a:latin typeface="微软雅黑" pitchFamily="34" charset="0"/>
                          <a:ea typeface="微软雅黑" pitchFamily="34" charset="-122"/>
                          <a:cs typeface="微软雅黑" pitchFamily="34" charset="-120"/>
                        </a:rPr>
                        <a:t>40,000 connections per IP per origin</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8EAED"/>
                          </a:solidFill>
                          <a:latin typeface="微软雅黑" pitchFamily="34" charset="0"/>
                          <a:ea typeface="微软雅黑" pitchFamily="34" charset="-122"/>
                          <a:cs typeface="微软雅黑" pitchFamily="34" charset="-120"/>
                        </a:rPr>
                        <a:t>~50,000x IPv4 capacity</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452427">
                <a:tc>
                  <a:txBody>
                    <a:bodyPr/>
                    <a:lstStyle/>
                    <a:p>
                      <a:r>
                        <a:rPr lang="en-US" sz="1100" b="1" u="none" dirty="0">
                          <a:solidFill>
                            <a:srgbClr val="E8EAED"/>
                          </a:solidFill>
                          <a:latin typeface="微软雅黑" pitchFamily="34" charset="0"/>
                          <a:ea typeface="微软雅黑" pitchFamily="34" charset="-122"/>
                          <a:cs typeface="微软雅黑" pitchFamily="34" charset="-120"/>
                        </a:rPr>
                        <a:t>Pricing Model</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8EAED"/>
                          </a:solidFill>
                          <a:latin typeface="微软雅黑" pitchFamily="34" charset="0"/>
                          <a:ea typeface="微软雅黑" pitchFamily="34" charset="-122"/>
                          <a:cs typeface="微软雅黑" pitchFamily="34" charset="-120"/>
                        </a:rPr>
                        <a:t>Monthly fee per IP or BYOIP</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8EAED"/>
                          </a:solidFill>
                          <a:latin typeface="微软雅黑" pitchFamily="34" charset="0"/>
                          <a:ea typeface="微软雅黑" pitchFamily="34" charset="-122"/>
                          <a:cs typeface="微软雅黑" pitchFamily="34" charset="-120"/>
                        </a:rPr>
                        <a:t>Included with product or BYOIP</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452427">
                <a:tc>
                  <a:txBody>
                    <a:bodyPr/>
                    <a:lstStyle/>
                    <a:p>
                      <a:r>
                        <a:rPr lang="en-US" sz="1100" b="1" u="none" dirty="0">
                          <a:solidFill>
                            <a:srgbClr val="E8EAED"/>
                          </a:solidFill>
                          <a:latin typeface="微软雅黑" pitchFamily="34" charset="0"/>
                          <a:ea typeface="微软雅黑" pitchFamily="34" charset="-122"/>
                          <a:cs typeface="微软雅黑" pitchFamily="34" charset="-120"/>
                        </a:rPr>
                        <a:t>Performance</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8EAED"/>
                          </a:solidFill>
                          <a:latin typeface="微软雅黑" pitchFamily="34" charset="0"/>
                          <a:ea typeface="微软雅黑" pitchFamily="34" charset="-122"/>
                          <a:cs typeface="微软雅黑" pitchFamily="34" charset="-120"/>
                        </a:rPr>
                        <a:t>Possible extra hop to Aegis DC</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E8EAED"/>
                          </a:solidFill>
                          <a:latin typeface="微软雅黑" pitchFamily="34" charset="0"/>
                          <a:ea typeface="微软雅黑" pitchFamily="34" charset="-122"/>
                          <a:cs typeface="微软雅黑" pitchFamily="34" charset="-120"/>
                        </a:rPr>
                        <a:t>Optimal - all DCs enabled</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452427">
                <a:tc>
                  <a:txBody>
                    <a:bodyPr/>
                    <a:lstStyle/>
                    <a:p>
                      <a:r>
                        <a:rPr lang="en-US" sz="1100" b="1" u="none" dirty="0">
                          <a:solidFill>
                            <a:srgbClr val="E8EAED"/>
                          </a:solidFill>
                          <a:latin typeface="微软雅黑" pitchFamily="34" charset="0"/>
                          <a:ea typeface="微软雅黑" pitchFamily="34" charset="-122"/>
                          <a:cs typeface="微软雅黑" pitchFamily="34" charset="-120"/>
                        </a:rPr>
                        <a:t>Resiliency</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1100" u="none" dirty="0">
                          <a:solidFill>
                            <a:srgbClr val="E8EAED"/>
                          </a:solidFill>
                          <a:latin typeface="微软雅黑" pitchFamily="34" charset="0"/>
                          <a:ea typeface="微软雅黑" pitchFamily="34" charset="-122"/>
                          <a:cs typeface="微软雅黑" pitchFamily="34" charset="-120"/>
                        </a:rPr>
                        <a:t>Good (requires 2+ IPs)</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1100" u="none" dirty="0">
                          <a:solidFill>
                            <a:srgbClr val="E8EAED"/>
                          </a:solidFill>
                          <a:latin typeface="微软雅黑" pitchFamily="34" charset="0"/>
                          <a:ea typeface="微软雅黑" pitchFamily="34" charset="-122"/>
                          <a:cs typeface="微软雅黑" pitchFamily="34" charset="-120"/>
                        </a:rPr>
                        <a:t>Excellent (global coverage)</a:t>
                      </a:r>
                      <a:endParaRPr lang="en-US" sz="1100" dirty="0">
                        <a:latin typeface="微软雅黑" charset="0"/>
                        <a:ea typeface="微软雅黑" charset="0"/>
                        <a:cs typeface="微软雅黑" charset="0"/>
                      </a:endParaRPr>
                    </a:p>
                  </a:txBody>
                  <a:tcPr marL="146450" marR="146450" marT="109838" marB="109838"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Shape 3"/>
          <p:cNvSpPr/>
          <p:nvPr/>
        </p:nvSpPr>
        <p:spPr>
          <a:xfrm>
            <a:off x="369787" y="4792591"/>
            <a:ext cx="5645665" cy="2057629"/>
          </a:xfrm>
          <a:custGeom>
            <a:avLst/>
            <a:gdLst/>
            <a:ahLst/>
            <a:cxnLst/>
            <a:rect l="l" t="t" r="r" b="b"/>
            <a:pathLst>
              <a:path w="5645665" h="2057629">
                <a:moveTo>
                  <a:pt x="109836" y="0"/>
                </a:moveTo>
                <a:lnTo>
                  <a:pt x="5535829" y="0"/>
                </a:lnTo>
                <a:cubicBezTo>
                  <a:pt x="5596490" y="0"/>
                  <a:pt x="5645665" y="49175"/>
                  <a:pt x="5645665" y="109836"/>
                </a:cubicBezTo>
                <a:lnTo>
                  <a:pt x="5645665" y="1947793"/>
                </a:lnTo>
                <a:cubicBezTo>
                  <a:pt x="5645665" y="2008453"/>
                  <a:pt x="5596490" y="2057629"/>
                  <a:pt x="5535829" y="2057629"/>
                </a:cubicBezTo>
                <a:lnTo>
                  <a:pt x="109836" y="2057629"/>
                </a:lnTo>
                <a:cubicBezTo>
                  <a:pt x="49175" y="2057629"/>
                  <a:pt x="0" y="2008453"/>
                  <a:pt x="0" y="1947793"/>
                </a:cubicBezTo>
                <a:lnTo>
                  <a:pt x="0" y="109836"/>
                </a:lnTo>
                <a:cubicBezTo>
                  <a:pt x="0" y="49216"/>
                  <a:pt x="49216" y="0"/>
                  <a:pt x="109836" y="0"/>
                </a:cubicBezTo>
                <a:close/>
              </a:path>
            </a:pathLst>
          </a:custGeom>
          <a:solidFill>
            <a:srgbClr val="F47C20">
              <a:alpha val="10196"/>
            </a:srgbClr>
          </a:solidFill>
          <a:ln w="10160">
            <a:solidFill>
              <a:srgbClr val="F47C20">
                <a:alpha val="30196"/>
              </a:srgbClr>
            </a:solidFill>
            <a:prstDash val="solid"/>
          </a:ln>
        </p:spPr>
      </p:sp>
      <p:sp>
        <p:nvSpPr>
          <p:cNvPr id="7" name="Shape 4"/>
          <p:cNvSpPr/>
          <p:nvPr/>
        </p:nvSpPr>
        <p:spPr>
          <a:xfrm>
            <a:off x="542782" y="4979315"/>
            <a:ext cx="183063" cy="183063"/>
          </a:xfrm>
          <a:custGeom>
            <a:avLst/>
            <a:gdLst/>
            <a:ahLst/>
            <a:cxnLst/>
            <a:rect l="l" t="t" r="r" b="b"/>
            <a:pathLst>
              <a:path w="183063" h="183063">
                <a:moveTo>
                  <a:pt x="91532" y="0"/>
                </a:moveTo>
                <a:cubicBezTo>
                  <a:pt x="96787" y="0"/>
                  <a:pt x="101614" y="2896"/>
                  <a:pt x="104117" y="7508"/>
                </a:cubicBezTo>
                <a:lnTo>
                  <a:pt x="181347" y="150526"/>
                </a:lnTo>
                <a:cubicBezTo>
                  <a:pt x="183742" y="154960"/>
                  <a:pt x="183635" y="160323"/>
                  <a:pt x="181061" y="164649"/>
                </a:cubicBezTo>
                <a:cubicBezTo>
                  <a:pt x="178486" y="168976"/>
                  <a:pt x="173803" y="171622"/>
                  <a:pt x="168761" y="171622"/>
                </a:cubicBezTo>
                <a:lnTo>
                  <a:pt x="14302" y="171622"/>
                </a:lnTo>
                <a:cubicBezTo>
                  <a:pt x="9260" y="171622"/>
                  <a:pt x="4612" y="168976"/>
                  <a:pt x="2002" y="164649"/>
                </a:cubicBezTo>
                <a:cubicBezTo>
                  <a:pt x="-608" y="160323"/>
                  <a:pt x="-679" y="154960"/>
                  <a:pt x="1716" y="150526"/>
                </a:cubicBezTo>
                <a:lnTo>
                  <a:pt x="78946" y="7508"/>
                </a:lnTo>
                <a:cubicBezTo>
                  <a:pt x="81449" y="2896"/>
                  <a:pt x="86276" y="0"/>
                  <a:pt x="91532" y="0"/>
                </a:cubicBezTo>
                <a:close/>
                <a:moveTo>
                  <a:pt x="91532" y="60068"/>
                </a:moveTo>
                <a:cubicBezTo>
                  <a:pt x="86776" y="60068"/>
                  <a:pt x="82950" y="63893"/>
                  <a:pt x="82950" y="68649"/>
                </a:cubicBezTo>
                <a:lnTo>
                  <a:pt x="82950" y="108694"/>
                </a:lnTo>
                <a:cubicBezTo>
                  <a:pt x="82950" y="113449"/>
                  <a:pt x="86776" y="117275"/>
                  <a:pt x="91532" y="117275"/>
                </a:cubicBezTo>
                <a:cubicBezTo>
                  <a:pt x="96287" y="117275"/>
                  <a:pt x="100113" y="113449"/>
                  <a:pt x="100113" y="108694"/>
                </a:cubicBezTo>
                <a:lnTo>
                  <a:pt x="100113" y="68649"/>
                </a:lnTo>
                <a:cubicBezTo>
                  <a:pt x="100113" y="63893"/>
                  <a:pt x="96287" y="60068"/>
                  <a:pt x="91532" y="60068"/>
                </a:cubicBezTo>
                <a:close/>
                <a:moveTo>
                  <a:pt x="101078" y="137297"/>
                </a:moveTo>
                <a:cubicBezTo>
                  <a:pt x="101295" y="133754"/>
                  <a:pt x="99528" y="130382"/>
                  <a:pt x="96490" y="128545"/>
                </a:cubicBezTo>
                <a:cubicBezTo>
                  <a:pt x="93453" y="126708"/>
                  <a:pt x="89646" y="126708"/>
                  <a:pt x="86609" y="128545"/>
                </a:cubicBezTo>
                <a:cubicBezTo>
                  <a:pt x="83571" y="130382"/>
                  <a:pt x="81804" y="133754"/>
                  <a:pt x="82021" y="137297"/>
                </a:cubicBezTo>
                <a:cubicBezTo>
                  <a:pt x="81804" y="140841"/>
                  <a:pt x="83571" y="144212"/>
                  <a:pt x="86609" y="146050"/>
                </a:cubicBezTo>
                <a:cubicBezTo>
                  <a:pt x="89646" y="147887"/>
                  <a:pt x="93453" y="147887"/>
                  <a:pt x="96490" y="146050"/>
                </a:cubicBezTo>
                <a:cubicBezTo>
                  <a:pt x="99528" y="144212"/>
                  <a:pt x="101295" y="140841"/>
                  <a:pt x="101078" y="137297"/>
                </a:cubicBezTo>
                <a:close/>
              </a:path>
            </a:pathLst>
          </a:custGeom>
          <a:solidFill>
            <a:srgbClr val="F47C20"/>
          </a:solidFill>
          <a:ln/>
        </p:spPr>
      </p:sp>
      <p:sp>
        <p:nvSpPr>
          <p:cNvPr id="8" name="Text 5"/>
          <p:cNvSpPr/>
          <p:nvPr/>
        </p:nvSpPr>
        <p:spPr>
          <a:xfrm>
            <a:off x="858566" y="4942703"/>
            <a:ext cx="1537730" cy="256288"/>
          </a:xfrm>
          <a:prstGeom prst="rect">
            <a:avLst/>
          </a:prstGeom>
          <a:noFill/>
          <a:ln/>
        </p:spPr>
        <p:txBody>
          <a:bodyPr wrap="square" lIns="0" tIns="0" rIns="0" bIns="0" rtlCol="0" anchor="ctr"/>
          <a:lstStyle/>
          <a:p>
            <a:pPr>
              <a:lnSpc>
                <a:spcPct val="130000"/>
              </a:lnSpc>
            </a:pPr>
            <a:r>
              <a:rPr lang="en-US" sz="1297" b="1" dirty="0">
                <a:solidFill>
                  <a:srgbClr val="E8EAED"/>
                </a:solidFill>
                <a:latin typeface="Liter" pitchFamily="34" charset="0"/>
                <a:ea typeface="Liter" pitchFamily="34" charset="-122"/>
                <a:cs typeface="Liter" pitchFamily="34" charset="-120"/>
              </a:rPr>
              <a:t>IPv4 Considerations</a:t>
            </a:r>
            <a:endParaRPr lang="en-US" sz="1600" dirty="0"/>
          </a:p>
        </p:txBody>
      </p:sp>
      <p:sp>
        <p:nvSpPr>
          <p:cNvPr id="9" name="Shape 6"/>
          <p:cNvSpPr/>
          <p:nvPr/>
        </p:nvSpPr>
        <p:spPr>
          <a:xfrm>
            <a:off x="574818" y="5345441"/>
            <a:ext cx="73225" cy="146450"/>
          </a:xfrm>
          <a:custGeom>
            <a:avLst/>
            <a:gdLst/>
            <a:ahLst/>
            <a:cxnLst/>
            <a:rect l="l" t="t" r="r" b="b"/>
            <a:pathLst>
              <a:path w="73225" h="146450">
                <a:moveTo>
                  <a:pt x="70680" y="66761"/>
                </a:moveTo>
                <a:cubicBezTo>
                  <a:pt x="74255" y="70336"/>
                  <a:pt x="74255" y="76143"/>
                  <a:pt x="70680" y="79718"/>
                </a:cubicBezTo>
                <a:lnTo>
                  <a:pt x="24914" y="125484"/>
                </a:lnTo>
                <a:cubicBezTo>
                  <a:pt x="21338" y="129059"/>
                  <a:pt x="15532" y="129059"/>
                  <a:pt x="11956" y="125484"/>
                </a:cubicBezTo>
                <a:cubicBezTo>
                  <a:pt x="8381" y="121909"/>
                  <a:pt x="8381" y="116102"/>
                  <a:pt x="11956" y="112527"/>
                </a:cubicBezTo>
                <a:lnTo>
                  <a:pt x="51258" y="73225"/>
                </a:lnTo>
                <a:lnTo>
                  <a:pt x="11985" y="33924"/>
                </a:lnTo>
                <a:cubicBezTo>
                  <a:pt x="8409" y="30348"/>
                  <a:pt x="8409" y="24542"/>
                  <a:pt x="11985" y="20966"/>
                </a:cubicBezTo>
                <a:cubicBezTo>
                  <a:pt x="15560" y="17391"/>
                  <a:pt x="21367" y="17391"/>
                  <a:pt x="24942" y="20966"/>
                </a:cubicBezTo>
                <a:lnTo>
                  <a:pt x="70708" y="66732"/>
                </a:lnTo>
                <a:close/>
              </a:path>
            </a:pathLst>
          </a:custGeom>
          <a:solidFill>
            <a:srgbClr val="F47C20"/>
          </a:solidFill>
          <a:ln/>
        </p:spPr>
      </p:sp>
      <p:sp>
        <p:nvSpPr>
          <p:cNvPr id="10" name="Text 7"/>
          <p:cNvSpPr/>
          <p:nvPr/>
        </p:nvSpPr>
        <p:spPr>
          <a:xfrm>
            <a:off x="776187" y="5308829"/>
            <a:ext cx="3505658" cy="219676"/>
          </a:xfrm>
          <a:prstGeom prst="rect">
            <a:avLst/>
          </a:prstGeom>
          <a:noFill/>
          <a:ln/>
        </p:spPr>
        <p:txBody>
          <a:bodyPr wrap="square" lIns="0" tIns="0" rIns="0" bIns="0" rtlCol="0" anchor="ctr"/>
          <a:lstStyle/>
          <a:p>
            <a:pPr>
              <a:lnSpc>
                <a:spcPct val="130000"/>
              </a:lnSpc>
            </a:pPr>
            <a:r>
              <a:rPr lang="en-US" sz="1153" dirty="0">
                <a:solidFill>
                  <a:srgbClr val="E8EAED">
                    <a:alpha val="80000"/>
                  </a:srgbClr>
                </a:solidFill>
                <a:latin typeface="Liter" pitchFamily="34" charset="0"/>
                <a:ea typeface="Liter" pitchFamily="34" charset="-122"/>
                <a:cs typeface="Liter" pitchFamily="34" charset="-120"/>
              </a:rPr>
              <a:t>Work with account team to place IPs near your origins</a:t>
            </a:r>
            <a:endParaRPr lang="en-US" sz="1600" dirty="0"/>
          </a:p>
        </p:txBody>
      </p:sp>
      <p:sp>
        <p:nvSpPr>
          <p:cNvPr id="11" name="Shape 8"/>
          <p:cNvSpPr/>
          <p:nvPr/>
        </p:nvSpPr>
        <p:spPr>
          <a:xfrm>
            <a:off x="574818" y="5638342"/>
            <a:ext cx="73225" cy="146450"/>
          </a:xfrm>
          <a:custGeom>
            <a:avLst/>
            <a:gdLst/>
            <a:ahLst/>
            <a:cxnLst/>
            <a:rect l="l" t="t" r="r" b="b"/>
            <a:pathLst>
              <a:path w="73225" h="146450">
                <a:moveTo>
                  <a:pt x="70680" y="66761"/>
                </a:moveTo>
                <a:cubicBezTo>
                  <a:pt x="74255" y="70336"/>
                  <a:pt x="74255" y="76143"/>
                  <a:pt x="70680" y="79718"/>
                </a:cubicBezTo>
                <a:lnTo>
                  <a:pt x="24914" y="125484"/>
                </a:lnTo>
                <a:cubicBezTo>
                  <a:pt x="21338" y="129059"/>
                  <a:pt x="15532" y="129059"/>
                  <a:pt x="11956" y="125484"/>
                </a:cubicBezTo>
                <a:cubicBezTo>
                  <a:pt x="8381" y="121909"/>
                  <a:pt x="8381" y="116102"/>
                  <a:pt x="11956" y="112527"/>
                </a:cubicBezTo>
                <a:lnTo>
                  <a:pt x="51258" y="73225"/>
                </a:lnTo>
                <a:lnTo>
                  <a:pt x="11985" y="33924"/>
                </a:lnTo>
                <a:cubicBezTo>
                  <a:pt x="8409" y="30348"/>
                  <a:pt x="8409" y="24542"/>
                  <a:pt x="11985" y="20966"/>
                </a:cubicBezTo>
                <a:cubicBezTo>
                  <a:pt x="15560" y="17391"/>
                  <a:pt x="21367" y="17391"/>
                  <a:pt x="24942" y="20966"/>
                </a:cubicBezTo>
                <a:lnTo>
                  <a:pt x="70708" y="66732"/>
                </a:lnTo>
                <a:close/>
              </a:path>
            </a:pathLst>
          </a:custGeom>
          <a:solidFill>
            <a:srgbClr val="F47C20"/>
          </a:solidFill>
          <a:ln/>
        </p:spPr>
      </p:sp>
      <p:sp>
        <p:nvSpPr>
          <p:cNvPr id="12" name="Text 9"/>
          <p:cNvSpPr/>
          <p:nvPr/>
        </p:nvSpPr>
        <p:spPr>
          <a:xfrm>
            <a:off x="776187" y="5601730"/>
            <a:ext cx="3386667" cy="219676"/>
          </a:xfrm>
          <a:prstGeom prst="rect">
            <a:avLst/>
          </a:prstGeom>
          <a:noFill/>
          <a:ln/>
        </p:spPr>
        <p:txBody>
          <a:bodyPr wrap="square" lIns="0" tIns="0" rIns="0" bIns="0" rtlCol="0" anchor="ctr"/>
          <a:lstStyle/>
          <a:p>
            <a:pPr>
              <a:lnSpc>
                <a:spcPct val="130000"/>
              </a:lnSpc>
            </a:pPr>
            <a:r>
              <a:rPr lang="en-US" sz="1153" dirty="0">
                <a:solidFill>
                  <a:srgbClr val="E8EAED">
                    <a:alpha val="80000"/>
                  </a:srgbClr>
                </a:solidFill>
                <a:latin typeface="Liter" pitchFamily="34" charset="0"/>
                <a:ea typeface="Liter" pitchFamily="34" charset="-122"/>
                <a:cs typeface="Liter" pitchFamily="34" charset="-120"/>
              </a:rPr>
              <a:t>Each IP can be announced from up to 4 data centers</a:t>
            </a:r>
            <a:endParaRPr lang="en-US" sz="1600" dirty="0"/>
          </a:p>
        </p:txBody>
      </p:sp>
      <p:sp>
        <p:nvSpPr>
          <p:cNvPr id="13" name="Shape 10"/>
          <p:cNvSpPr/>
          <p:nvPr/>
        </p:nvSpPr>
        <p:spPr>
          <a:xfrm>
            <a:off x="574818" y="5931243"/>
            <a:ext cx="73225" cy="146450"/>
          </a:xfrm>
          <a:custGeom>
            <a:avLst/>
            <a:gdLst/>
            <a:ahLst/>
            <a:cxnLst/>
            <a:rect l="l" t="t" r="r" b="b"/>
            <a:pathLst>
              <a:path w="73225" h="146450">
                <a:moveTo>
                  <a:pt x="70680" y="66761"/>
                </a:moveTo>
                <a:cubicBezTo>
                  <a:pt x="74255" y="70336"/>
                  <a:pt x="74255" y="76143"/>
                  <a:pt x="70680" y="79718"/>
                </a:cubicBezTo>
                <a:lnTo>
                  <a:pt x="24914" y="125484"/>
                </a:lnTo>
                <a:cubicBezTo>
                  <a:pt x="21338" y="129059"/>
                  <a:pt x="15532" y="129059"/>
                  <a:pt x="11956" y="125484"/>
                </a:cubicBezTo>
                <a:cubicBezTo>
                  <a:pt x="8381" y="121909"/>
                  <a:pt x="8381" y="116102"/>
                  <a:pt x="11956" y="112527"/>
                </a:cubicBezTo>
                <a:lnTo>
                  <a:pt x="51258" y="73225"/>
                </a:lnTo>
                <a:lnTo>
                  <a:pt x="11985" y="33924"/>
                </a:lnTo>
                <a:cubicBezTo>
                  <a:pt x="8409" y="30348"/>
                  <a:pt x="8409" y="24542"/>
                  <a:pt x="11985" y="20966"/>
                </a:cubicBezTo>
                <a:cubicBezTo>
                  <a:pt x="15560" y="17391"/>
                  <a:pt x="21367" y="17391"/>
                  <a:pt x="24942" y="20966"/>
                </a:cubicBezTo>
                <a:lnTo>
                  <a:pt x="70708" y="66732"/>
                </a:lnTo>
                <a:close/>
              </a:path>
            </a:pathLst>
          </a:custGeom>
          <a:solidFill>
            <a:srgbClr val="F47C20"/>
          </a:solidFill>
          <a:ln/>
        </p:spPr>
      </p:sp>
      <p:sp>
        <p:nvSpPr>
          <p:cNvPr id="14" name="Text 11"/>
          <p:cNvSpPr/>
          <p:nvPr/>
        </p:nvSpPr>
        <p:spPr>
          <a:xfrm>
            <a:off x="776187" y="5894631"/>
            <a:ext cx="3139532" cy="219676"/>
          </a:xfrm>
          <a:prstGeom prst="rect">
            <a:avLst/>
          </a:prstGeom>
          <a:noFill/>
          <a:ln/>
        </p:spPr>
        <p:txBody>
          <a:bodyPr wrap="square" lIns="0" tIns="0" rIns="0" bIns="0" rtlCol="0" anchor="ctr"/>
          <a:lstStyle/>
          <a:p>
            <a:pPr>
              <a:lnSpc>
                <a:spcPct val="130000"/>
              </a:lnSpc>
            </a:pPr>
            <a:r>
              <a:rPr lang="en-US" sz="1153" dirty="0">
                <a:solidFill>
                  <a:srgbClr val="E8EAED">
                    <a:alpha val="80000"/>
                  </a:srgbClr>
                </a:solidFill>
                <a:latin typeface="Liter" pitchFamily="34" charset="0"/>
                <a:ea typeface="Liter" pitchFamily="34" charset="-122"/>
                <a:cs typeface="Liter" pitchFamily="34" charset="-120"/>
              </a:rPr>
              <a:t>Port range slicing enables multi-DC deployment</a:t>
            </a:r>
            <a:endParaRPr lang="en-US" sz="1600" dirty="0"/>
          </a:p>
        </p:txBody>
      </p:sp>
      <p:sp>
        <p:nvSpPr>
          <p:cNvPr id="15" name="Shape 12"/>
          <p:cNvSpPr/>
          <p:nvPr/>
        </p:nvSpPr>
        <p:spPr>
          <a:xfrm>
            <a:off x="574818" y="6224144"/>
            <a:ext cx="73225" cy="146450"/>
          </a:xfrm>
          <a:custGeom>
            <a:avLst/>
            <a:gdLst/>
            <a:ahLst/>
            <a:cxnLst/>
            <a:rect l="l" t="t" r="r" b="b"/>
            <a:pathLst>
              <a:path w="73225" h="146450">
                <a:moveTo>
                  <a:pt x="70680" y="66761"/>
                </a:moveTo>
                <a:cubicBezTo>
                  <a:pt x="74255" y="70336"/>
                  <a:pt x="74255" y="76143"/>
                  <a:pt x="70680" y="79718"/>
                </a:cubicBezTo>
                <a:lnTo>
                  <a:pt x="24914" y="125484"/>
                </a:lnTo>
                <a:cubicBezTo>
                  <a:pt x="21338" y="129059"/>
                  <a:pt x="15532" y="129059"/>
                  <a:pt x="11956" y="125484"/>
                </a:cubicBezTo>
                <a:cubicBezTo>
                  <a:pt x="8381" y="121909"/>
                  <a:pt x="8381" y="116102"/>
                  <a:pt x="11956" y="112527"/>
                </a:cubicBezTo>
                <a:lnTo>
                  <a:pt x="51258" y="73225"/>
                </a:lnTo>
                <a:lnTo>
                  <a:pt x="11985" y="33924"/>
                </a:lnTo>
                <a:cubicBezTo>
                  <a:pt x="8409" y="30348"/>
                  <a:pt x="8409" y="24542"/>
                  <a:pt x="11985" y="20966"/>
                </a:cubicBezTo>
                <a:cubicBezTo>
                  <a:pt x="15560" y="17391"/>
                  <a:pt x="21367" y="17391"/>
                  <a:pt x="24942" y="20966"/>
                </a:cubicBezTo>
                <a:lnTo>
                  <a:pt x="70708" y="66732"/>
                </a:lnTo>
                <a:close/>
              </a:path>
            </a:pathLst>
          </a:custGeom>
          <a:solidFill>
            <a:srgbClr val="F47C20"/>
          </a:solidFill>
          <a:ln/>
        </p:spPr>
      </p:sp>
      <p:sp>
        <p:nvSpPr>
          <p:cNvPr id="16" name="Text 13"/>
          <p:cNvSpPr/>
          <p:nvPr/>
        </p:nvSpPr>
        <p:spPr>
          <a:xfrm>
            <a:off x="776187" y="6187532"/>
            <a:ext cx="2938162" cy="219676"/>
          </a:xfrm>
          <a:prstGeom prst="rect">
            <a:avLst/>
          </a:prstGeom>
          <a:noFill/>
          <a:ln/>
        </p:spPr>
        <p:txBody>
          <a:bodyPr wrap="square" lIns="0" tIns="0" rIns="0" bIns="0" rtlCol="0" anchor="ctr"/>
          <a:lstStyle/>
          <a:p>
            <a:pPr>
              <a:lnSpc>
                <a:spcPct val="130000"/>
              </a:lnSpc>
            </a:pPr>
            <a:r>
              <a:rPr lang="en-US" sz="1153" dirty="0">
                <a:solidFill>
                  <a:srgbClr val="E8EAED">
                    <a:alpha val="80000"/>
                  </a:srgbClr>
                </a:solidFill>
                <a:latin typeface="Liter" pitchFamily="34" charset="0"/>
                <a:ea typeface="Liter" pitchFamily="34" charset="-122"/>
                <a:cs typeface="Liter" pitchFamily="34" charset="-120"/>
              </a:rPr>
              <a:t>Monitor utilization via GraphQL Analytics API</a:t>
            </a:r>
            <a:endParaRPr lang="en-US" sz="1600" dirty="0"/>
          </a:p>
        </p:txBody>
      </p:sp>
      <p:sp>
        <p:nvSpPr>
          <p:cNvPr id="17" name="Shape 14"/>
          <p:cNvSpPr/>
          <p:nvPr/>
        </p:nvSpPr>
        <p:spPr>
          <a:xfrm>
            <a:off x="6170827" y="4792591"/>
            <a:ext cx="5645665" cy="2057629"/>
          </a:xfrm>
          <a:custGeom>
            <a:avLst/>
            <a:gdLst/>
            <a:ahLst/>
            <a:cxnLst/>
            <a:rect l="l" t="t" r="r" b="b"/>
            <a:pathLst>
              <a:path w="5645665" h="2057629">
                <a:moveTo>
                  <a:pt x="109836" y="0"/>
                </a:moveTo>
                <a:lnTo>
                  <a:pt x="5535829" y="0"/>
                </a:lnTo>
                <a:cubicBezTo>
                  <a:pt x="5596490" y="0"/>
                  <a:pt x="5645665" y="49175"/>
                  <a:pt x="5645665" y="109836"/>
                </a:cubicBezTo>
                <a:lnTo>
                  <a:pt x="5645665" y="1947793"/>
                </a:lnTo>
                <a:cubicBezTo>
                  <a:pt x="5645665" y="2008453"/>
                  <a:pt x="5596490" y="2057629"/>
                  <a:pt x="5535829" y="2057629"/>
                </a:cubicBezTo>
                <a:lnTo>
                  <a:pt x="109836" y="2057629"/>
                </a:lnTo>
                <a:cubicBezTo>
                  <a:pt x="49175" y="2057629"/>
                  <a:pt x="0" y="2008453"/>
                  <a:pt x="0" y="1947793"/>
                </a:cubicBezTo>
                <a:lnTo>
                  <a:pt x="0" y="109836"/>
                </a:lnTo>
                <a:cubicBezTo>
                  <a:pt x="0" y="49216"/>
                  <a:pt x="49216" y="0"/>
                  <a:pt x="109836" y="0"/>
                </a:cubicBezTo>
                <a:close/>
              </a:path>
            </a:pathLst>
          </a:custGeom>
          <a:solidFill>
            <a:srgbClr val="00A4E0">
              <a:alpha val="10196"/>
            </a:srgbClr>
          </a:solidFill>
          <a:ln w="10160">
            <a:solidFill>
              <a:srgbClr val="00A4E0">
                <a:alpha val="30196"/>
              </a:srgbClr>
            </a:solidFill>
            <a:prstDash val="solid"/>
          </a:ln>
        </p:spPr>
      </p:sp>
      <p:sp>
        <p:nvSpPr>
          <p:cNvPr id="18" name="Shape 15"/>
          <p:cNvSpPr/>
          <p:nvPr/>
        </p:nvSpPr>
        <p:spPr>
          <a:xfrm>
            <a:off x="6332380" y="4979315"/>
            <a:ext cx="205946" cy="183063"/>
          </a:xfrm>
          <a:custGeom>
            <a:avLst/>
            <a:gdLst/>
            <a:ahLst/>
            <a:cxnLst/>
            <a:rect l="l" t="t" r="r" b="b"/>
            <a:pathLst>
              <a:path w="205946" h="183063">
                <a:moveTo>
                  <a:pt x="110660" y="-6758"/>
                </a:moveTo>
                <a:cubicBezTo>
                  <a:pt x="109194" y="-9618"/>
                  <a:pt x="106227" y="-11441"/>
                  <a:pt x="103009" y="-11441"/>
                </a:cubicBezTo>
                <a:cubicBezTo>
                  <a:pt x="99791" y="-11441"/>
                  <a:pt x="96823" y="-9618"/>
                  <a:pt x="95357" y="-6758"/>
                </a:cubicBezTo>
                <a:lnTo>
                  <a:pt x="69042" y="44800"/>
                </a:lnTo>
                <a:lnTo>
                  <a:pt x="11870" y="53882"/>
                </a:lnTo>
                <a:cubicBezTo>
                  <a:pt x="8688" y="54383"/>
                  <a:pt x="6043" y="56635"/>
                  <a:pt x="5041" y="59710"/>
                </a:cubicBezTo>
                <a:cubicBezTo>
                  <a:pt x="4040" y="62785"/>
                  <a:pt x="4863" y="66146"/>
                  <a:pt x="7115" y="68434"/>
                </a:cubicBezTo>
                <a:lnTo>
                  <a:pt x="48018" y="109373"/>
                </a:lnTo>
                <a:lnTo>
                  <a:pt x="39008" y="166544"/>
                </a:lnTo>
                <a:cubicBezTo>
                  <a:pt x="38508" y="169727"/>
                  <a:pt x="39831" y="172945"/>
                  <a:pt x="42441" y="174840"/>
                </a:cubicBezTo>
                <a:cubicBezTo>
                  <a:pt x="45051" y="176735"/>
                  <a:pt x="48483" y="177021"/>
                  <a:pt x="51379" y="175555"/>
                </a:cubicBezTo>
                <a:lnTo>
                  <a:pt x="103009" y="149311"/>
                </a:lnTo>
                <a:lnTo>
                  <a:pt x="154602" y="175555"/>
                </a:lnTo>
                <a:cubicBezTo>
                  <a:pt x="157463" y="177021"/>
                  <a:pt x="160931" y="176735"/>
                  <a:pt x="163541" y="174840"/>
                </a:cubicBezTo>
                <a:cubicBezTo>
                  <a:pt x="166151" y="172945"/>
                  <a:pt x="167474" y="169762"/>
                  <a:pt x="166974" y="166544"/>
                </a:cubicBezTo>
                <a:lnTo>
                  <a:pt x="157928" y="109373"/>
                </a:lnTo>
                <a:lnTo>
                  <a:pt x="198831" y="68434"/>
                </a:lnTo>
                <a:cubicBezTo>
                  <a:pt x="201119" y="66146"/>
                  <a:pt x="201906" y="62785"/>
                  <a:pt x="200905" y="59710"/>
                </a:cubicBezTo>
                <a:cubicBezTo>
                  <a:pt x="199903" y="56635"/>
                  <a:pt x="197293" y="54383"/>
                  <a:pt x="194075" y="53882"/>
                </a:cubicBezTo>
                <a:lnTo>
                  <a:pt x="136940" y="44800"/>
                </a:lnTo>
                <a:lnTo>
                  <a:pt x="110660" y="-6758"/>
                </a:lnTo>
                <a:close/>
              </a:path>
            </a:pathLst>
          </a:custGeom>
          <a:solidFill>
            <a:srgbClr val="00A4E0"/>
          </a:solidFill>
          <a:ln/>
        </p:spPr>
      </p:sp>
      <p:sp>
        <p:nvSpPr>
          <p:cNvPr id="19" name="Text 16"/>
          <p:cNvSpPr/>
          <p:nvPr/>
        </p:nvSpPr>
        <p:spPr>
          <a:xfrm>
            <a:off x="6659606" y="4942703"/>
            <a:ext cx="1363820" cy="256288"/>
          </a:xfrm>
          <a:prstGeom prst="rect">
            <a:avLst/>
          </a:prstGeom>
          <a:noFill/>
          <a:ln/>
        </p:spPr>
        <p:txBody>
          <a:bodyPr wrap="square" lIns="0" tIns="0" rIns="0" bIns="0" rtlCol="0" anchor="ctr"/>
          <a:lstStyle/>
          <a:p>
            <a:pPr>
              <a:lnSpc>
                <a:spcPct val="130000"/>
              </a:lnSpc>
            </a:pPr>
            <a:r>
              <a:rPr lang="en-US" sz="1297" b="1" dirty="0">
                <a:solidFill>
                  <a:srgbClr val="E8EAED"/>
                </a:solidFill>
                <a:latin typeface="Liter" pitchFamily="34" charset="0"/>
                <a:ea typeface="Liter" pitchFamily="34" charset="-122"/>
                <a:cs typeface="Liter" pitchFamily="34" charset="-120"/>
              </a:rPr>
              <a:t>Recommendation</a:t>
            </a:r>
            <a:endParaRPr lang="en-US" sz="1600" dirty="0"/>
          </a:p>
        </p:txBody>
      </p:sp>
      <p:sp>
        <p:nvSpPr>
          <p:cNvPr id="20" name="Text 17"/>
          <p:cNvSpPr/>
          <p:nvPr/>
        </p:nvSpPr>
        <p:spPr>
          <a:xfrm>
            <a:off x="6320939" y="5308829"/>
            <a:ext cx="5418667" cy="475964"/>
          </a:xfrm>
          <a:prstGeom prst="rect">
            <a:avLst/>
          </a:prstGeom>
          <a:noFill/>
          <a:ln/>
        </p:spPr>
        <p:txBody>
          <a:bodyPr wrap="square" lIns="0" tIns="0" rIns="0" bIns="0" rtlCol="0" anchor="ctr"/>
          <a:lstStyle/>
          <a:p>
            <a:pPr>
              <a:lnSpc>
                <a:spcPct val="140000"/>
              </a:lnSpc>
            </a:pPr>
            <a:r>
              <a:rPr lang="en-US" sz="1153" b="1" dirty="0">
                <a:solidFill>
                  <a:srgbClr val="00A4E0"/>
                </a:solidFill>
                <a:latin typeface="Liter" pitchFamily="34" charset="0"/>
                <a:ea typeface="Liter" pitchFamily="34" charset="-122"/>
                <a:cs typeface="Liter" pitchFamily="34" charset="-120"/>
              </a:rPr>
              <a:t>Use IPv6 when possible</a:t>
            </a:r>
            <a:pPr>
              <a:lnSpc>
                <a:spcPct val="140000"/>
              </a:lnSpc>
            </a:pPr>
            <a:r>
              <a:rPr lang="en-US" sz="1153" dirty="0">
                <a:solidFill>
                  <a:srgbClr val="E8EAED">
                    <a:alpha val="80000"/>
                  </a:srgbClr>
                </a:solidFill>
                <a:latin typeface="Liter" pitchFamily="34" charset="0"/>
                <a:ea typeface="Liter" pitchFamily="34" charset="-122"/>
                <a:cs typeface="Liter" pitchFamily="34" charset="-120"/>
              </a:rPr>
              <a:t> for optimal performance and resiliency. IPv6 Aegis provides:</a:t>
            </a:r>
            <a:endParaRPr lang="en-US" sz="1600" dirty="0"/>
          </a:p>
        </p:txBody>
      </p:sp>
      <p:sp>
        <p:nvSpPr>
          <p:cNvPr id="21" name="Shape 18"/>
          <p:cNvSpPr/>
          <p:nvPr/>
        </p:nvSpPr>
        <p:spPr>
          <a:xfrm>
            <a:off x="6348398" y="5931243"/>
            <a:ext cx="128144" cy="146450"/>
          </a:xfrm>
          <a:custGeom>
            <a:avLst/>
            <a:gdLst/>
            <a:ahLst/>
            <a:cxnLst/>
            <a:rect l="l" t="t" r="r" b="b"/>
            <a:pathLst>
              <a:path w="128144" h="146450">
                <a:moveTo>
                  <a:pt x="124368" y="20051"/>
                </a:moveTo>
                <a:cubicBezTo>
                  <a:pt x="128459" y="23026"/>
                  <a:pt x="129374" y="28747"/>
                  <a:pt x="126399" y="32837"/>
                </a:cubicBezTo>
                <a:lnTo>
                  <a:pt x="53174" y="133522"/>
                </a:lnTo>
                <a:cubicBezTo>
                  <a:pt x="51601" y="135695"/>
                  <a:pt x="49170" y="137040"/>
                  <a:pt x="46481" y="137269"/>
                </a:cubicBezTo>
                <a:cubicBezTo>
                  <a:pt x="43792" y="137498"/>
                  <a:pt x="41189" y="136496"/>
                  <a:pt x="39301" y="134609"/>
                </a:cubicBezTo>
                <a:lnTo>
                  <a:pt x="2689" y="97996"/>
                </a:lnTo>
                <a:cubicBezTo>
                  <a:pt x="-887" y="94420"/>
                  <a:pt x="-887" y="88614"/>
                  <a:pt x="2689" y="85039"/>
                </a:cubicBezTo>
                <a:cubicBezTo>
                  <a:pt x="6264" y="81463"/>
                  <a:pt x="12071" y="81463"/>
                  <a:pt x="15646" y="85039"/>
                </a:cubicBezTo>
                <a:lnTo>
                  <a:pt x="44679" y="114071"/>
                </a:lnTo>
                <a:lnTo>
                  <a:pt x="111611" y="22053"/>
                </a:lnTo>
                <a:cubicBezTo>
                  <a:pt x="114586" y="17963"/>
                  <a:pt x="120307" y="17048"/>
                  <a:pt x="124397" y="20023"/>
                </a:cubicBezTo>
                <a:close/>
              </a:path>
            </a:pathLst>
          </a:custGeom>
          <a:solidFill>
            <a:srgbClr val="00A4E0"/>
          </a:solidFill>
          <a:ln/>
        </p:spPr>
      </p:sp>
      <p:sp>
        <p:nvSpPr>
          <p:cNvPr id="22" name="Text 19"/>
          <p:cNvSpPr/>
          <p:nvPr/>
        </p:nvSpPr>
        <p:spPr>
          <a:xfrm>
            <a:off x="6577227" y="5894631"/>
            <a:ext cx="3276829" cy="219676"/>
          </a:xfrm>
          <a:prstGeom prst="rect">
            <a:avLst/>
          </a:prstGeom>
          <a:noFill/>
          <a:ln/>
        </p:spPr>
        <p:txBody>
          <a:bodyPr wrap="square" lIns="0" tIns="0" rIns="0" bIns="0" rtlCol="0" anchor="ctr"/>
          <a:lstStyle/>
          <a:p>
            <a:pPr>
              <a:lnSpc>
                <a:spcPct val="130000"/>
              </a:lnSpc>
            </a:pPr>
            <a:r>
              <a:rPr lang="en-US" sz="1153" dirty="0">
                <a:solidFill>
                  <a:srgbClr val="E8EAED">
                    <a:alpha val="80000"/>
                  </a:srgbClr>
                </a:solidFill>
                <a:latin typeface="Liter" pitchFamily="34" charset="0"/>
                <a:ea typeface="Liter" pitchFamily="34" charset="-122"/>
                <a:cs typeface="Liter" pitchFamily="34" charset="-120"/>
              </a:rPr>
              <a:t>Global coverage across all Cloudflare data centers</a:t>
            </a:r>
            <a:endParaRPr lang="en-US" sz="1600" dirty="0"/>
          </a:p>
        </p:txBody>
      </p:sp>
      <p:sp>
        <p:nvSpPr>
          <p:cNvPr id="23" name="Shape 20"/>
          <p:cNvSpPr/>
          <p:nvPr/>
        </p:nvSpPr>
        <p:spPr>
          <a:xfrm>
            <a:off x="6348398" y="6224144"/>
            <a:ext cx="128144" cy="146450"/>
          </a:xfrm>
          <a:custGeom>
            <a:avLst/>
            <a:gdLst/>
            <a:ahLst/>
            <a:cxnLst/>
            <a:rect l="l" t="t" r="r" b="b"/>
            <a:pathLst>
              <a:path w="128144" h="146450">
                <a:moveTo>
                  <a:pt x="124368" y="20051"/>
                </a:moveTo>
                <a:cubicBezTo>
                  <a:pt x="128459" y="23026"/>
                  <a:pt x="129374" y="28747"/>
                  <a:pt x="126399" y="32837"/>
                </a:cubicBezTo>
                <a:lnTo>
                  <a:pt x="53174" y="133522"/>
                </a:lnTo>
                <a:cubicBezTo>
                  <a:pt x="51601" y="135695"/>
                  <a:pt x="49170" y="137040"/>
                  <a:pt x="46481" y="137269"/>
                </a:cubicBezTo>
                <a:cubicBezTo>
                  <a:pt x="43792" y="137498"/>
                  <a:pt x="41189" y="136496"/>
                  <a:pt x="39301" y="134609"/>
                </a:cubicBezTo>
                <a:lnTo>
                  <a:pt x="2689" y="97996"/>
                </a:lnTo>
                <a:cubicBezTo>
                  <a:pt x="-887" y="94420"/>
                  <a:pt x="-887" y="88614"/>
                  <a:pt x="2689" y="85039"/>
                </a:cubicBezTo>
                <a:cubicBezTo>
                  <a:pt x="6264" y="81463"/>
                  <a:pt x="12071" y="81463"/>
                  <a:pt x="15646" y="85039"/>
                </a:cubicBezTo>
                <a:lnTo>
                  <a:pt x="44679" y="114071"/>
                </a:lnTo>
                <a:lnTo>
                  <a:pt x="111611" y="22053"/>
                </a:lnTo>
                <a:cubicBezTo>
                  <a:pt x="114586" y="17963"/>
                  <a:pt x="120307" y="17048"/>
                  <a:pt x="124397" y="20023"/>
                </a:cubicBezTo>
                <a:close/>
              </a:path>
            </a:pathLst>
          </a:custGeom>
          <a:solidFill>
            <a:srgbClr val="00A4E0"/>
          </a:solidFill>
          <a:ln/>
        </p:spPr>
      </p:sp>
      <p:sp>
        <p:nvSpPr>
          <p:cNvPr id="24" name="Text 21"/>
          <p:cNvSpPr/>
          <p:nvPr/>
        </p:nvSpPr>
        <p:spPr>
          <a:xfrm>
            <a:off x="6577227" y="6187532"/>
            <a:ext cx="2745946" cy="219676"/>
          </a:xfrm>
          <a:prstGeom prst="rect">
            <a:avLst/>
          </a:prstGeom>
          <a:noFill/>
          <a:ln/>
        </p:spPr>
        <p:txBody>
          <a:bodyPr wrap="square" lIns="0" tIns="0" rIns="0" bIns="0" rtlCol="0" anchor="ctr"/>
          <a:lstStyle/>
          <a:p>
            <a:pPr>
              <a:lnSpc>
                <a:spcPct val="130000"/>
              </a:lnSpc>
            </a:pPr>
            <a:r>
              <a:rPr lang="en-US" sz="1153" dirty="0">
                <a:solidFill>
                  <a:srgbClr val="E8EAED">
                    <a:alpha val="80000"/>
                  </a:srgbClr>
                </a:solidFill>
                <a:latin typeface="Liter" pitchFamily="34" charset="0"/>
                <a:ea typeface="Liter" pitchFamily="34" charset="-122"/>
                <a:cs typeface="Liter" pitchFamily="34" charset="-120"/>
              </a:rPr>
              <a:t>No additional cost - included with product</a:t>
            </a:r>
            <a:endParaRPr lang="en-US" sz="1600" dirty="0"/>
          </a:p>
        </p:txBody>
      </p:sp>
      <p:sp>
        <p:nvSpPr>
          <p:cNvPr id="25" name="Shape 22"/>
          <p:cNvSpPr/>
          <p:nvPr/>
        </p:nvSpPr>
        <p:spPr>
          <a:xfrm>
            <a:off x="6348398" y="6517045"/>
            <a:ext cx="128144" cy="146450"/>
          </a:xfrm>
          <a:custGeom>
            <a:avLst/>
            <a:gdLst/>
            <a:ahLst/>
            <a:cxnLst/>
            <a:rect l="l" t="t" r="r" b="b"/>
            <a:pathLst>
              <a:path w="128144" h="146450">
                <a:moveTo>
                  <a:pt x="124368" y="20051"/>
                </a:moveTo>
                <a:cubicBezTo>
                  <a:pt x="128459" y="23026"/>
                  <a:pt x="129374" y="28747"/>
                  <a:pt x="126399" y="32837"/>
                </a:cubicBezTo>
                <a:lnTo>
                  <a:pt x="53174" y="133522"/>
                </a:lnTo>
                <a:cubicBezTo>
                  <a:pt x="51601" y="135695"/>
                  <a:pt x="49170" y="137040"/>
                  <a:pt x="46481" y="137269"/>
                </a:cubicBezTo>
                <a:cubicBezTo>
                  <a:pt x="43792" y="137498"/>
                  <a:pt x="41189" y="136496"/>
                  <a:pt x="39301" y="134609"/>
                </a:cubicBezTo>
                <a:lnTo>
                  <a:pt x="2689" y="97996"/>
                </a:lnTo>
                <a:cubicBezTo>
                  <a:pt x="-887" y="94420"/>
                  <a:pt x="-887" y="88614"/>
                  <a:pt x="2689" y="85039"/>
                </a:cubicBezTo>
                <a:cubicBezTo>
                  <a:pt x="6264" y="81463"/>
                  <a:pt x="12071" y="81463"/>
                  <a:pt x="15646" y="85039"/>
                </a:cubicBezTo>
                <a:lnTo>
                  <a:pt x="44679" y="114071"/>
                </a:lnTo>
                <a:lnTo>
                  <a:pt x="111611" y="22053"/>
                </a:lnTo>
                <a:cubicBezTo>
                  <a:pt x="114586" y="17963"/>
                  <a:pt x="120307" y="17048"/>
                  <a:pt x="124397" y="20023"/>
                </a:cubicBezTo>
                <a:close/>
              </a:path>
            </a:pathLst>
          </a:custGeom>
          <a:solidFill>
            <a:srgbClr val="00A4E0"/>
          </a:solidFill>
          <a:ln/>
        </p:spPr>
      </p:sp>
      <p:sp>
        <p:nvSpPr>
          <p:cNvPr id="26" name="Text 23"/>
          <p:cNvSpPr/>
          <p:nvPr/>
        </p:nvSpPr>
        <p:spPr>
          <a:xfrm>
            <a:off x="6577227" y="6480432"/>
            <a:ext cx="3469045" cy="219676"/>
          </a:xfrm>
          <a:prstGeom prst="rect">
            <a:avLst/>
          </a:prstGeom>
          <a:noFill/>
          <a:ln/>
        </p:spPr>
        <p:txBody>
          <a:bodyPr wrap="square" lIns="0" tIns="0" rIns="0" bIns="0" rtlCol="0" anchor="ctr"/>
          <a:lstStyle/>
          <a:p>
            <a:pPr>
              <a:lnSpc>
                <a:spcPct val="130000"/>
              </a:lnSpc>
            </a:pPr>
            <a:r>
              <a:rPr lang="en-US" sz="1153" dirty="0">
                <a:solidFill>
                  <a:srgbClr val="E8EAED">
                    <a:alpha val="80000"/>
                  </a:srgbClr>
                </a:solidFill>
                <a:latin typeface="Liter" pitchFamily="34" charset="0"/>
                <a:ea typeface="Liter" pitchFamily="34" charset="-122"/>
                <a:cs typeface="Liter" pitchFamily="34" charset="-120"/>
              </a:rPr>
              <a:t>Massive address space eliminates capacity concerns</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22753" y="322753"/>
            <a:ext cx="11611044" cy="193652"/>
          </a:xfrm>
          <a:prstGeom prst="rect">
            <a:avLst/>
          </a:prstGeom>
          <a:noFill/>
          <a:ln/>
        </p:spPr>
        <p:txBody>
          <a:bodyPr wrap="square" lIns="0" tIns="0" rIns="0" bIns="0" rtlCol="0" anchor="ctr"/>
          <a:lstStyle/>
          <a:p>
            <a:pPr>
              <a:lnSpc>
                <a:spcPct val="130000"/>
              </a:lnSpc>
            </a:pPr>
            <a:r>
              <a:rPr lang="en-US" sz="1017" b="1" spc="51" kern="0" dirty="0">
                <a:solidFill>
                  <a:srgbClr val="F47C20"/>
                </a:solidFill>
                <a:latin typeface="Liter" pitchFamily="34" charset="0"/>
                <a:ea typeface="Liter" pitchFamily="34" charset="-122"/>
                <a:cs typeface="Liter" pitchFamily="34" charset="-120"/>
              </a:rPr>
              <a:t>YOUR CONFIGURATION</a:t>
            </a:r>
            <a:endParaRPr lang="en-US" sz="1600" dirty="0"/>
          </a:p>
        </p:txBody>
      </p:sp>
      <p:sp>
        <p:nvSpPr>
          <p:cNvPr id="3" name="Text 1"/>
          <p:cNvSpPr/>
          <p:nvPr/>
        </p:nvSpPr>
        <p:spPr>
          <a:xfrm>
            <a:off x="322753" y="580956"/>
            <a:ext cx="11691733" cy="322753"/>
          </a:xfrm>
          <a:prstGeom prst="rect">
            <a:avLst/>
          </a:prstGeom>
          <a:noFill/>
          <a:ln/>
        </p:spPr>
        <p:txBody>
          <a:bodyPr wrap="square" lIns="0" tIns="0" rIns="0" bIns="0" rtlCol="0" anchor="ctr"/>
          <a:lstStyle/>
          <a:p>
            <a:pPr>
              <a:lnSpc>
                <a:spcPct val="90000"/>
              </a:lnSpc>
            </a:pPr>
            <a:r>
              <a:rPr lang="en-US" sz="2287" b="1" dirty="0">
                <a:solidFill>
                  <a:srgbClr val="E8EAED"/>
                </a:solidFill>
                <a:latin typeface="Liter" pitchFamily="34" charset="0"/>
                <a:ea typeface="Liter" pitchFamily="34" charset="-122"/>
                <a:cs typeface="Liter" pitchFamily="34" charset="-120"/>
              </a:rPr>
              <a:t>Your Aegis IP Setup</a:t>
            </a:r>
            <a:endParaRPr lang="en-US" sz="1600" dirty="0"/>
          </a:p>
        </p:txBody>
      </p:sp>
      <p:sp>
        <p:nvSpPr>
          <p:cNvPr id="4" name="Shape 2"/>
          <p:cNvSpPr/>
          <p:nvPr/>
        </p:nvSpPr>
        <p:spPr>
          <a:xfrm>
            <a:off x="325981" y="1036038"/>
            <a:ext cx="5703048" cy="2685306"/>
          </a:xfrm>
          <a:custGeom>
            <a:avLst/>
            <a:gdLst/>
            <a:ahLst/>
            <a:cxnLst/>
            <a:rect l="l" t="t" r="r" b="b"/>
            <a:pathLst>
              <a:path w="5703048" h="2685306">
                <a:moveTo>
                  <a:pt x="96832" y="0"/>
                </a:moveTo>
                <a:lnTo>
                  <a:pt x="5606216" y="0"/>
                </a:lnTo>
                <a:cubicBezTo>
                  <a:pt x="5659695" y="0"/>
                  <a:pt x="5703048" y="43353"/>
                  <a:pt x="5703048" y="96832"/>
                </a:cubicBezTo>
                <a:lnTo>
                  <a:pt x="5703048" y="2588474"/>
                </a:lnTo>
                <a:cubicBezTo>
                  <a:pt x="5703048" y="2641953"/>
                  <a:pt x="5659695" y="2685306"/>
                  <a:pt x="5606216" y="2685306"/>
                </a:cubicBezTo>
                <a:lnTo>
                  <a:pt x="96832" y="2685306"/>
                </a:lnTo>
                <a:cubicBezTo>
                  <a:pt x="43353" y="2685306"/>
                  <a:pt x="0" y="2641953"/>
                  <a:pt x="0" y="2588474"/>
                </a:cubicBezTo>
                <a:lnTo>
                  <a:pt x="0" y="96832"/>
                </a:lnTo>
                <a:cubicBezTo>
                  <a:pt x="0" y="43353"/>
                  <a:pt x="43353" y="0"/>
                  <a:pt x="96832" y="0"/>
                </a:cubicBezTo>
                <a:close/>
              </a:path>
            </a:pathLst>
          </a:custGeom>
          <a:solidFill>
            <a:srgbClr val="48515E">
              <a:alpha val="20000"/>
            </a:srgbClr>
          </a:solidFill>
          <a:ln w="10160">
            <a:solidFill>
              <a:srgbClr val="48515E">
                <a:alpha val="40000"/>
              </a:srgbClr>
            </a:solidFill>
            <a:prstDash val="solid"/>
          </a:ln>
        </p:spPr>
      </p:sp>
      <p:sp>
        <p:nvSpPr>
          <p:cNvPr id="5" name="Shape 3"/>
          <p:cNvSpPr/>
          <p:nvPr/>
        </p:nvSpPr>
        <p:spPr>
          <a:xfrm>
            <a:off x="490585" y="1200642"/>
            <a:ext cx="322753" cy="322753"/>
          </a:xfrm>
          <a:custGeom>
            <a:avLst/>
            <a:gdLst/>
            <a:ahLst/>
            <a:cxnLst/>
            <a:rect l="l" t="t" r="r" b="b"/>
            <a:pathLst>
              <a:path w="322753" h="322753">
                <a:moveTo>
                  <a:pt x="64551" y="0"/>
                </a:moveTo>
                <a:lnTo>
                  <a:pt x="258203" y="0"/>
                </a:lnTo>
                <a:cubicBezTo>
                  <a:pt x="293853" y="0"/>
                  <a:pt x="322753" y="28900"/>
                  <a:pt x="322753" y="64551"/>
                </a:cubicBezTo>
                <a:lnTo>
                  <a:pt x="322753" y="258203"/>
                </a:lnTo>
                <a:cubicBezTo>
                  <a:pt x="322753" y="293853"/>
                  <a:pt x="293853" y="322753"/>
                  <a:pt x="258203" y="322753"/>
                </a:cubicBezTo>
                <a:lnTo>
                  <a:pt x="64551" y="322753"/>
                </a:lnTo>
                <a:cubicBezTo>
                  <a:pt x="28900" y="322753"/>
                  <a:pt x="0" y="293853"/>
                  <a:pt x="0" y="258203"/>
                </a:cubicBezTo>
                <a:lnTo>
                  <a:pt x="0" y="64551"/>
                </a:lnTo>
                <a:cubicBezTo>
                  <a:pt x="0" y="28900"/>
                  <a:pt x="28900" y="0"/>
                  <a:pt x="64551" y="0"/>
                </a:cubicBezTo>
                <a:close/>
              </a:path>
            </a:pathLst>
          </a:custGeom>
          <a:solidFill>
            <a:srgbClr val="F47C20">
              <a:alpha val="20000"/>
            </a:srgbClr>
          </a:solidFill>
          <a:ln/>
        </p:spPr>
      </p:sp>
      <p:sp>
        <p:nvSpPr>
          <p:cNvPr id="6" name="Shape 4"/>
          <p:cNvSpPr/>
          <p:nvPr/>
        </p:nvSpPr>
        <p:spPr>
          <a:xfrm>
            <a:off x="599514" y="1289399"/>
            <a:ext cx="108929" cy="145239"/>
          </a:xfrm>
          <a:custGeom>
            <a:avLst/>
            <a:gdLst/>
            <a:ahLst/>
            <a:cxnLst/>
            <a:rect l="l" t="t" r="r" b="b"/>
            <a:pathLst>
              <a:path w="108929" h="145239">
                <a:moveTo>
                  <a:pt x="0" y="53500"/>
                </a:moveTo>
                <a:cubicBezTo>
                  <a:pt x="0" y="23942"/>
                  <a:pt x="24396" y="0"/>
                  <a:pt x="54465" y="0"/>
                </a:cubicBezTo>
                <a:cubicBezTo>
                  <a:pt x="84534" y="0"/>
                  <a:pt x="108929" y="23942"/>
                  <a:pt x="108929" y="53500"/>
                </a:cubicBezTo>
                <a:cubicBezTo>
                  <a:pt x="108929" y="87342"/>
                  <a:pt x="74832" y="127907"/>
                  <a:pt x="60592" y="143367"/>
                </a:cubicBezTo>
                <a:cubicBezTo>
                  <a:pt x="57245" y="146998"/>
                  <a:pt x="51656" y="146998"/>
                  <a:pt x="48309" y="143367"/>
                </a:cubicBezTo>
                <a:cubicBezTo>
                  <a:pt x="34069" y="127907"/>
                  <a:pt x="-28" y="87342"/>
                  <a:pt x="-28" y="53500"/>
                </a:cubicBezTo>
                <a:close/>
                <a:moveTo>
                  <a:pt x="54465" y="72619"/>
                </a:moveTo>
                <a:cubicBezTo>
                  <a:pt x="64485" y="72619"/>
                  <a:pt x="72619" y="64485"/>
                  <a:pt x="72619" y="54465"/>
                </a:cubicBezTo>
                <a:cubicBezTo>
                  <a:pt x="72619" y="44445"/>
                  <a:pt x="64485" y="36310"/>
                  <a:pt x="54465" y="36310"/>
                </a:cubicBezTo>
                <a:cubicBezTo>
                  <a:pt x="44445" y="36310"/>
                  <a:pt x="36310" y="44445"/>
                  <a:pt x="36310" y="54465"/>
                </a:cubicBezTo>
                <a:cubicBezTo>
                  <a:pt x="36310" y="64485"/>
                  <a:pt x="44445" y="72619"/>
                  <a:pt x="54465" y="72619"/>
                </a:cubicBezTo>
                <a:close/>
              </a:path>
            </a:pathLst>
          </a:custGeom>
          <a:solidFill>
            <a:srgbClr val="F47C20"/>
          </a:solidFill>
          <a:ln/>
        </p:spPr>
      </p:sp>
      <p:sp>
        <p:nvSpPr>
          <p:cNvPr id="7" name="Text 5"/>
          <p:cNvSpPr/>
          <p:nvPr/>
        </p:nvSpPr>
        <p:spPr>
          <a:xfrm>
            <a:off x="910164" y="1249055"/>
            <a:ext cx="1670248" cy="225927"/>
          </a:xfrm>
          <a:prstGeom prst="rect">
            <a:avLst/>
          </a:prstGeom>
          <a:noFill/>
          <a:ln/>
        </p:spPr>
        <p:txBody>
          <a:bodyPr wrap="square" lIns="0" tIns="0" rIns="0" bIns="0" rtlCol="0" anchor="ctr"/>
          <a:lstStyle/>
          <a:p>
            <a:pPr>
              <a:lnSpc>
                <a:spcPct val="120000"/>
              </a:lnSpc>
            </a:pPr>
            <a:r>
              <a:rPr lang="en-US" sz="1271" b="1" dirty="0">
                <a:solidFill>
                  <a:srgbClr val="E8EAED"/>
                </a:solidFill>
                <a:latin typeface="Liter" pitchFamily="34" charset="0"/>
                <a:ea typeface="Liter" pitchFamily="34" charset="-122"/>
                <a:cs typeface="Liter" pitchFamily="34" charset="-120"/>
              </a:rPr>
              <a:t>Finding Your Aegis IPs</a:t>
            </a:r>
            <a:endParaRPr lang="en-US" sz="1600" dirty="0"/>
          </a:p>
        </p:txBody>
      </p:sp>
      <p:sp>
        <p:nvSpPr>
          <p:cNvPr id="8" name="Shape 6"/>
          <p:cNvSpPr/>
          <p:nvPr/>
        </p:nvSpPr>
        <p:spPr>
          <a:xfrm>
            <a:off x="490585" y="1652496"/>
            <a:ext cx="5373840" cy="903709"/>
          </a:xfrm>
          <a:custGeom>
            <a:avLst/>
            <a:gdLst/>
            <a:ahLst/>
            <a:cxnLst/>
            <a:rect l="l" t="t" r="r" b="b"/>
            <a:pathLst>
              <a:path w="5373840" h="903709">
                <a:moveTo>
                  <a:pt x="64552" y="0"/>
                </a:moveTo>
                <a:lnTo>
                  <a:pt x="5309288" y="0"/>
                </a:lnTo>
                <a:cubicBezTo>
                  <a:pt x="5344939" y="0"/>
                  <a:pt x="5373840" y="28901"/>
                  <a:pt x="5373840" y="64552"/>
                </a:cubicBezTo>
                <a:lnTo>
                  <a:pt x="5373840" y="839157"/>
                </a:lnTo>
                <a:cubicBezTo>
                  <a:pt x="5373840" y="874808"/>
                  <a:pt x="5344939" y="903709"/>
                  <a:pt x="5309288" y="903709"/>
                </a:cubicBezTo>
                <a:lnTo>
                  <a:pt x="64552" y="903709"/>
                </a:lnTo>
                <a:cubicBezTo>
                  <a:pt x="28901" y="903709"/>
                  <a:pt x="0" y="874808"/>
                  <a:pt x="0" y="839157"/>
                </a:cubicBezTo>
                <a:lnTo>
                  <a:pt x="0" y="64552"/>
                </a:lnTo>
                <a:cubicBezTo>
                  <a:pt x="0" y="28901"/>
                  <a:pt x="28901" y="0"/>
                  <a:pt x="64552" y="0"/>
                </a:cubicBezTo>
                <a:close/>
              </a:path>
            </a:pathLst>
          </a:custGeom>
          <a:solidFill>
            <a:srgbClr val="1A1D21">
              <a:alpha val="50196"/>
            </a:srgbClr>
          </a:solidFill>
          <a:ln/>
        </p:spPr>
      </p:sp>
      <p:sp>
        <p:nvSpPr>
          <p:cNvPr id="9" name="Text 7"/>
          <p:cNvSpPr/>
          <p:nvPr/>
        </p:nvSpPr>
        <p:spPr>
          <a:xfrm>
            <a:off x="587411" y="1749320"/>
            <a:ext cx="5244739" cy="193652"/>
          </a:xfrm>
          <a:prstGeom prst="rect">
            <a:avLst/>
          </a:prstGeom>
          <a:noFill/>
          <a:ln/>
        </p:spPr>
        <p:txBody>
          <a:bodyPr wrap="square" lIns="0" tIns="0" rIns="0" bIns="0" rtlCol="0" anchor="ctr"/>
          <a:lstStyle/>
          <a:p>
            <a:pPr>
              <a:lnSpc>
                <a:spcPct val="130000"/>
              </a:lnSpc>
            </a:pPr>
            <a:r>
              <a:rPr lang="en-US" sz="1017" b="1" dirty="0">
                <a:solidFill>
                  <a:srgbClr val="E8EAED"/>
                </a:solidFill>
                <a:latin typeface="Liter" pitchFamily="34" charset="0"/>
                <a:ea typeface="Liter" pitchFamily="34" charset="-122"/>
                <a:cs typeface="Liter" pitchFamily="34" charset="-120"/>
              </a:rPr>
              <a:t>Cloudflare Dashboard</a:t>
            </a:r>
            <a:endParaRPr lang="en-US" sz="1600" dirty="0"/>
          </a:p>
        </p:txBody>
      </p:sp>
      <p:sp>
        <p:nvSpPr>
          <p:cNvPr id="10" name="Text 8"/>
          <p:cNvSpPr/>
          <p:nvPr/>
        </p:nvSpPr>
        <p:spPr>
          <a:xfrm>
            <a:off x="587411" y="2007523"/>
            <a:ext cx="5244739" cy="193652"/>
          </a:xfrm>
          <a:prstGeom prst="rect">
            <a:avLst/>
          </a:prstGeom>
          <a:noFill/>
          <a:ln/>
        </p:spPr>
        <p:txBody>
          <a:bodyPr wrap="square" lIns="0" tIns="0" rIns="0" bIns="0" rtlCol="0" anchor="ctr"/>
          <a:lstStyle/>
          <a:p>
            <a:pPr>
              <a:lnSpc>
                <a:spcPct val="130000"/>
              </a:lnSpc>
            </a:pPr>
            <a:r>
              <a:rPr lang="en-US" sz="1017" dirty="0">
                <a:solidFill>
                  <a:srgbClr val="E8EAED">
                    <a:alpha val="70000"/>
                  </a:srgbClr>
                </a:solidFill>
                <a:latin typeface="Liter" pitchFamily="34" charset="0"/>
                <a:ea typeface="Liter" pitchFamily="34" charset="-122"/>
                <a:cs typeface="Liter" pitchFamily="34" charset="-120"/>
              </a:rPr>
              <a:t>Navigate to:</a:t>
            </a:r>
            <a:endParaRPr lang="en-US" sz="1600" dirty="0"/>
          </a:p>
        </p:txBody>
      </p:sp>
      <p:sp>
        <p:nvSpPr>
          <p:cNvPr id="11" name="Text 9"/>
          <p:cNvSpPr/>
          <p:nvPr/>
        </p:nvSpPr>
        <p:spPr>
          <a:xfrm>
            <a:off x="587411" y="2265725"/>
            <a:ext cx="5244739" cy="193652"/>
          </a:xfrm>
          <a:prstGeom prst="rect">
            <a:avLst/>
          </a:prstGeom>
          <a:noFill/>
          <a:ln/>
        </p:spPr>
        <p:txBody>
          <a:bodyPr wrap="square" lIns="0" tIns="0" rIns="0" bIns="0" rtlCol="0" anchor="ctr"/>
          <a:lstStyle/>
          <a:p>
            <a:pPr>
              <a:lnSpc>
                <a:spcPct val="130000"/>
              </a:lnSpc>
            </a:pPr>
            <a:r>
              <a:rPr lang="en-US" sz="1017" dirty="0">
                <a:solidFill>
                  <a:srgbClr val="00A4E0"/>
                </a:solidFill>
                <a:latin typeface="MiSans" pitchFamily="34" charset="0"/>
                <a:ea typeface="MiSans" pitchFamily="34" charset="-122"/>
                <a:cs typeface="MiSans" pitchFamily="34" charset="-120"/>
              </a:rPr>
              <a:t>Address space → Leased IPs</a:t>
            </a:r>
            <a:endParaRPr lang="en-US" sz="1600" dirty="0"/>
          </a:p>
        </p:txBody>
      </p:sp>
      <p:sp>
        <p:nvSpPr>
          <p:cNvPr id="12" name="Shape 10"/>
          <p:cNvSpPr/>
          <p:nvPr/>
        </p:nvSpPr>
        <p:spPr>
          <a:xfrm>
            <a:off x="490585" y="2653029"/>
            <a:ext cx="5373840" cy="903709"/>
          </a:xfrm>
          <a:custGeom>
            <a:avLst/>
            <a:gdLst/>
            <a:ahLst/>
            <a:cxnLst/>
            <a:rect l="l" t="t" r="r" b="b"/>
            <a:pathLst>
              <a:path w="5373840" h="903709">
                <a:moveTo>
                  <a:pt x="64552" y="0"/>
                </a:moveTo>
                <a:lnTo>
                  <a:pt x="5309288" y="0"/>
                </a:lnTo>
                <a:cubicBezTo>
                  <a:pt x="5344939" y="0"/>
                  <a:pt x="5373840" y="28901"/>
                  <a:pt x="5373840" y="64552"/>
                </a:cubicBezTo>
                <a:lnTo>
                  <a:pt x="5373840" y="839157"/>
                </a:lnTo>
                <a:cubicBezTo>
                  <a:pt x="5373840" y="874808"/>
                  <a:pt x="5344939" y="903709"/>
                  <a:pt x="5309288" y="903709"/>
                </a:cubicBezTo>
                <a:lnTo>
                  <a:pt x="64552" y="903709"/>
                </a:lnTo>
                <a:cubicBezTo>
                  <a:pt x="28901" y="903709"/>
                  <a:pt x="0" y="874808"/>
                  <a:pt x="0" y="839157"/>
                </a:cubicBezTo>
                <a:lnTo>
                  <a:pt x="0" y="64552"/>
                </a:lnTo>
                <a:cubicBezTo>
                  <a:pt x="0" y="28901"/>
                  <a:pt x="28901" y="0"/>
                  <a:pt x="64552" y="0"/>
                </a:cubicBezTo>
                <a:close/>
              </a:path>
            </a:pathLst>
          </a:custGeom>
          <a:solidFill>
            <a:srgbClr val="1A1D21">
              <a:alpha val="50196"/>
            </a:srgbClr>
          </a:solidFill>
          <a:ln/>
        </p:spPr>
      </p:sp>
      <p:sp>
        <p:nvSpPr>
          <p:cNvPr id="13" name="Text 11"/>
          <p:cNvSpPr/>
          <p:nvPr/>
        </p:nvSpPr>
        <p:spPr>
          <a:xfrm>
            <a:off x="587411" y="2749855"/>
            <a:ext cx="5244739" cy="193652"/>
          </a:xfrm>
          <a:prstGeom prst="rect">
            <a:avLst/>
          </a:prstGeom>
          <a:noFill/>
          <a:ln/>
        </p:spPr>
        <p:txBody>
          <a:bodyPr wrap="square" lIns="0" tIns="0" rIns="0" bIns="0" rtlCol="0" anchor="ctr"/>
          <a:lstStyle/>
          <a:p>
            <a:pPr>
              <a:lnSpc>
                <a:spcPct val="130000"/>
              </a:lnSpc>
            </a:pPr>
            <a:r>
              <a:rPr lang="en-US" sz="1017" b="1" dirty="0">
                <a:solidFill>
                  <a:srgbClr val="E8EAED"/>
                </a:solidFill>
                <a:latin typeface="Liter" pitchFamily="34" charset="0"/>
                <a:ea typeface="Liter" pitchFamily="34" charset="-122"/>
                <a:cs typeface="Liter" pitchFamily="34" charset="-120"/>
              </a:rPr>
              <a:t>Your Configuration</a:t>
            </a:r>
            <a:endParaRPr lang="en-US" sz="1600" dirty="0"/>
          </a:p>
        </p:txBody>
      </p:sp>
      <p:sp>
        <p:nvSpPr>
          <p:cNvPr id="14" name="Shape 12"/>
          <p:cNvSpPr/>
          <p:nvPr/>
        </p:nvSpPr>
        <p:spPr>
          <a:xfrm>
            <a:off x="587411" y="3056471"/>
            <a:ext cx="96826" cy="96826"/>
          </a:xfrm>
          <a:custGeom>
            <a:avLst/>
            <a:gdLst/>
            <a:ahLst/>
            <a:cxnLst/>
            <a:rect l="l" t="t" r="r" b="b"/>
            <a:pathLst>
              <a:path w="96826" h="96826">
                <a:moveTo>
                  <a:pt x="48413" y="0"/>
                </a:moveTo>
                <a:lnTo>
                  <a:pt x="48413" y="0"/>
                </a:lnTo>
                <a:cubicBezTo>
                  <a:pt x="75133" y="0"/>
                  <a:pt x="96826" y="21693"/>
                  <a:pt x="96826" y="48413"/>
                </a:cubicBezTo>
                <a:lnTo>
                  <a:pt x="96826" y="48413"/>
                </a:lnTo>
                <a:cubicBezTo>
                  <a:pt x="96826" y="75133"/>
                  <a:pt x="75133" y="96826"/>
                  <a:pt x="48413" y="96826"/>
                </a:cubicBezTo>
                <a:lnTo>
                  <a:pt x="48413" y="96826"/>
                </a:lnTo>
                <a:cubicBezTo>
                  <a:pt x="21693" y="96826"/>
                  <a:pt x="0" y="75133"/>
                  <a:pt x="0" y="48413"/>
                </a:cubicBezTo>
                <a:lnTo>
                  <a:pt x="0" y="48413"/>
                </a:lnTo>
                <a:cubicBezTo>
                  <a:pt x="0" y="21693"/>
                  <a:pt x="21693" y="0"/>
                  <a:pt x="48413" y="0"/>
                </a:cubicBezTo>
                <a:close/>
              </a:path>
            </a:pathLst>
          </a:custGeom>
          <a:solidFill>
            <a:srgbClr val="F47C20"/>
          </a:solidFill>
          <a:ln/>
        </p:spPr>
      </p:sp>
      <p:sp>
        <p:nvSpPr>
          <p:cNvPr id="15" name="Text 13"/>
          <p:cNvSpPr/>
          <p:nvPr/>
        </p:nvSpPr>
        <p:spPr>
          <a:xfrm>
            <a:off x="781063" y="3008058"/>
            <a:ext cx="1654110" cy="193652"/>
          </a:xfrm>
          <a:prstGeom prst="rect">
            <a:avLst/>
          </a:prstGeom>
          <a:noFill/>
          <a:ln/>
        </p:spPr>
        <p:txBody>
          <a:bodyPr wrap="square" lIns="0" tIns="0" rIns="0" bIns="0" rtlCol="0" anchor="ctr"/>
          <a:lstStyle/>
          <a:p>
            <a:pPr>
              <a:lnSpc>
                <a:spcPct val="130000"/>
              </a:lnSpc>
            </a:pPr>
            <a:r>
              <a:rPr lang="en-US" sz="1017" b="1" dirty="0">
                <a:solidFill>
                  <a:srgbClr val="E8EAED">
                    <a:alpha val="80000"/>
                  </a:srgbClr>
                </a:solidFill>
                <a:latin typeface="Liter" pitchFamily="34" charset="0"/>
                <a:ea typeface="Liter" pitchFamily="34" charset="-122"/>
                <a:cs typeface="Liter" pitchFamily="34" charset="-120"/>
              </a:rPr>
              <a:t>IPv4:</a:t>
            </a:r>
            <a:pPr>
              <a:lnSpc>
                <a:spcPct val="130000"/>
              </a:lnSpc>
            </a:pPr>
            <a:r>
              <a:rPr lang="en-US" sz="1017" dirty="0">
                <a:solidFill>
                  <a:srgbClr val="E8EAED">
                    <a:alpha val="80000"/>
                  </a:srgbClr>
                </a:solidFill>
                <a:latin typeface="Liter" pitchFamily="34" charset="0"/>
                <a:ea typeface="Liter" pitchFamily="34" charset="-122"/>
                <a:cs typeface="Liter" pitchFamily="34" charset="-120"/>
              </a:rPr>
              <a:t> 2 dedicated addresses</a:t>
            </a:r>
            <a:endParaRPr lang="en-US" sz="1600" dirty="0"/>
          </a:p>
        </p:txBody>
      </p:sp>
      <p:sp>
        <p:nvSpPr>
          <p:cNvPr id="16" name="Shape 14"/>
          <p:cNvSpPr/>
          <p:nvPr/>
        </p:nvSpPr>
        <p:spPr>
          <a:xfrm>
            <a:off x="587411" y="3314673"/>
            <a:ext cx="96826" cy="96826"/>
          </a:xfrm>
          <a:custGeom>
            <a:avLst/>
            <a:gdLst/>
            <a:ahLst/>
            <a:cxnLst/>
            <a:rect l="l" t="t" r="r" b="b"/>
            <a:pathLst>
              <a:path w="96826" h="96826">
                <a:moveTo>
                  <a:pt x="48413" y="0"/>
                </a:moveTo>
                <a:lnTo>
                  <a:pt x="48413" y="0"/>
                </a:lnTo>
                <a:cubicBezTo>
                  <a:pt x="75133" y="0"/>
                  <a:pt x="96826" y="21693"/>
                  <a:pt x="96826" y="48413"/>
                </a:cubicBezTo>
                <a:lnTo>
                  <a:pt x="96826" y="48413"/>
                </a:lnTo>
                <a:cubicBezTo>
                  <a:pt x="96826" y="75133"/>
                  <a:pt x="75133" y="96826"/>
                  <a:pt x="48413" y="96826"/>
                </a:cubicBezTo>
                <a:lnTo>
                  <a:pt x="48413" y="96826"/>
                </a:lnTo>
                <a:cubicBezTo>
                  <a:pt x="21693" y="96826"/>
                  <a:pt x="0" y="75133"/>
                  <a:pt x="0" y="48413"/>
                </a:cubicBezTo>
                <a:lnTo>
                  <a:pt x="0" y="48413"/>
                </a:lnTo>
                <a:cubicBezTo>
                  <a:pt x="0" y="21693"/>
                  <a:pt x="21693" y="0"/>
                  <a:pt x="48413" y="0"/>
                </a:cubicBezTo>
                <a:close/>
              </a:path>
            </a:pathLst>
          </a:custGeom>
          <a:solidFill>
            <a:srgbClr val="00A4E0"/>
          </a:solidFill>
          <a:ln/>
        </p:spPr>
      </p:sp>
      <p:sp>
        <p:nvSpPr>
          <p:cNvPr id="17" name="Text 15"/>
          <p:cNvSpPr/>
          <p:nvPr/>
        </p:nvSpPr>
        <p:spPr>
          <a:xfrm>
            <a:off x="781063" y="3266260"/>
            <a:ext cx="1161911" cy="193652"/>
          </a:xfrm>
          <a:prstGeom prst="rect">
            <a:avLst/>
          </a:prstGeom>
          <a:noFill/>
          <a:ln/>
        </p:spPr>
        <p:txBody>
          <a:bodyPr wrap="square" lIns="0" tIns="0" rIns="0" bIns="0" rtlCol="0" anchor="ctr"/>
          <a:lstStyle/>
          <a:p>
            <a:pPr>
              <a:lnSpc>
                <a:spcPct val="130000"/>
              </a:lnSpc>
            </a:pPr>
            <a:r>
              <a:rPr lang="en-US" sz="1017" b="1" dirty="0">
                <a:solidFill>
                  <a:srgbClr val="E8EAED">
                    <a:alpha val="80000"/>
                  </a:srgbClr>
                </a:solidFill>
                <a:latin typeface="Liter" pitchFamily="34" charset="0"/>
                <a:ea typeface="Liter" pitchFamily="34" charset="-122"/>
                <a:cs typeface="Liter" pitchFamily="34" charset="-120"/>
              </a:rPr>
              <a:t>IPv6:</a:t>
            </a:r>
            <a:pPr>
              <a:lnSpc>
                <a:spcPct val="130000"/>
              </a:lnSpc>
            </a:pPr>
            <a:r>
              <a:rPr lang="en-US" sz="1017" dirty="0">
                <a:solidFill>
                  <a:srgbClr val="E8EAED">
                    <a:alpha val="80000"/>
                  </a:srgbClr>
                </a:solidFill>
                <a:latin typeface="Liter" pitchFamily="34" charset="0"/>
                <a:ea typeface="Liter" pitchFamily="34" charset="-122"/>
                <a:cs typeface="Liter" pitchFamily="34" charset="-120"/>
              </a:rPr>
              <a:t> 2 /64 prefixes</a:t>
            </a:r>
            <a:endParaRPr lang="en-US" sz="1600" dirty="0"/>
          </a:p>
        </p:txBody>
      </p:sp>
      <p:sp>
        <p:nvSpPr>
          <p:cNvPr id="18" name="Shape 16"/>
          <p:cNvSpPr/>
          <p:nvPr/>
        </p:nvSpPr>
        <p:spPr>
          <a:xfrm>
            <a:off x="322753" y="4110260"/>
            <a:ext cx="5703048" cy="2878958"/>
          </a:xfrm>
          <a:custGeom>
            <a:avLst/>
            <a:gdLst/>
            <a:ahLst/>
            <a:cxnLst/>
            <a:rect l="l" t="t" r="r" b="b"/>
            <a:pathLst>
              <a:path w="5703048" h="2878958">
                <a:moveTo>
                  <a:pt x="96819" y="0"/>
                </a:moveTo>
                <a:lnTo>
                  <a:pt x="5606229" y="0"/>
                </a:lnTo>
                <a:cubicBezTo>
                  <a:pt x="5659701" y="0"/>
                  <a:pt x="5703048" y="43348"/>
                  <a:pt x="5703048" y="96819"/>
                </a:cubicBezTo>
                <a:lnTo>
                  <a:pt x="5703048" y="2782139"/>
                </a:lnTo>
                <a:cubicBezTo>
                  <a:pt x="5703048" y="2835611"/>
                  <a:pt x="5659701" y="2878958"/>
                  <a:pt x="5606229" y="2878958"/>
                </a:cubicBezTo>
                <a:lnTo>
                  <a:pt x="96819" y="2878958"/>
                </a:lnTo>
                <a:cubicBezTo>
                  <a:pt x="43348" y="2878958"/>
                  <a:pt x="0" y="2835611"/>
                  <a:pt x="0" y="2782139"/>
                </a:cubicBezTo>
                <a:lnTo>
                  <a:pt x="0" y="96819"/>
                </a:lnTo>
                <a:cubicBezTo>
                  <a:pt x="0" y="43348"/>
                  <a:pt x="43348" y="0"/>
                  <a:pt x="96819" y="0"/>
                </a:cubicBezTo>
                <a:close/>
              </a:path>
            </a:pathLst>
          </a:custGeom>
          <a:solidFill>
            <a:srgbClr val="48515E">
              <a:alpha val="20000"/>
            </a:srgbClr>
          </a:solidFill>
          <a:ln w="10160">
            <a:solidFill>
              <a:srgbClr val="48515E">
                <a:alpha val="40000"/>
              </a:srgbClr>
            </a:solidFill>
            <a:prstDash val="solid"/>
          </a:ln>
        </p:spPr>
      </p:sp>
      <p:sp>
        <p:nvSpPr>
          <p:cNvPr id="19" name="Shape 17"/>
          <p:cNvSpPr/>
          <p:nvPr/>
        </p:nvSpPr>
        <p:spPr>
          <a:xfrm>
            <a:off x="490585" y="4021503"/>
            <a:ext cx="322753" cy="322753"/>
          </a:xfrm>
          <a:custGeom>
            <a:avLst/>
            <a:gdLst/>
            <a:ahLst/>
            <a:cxnLst/>
            <a:rect l="l" t="t" r="r" b="b"/>
            <a:pathLst>
              <a:path w="322753" h="322753">
                <a:moveTo>
                  <a:pt x="64551" y="0"/>
                </a:moveTo>
                <a:lnTo>
                  <a:pt x="258203" y="0"/>
                </a:lnTo>
                <a:cubicBezTo>
                  <a:pt x="293853" y="0"/>
                  <a:pt x="322753" y="28900"/>
                  <a:pt x="322753" y="64551"/>
                </a:cubicBezTo>
                <a:lnTo>
                  <a:pt x="322753" y="258203"/>
                </a:lnTo>
                <a:cubicBezTo>
                  <a:pt x="322753" y="293853"/>
                  <a:pt x="293853" y="322753"/>
                  <a:pt x="258203" y="322753"/>
                </a:cubicBezTo>
                <a:lnTo>
                  <a:pt x="64551" y="322753"/>
                </a:lnTo>
                <a:cubicBezTo>
                  <a:pt x="28900" y="322753"/>
                  <a:pt x="0" y="293853"/>
                  <a:pt x="0" y="258203"/>
                </a:cubicBezTo>
                <a:lnTo>
                  <a:pt x="0" y="64551"/>
                </a:lnTo>
                <a:cubicBezTo>
                  <a:pt x="0" y="28900"/>
                  <a:pt x="28900" y="0"/>
                  <a:pt x="64551" y="0"/>
                </a:cubicBezTo>
                <a:close/>
              </a:path>
            </a:pathLst>
          </a:custGeom>
          <a:solidFill>
            <a:srgbClr val="00A4E0">
              <a:alpha val="20000"/>
            </a:srgbClr>
          </a:solidFill>
          <a:ln/>
        </p:spPr>
      </p:sp>
      <p:sp>
        <p:nvSpPr>
          <p:cNvPr id="20" name="Shape 18"/>
          <p:cNvSpPr/>
          <p:nvPr/>
        </p:nvSpPr>
        <p:spPr>
          <a:xfrm>
            <a:off x="581359" y="4110260"/>
            <a:ext cx="145239" cy="145239"/>
          </a:xfrm>
          <a:custGeom>
            <a:avLst/>
            <a:gdLst/>
            <a:ahLst/>
            <a:cxnLst/>
            <a:rect l="l" t="t" r="r" b="b"/>
            <a:pathLst>
              <a:path w="145239" h="145239">
                <a:moveTo>
                  <a:pt x="2666" y="33643"/>
                </a:moveTo>
                <a:cubicBezTo>
                  <a:pt x="-879" y="30097"/>
                  <a:pt x="-879" y="24339"/>
                  <a:pt x="2666" y="20793"/>
                </a:cubicBezTo>
                <a:cubicBezTo>
                  <a:pt x="6212" y="17247"/>
                  <a:pt x="11971" y="17247"/>
                  <a:pt x="15517" y="20793"/>
                </a:cubicBezTo>
                <a:lnTo>
                  <a:pt x="60904" y="66180"/>
                </a:lnTo>
                <a:cubicBezTo>
                  <a:pt x="64450" y="69726"/>
                  <a:pt x="64450" y="75485"/>
                  <a:pt x="60904" y="79030"/>
                </a:cubicBezTo>
                <a:lnTo>
                  <a:pt x="15517" y="124418"/>
                </a:lnTo>
                <a:cubicBezTo>
                  <a:pt x="11971" y="127963"/>
                  <a:pt x="6212" y="127963"/>
                  <a:pt x="2666" y="124418"/>
                </a:cubicBezTo>
                <a:cubicBezTo>
                  <a:pt x="-879" y="120872"/>
                  <a:pt x="-879" y="115113"/>
                  <a:pt x="2666" y="111567"/>
                </a:cubicBezTo>
                <a:lnTo>
                  <a:pt x="41614" y="72619"/>
                </a:lnTo>
                <a:lnTo>
                  <a:pt x="2666" y="33643"/>
                </a:lnTo>
                <a:close/>
                <a:moveTo>
                  <a:pt x="63542" y="108929"/>
                </a:moveTo>
                <a:lnTo>
                  <a:pt x="136161" y="108929"/>
                </a:lnTo>
                <a:cubicBezTo>
                  <a:pt x="141182" y="108929"/>
                  <a:pt x="145239" y="112986"/>
                  <a:pt x="145239" y="118007"/>
                </a:cubicBezTo>
                <a:cubicBezTo>
                  <a:pt x="145239" y="123028"/>
                  <a:pt x="141182" y="127084"/>
                  <a:pt x="136161" y="127084"/>
                </a:cubicBezTo>
                <a:lnTo>
                  <a:pt x="63542" y="127084"/>
                </a:lnTo>
                <a:cubicBezTo>
                  <a:pt x="58521" y="127084"/>
                  <a:pt x="54465" y="123028"/>
                  <a:pt x="54465" y="118007"/>
                </a:cubicBezTo>
                <a:cubicBezTo>
                  <a:pt x="54465" y="112986"/>
                  <a:pt x="58521" y="108929"/>
                  <a:pt x="63542" y="108929"/>
                </a:cubicBezTo>
                <a:close/>
              </a:path>
            </a:pathLst>
          </a:custGeom>
          <a:solidFill>
            <a:srgbClr val="00A4E0"/>
          </a:solidFill>
          <a:ln/>
        </p:spPr>
      </p:sp>
      <p:sp>
        <p:nvSpPr>
          <p:cNvPr id="21" name="Text 19"/>
          <p:cNvSpPr/>
          <p:nvPr/>
        </p:nvSpPr>
        <p:spPr>
          <a:xfrm>
            <a:off x="910164" y="4069916"/>
            <a:ext cx="1516940" cy="225927"/>
          </a:xfrm>
          <a:prstGeom prst="rect">
            <a:avLst/>
          </a:prstGeom>
          <a:noFill/>
          <a:ln/>
        </p:spPr>
        <p:txBody>
          <a:bodyPr wrap="square" lIns="0" tIns="0" rIns="0" bIns="0" rtlCol="0" anchor="ctr"/>
          <a:lstStyle/>
          <a:p>
            <a:pPr>
              <a:lnSpc>
                <a:spcPct val="120000"/>
              </a:lnSpc>
            </a:pPr>
            <a:r>
              <a:rPr lang="en-US" sz="1271" b="1" dirty="0">
                <a:solidFill>
                  <a:srgbClr val="E8EAED"/>
                </a:solidFill>
                <a:latin typeface="Liter" pitchFamily="34" charset="0"/>
                <a:ea typeface="Liter" pitchFamily="34" charset="-122"/>
                <a:cs typeface="Liter" pitchFamily="34" charset="-120"/>
              </a:rPr>
              <a:t>Enable Aegis via API</a:t>
            </a:r>
            <a:endParaRPr lang="en-US" sz="1600" dirty="0"/>
          </a:p>
        </p:txBody>
      </p:sp>
      <p:sp>
        <p:nvSpPr>
          <p:cNvPr id="22" name="Shape 20"/>
          <p:cNvSpPr/>
          <p:nvPr/>
        </p:nvSpPr>
        <p:spPr>
          <a:xfrm>
            <a:off x="500267" y="4473358"/>
            <a:ext cx="5367385" cy="1807418"/>
          </a:xfrm>
          <a:custGeom>
            <a:avLst/>
            <a:gdLst/>
            <a:ahLst/>
            <a:cxnLst/>
            <a:rect l="l" t="t" r="r" b="b"/>
            <a:pathLst>
              <a:path w="5367385" h="1807418">
                <a:moveTo>
                  <a:pt x="19365" y="0"/>
                </a:moveTo>
                <a:lnTo>
                  <a:pt x="5302842" y="0"/>
                </a:lnTo>
                <a:cubicBezTo>
                  <a:pt x="5338488" y="0"/>
                  <a:pt x="5367385" y="28897"/>
                  <a:pt x="5367385" y="64543"/>
                </a:cubicBezTo>
                <a:lnTo>
                  <a:pt x="5367385" y="1742875"/>
                </a:lnTo>
                <a:cubicBezTo>
                  <a:pt x="5367385" y="1778521"/>
                  <a:pt x="5338488" y="1807418"/>
                  <a:pt x="5302842" y="1807418"/>
                </a:cubicBezTo>
                <a:lnTo>
                  <a:pt x="19365" y="1807418"/>
                </a:lnTo>
                <a:cubicBezTo>
                  <a:pt x="8670" y="1807418"/>
                  <a:pt x="0" y="1798748"/>
                  <a:pt x="0" y="1788052"/>
                </a:cubicBezTo>
                <a:lnTo>
                  <a:pt x="0" y="19365"/>
                </a:lnTo>
                <a:cubicBezTo>
                  <a:pt x="0" y="8677"/>
                  <a:pt x="8677" y="0"/>
                  <a:pt x="19365" y="0"/>
                </a:cubicBezTo>
                <a:close/>
              </a:path>
            </a:pathLst>
          </a:custGeom>
          <a:solidFill>
            <a:srgbClr val="1A1D21">
              <a:alpha val="90196"/>
            </a:srgbClr>
          </a:solidFill>
          <a:ln/>
        </p:spPr>
      </p:sp>
      <p:sp>
        <p:nvSpPr>
          <p:cNvPr id="23" name="Shape 21"/>
          <p:cNvSpPr/>
          <p:nvPr/>
        </p:nvSpPr>
        <p:spPr>
          <a:xfrm>
            <a:off x="500267" y="4473358"/>
            <a:ext cx="19365" cy="1807418"/>
          </a:xfrm>
          <a:custGeom>
            <a:avLst/>
            <a:gdLst/>
            <a:ahLst/>
            <a:cxnLst/>
            <a:rect l="l" t="t" r="r" b="b"/>
            <a:pathLst>
              <a:path w="19365" h="1807418">
                <a:moveTo>
                  <a:pt x="19365" y="0"/>
                </a:moveTo>
                <a:lnTo>
                  <a:pt x="19365" y="0"/>
                </a:lnTo>
                <a:lnTo>
                  <a:pt x="19365" y="1807418"/>
                </a:lnTo>
                <a:lnTo>
                  <a:pt x="19365" y="1807418"/>
                </a:lnTo>
                <a:cubicBezTo>
                  <a:pt x="8670" y="1807418"/>
                  <a:pt x="0" y="1798748"/>
                  <a:pt x="0" y="1788052"/>
                </a:cubicBezTo>
                <a:lnTo>
                  <a:pt x="0" y="19365"/>
                </a:lnTo>
                <a:cubicBezTo>
                  <a:pt x="0" y="8677"/>
                  <a:pt x="8677" y="0"/>
                  <a:pt x="19365" y="0"/>
                </a:cubicBezTo>
                <a:close/>
              </a:path>
            </a:pathLst>
          </a:custGeom>
          <a:solidFill>
            <a:srgbClr val="F47C20"/>
          </a:solidFill>
          <a:ln/>
        </p:spPr>
      </p:sp>
      <p:sp>
        <p:nvSpPr>
          <p:cNvPr id="24" name="Text 22"/>
          <p:cNvSpPr/>
          <p:nvPr/>
        </p:nvSpPr>
        <p:spPr>
          <a:xfrm>
            <a:off x="567239" y="4667010"/>
            <a:ext cx="5220532" cy="1613766"/>
          </a:xfrm>
          <a:prstGeom prst="rect">
            <a:avLst/>
          </a:prstGeom>
          <a:noFill/>
          <a:ln/>
        </p:spPr>
        <p:txBody>
          <a:bodyPr wrap="square" lIns="0" tIns="0" rIns="0" bIns="0" rtlCol="0" anchor="ctr"/>
          <a:lstStyle/>
          <a:p>
            <a:pPr>
              <a:lnSpc>
                <a:spcPct val="100000"/>
              </a:lnSpc>
            </a:pPr>
            <a:r>
              <a:rPr lang="en-US" sz="889" dirty="0">
                <a:solidFill>
                  <a:srgbClr val="E8EAED">
                    <a:alpha val="90000"/>
                  </a:srgbClr>
                </a:solidFill>
                <a:latin typeface="MiSans" pitchFamily="34" charset="0"/>
                <a:ea typeface="MiSans" pitchFamily="34" charset="-122"/>
                <a:cs typeface="MiSans" pitchFamily="34" charset="-120"/>
              </a:rPr>
              <a:t>curl "https://api.cloudflare.com/client/v4/zones/$ZONE_ID/settings/aegis" \</a:t>
            </a:r>
            <a:endParaRPr lang="en-US" sz="1600" dirty="0"/>
          </a:p>
          <a:p>
            <a:pPr>
              <a:lnSpc>
                <a:spcPct val="100000"/>
              </a:lnSpc>
            </a:pPr>
            <a:r>
              <a:rPr lang="en-US" sz="889" dirty="0">
                <a:solidFill>
                  <a:srgbClr val="E8EAED">
                    <a:alpha val="90000"/>
                  </a:srgbClr>
                </a:solidFill>
                <a:latin typeface="MiSans" pitchFamily="34" charset="0"/>
                <a:ea typeface="MiSans" pitchFamily="34" charset="-122"/>
                <a:cs typeface="MiSans" pitchFamily="34" charset="-120"/>
              </a:rPr>
              <a:t>  --request PATCH \</a:t>
            </a:r>
            <a:endParaRPr lang="en-US" sz="1600" dirty="0"/>
          </a:p>
          <a:p>
            <a:pPr>
              <a:lnSpc>
                <a:spcPct val="100000"/>
              </a:lnSpc>
            </a:pPr>
            <a:r>
              <a:rPr lang="en-US" sz="889" dirty="0">
                <a:solidFill>
                  <a:srgbClr val="E8EAED">
                    <a:alpha val="90000"/>
                  </a:srgbClr>
                </a:solidFill>
                <a:latin typeface="MiSans" pitchFamily="34" charset="0"/>
                <a:ea typeface="MiSans" pitchFamily="34" charset="-122"/>
                <a:cs typeface="MiSans" pitchFamily="34" charset="-120"/>
              </a:rPr>
              <a:t>  --header "Authorization: Bearer $TOKEN" \</a:t>
            </a:r>
            <a:endParaRPr lang="en-US" sz="1600" dirty="0"/>
          </a:p>
          <a:p>
            <a:pPr>
              <a:lnSpc>
                <a:spcPct val="100000"/>
              </a:lnSpc>
            </a:pPr>
            <a:r>
              <a:rPr lang="en-US" sz="889" dirty="0">
                <a:solidFill>
                  <a:srgbClr val="E8EAED">
                    <a:alpha val="90000"/>
                  </a:srgbClr>
                </a:solidFill>
                <a:latin typeface="MiSans" pitchFamily="34" charset="0"/>
                <a:ea typeface="MiSans" pitchFamily="34" charset="-122"/>
                <a:cs typeface="MiSans" pitchFamily="34" charset="-120"/>
              </a:rPr>
              <a:t>  --json '{</a:t>
            </a:r>
            <a:endParaRPr lang="en-US" sz="1600" dirty="0"/>
          </a:p>
          <a:p>
            <a:pPr>
              <a:lnSpc>
                <a:spcPct val="100000"/>
              </a:lnSpc>
            </a:pPr>
            <a:r>
              <a:rPr lang="en-US" sz="889" dirty="0">
                <a:solidFill>
                  <a:srgbClr val="E8EAED">
                    <a:alpha val="90000"/>
                  </a:srgbClr>
                </a:solidFill>
                <a:latin typeface="MiSans" pitchFamily="34" charset="0"/>
                <a:ea typeface="MiSans" pitchFamily="34" charset="-122"/>
                <a:cs typeface="MiSans" pitchFamily="34" charset="-120"/>
              </a:rPr>
              <a:t>    "id": "aegis",</a:t>
            </a:r>
            <a:endParaRPr lang="en-US" sz="1600" dirty="0"/>
          </a:p>
          <a:p>
            <a:pPr>
              <a:lnSpc>
                <a:spcPct val="100000"/>
              </a:lnSpc>
            </a:pPr>
            <a:r>
              <a:rPr lang="en-US" sz="889" dirty="0">
                <a:solidFill>
                  <a:srgbClr val="E8EAED">
                    <a:alpha val="90000"/>
                  </a:srgbClr>
                </a:solidFill>
                <a:latin typeface="MiSans" pitchFamily="34" charset="0"/>
                <a:ea typeface="MiSans" pitchFamily="34" charset="-122"/>
                <a:cs typeface="MiSans" pitchFamily="34" charset="-120"/>
              </a:rPr>
              <a:t>    "value": {</a:t>
            </a:r>
            <a:endParaRPr lang="en-US" sz="1600" dirty="0"/>
          </a:p>
          <a:p>
            <a:pPr>
              <a:lnSpc>
                <a:spcPct val="100000"/>
              </a:lnSpc>
            </a:pPr>
            <a:r>
              <a:rPr lang="en-US" sz="889" dirty="0">
                <a:solidFill>
                  <a:srgbClr val="E8EAED">
                    <a:alpha val="90000"/>
                  </a:srgbClr>
                </a:solidFill>
                <a:latin typeface="MiSans" pitchFamily="34" charset="0"/>
                <a:ea typeface="MiSans" pitchFamily="34" charset="-122"/>
                <a:cs typeface="MiSans" pitchFamily="34" charset="-120"/>
              </a:rPr>
              <a:t>      "enabled": true,</a:t>
            </a:r>
            <a:endParaRPr lang="en-US" sz="1600" dirty="0"/>
          </a:p>
          <a:p>
            <a:pPr>
              <a:lnSpc>
                <a:spcPct val="100000"/>
              </a:lnSpc>
            </a:pPr>
            <a:r>
              <a:rPr lang="en-US" sz="889" dirty="0">
                <a:solidFill>
                  <a:srgbClr val="E8EAED">
                    <a:alpha val="90000"/>
                  </a:srgbClr>
                </a:solidFill>
                <a:latin typeface="MiSans" pitchFamily="34" charset="0"/>
                <a:ea typeface="MiSans" pitchFamily="34" charset="-122"/>
                <a:cs typeface="MiSans" pitchFamily="34" charset="-120"/>
              </a:rPr>
              <a:t>      "pool_id": ""</a:t>
            </a:r>
            <a:endParaRPr lang="en-US" sz="1600" dirty="0"/>
          </a:p>
          <a:p>
            <a:pPr>
              <a:lnSpc>
                <a:spcPct val="100000"/>
              </a:lnSpc>
            </a:pPr>
            <a:r>
              <a:rPr lang="en-US" sz="889"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889" dirty="0">
                <a:solidFill>
                  <a:srgbClr val="E8EAED">
                    <a:alpha val="90000"/>
                  </a:srgbClr>
                </a:solidFill>
                <a:latin typeface="MiSans" pitchFamily="34" charset="0"/>
                <a:ea typeface="MiSans" pitchFamily="34" charset="-122"/>
                <a:cs typeface="MiSans" pitchFamily="34" charset="-120"/>
              </a:rPr>
              <a:t>  }'</a:t>
            </a:r>
            <a:endParaRPr lang="en-US" sz="1600" dirty="0"/>
          </a:p>
        </p:txBody>
      </p:sp>
      <p:sp>
        <p:nvSpPr>
          <p:cNvPr id="25" name="Shape 23"/>
          <p:cNvSpPr/>
          <p:nvPr/>
        </p:nvSpPr>
        <p:spPr>
          <a:xfrm>
            <a:off x="506722" y="6403423"/>
            <a:ext cx="129101" cy="129101"/>
          </a:xfrm>
          <a:custGeom>
            <a:avLst/>
            <a:gdLst/>
            <a:ahLst/>
            <a:cxnLst/>
            <a:rect l="l" t="t" r="r" b="b"/>
            <a:pathLst>
              <a:path w="129101" h="129101">
                <a:moveTo>
                  <a:pt x="64551" y="129101"/>
                </a:moveTo>
                <a:cubicBezTo>
                  <a:pt x="100177" y="129101"/>
                  <a:pt x="129101" y="100177"/>
                  <a:pt x="129101" y="64551"/>
                </a:cubicBezTo>
                <a:cubicBezTo>
                  <a:pt x="129101" y="28924"/>
                  <a:pt x="100177" y="0"/>
                  <a:pt x="64551" y="0"/>
                </a:cubicBezTo>
                <a:cubicBezTo>
                  <a:pt x="28924" y="0"/>
                  <a:pt x="0" y="28924"/>
                  <a:pt x="0" y="64551"/>
                </a:cubicBezTo>
                <a:cubicBezTo>
                  <a:pt x="0" y="100177"/>
                  <a:pt x="28924" y="129101"/>
                  <a:pt x="64551" y="129101"/>
                </a:cubicBezTo>
                <a:close/>
                <a:moveTo>
                  <a:pt x="56482" y="40344"/>
                </a:moveTo>
                <a:cubicBezTo>
                  <a:pt x="56482" y="35891"/>
                  <a:pt x="60097" y="32275"/>
                  <a:pt x="64551" y="32275"/>
                </a:cubicBezTo>
                <a:cubicBezTo>
                  <a:pt x="69004" y="32275"/>
                  <a:pt x="72619" y="35891"/>
                  <a:pt x="72619" y="40344"/>
                </a:cubicBezTo>
                <a:cubicBezTo>
                  <a:pt x="72619" y="44797"/>
                  <a:pt x="69004" y="48413"/>
                  <a:pt x="64551" y="48413"/>
                </a:cubicBezTo>
                <a:cubicBezTo>
                  <a:pt x="60097" y="48413"/>
                  <a:pt x="56482" y="44797"/>
                  <a:pt x="56482" y="40344"/>
                </a:cubicBezTo>
                <a:close/>
                <a:moveTo>
                  <a:pt x="54465" y="56482"/>
                </a:moveTo>
                <a:lnTo>
                  <a:pt x="66568" y="56482"/>
                </a:lnTo>
                <a:cubicBezTo>
                  <a:pt x="69921" y="56482"/>
                  <a:pt x="72619" y="59180"/>
                  <a:pt x="72619" y="62533"/>
                </a:cubicBezTo>
                <a:lnTo>
                  <a:pt x="72619" y="84723"/>
                </a:lnTo>
                <a:lnTo>
                  <a:pt x="74637" y="84723"/>
                </a:lnTo>
                <a:cubicBezTo>
                  <a:pt x="77990" y="84723"/>
                  <a:pt x="80688" y="87421"/>
                  <a:pt x="80688" y="90774"/>
                </a:cubicBezTo>
                <a:cubicBezTo>
                  <a:pt x="80688" y="94128"/>
                  <a:pt x="77990" y="96826"/>
                  <a:pt x="74637" y="96826"/>
                </a:cubicBezTo>
                <a:lnTo>
                  <a:pt x="54465" y="96826"/>
                </a:lnTo>
                <a:cubicBezTo>
                  <a:pt x="51111" y="96826"/>
                  <a:pt x="48413" y="94128"/>
                  <a:pt x="48413" y="90774"/>
                </a:cubicBezTo>
                <a:cubicBezTo>
                  <a:pt x="48413" y="87421"/>
                  <a:pt x="51111" y="84723"/>
                  <a:pt x="54465" y="84723"/>
                </a:cubicBezTo>
                <a:lnTo>
                  <a:pt x="60516" y="84723"/>
                </a:lnTo>
                <a:lnTo>
                  <a:pt x="60516" y="68585"/>
                </a:lnTo>
                <a:lnTo>
                  <a:pt x="54465" y="68585"/>
                </a:lnTo>
                <a:cubicBezTo>
                  <a:pt x="51111" y="68585"/>
                  <a:pt x="48413" y="65887"/>
                  <a:pt x="48413" y="62533"/>
                </a:cubicBezTo>
                <a:cubicBezTo>
                  <a:pt x="48413" y="59180"/>
                  <a:pt x="51111" y="56482"/>
                  <a:pt x="54465" y="56482"/>
                </a:cubicBezTo>
                <a:close/>
              </a:path>
            </a:pathLst>
          </a:custGeom>
          <a:solidFill>
            <a:srgbClr val="00A4E0"/>
          </a:solidFill>
          <a:ln/>
        </p:spPr>
      </p:sp>
      <p:sp>
        <p:nvSpPr>
          <p:cNvPr id="26" name="Text 24"/>
          <p:cNvSpPr/>
          <p:nvPr/>
        </p:nvSpPr>
        <p:spPr>
          <a:xfrm>
            <a:off x="692973" y="6377601"/>
            <a:ext cx="5236002" cy="193652"/>
          </a:xfrm>
          <a:prstGeom prst="rect">
            <a:avLst/>
          </a:prstGeom>
          <a:noFill/>
          <a:ln/>
        </p:spPr>
        <p:txBody>
          <a:bodyPr wrap="square" lIns="0" tIns="0" rIns="0" bIns="0" rtlCol="0" anchor="ctr"/>
          <a:lstStyle/>
          <a:p>
            <a:pPr>
              <a:lnSpc>
                <a:spcPct val="130000"/>
              </a:lnSpc>
            </a:pPr>
            <a:r>
              <a:rPr lang="en-US" sz="1017" dirty="0">
                <a:solidFill>
                  <a:srgbClr val="E8EAED">
                    <a:alpha val="70000"/>
                  </a:srgbClr>
                </a:solidFill>
                <a:latin typeface="Liter" pitchFamily="34" charset="0"/>
                <a:ea typeface="Liter" pitchFamily="34" charset="-122"/>
                <a:cs typeface="Liter" pitchFamily="34" charset="-120"/>
              </a:rPr>
              <a:t>Required permission: </a:t>
            </a:r>
            <a:pPr>
              <a:lnSpc>
                <a:spcPct val="130000"/>
              </a:lnSpc>
            </a:pPr>
            <a:r>
              <a:rPr lang="en-US" sz="1017" dirty="0">
                <a:solidFill>
                  <a:srgbClr val="00A4E0"/>
                </a:solidFill>
                <a:latin typeface="MiSans" pitchFamily="34" charset="0"/>
                <a:ea typeface="MiSans" pitchFamily="34" charset="-122"/>
                <a:cs typeface="MiSans" pitchFamily="34" charset="-120"/>
              </a:rPr>
              <a:t>Zone Settings Write</a:t>
            </a:r>
            <a:endParaRPr lang="en-US" sz="1600" dirty="0"/>
          </a:p>
        </p:txBody>
      </p:sp>
      <p:sp>
        <p:nvSpPr>
          <p:cNvPr id="27" name="Shape 25"/>
          <p:cNvSpPr/>
          <p:nvPr/>
        </p:nvSpPr>
        <p:spPr>
          <a:xfrm>
            <a:off x="6164182" y="1036038"/>
            <a:ext cx="5703048" cy="2491654"/>
          </a:xfrm>
          <a:custGeom>
            <a:avLst/>
            <a:gdLst/>
            <a:ahLst/>
            <a:cxnLst/>
            <a:rect l="l" t="t" r="r" b="b"/>
            <a:pathLst>
              <a:path w="5703048" h="2491654">
                <a:moveTo>
                  <a:pt x="96826" y="0"/>
                </a:moveTo>
                <a:lnTo>
                  <a:pt x="5606222" y="0"/>
                </a:lnTo>
                <a:cubicBezTo>
                  <a:pt x="5659698" y="0"/>
                  <a:pt x="5703048" y="43350"/>
                  <a:pt x="5703048" y="96826"/>
                </a:cubicBezTo>
                <a:lnTo>
                  <a:pt x="5703048" y="2394829"/>
                </a:lnTo>
                <a:cubicBezTo>
                  <a:pt x="5703048" y="2448304"/>
                  <a:pt x="5659698" y="2491654"/>
                  <a:pt x="5606222" y="2491654"/>
                </a:cubicBezTo>
                <a:lnTo>
                  <a:pt x="96826" y="2491654"/>
                </a:lnTo>
                <a:cubicBezTo>
                  <a:pt x="43350" y="2491654"/>
                  <a:pt x="0" y="2448304"/>
                  <a:pt x="0" y="2394829"/>
                </a:cubicBezTo>
                <a:lnTo>
                  <a:pt x="0" y="96826"/>
                </a:lnTo>
                <a:cubicBezTo>
                  <a:pt x="0" y="43386"/>
                  <a:pt x="43386" y="0"/>
                  <a:pt x="96826" y="0"/>
                </a:cubicBezTo>
                <a:close/>
              </a:path>
            </a:pathLst>
          </a:custGeom>
          <a:solidFill>
            <a:srgbClr val="48515E">
              <a:alpha val="20000"/>
            </a:srgbClr>
          </a:solidFill>
          <a:ln w="10160">
            <a:solidFill>
              <a:srgbClr val="48515E">
                <a:alpha val="40000"/>
              </a:srgbClr>
            </a:solidFill>
            <a:prstDash val="solid"/>
          </a:ln>
        </p:spPr>
      </p:sp>
      <p:sp>
        <p:nvSpPr>
          <p:cNvPr id="28" name="Shape 26"/>
          <p:cNvSpPr/>
          <p:nvPr/>
        </p:nvSpPr>
        <p:spPr>
          <a:xfrm>
            <a:off x="6328786" y="1200642"/>
            <a:ext cx="322753" cy="322753"/>
          </a:xfrm>
          <a:custGeom>
            <a:avLst/>
            <a:gdLst/>
            <a:ahLst/>
            <a:cxnLst/>
            <a:rect l="l" t="t" r="r" b="b"/>
            <a:pathLst>
              <a:path w="322753" h="322753">
                <a:moveTo>
                  <a:pt x="64551" y="0"/>
                </a:moveTo>
                <a:lnTo>
                  <a:pt x="258203" y="0"/>
                </a:lnTo>
                <a:cubicBezTo>
                  <a:pt x="293853" y="0"/>
                  <a:pt x="322753" y="28900"/>
                  <a:pt x="322753" y="64551"/>
                </a:cubicBezTo>
                <a:lnTo>
                  <a:pt x="322753" y="258203"/>
                </a:lnTo>
                <a:cubicBezTo>
                  <a:pt x="322753" y="293853"/>
                  <a:pt x="293853" y="322753"/>
                  <a:pt x="258203" y="322753"/>
                </a:cubicBezTo>
                <a:lnTo>
                  <a:pt x="64551" y="322753"/>
                </a:lnTo>
                <a:cubicBezTo>
                  <a:pt x="28900" y="322753"/>
                  <a:pt x="0" y="293853"/>
                  <a:pt x="0" y="258203"/>
                </a:cubicBezTo>
                <a:lnTo>
                  <a:pt x="0" y="64551"/>
                </a:lnTo>
                <a:cubicBezTo>
                  <a:pt x="0" y="28900"/>
                  <a:pt x="28900" y="0"/>
                  <a:pt x="64551" y="0"/>
                </a:cubicBezTo>
                <a:close/>
              </a:path>
            </a:pathLst>
          </a:custGeom>
          <a:solidFill>
            <a:srgbClr val="F47C20">
              <a:alpha val="20000"/>
            </a:srgbClr>
          </a:solidFill>
          <a:ln/>
        </p:spPr>
      </p:sp>
      <p:sp>
        <p:nvSpPr>
          <p:cNvPr id="29" name="Shape 27"/>
          <p:cNvSpPr/>
          <p:nvPr/>
        </p:nvSpPr>
        <p:spPr>
          <a:xfrm>
            <a:off x="6419560" y="1289399"/>
            <a:ext cx="145239" cy="145239"/>
          </a:xfrm>
          <a:custGeom>
            <a:avLst/>
            <a:gdLst/>
            <a:ahLst/>
            <a:cxnLst/>
            <a:rect l="l" t="t" r="r" b="b"/>
            <a:pathLst>
              <a:path w="145239" h="145239">
                <a:moveTo>
                  <a:pt x="11347" y="13616"/>
                </a:moveTo>
                <a:cubicBezTo>
                  <a:pt x="7574" y="13616"/>
                  <a:pt x="4539" y="16651"/>
                  <a:pt x="4539" y="20424"/>
                </a:cubicBezTo>
                <a:lnTo>
                  <a:pt x="4539" y="34040"/>
                </a:lnTo>
                <a:cubicBezTo>
                  <a:pt x="4539" y="37813"/>
                  <a:pt x="7574" y="40848"/>
                  <a:pt x="11347" y="40848"/>
                </a:cubicBezTo>
                <a:lnTo>
                  <a:pt x="24963" y="40848"/>
                </a:lnTo>
                <a:cubicBezTo>
                  <a:pt x="28736" y="40848"/>
                  <a:pt x="31771" y="37813"/>
                  <a:pt x="31771" y="34040"/>
                </a:cubicBezTo>
                <a:lnTo>
                  <a:pt x="31771" y="20424"/>
                </a:lnTo>
                <a:cubicBezTo>
                  <a:pt x="31771" y="16651"/>
                  <a:pt x="28736" y="13616"/>
                  <a:pt x="24963" y="13616"/>
                </a:cubicBezTo>
                <a:lnTo>
                  <a:pt x="11347" y="13616"/>
                </a:lnTo>
                <a:close/>
                <a:moveTo>
                  <a:pt x="54465" y="18155"/>
                </a:moveTo>
                <a:cubicBezTo>
                  <a:pt x="49444" y="18155"/>
                  <a:pt x="45387" y="22211"/>
                  <a:pt x="45387" y="27232"/>
                </a:cubicBezTo>
                <a:cubicBezTo>
                  <a:pt x="45387" y="32253"/>
                  <a:pt x="49444" y="36310"/>
                  <a:pt x="54465" y="36310"/>
                </a:cubicBezTo>
                <a:lnTo>
                  <a:pt x="136161" y="36310"/>
                </a:lnTo>
                <a:cubicBezTo>
                  <a:pt x="141182" y="36310"/>
                  <a:pt x="145239" y="32253"/>
                  <a:pt x="145239" y="27232"/>
                </a:cubicBezTo>
                <a:cubicBezTo>
                  <a:pt x="145239" y="22211"/>
                  <a:pt x="141182" y="18155"/>
                  <a:pt x="136161" y="18155"/>
                </a:cubicBezTo>
                <a:lnTo>
                  <a:pt x="54465" y="18155"/>
                </a:lnTo>
                <a:close/>
                <a:moveTo>
                  <a:pt x="54465" y="63542"/>
                </a:moveTo>
                <a:cubicBezTo>
                  <a:pt x="49444" y="63542"/>
                  <a:pt x="45387" y="67599"/>
                  <a:pt x="45387" y="72619"/>
                </a:cubicBezTo>
                <a:cubicBezTo>
                  <a:pt x="45387" y="77640"/>
                  <a:pt x="49444" y="81697"/>
                  <a:pt x="54465" y="81697"/>
                </a:cubicBezTo>
                <a:lnTo>
                  <a:pt x="136161" y="81697"/>
                </a:lnTo>
                <a:cubicBezTo>
                  <a:pt x="141182" y="81697"/>
                  <a:pt x="145239" y="77640"/>
                  <a:pt x="145239" y="72619"/>
                </a:cubicBezTo>
                <a:cubicBezTo>
                  <a:pt x="145239" y="67599"/>
                  <a:pt x="141182" y="63542"/>
                  <a:pt x="136161" y="63542"/>
                </a:cubicBezTo>
                <a:lnTo>
                  <a:pt x="54465" y="63542"/>
                </a:lnTo>
                <a:close/>
                <a:moveTo>
                  <a:pt x="54465" y="108929"/>
                </a:moveTo>
                <a:cubicBezTo>
                  <a:pt x="49444" y="108929"/>
                  <a:pt x="45387" y="112986"/>
                  <a:pt x="45387" y="118007"/>
                </a:cubicBezTo>
                <a:cubicBezTo>
                  <a:pt x="45387" y="123028"/>
                  <a:pt x="49444" y="127084"/>
                  <a:pt x="54465" y="127084"/>
                </a:cubicBezTo>
                <a:lnTo>
                  <a:pt x="136161" y="127084"/>
                </a:lnTo>
                <a:cubicBezTo>
                  <a:pt x="141182" y="127084"/>
                  <a:pt x="145239" y="123028"/>
                  <a:pt x="145239" y="118007"/>
                </a:cubicBezTo>
                <a:cubicBezTo>
                  <a:pt x="145239" y="112986"/>
                  <a:pt x="141182" y="108929"/>
                  <a:pt x="136161" y="108929"/>
                </a:cubicBezTo>
                <a:lnTo>
                  <a:pt x="54465" y="108929"/>
                </a:lnTo>
                <a:close/>
                <a:moveTo>
                  <a:pt x="4539" y="65811"/>
                </a:moveTo>
                <a:lnTo>
                  <a:pt x="4539" y="79428"/>
                </a:lnTo>
                <a:cubicBezTo>
                  <a:pt x="4539" y="83200"/>
                  <a:pt x="7574" y="86236"/>
                  <a:pt x="11347" y="86236"/>
                </a:cubicBezTo>
                <a:lnTo>
                  <a:pt x="24963" y="86236"/>
                </a:lnTo>
                <a:cubicBezTo>
                  <a:pt x="28736" y="86236"/>
                  <a:pt x="31771" y="83200"/>
                  <a:pt x="31771" y="79428"/>
                </a:cubicBezTo>
                <a:lnTo>
                  <a:pt x="31771" y="65811"/>
                </a:lnTo>
                <a:cubicBezTo>
                  <a:pt x="31771" y="62039"/>
                  <a:pt x="28736" y="59003"/>
                  <a:pt x="24963" y="59003"/>
                </a:cubicBezTo>
                <a:lnTo>
                  <a:pt x="11347" y="59003"/>
                </a:lnTo>
                <a:cubicBezTo>
                  <a:pt x="7574" y="59003"/>
                  <a:pt x="4539" y="62039"/>
                  <a:pt x="4539" y="65811"/>
                </a:cubicBezTo>
                <a:close/>
                <a:moveTo>
                  <a:pt x="11347" y="104390"/>
                </a:moveTo>
                <a:cubicBezTo>
                  <a:pt x="7574" y="104390"/>
                  <a:pt x="4539" y="107426"/>
                  <a:pt x="4539" y="111199"/>
                </a:cubicBezTo>
                <a:lnTo>
                  <a:pt x="4539" y="124815"/>
                </a:lnTo>
                <a:cubicBezTo>
                  <a:pt x="4539" y="128588"/>
                  <a:pt x="7574" y="131623"/>
                  <a:pt x="11347" y="131623"/>
                </a:cubicBezTo>
                <a:lnTo>
                  <a:pt x="24963" y="131623"/>
                </a:lnTo>
                <a:cubicBezTo>
                  <a:pt x="28736" y="131623"/>
                  <a:pt x="31771" y="128588"/>
                  <a:pt x="31771" y="124815"/>
                </a:cubicBezTo>
                <a:lnTo>
                  <a:pt x="31771" y="111199"/>
                </a:lnTo>
                <a:cubicBezTo>
                  <a:pt x="31771" y="107426"/>
                  <a:pt x="28736" y="104390"/>
                  <a:pt x="24963" y="104390"/>
                </a:cubicBezTo>
                <a:lnTo>
                  <a:pt x="11347" y="104390"/>
                </a:lnTo>
                <a:close/>
              </a:path>
            </a:pathLst>
          </a:custGeom>
          <a:solidFill>
            <a:srgbClr val="F47C20"/>
          </a:solidFill>
          <a:ln/>
        </p:spPr>
      </p:sp>
      <p:sp>
        <p:nvSpPr>
          <p:cNvPr id="30" name="Text 28"/>
          <p:cNvSpPr/>
          <p:nvPr/>
        </p:nvSpPr>
        <p:spPr>
          <a:xfrm>
            <a:off x="6748365" y="1249055"/>
            <a:ext cx="1863899" cy="225927"/>
          </a:xfrm>
          <a:prstGeom prst="rect">
            <a:avLst/>
          </a:prstGeom>
          <a:noFill/>
          <a:ln/>
        </p:spPr>
        <p:txBody>
          <a:bodyPr wrap="square" lIns="0" tIns="0" rIns="0" bIns="0" rtlCol="0" anchor="ctr"/>
          <a:lstStyle/>
          <a:p>
            <a:pPr>
              <a:lnSpc>
                <a:spcPct val="120000"/>
              </a:lnSpc>
            </a:pPr>
            <a:r>
              <a:rPr lang="en-US" sz="1271" b="1" dirty="0">
                <a:solidFill>
                  <a:srgbClr val="E8EAED"/>
                </a:solidFill>
                <a:latin typeface="Liter" pitchFamily="34" charset="0"/>
                <a:ea typeface="Liter" pitchFamily="34" charset="-122"/>
                <a:cs typeface="Liter" pitchFamily="34" charset="-120"/>
              </a:rPr>
              <a:t>Example Aegis IP Ranges</a:t>
            </a:r>
            <a:endParaRPr lang="en-US" sz="1600" dirty="0"/>
          </a:p>
        </p:txBody>
      </p:sp>
      <p:sp>
        <p:nvSpPr>
          <p:cNvPr id="31" name="Text 29"/>
          <p:cNvSpPr/>
          <p:nvPr/>
        </p:nvSpPr>
        <p:spPr>
          <a:xfrm>
            <a:off x="6328786" y="1652496"/>
            <a:ext cx="5438390" cy="193652"/>
          </a:xfrm>
          <a:prstGeom prst="rect">
            <a:avLst/>
          </a:prstGeom>
          <a:noFill/>
          <a:ln/>
        </p:spPr>
        <p:txBody>
          <a:bodyPr wrap="square" lIns="0" tIns="0" rIns="0" bIns="0" rtlCol="0" anchor="ctr"/>
          <a:lstStyle/>
          <a:p>
            <a:pPr>
              <a:lnSpc>
                <a:spcPct val="130000"/>
              </a:lnSpc>
            </a:pPr>
            <a:r>
              <a:rPr lang="en-US" sz="1017" b="1" dirty="0">
                <a:solidFill>
                  <a:srgbClr val="E8EAED"/>
                </a:solidFill>
                <a:latin typeface="Liter" pitchFamily="34" charset="0"/>
                <a:ea typeface="Liter" pitchFamily="34" charset="-122"/>
                <a:cs typeface="Liter" pitchFamily="34" charset="-120"/>
              </a:rPr>
              <a:t>IPv4 Addresses </a:t>
            </a:r>
            <a:endParaRPr lang="en-US" sz="1600" dirty="0"/>
          </a:p>
        </p:txBody>
      </p:sp>
      <p:sp>
        <p:nvSpPr>
          <p:cNvPr id="32" name="Shape 30"/>
          <p:cNvSpPr/>
          <p:nvPr/>
        </p:nvSpPr>
        <p:spPr>
          <a:xfrm>
            <a:off x="6328786" y="1910697"/>
            <a:ext cx="5373840" cy="548680"/>
          </a:xfrm>
          <a:custGeom>
            <a:avLst/>
            <a:gdLst/>
            <a:ahLst/>
            <a:cxnLst/>
            <a:rect l="l" t="t" r="r" b="b"/>
            <a:pathLst>
              <a:path w="5373840" h="548680">
                <a:moveTo>
                  <a:pt x="64552" y="0"/>
                </a:moveTo>
                <a:lnTo>
                  <a:pt x="5309288" y="0"/>
                </a:lnTo>
                <a:cubicBezTo>
                  <a:pt x="5344939" y="0"/>
                  <a:pt x="5373840" y="28901"/>
                  <a:pt x="5373840" y="64552"/>
                </a:cubicBezTo>
                <a:lnTo>
                  <a:pt x="5373840" y="484128"/>
                </a:lnTo>
                <a:cubicBezTo>
                  <a:pt x="5373840" y="519779"/>
                  <a:pt x="5344939" y="548680"/>
                  <a:pt x="5309288" y="548680"/>
                </a:cubicBezTo>
                <a:lnTo>
                  <a:pt x="64552" y="548680"/>
                </a:lnTo>
                <a:cubicBezTo>
                  <a:pt x="28901" y="548680"/>
                  <a:pt x="0" y="519779"/>
                  <a:pt x="0" y="484128"/>
                </a:cubicBezTo>
                <a:lnTo>
                  <a:pt x="0" y="64552"/>
                </a:lnTo>
                <a:cubicBezTo>
                  <a:pt x="0" y="28901"/>
                  <a:pt x="28901" y="0"/>
                  <a:pt x="64552" y="0"/>
                </a:cubicBezTo>
                <a:close/>
              </a:path>
            </a:pathLst>
          </a:custGeom>
          <a:solidFill>
            <a:srgbClr val="1A1D21">
              <a:alpha val="50196"/>
            </a:srgbClr>
          </a:solidFill>
          <a:ln/>
        </p:spPr>
      </p:sp>
      <p:sp>
        <p:nvSpPr>
          <p:cNvPr id="33" name="Text 31"/>
          <p:cNvSpPr/>
          <p:nvPr/>
        </p:nvSpPr>
        <p:spPr>
          <a:xfrm>
            <a:off x="6425612" y="2007523"/>
            <a:ext cx="5236670" cy="161377"/>
          </a:xfrm>
          <a:prstGeom prst="rect">
            <a:avLst/>
          </a:prstGeom>
          <a:noFill/>
          <a:ln/>
        </p:spPr>
        <p:txBody>
          <a:bodyPr wrap="square" lIns="0" tIns="0" rIns="0" bIns="0" rtlCol="0" anchor="ctr"/>
          <a:lstStyle/>
          <a:p>
            <a:pPr>
              <a:lnSpc>
                <a:spcPct val="120000"/>
              </a:lnSpc>
            </a:pPr>
            <a:r>
              <a:rPr lang="en-US" sz="889" dirty="0">
                <a:solidFill>
                  <a:srgbClr val="F47C20"/>
                </a:solidFill>
                <a:latin typeface="MiSans" pitchFamily="34" charset="0"/>
                <a:ea typeface="MiSans" pitchFamily="34" charset="-122"/>
                <a:cs typeface="MiSans" pitchFamily="34" charset="-120"/>
              </a:rPr>
              <a:t>104.28.0.85</a:t>
            </a:r>
            <a:endParaRPr lang="en-US" sz="1600" dirty="0"/>
          </a:p>
        </p:txBody>
      </p:sp>
      <p:sp>
        <p:nvSpPr>
          <p:cNvPr id="34" name="Text 32"/>
          <p:cNvSpPr/>
          <p:nvPr/>
        </p:nvSpPr>
        <p:spPr>
          <a:xfrm>
            <a:off x="6425612" y="2201175"/>
            <a:ext cx="5236670" cy="161377"/>
          </a:xfrm>
          <a:prstGeom prst="rect">
            <a:avLst/>
          </a:prstGeom>
          <a:noFill/>
          <a:ln/>
        </p:spPr>
        <p:txBody>
          <a:bodyPr wrap="square" lIns="0" tIns="0" rIns="0" bIns="0" rtlCol="0" anchor="ctr"/>
          <a:lstStyle/>
          <a:p>
            <a:pPr>
              <a:lnSpc>
                <a:spcPct val="120000"/>
              </a:lnSpc>
            </a:pPr>
            <a:r>
              <a:rPr lang="en-US" sz="889" dirty="0">
                <a:solidFill>
                  <a:srgbClr val="F47C20"/>
                </a:solidFill>
                <a:latin typeface="MiSans" pitchFamily="34" charset="0"/>
                <a:ea typeface="MiSans" pitchFamily="34" charset="-122"/>
                <a:cs typeface="MiSans" pitchFamily="34" charset="-120"/>
              </a:rPr>
              <a:t>104.28.0.86</a:t>
            </a:r>
            <a:endParaRPr lang="en-US" sz="1600" dirty="0"/>
          </a:p>
        </p:txBody>
      </p:sp>
      <p:sp>
        <p:nvSpPr>
          <p:cNvPr id="35" name="Text 33"/>
          <p:cNvSpPr/>
          <p:nvPr/>
        </p:nvSpPr>
        <p:spPr>
          <a:xfrm>
            <a:off x="6328786" y="2556203"/>
            <a:ext cx="5438390" cy="193652"/>
          </a:xfrm>
          <a:prstGeom prst="rect">
            <a:avLst/>
          </a:prstGeom>
          <a:noFill/>
          <a:ln/>
        </p:spPr>
        <p:txBody>
          <a:bodyPr wrap="square" lIns="0" tIns="0" rIns="0" bIns="0" rtlCol="0" anchor="ctr"/>
          <a:lstStyle/>
          <a:p>
            <a:pPr>
              <a:lnSpc>
                <a:spcPct val="130000"/>
              </a:lnSpc>
            </a:pPr>
            <a:r>
              <a:rPr lang="en-US" sz="1017" b="1" dirty="0">
                <a:solidFill>
                  <a:srgbClr val="E8EAED"/>
                </a:solidFill>
                <a:latin typeface="Liter" pitchFamily="34" charset="0"/>
                <a:ea typeface="Liter" pitchFamily="34" charset="-122"/>
                <a:cs typeface="Liter" pitchFamily="34" charset="-120"/>
              </a:rPr>
              <a:t>IPv6 Prefixes (Example)</a:t>
            </a:r>
            <a:endParaRPr lang="en-US" sz="1600" dirty="0"/>
          </a:p>
        </p:txBody>
      </p:sp>
      <p:sp>
        <p:nvSpPr>
          <p:cNvPr id="36" name="Shape 34"/>
          <p:cNvSpPr/>
          <p:nvPr/>
        </p:nvSpPr>
        <p:spPr>
          <a:xfrm>
            <a:off x="6328786" y="2814406"/>
            <a:ext cx="5373840" cy="548680"/>
          </a:xfrm>
          <a:custGeom>
            <a:avLst/>
            <a:gdLst/>
            <a:ahLst/>
            <a:cxnLst/>
            <a:rect l="l" t="t" r="r" b="b"/>
            <a:pathLst>
              <a:path w="5373840" h="548680">
                <a:moveTo>
                  <a:pt x="64552" y="0"/>
                </a:moveTo>
                <a:lnTo>
                  <a:pt x="5309288" y="0"/>
                </a:lnTo>
                <a:cubicBezTo>
                  <a:pt x="5344939" y="0"/>
                  <a:pt x="5373840" y="28901"/>
                  <a:pt x="5373840" y="64552"/>
                </a:cubicBezTo>
                <a:lnTo>
                  <a:pt x="5373840" y="484128"/>
                </a:lnTo>
                <a:cubicBezTo>
                  <a:pt x="5373840" y="519779"/>
                  <a:pt x="5344939" y="548680"/>
                  <a:pt x="5309288" y="548680"/>
                </a:cubicBezTo>
                <a:lnTo>
                  <a:pt x="64552" y="548680"/>
                </a:lnTo>
                <a:cubicBezTo>
                  <a:pt x="28901" y="548680"/>
                  <a:pt x="0" y="519779"/>
                  <a:pt x="0" y="484128"/>
                </a:cubicBezTo>
                <a:lnTo>
                  <a:pt x="0" y="64552"/>
                </a:lnTo>
                <a:cubicBezTo>
                  <a:pt x="0" y="28901"/>
                  <a:pt x="28901" y="0"/>
                  <a:pt x="64552" y="0"/>
                </a:cubicBezTo>
                <a:close/>
              </a:path>
            </a:pathLst>
          </a:custGeom>
          <a:solidFill>
            <a:srgbClr val="1A1D21">
              <a:alpha val="50196"/>
            </a:srgbClr>
          </a:solidFill>
          <a:ln/>
        </p:spPr>
      </p:sp>
      <p:sp>
        <p:nvSpPr>
          <p:cNvPr id="37" name="Text 35"/>
          <p:cNvSpPr/>
          <p:nvPr/>
        </p:nvSpPr>
        <p:spPr>
          <a:xfrm>
            <a:off x="6425612" y="2911232"/>
            <a:ext cx="5236670" cy="161377"/>
          </a:xfrm>
          <a:prstGeom prst="rect">
            <a:avLst/>
          </a:prstGeom>
          <a:noFill/>
          <a:ln/>
        </p:spPr>
        <p:txBody>
          <a:bodyPr wrap="square" lIns="0" tIns="0" rIns="0" bIns="0" rtlCol="0" anchor="ctr"/>
          <a:lstStyle/>
          <a:p>
            <a:pPr>
              <a:lnSpc>
                <a:spcPct val="120000"/>
              </a:lnSpc>
            </a:pPr>
            <a:r>
              <a:rPr lang="en-US" sz="889" dirty="0">
                <a:solidFill>
                  <a:srgbClr val="00A4E0"/>
                </a:solidFill>
                <a:latin typeface="MiSans" pitchFamily="34" charset="0"/>
                <a:ea typeface="MiSans" pitchFamily="34" charset="-122"/>
                <a:cs typeface="MiSans" pitchFamily="34" charset="-120"/>
              </a:rPr>
              <a:t>2a09:bac5:fff0::24::/64</a:t>
            </a:r>
            <a:endParaRPr lang="en-US" sz="1600" dirty="0"/>
          </a:p>
        </p:txBody>
      </p:sp>
      <p:sp>
        <p:nvSpPr>
          <p:cNvPr id="38" name="Text 36"/>
          <p:cNvSpPr/>
          <p:nvPr/>
        </p:nvSpPr>
        <p:spPr>
          <a:xfrm>
            <a:off x="6425612" y="3104884"/>
            <a:ext cx="5236670" cy="161377"/>
          </a:xfrm>
          <a:prstGeom prst="rect">
            <a:avLst/>
          </a:prstGeom>
          <a:noFill/>
          <a:ln/>
        </p:spPr>
        <p:txBody>
          <a:bodyPr wrap="square" lIns="0" tIns="0" rIns="0" bIns="0" rtlCol="0" anchor="ctr"/>
          <a:lstStyle/>
          <a:p>
            <a:pPr>
              <a:lnSpc>
                <a:spcPct val="120000"/>
              </a:lnSpc>
            </a:pPr>
            <a:r>
              <a:rPr lang="en-US" sz="889" dirty="0">
                <a:solidFill>
                  <a:srgbClr val="00A4E0"/>
                </a:solidFill>
                <a:latin typeface="MiSans" pitchFamily="34" charset="0"/>
                <a:ea typeface="MiSans" pitchFamily="34" charset="-122"/>
                <a:cs typeface="MiSans" pitchFamily="34" charset="-120"/>
              </a:rPr>
              <a:t>2a09:bac6:fff0::24::/64</a:t>
            </a:r>
            <a:endParaRPr lang="en-US" sz="1600" dirty="0"/>
          </a:p>
        </p:txBody>
      </p:sp>
      <p:sp>
        <p:nvSpPr>
          <p:cNvPr id="39" name="Shape 37"/>
          <p:cNvSpPr/>
          <p:nvPr/>
        </p:nvSpPr>
        <p:spPr>
          <a:xfrm>
            <a:off x="6164182" y="3663249"/>
            <a:ext cx="5703048" cy="1668634"/>
          </a:xfrm>
          <a:custGeom>
            <a:avLst/>
            <a:gdLst/>
            <a:ahLst/>
            <a:cxnLst/>
            <a:rect l="l" t="t" r="r" b="b"/>
            <a:pathLst>
              <a:path w="5703048" h="1668634">
                <a:moveTo>
                  <a:pt x="96831" y="0"/>
                </a:moveTo>
                <a:lnTo>
                  <a:pt x="5606217" y="0"/>
                </a:lnTo>
                <a:cubicBezTo>
                  <a:pt x="5659695" y="0"/>
                  <a:pt x="5703048" y="43353"/>
                  <a:pt x="5703048" y="96831"/>
                </a:cubicBezTo>
                <a:lnTo>
                  <a:pt x="5703048" y="1571803"/>
                </a:lnTo>
                <a:cubicBezTo>
                  <a:pt x="5703048" y="1625281"/>
                  <a:pt x="5659695" y="1668634"/>
                  <a:pt x="5606217" y="1668634"/>
                </a:cubicBezTo>
                <a:lnTo>
                  <a:pt x="96831" y="1668634"/>
                </a:lnTo>
                <a:cubicBezTo>
                  <a:pt x="43353" y="1668634"/>
                  <a:pt x="0" y="1625281"/>
                  <a:pt x="0" y="1571803"/>
                </a:cubicBezTo>
                <a:lnTo>
                  <a:pt x="0" y="96831"/>
                </a:lnTo>
                <a:cubicBezTo>
                  <a:pt x="0" y="43388"/>
                  <a:pt x="43388" y="0"/>
                  <a:pt x="96831" y="0"/>
                </a:cubicBezTo>
                <a:close/>
              </a:path>
            </a:pathLst>
          </a:custGeom>
          <a:solidFill>
            <a:srgbClr val="F47C20">
              <a:alpha val="10196"/>
            </a:srgbClr>
          </a:solidFill>
          <a:ln w="10160">
            <a:solidFill>
              <a:srgbClr val="F47C20">
                <a:alpha val="30196"/>
              </a:srgbClr>
            </a:solidFill>
            <a:prstDash val="solid"/>
          </a:ln>
        </p:spPr>
      </p:sp>
      <p:sp>
        <p:nvSpPr>
          <p:cNvPr id="40" name="Shape 38"/>
          <p:cNvSpPr/>
          <p:nvPr/>
        </p:nvSpPr>
        <p:spPr>
          <a:xfrm>
            <a:off x="6348958" y="3860127"/>
            <a:ext cx="161377" cy="161377"/>
          </a:xfrm>
          <a:custGeom>
            <a:avLst/>
            <a:gdLst/>
            <a:ahLst/>
            <a:cxnLst/>
            <a:rect l="l" t="t" r="r" b="b"/>
            <a:pathLst>
              <a:path w="161377" h="161377">
                <a:moveTo>
                  <a:pt x="20172" y="20172"/>
                </a:moveTo>
                <a:cubicBezTo>
                  <a:pt x="20172" y="14593"/>
                  <a:pt x="15665" y="10086"/>
                  <a:pt x="10086" y="10086"/>
                </a:cubicBezTo>
                <a:cubicBezTo>
                  <a:pt x="4507" y="10086"/>
                  <a:pt x="0" y="14593"/>
                  <a:pt x="0" y="20172"/>
                </a:cubicBezTo>
                <a:lnTo>
                  <a:pt x="0" y="126075"/>
                </a:lnTo>
                <a:cubicBezTo>
                  <a:pt x="0" y="140007"/>
                  <a:pt x="11284" y="151291"/>
                  <a:pt x="25215" y="151291"/>
                </a:cubicBezTo>
                <a:lnTo>
                  <a:pt x="151291" y="151291"/>
                </a:lnTo>
                <a:cubicBezTo>
                  <a:pt x="156869" y="151291"/>
                  <a:pt x="161377" y="146783"/>
                  <a:pt x="161377" y="141205"/>
                </a:cubicBezTo>
                <a:cubicBezTo>
                  <a:pt x="161377" y="135626"/>
                  <a:pt x="156869" y="131118"/>
                  <a:pt x="151291" y="131118"/>
                </a:cubicBezTo>
                <a:lnTo>
                  <a:pt x="25215" y="131118"/>
                </a:lnTo>
                <a:cubicBezTo>
                  <a:pt x="22441" y="131118"/>
                  <a:pt x="20172" y="128849"/>
                  <a:pt x="20172" y="126075"/>
                </a:cubicBezTo>
                <a:lnTo>
                  <a:pt x="20172" y="20172"/>
                </a:lnTo>
                <a:close/>
                <a:moveTo>
                  <a:pt x="148328" y="47467"/>
                </a:moveTo>
                <a:cubicBezTo>
                  <a:pt x="152268" y="43528"/>
                  <a:pt x="152268" y="37129"/>
                  <a:pt x="148328" y="33189"/>
                </a:cubicBezTo>
                <a:cubicBezTo>
                  <a:pt x="144388" y="29250"/>
                  <a:pt x="137990" y="29250"/>
                  <a:pt x="134050" y="33189"/>
                </a:cubicBezTo>
                <a:lnTo>
                  <a:pt x="100860" y="66410"/>
                </a:lnTo>
                <a:lnTo>
                  <a:pt x="82769" y="48350"/>
                </a:lnTo>
                <a:cubicBezTo>
                  <a:pt x="78829" y="44410"/>
                  <a:pt x="72430" y="44410"/>
                  <a:pt x="68490" y="48350"/>
                </a:cubicBezTo>
                <a:lnTo>
                  <a:pt x="38232" y="78608"/>
                </a:lnTo>
                <a:cubicBezTo>
                  <a:pt x="34293" y="82548"/>
                  <a:pt x="34293" y="88946"/>
                  <a:pt x="38232" y="92886"/>
                </a:cubicBezTo>
                <a:cubicBezTo>
                  <a:pt x="42172" y="96826"/>
                  <a:pt x="48571" y="96826"/>
                  <a:pt x="52510" y="92886"/>
                </a:cubicBezTo>
                <a:lnTo>
                  <a:pt x="75645" y="69751"/>
                </a:lnTo>
                <a:lnTo>
                  <a:pt x="93737" y="87843"/>
                </a:lnTo>
                <a:cubicBezTo>
                  <a:pt x="97677" y="91783"/>
                  <a:pt x="104075" y="91783"/>
                  <a:pt x="108015" y="87843"/>
                </a:cubicBezTo>
                <a:lnTo>
                  <a:pt x="148359" y="47499"/>
                </a:lnTo>
                <a:close/>
              </a:path>
            </a:pathLst>
          </a:custGeom>
          <a:solidFill>
            <a:srgbClr val="F47C20"/>
          </a:solidFill>
          <a:ln/>
        </p:spPr>
      </p:sp>
      <p:sp>
        <p:nvSpPr>
          <p:cNvPr id="41" name="Text 39"/>
          <p:cNvSpPr/>
          <p:nvPr/>
        </p:nvSpPr>
        <p:spPr>
          <a:xfrm>
            <a:off x="6627333" y="3827851"/>
            <a:ext cx="1533077" cy="225927"/>
          </a:xfrm>
          <a:prstGeom prst="rect">
            <a:avLst/>
          </a:prstGeom>
          <a:noFill/>
          <a:ln/>
        </p:spPr>
        <p:txBody>
          <a:bodyPr wrap="square" lIns="0" tIns="0" rIns="0" bIns="0" rtlCol="0" anchor="ctr"/>
          <a:lstStyle/>
          <a:p>
            <a:pPr>
              <a:lnSpc>
                <a:spcPct val="130000"/>
              </a:lnSpc>
            </a:pPr>
            <a:r>
              <a:rPr lang="en-US" sz="1144" b="1" dirty="0">
                <a:solidFill>
                  <a:srgbClr val="E8EAED"/>
                </a:solidFill>
                <a:latin typeface="Liter" pitchFamily="34" charset="0"/>
                <a:ea typeface="Liter" pitchFamily="34" charset="-122"/>
                <a:cs typeface="Liter" pitchFamily="34" charset="-120"/>
              </a:rPr>
              <a:t>Monitoring &amp; Analytics</a:t>
            </a:r>
            <a:endParaRPr lang="en-US" sz="1600" dirty="0"/>
          </a:p>
        </p:txBody>
      </p:sp>
      <p:sp>
        <p:nvSpPr>
          <p:cNvPr id="42" name="Text 40"/>
          <p:cNvSpPr/>
          <p:nvPr/>
        </p:nvSpPr>
        <p:spPr>
          <a:xfrm>
            <a:off x="6328786" y="4150605"/>
            <a:ext cx="5438390" cy="209790"/>
          </a:xfrm>
          <a:prstGeom prst="rect">
            <a:avLst/>
          </a:prstGeom>
          <a:noFill/>
          <a:ln/>
        </p:spPr>
        <p:txBody>
          <a:bodyPr wrap="square" lIns="0" tIns="0" rIns="0" bIns="0" rtlCol="0" anchor="ctr"/>
          <a:lstStyle/>
          <a:p>
            <a:pPr>
              <a:lnSpc>
                <a:spcPct val="140000"/>
              </a:lnSpc>
            </a:pPr>
            <a:r>
              <a:rPr lang="en-US" sz="1017" dirty="0">
                <a:solidFill>
                  <a:srgbClr val="E8EAED">
                    <a:alpha val="80000"/>
                  </a:srgbClr>
                </a:solidFill>
                <a:latin typeface="Liter" pitchFamily="34" charset="0"/>
                <a:ea typeface="Liter" pitchFamily="34" charset="-122"/>
                <a:cs typeface="Liter" pitchFamily="34" charset="-120"/>
              </a:rPr>
              <a:t>Track Aegis IP utilization via </a:t>
            </a:r>
            <a:pPr>
              <a:lnSpc>
                <a:spcPct val="140000"/>
              </a:lnSpc>
            </a:pPr>
            <a:r>
              <a:rPr lang="en-US" sz="1017" b="1" dirty="0">
                <a:solidFill>
                  <a:srgbClr val="F47C20"/>
                </a:solidFill>
                <a:latin typeface="Liter" pitchFamily="34" charset="0"/>
                <a:ea typeface="Liter" pitchFamily="34" charset="-122"/>
                <a:cs typeface="Liter" pitchFamily="34" charset="-120"/>
              </a:rPr>
              <a:t>GraphQL Analytics API</a:t>
            </a:r>
            <a:pPr>
              <a:lnSpc>
                <a:spcPct val="140000"/>
              </a:lnSpc>
            </a:pPr>
            <a:r>
              <a:rPr lang="en-US" sz="1017" dirty="0">
                <a:solidFill>
                  <a:srgbClr val="E8EAED">
                    <a:alpha val="80000"/>
                  </a:srgbClr>
                </a:solidFill>
                <a:latin typeface="Liter" pitchFamily="34" charset="0"/>
                <a:ea typeface="Liter" pitchFamily="34" charset="-122"/>
                <a:cs typeface="Liter" pitchFamily="34" charset="-120"/>
              </a:rPr>
              <a:t>:</a:t>
            </a:r>
            <a:endParaRPr lang="en-US" sz="1600" dirty="0"/>
          </a:p>
        </p:txBody>
      </p:sp>
      <p:sp>
        <p:nvSpPr>
          <p:cNvPr id="43" name="Shape 41"/>
          <p:cNvSpPr/>
          <p:nvPr/>
        </p:nvSpPr>
        <p:spPr>
          <a:xfrm>
            <a:off x="6352992" y="4489495"/>
            <a:ext cx="112964" cy="129101"/>
          </a:xfrm>
          <a:custGeom>
            <a:avLst/>
            <a:gdLst/>
            <a:ahLst/>
            <a:cxnLst/>
            <a:rect l="l" t="t" r="r" b="b"/>
            <a:pathLst>
              <a:path w="112964" h="129101">
                <a:moveTo>
                  <a:pt x="109635" y="17676"/>
                </a:moveTo>
                <a:cubicBezTo>
                  <a:pt x="113241" y="20298"/>
                  <a:pt x="114048" y="25341"/>
                  <a:pt x="111425" y="28947"/>
                </a:cubicBezTo>
                <a:lnTo>
                  <a:pt x="46875" y="117704"/>
                </a:lnTo>
                <a:cubicBezTo>
                  <a:pt x="45488" y="119620"/>
                  <a:pt x="43345" y="120805"/>
                  <a:pt x="40975" y="121007"/>
                </a:cubicBezTo>
                <a:cubicBezTo>
                  <a:pt x="38604" y="121209"/>
                  <a:pt x="36310" y="120326"/>
                  <a:pt x="34646" y="118662"/>
                </a:cubicBezTo>
                <a:lnTo>
                  <a:pt x="2370" y="86387"/>
                </a:lnTo>
                <a:cubicBezTo>
                  <a:pt x="-782" y="83235"/>
                  <a:pt x="-782" y="78116"/>
                  <a:pt x="2370" y="74964"/>
                </a:cubicBezTo>
                <a:cubicBezTo>
                  <a:pt x="5522" y="71813"/>
                  <a:pt x="10641" y="71813"/>
                  <a:pt x="13793" y="74964"/>
                </a:cubicBezTo>
                <a:lnTo>
                  <a:pt x="39386" y="100558"/>
                </a:lnTo>
                <a:lnTo>
                  <a:pt x="98389" y="19441"/>
                </a:lnTo>
                <a:cubicBezTo>
                  <a:pt x="101012" y="15835"/>
                  <a:pt x="106055" y="15028"/>
                  <a:pt x="109660" y="17651"/>
                </a:cubicBezTo>
                <a:close/>
              </a:path>
            </a:pathLst>
          </a:custGeom>
          <a:solidFill>
            <a:srgbClr val="F47C20"/>
          </a:solidFill>
          <a:ln/>
        </p:spPr>
      </p:sp>
      <p:sp>
        <p:nvSpPr>
          <p:cNvPr id="44" name="Text 42"/>
          <p:cNvSpPr/>
          <p:nvPr/>
        </p:nvSpPr>
        <p:spPr>
          <a:xfrm>
            <a:off x="6554713" y="4457220"/>
            <a:ext cx="2356098" cy="193652"/>
          </a:xfrm>
          <a:prstGeom prst="rect">
            <a:avLst/>
          </a:prstGeom>
          <a:noFill/>
          <a:ln/>
        </p:spPr>
        <p:txBody>
          <a:bodyPr wrap="square" lIns="0" tIns="0" rIns="0" bIns="0" rtlCol="0" anchor="ctr"/>
          <a:lstStyle/>
          <a:p>
            <a:pPr>
              <a:lnSpc>
                <a:spcPct val="130000"/>
              </a:lnSpc>
            </a:pPr>
            <a:r>
              <a:rPr lang="en-US" sz="1017" dirty="0">
                <a:solidFill>
                  <a:srgbClr val="E8EAED">
                    <a:alpha val="80000"/>
                  </a:srgbClr>
                </a:solidFill>
                <a:latin typeface="Liter" pitchFamily="34" charset="0"/>
                <a:ea typeface="Liter" pitchFamily="34" charset="-122"/>
                <a:cs typeface="Liter" pitchFamily="34" charset="-120"/>
              </a:rPr>
              <a:t>Monitor port usage by IP and data center</a:t>
            </a:r>
            <a:endParaRPr lang="en-US" sz="1600" dirty="0"/>
          </a:p>
        </p:txBody>
      </p:sp>
      <p:sp>
        <p:nvSpPr>
          <p:cNvPr id="45" name="Shape 43"/>
          <p:cNvSpPr/>
          <p:nvPr/>
        </p:nvSpPr>
        <p:spPr>
          <a:xfrm>
            <a:off x="6352992" y="4747698"/>
            <a:ext cx="112964" cy="129101"/>
          </a:xfrm>
          <a:custGeom>
            <a:avLst/>
            <a:gdLst/>
            <a:ahLst/>
            <a:cxnLst/>
            <a:rect l="l" t="t" r="r" b="b"/>
            <a:pathLst>
              <a:path w="112964" h="129101">
                <a:moveTo>
                  <a:pt x="109635" y="17676"/>
                </a:moveTo>
                <a:cubicBezTo>
                  <a:pt x="113241" y="20298"/>
                  <a:pt x="114048" y="25341"/>
                  <a:pt x="111425" y="28947"/>
                </a:cubicBezTo>
                <a:lnTo>
                  <a:pt x="46875" y="117704"/>
                </a:lnTo>
                <a:cubicBezTo>
                  <a:pt x="45488" y="119620"/>
                  <a:pt x="43345" y="120805"/>
                  <a:pt x="40975" y="121007"/>
                </a:cubicBezTo>
                <a:cubicBezTo>
                  <a:pt x="38604" y="121209"/>
                  <a:pt x="36310" y="120326"/>
                  <a:pt x="34646" y="118662"/>
                </a:cubicBezTo>
                <a:lnTo>
                  <a:pt x="2370" y="86387"/>
                </a:lnTo>
                <a:cubicBezTo>
                  <a:pt x="-782" y="83235"/>
                  <a:pt x="-782" y="78116"/>
                  <a:pt x="2370" y="74964"/>
                </a:cubicBezTo>
                <a:cubicBezTo>
                  <a:pt x="5522" y="71813"/>
                  <a:pt x="10641" y="71813"/>
                  <a:pt x="13793" y="74964"/>
                </a:cubicBezTo>
                <a:lnTo>
                  <a:pt x="39386" y="100558"/>
                </a:lnTo>
                <a:lnTo>
                  <a:pt x="98389" y="19441"/>
                </a:lnTo>
                <a:cubicBezTo>
                  <a:pt x="101012" y="15835"/>
                  <a:pt x="106055" y="15028"/>
                  <a:pt x="109660" y="17651"/>
                </a:cubicBezTo>
                <a:close/>
              </a:path>
            </a:pathLst>
          </a:custGeom>
          <a:solidFill>
            <a:srgbClr val="F47C20"/>
          </a:solidFill>
          <a:ln/>
        </p:spPr>
      </p:sp>
      <p:sp>
        <p:nvSpPr>
          <p:cNvPr id="46" name="Text 44"/>
          <p:cNvSpPr/>
          <p:nvPr/>
        </p:nvSpPr>
        <p:spPr>
          <a:xfrm>
            <a:off x="6554713" y="4715423"/>
            <a:ext cx="1613766" cy="193652"/>
          </a:xfrm>
          <a:prstGeom prst="rect">
            <a:avLst/>
          </a:prstGeom>
          <a:noFill/>
          <a:ln/>
        </p:spPr>
        <p:txBody>
          <a:bodyPr wrap="square" lIns="0" tIns="0" rIns="0" bIns="0" rtlCol="0" anchor="ctr"/>
          <a:lstStyle/>
          <a:p>
            <a:pPr>
              <a:lnSpc>
                <a:spcPct val="130000"/>
              </a:lnSpc>
            </a:pPr>
            <a:r>
              <a:rPr lang="en-US" sz="1017" dirty="0">
                <a:solidFill>
                  <a:srgbClr val="E8EAED">
                    <a:alpha val="80000"/>
                  </a:srgbClr>
                </a:solidFill>
                <a:latin typeface="Liter" pitchFamily="34" charset="0"/>
                <a:ea typeface="Liter" pitchFamily="34" charset="-122"/>
                <a:cs typeface="Liter" pitchFamily="34" charset="-120"/>
              </a:rPr>
              <a:t>Set custom alert thresholds</a:t>
            </a:r>
            <a:endParaRPr lang="en-US" sz="1600" dirty="0"/>
          </a:p>
        </p:txBody>
      </p:sp>
      <p:sp>
        <p:nvSpPr>
          <p:cNvPr id="47" name="Shape 45"/>
          <p:cNvSpPr/>
          <p:nvPr/>
        </p:nvSpPr>
        <p:spPr>
          <a:xfrm>
            <a:off x="6352992" y="5005900"/>
            <a:ext cx="112964" cy="129101"/>
          </a:xfrm>
          <a:custGeom>
            <a:avLst/>
            <a:gdLst/>
            <a:ahLst/>
            <a:cxnLst/>
            <a:rect l="l" t="t" r="r" b="b"/>
            <a:pathLst>
              <a:path w="112964" h="129101">
                <a:moveTo>
                  <a:pt x="109635" y="17676"/>
                </a:moveTo>
                <a:cubicBezTo>
                  <a:pt x="113241" y="20298"/>
                  <a:pt x="114048" y="25341"/>
                  <a:pt x="111425" y="28947"/>
                </a:cubicBezTo>
                <a:lnTo>
                  <a:pt x="46875" y="117704"/>
                </a:lnTo>
                <a:cubicBezTo>
                  <a:pt x="45488" y="119620"/>
                  <a:pt x="43345" y="120805"/>
                  <a:pt x="40975" y="121007"/>
                </a:cubicBezTo>
                <a:cubicBezTo>
                  <a:pt x="38604" y="121209"/>
                  <a:pt x="36310" y="120326"/>
                  <a:pt x="34646" y="118662"/>
                </a:cubicBezTo>
                <a:lnTo>
                  <a:pt x="2370" y="86387"/>
                </a:lnTo>
                <a:cubicBezTo>
                  <a:pt x="-782" y="83235"/>
                  <a:pt x="-782" y="78116"/>
                  <a:pt x="2370" y="74964"/>
                </a:cubicBezTo>
                <a:cubicBezTo>
                  <a:pt x="5522" y="71813"/>
                  <a:pt x="10641" y="71813"/>
                  <a:pt x="13793" y="74964"/>
                </a:cubicBezTo>
                <a:lnTo>
                  <a:pt x="39386" y="100558"/>
                </a:lnTo>
                <a:lnTo>
                  <a:pt x="98389" y="19441"/>
                </a:lnTo>
                <a:cubicBezTo>
                  <a:pt x="101012" y="15835"/>
                  <a:pt x="106055" y="15028"/>
                  <a:pt x="109660" y="17651"/>
                </a:cubicBezTo>
                <a:close/>
              </a:path>
            </a:pathLst>
          </a:custGeom>
          <a:solidFill>
            <a:srgbClr val="F47C20"/>
          </a:solidFill>
          <a:ln/>
        </p:spPr>
      </p:sp>
      <p:sp>
        <p:nvSpPr>
          <p:cNvPr id="48" name="Text 46"/>
          <p:cNvSpPr/>
          <p:nvPr/>
        </p:nvSpPr>
        <p:spPr>
          <a:xfrm>
            <a:off x="6554713" y="4973625"/>
            <a:ext cx="1621835" cy="193652"/>
          </a:xfrm>
          <a:prstGeom prst="rect">
            <a:avLst/>
          </a:prstGeom>
          <a:noFill/>
          <a:ln/>
        </p:spPr>
        <p:txBody>
          <a:bodyPr wrap="square" lIns="0" tIns="0" rIns="0" bIns="0" rtlCol="0" anchor="ctr"/>
          <a:lstStyle/>
          <a:p>
            <a:pPr>
              <a:lnSpc>
                <a:spcPct val="130000"/>
              </a:lnSpc>
            </a:pPr>
            <a:r>
              <a:rPr lang="en-US" sz="1017" dirty="0">
                <a:solidFill>
                  <a:srgbClr val="E8EAED">
                    <a:alpha val="80000"/>
                  </a:srgbClr>
                </a:solidFill>
                <a:latin typeface="Liter" pitchFamily="34" charset="0"/>
                <a:ea typeface="Liter" pitchFamily="34" charset="-122"/>
                <a:cs typeface="Liter" pitchFamily="34" charset="-120"/>
              </a:rPr>
              <a:t>Optimize traffic distribution</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1"/>
        </a:solidFill>
      </p:bgPr>
    </p:bg>
    <p:spTree>
      <p:nvGrpSpPr>
        <p:cNvPr id="1" name=""/>
        <p:cNvGrpSpPr/>
        <p:nvPr/>
      </p:nvGrpSpPr>
      <p:grpSpPr>
        <a:xfrm>
          <a:off x="0" y="0"/>
          <a:ext cx="0" cy="0"/>
          <a:chOff x="0" y="0"/>
          <a:chExt cx="0" cy="0"/>
        </a:xfrm>
      </p:grpSpPr>
      <p:pic>
        <p:nvPicPr>
          <p:cNvPr id="2" name="Image 0" descr="https://kimi-web-img.moonshot.cn/img/elements-resized.envatousercontent.com/1f4d5c049f4016629a03239dd0175af9769ee6b9.jpg">    </p:cNvPr>
          <p:cNvPicPr>
            <a:picLocks noChangeAspect="1"/>
          </p:cNvPicPr>
          <p:nvPr/>
        </p:nvPicPr>
        <p:blipFill>
          <a:blip r:embed="rId1">
            <a:alphaModFix amt="30000"/>
          </a:blip>
          <a:srcRect l="44" r="44"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1D21">
                  <a:alpha val="95000"/>
                </a:srgbClr>
              </a:gs>
              <a:gs pos="50000">
                <a:srgbClr val="1A1D21">
                  <a:alpha val="90000"/>
                </a:srgbClr>
              </a:gs>
              <a:gs pos="100000">
                <a:srgbClr val="00A4E0">
                  <a:alpha val="30000"/>
                </a:srgbClr>
              </a:gs>
            </a:gsLst>
            <a:lin ang="2700000" scaled="1"/>
          </a:gradFill>
          <a:ln/>
        </p:spPr>
      </p:sp>
      <p:sp>
        <p:nvSpPr>
          <p:cNvPr id="4" name="Shape 1"/>
          <p:cNvSpPr/>
          <p:nvPr/>
        </p:nvSpPr>
        <p:spPr>
          <a:xfrm>
            <a:off x="5689283" y="1658300"/>
            <a:ext cx="817245" cy="579120"/>
          </a:xfrm>
          <a:custGeom>
            <a:avLst/>
            <a:gdLst/>
            <a:ahLst/>
            <a:cxnLst/>
            <a:rect l="l" t="t" r="r" b="b"/>
            <a:pathLst>
              <a:path w="817245" h="579120">
                <a:moveTo>
                  <a:pt x="289560" y="0"/>
                </a:moveTo>
                <a:lnTo>
                  <a:pt x="527685" y="0"/>
                </a:lnTo>
                <a:cubicBezTo>
                  <a:pt x="687498" y="0"/>
                  <a:pt x="817245" y="129747"/>
                  <a:pt x="817245" y="289560"/>
                </a:cubicBezTo>
                <a:lnTo>
                  <a:pt x="817245" y="289560"/>
                </a:lnTo>
                <a:cubicBezTo>
                  <a:pt x="817245" y="449373"/>
                  <a:pt x="687498" y="579120"/>
                  <a:pt x="527685" y="579120"/>
                </a:cubicBezTo>
                <a:lnTo>
                  <a:pt x="289560" y="579120"/>
                </a:lnTo>
                <a:cubicBezTo>
                  <a:pt x="129747" y="579120"/>
                  <a:pt x="0" y="449373"/>
                  <a:pt x="0" y="289560"/>
                </a:cubicBezTo>
                <a:lnTo>
                  <a:pt x="0" y="289560"/>
                </a:lnTo>
                <a:cubicBezTo>
                  <a:pt x="0" y="129747"/>
                  <a:pt x="129747" y="0"/>
                  <a:pt x="289560" y="0"/>
                </a:cubicBezTo>
                <a:close/>
              </a:path>
            </a:pathLst>
          </a:custGeom>
          <a:solidFill>
            <a:srgbClr val="00A4E0">
              <a:alpha val="20000"/>
            </a:srgbClr>
          </a:solidFill>
          <a:ln w="10160">
            <a:solidFill>
              <a:srgbClr val="00A4E0">
                <a:alpha val="40000"/>
              </a:srgbClr>
            </a:solidFill>
            <a:prstDash val="solid"/>
          </a:ln>
        </p:spPr>
      </p:sp>
      <p:sp>
        <p:nvSpPr>
          <p:cNvPr id="5" name="Text 2"/>
          <p:cNvSpPr/>
          <p:nvPr/>
        </p:nvSpPr>
        <p:spPr>
          <a:xfrm>
            <a:off x="5850255" y="1776413"/>
            <a:ext cx="495300" cy="342900"/>
          </a:xfrm>
          <a:prstGeom prst="rect">
            <a:avLst/>
          </a:prstGeom>
          <a:noFill/>
          <a:ln/>
        </p:spPr>
        <p:txBody>
          <a:bodyPr wrap="square" lIns="0" tIns="0" rIns="0" bIns="0" rtlCol="0" anchor="ctr"/>
          <a:lstStyle/>
          <a:p>
            <a:pPr algn="ctr">
              <a:lnSpc>
                <a:spcPct val="100000"/>
              </a:lnSpc>
            </a:pPr>
            <a:r>
              <a:rPr lang="en-US" sz="2250" b="1" dirty="0">
                <a:solidFill>
                  <a:srgbClr val="00A4E0"/>
                </a:solidFill>
                <a:latin typeface="Liter" pitchFamily="34" charset="0"/>
                <a:ea typeface="Liter" pitchFamily="34" charset="-122"/>
                <a:cs typeface="Liter" pitchFamily="34" charset="-120"/>
              </a:rPr>
              <a:t>02</a:t>
            </a:r>
            <a:endParaRPr lang="en-US" sz="1600" dirty="0"/>
          </a:p>
        </p:txBody>
      </p:sp>
      <p:sp>
        <p:nvSpPr>
          <p:cNvPr id="6" name="Text 3"/>
          <p:cNvSpPr/>
          <p:nvPr/>
        </p:nvSpPr>
        <p:spPr>
          <a:xfrm>
            <a:off x="2893576" y="2546031"/>
            <a:ext cx="6400800" cy="1371600"/>
          </a:xfrm>
          <a:prstGeom prst="rect">
            <a:avLst/>
          </a:prstGeom>
          <a:noFill/>
          <a:ln/>
        </p:spPr>
        <p:txBody>
          <a:bodyPr wrap="square" lIns="0" tIns="0" rIns="0" bIns="0" rtlCol="0" anchor="ctr"/>
          <a:lstStyle/>
          <a:p>
            <a:pPr algn="ctr">
              <a:lnSpc>
                <a:spcPct val="80000"/>
              </a:lnSpc>
            </a:pPr>
            <a:r>
              <a:rPr lang="en-US" sz="5400" b="1" dirty="0">
                <a:solidFill>
                  <a:srgbClr val="E8EAED"/>
                </a:solidFill>
                <a:latin typeface="Liter" pitchFamily="34" charset="0"/>
                <a:ea typeface="Liter" pitchFamily="34" charset="-122"/>
                <a:cs typeface="Liter" pitchFamily="34" charset="-120"/>
              </a:rPr>
              <a:t>Palo Alto Firewall</a:t>
            </a:r>
            <a:endParaRPr lang="en-US" sz="1600" dirty="0"/>
          </a:p>
          <a:p>
            <a:pPr algn="ctr">
              <a:lnSpc>
                <a:spcPct val="80000"/>
              </a:lnSpc>
            </a:pPr>
            <a:r>
              <a:rPr lang="en-US" sz="5400" b="1" dirty="0">
                <a:solidFill>
                  <a:srgbClr val="E8EAED"/>
                </a:solidFill>
                <a:latin typeface="Liter" pitchFamily="34" charset="0"/>
                <a:ea typeface="Liter" pitchFamily="34" charset="-122"/>
                <a:cs typeface="Liter" pitchFamily="34" charset="-120"/>
              </a:rPr>
              <a:t>Configuration</a:t>
            </a:r>
            <a:endParaRPr lang="en-US" sz="1600" dirty="0"/>
          </a:p>
        </p:txBody>
      </p:sp>
      <p:sp>
        <p:nvSpPr>
          <p:cNvPr id="7" name="Text 4"/>
          <p:cNvSpPr/>
          <p:nvPr/>
        </p:nvSpPr>
        <p:spPr>
          <a:xfrm>
            <a:off x="3007876" y="4146231"/>
            <a:ext cx="6172200" cy="371475"/>
          </a:xfrm>
          <a:prstGeom prst="rect">
            <a:avLst/>
          </a:prstGeom>
          <a:noFill/>
          <a:ln/>
        </p:spPr>
        <p:txBody>
          <a:bodyPr wrap="square" lIns="0" tIns="0" rIns="0" bIns="0" rtlCol="0" anchor="ctr"/>
          <a:lstStyle/>
          <a:p>
            <a:pPr algn="ctr">
              <a:lnSpc>
                <a:spcPct val="140000"/>
              </a:lnSpc>
            </a:pPr>
            <a:r>
              <a:rPr lang="en-US" sz="1800" dirty="0">
                <a:solidFill>
                  <a:srgbClr val="E8EAED">
                    <a:alpha val="80000"/>
                  </a:srgbClr>
                </a:solidFill>
                <a:latin typeface="Liter" pitchFamily="34" charset="0"/>
                <a:ea typeface="Liter" pitchFamily="34" charset="-122"/>
                <a:cs typeface="Liter" pitchFamily="34" charset="-120"/>
              </a:rPr>
              <a:t>Implementing IP-based Origin Protection on Palo Alto NGFW</a:t>
            </a:r>
            <a:endParaRPr lang="en-US" sz="1600" dirty="0"/>
          </a:p>
        </p:txBody>
      </p:sp>
      <p:sp>
        <p:nvSpPr>
          <p:cNvPr id="8" name="Shape 5"/>
          <p:cNvSpPr/>
          <p:nvPr/>
        </p:nvSpPr>
        <p:spPr>
          <a:xfrm>
            <a:off x="4886206" y="5070156"/>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00A4E0"/>
          </a:solidFill>
          <a:ln/>
        </p:spPr>
      </p:sp>
      <p:sp>
        <p:nvSpPr>
          <p:cNvPr id="9" name="Shape 6"/>
          <p:cNvSpPr/>
          <p:nvPr/>
        </p:nvSpPr>
        <p:spPr>
          <a:xfrm>
            <a:off x="5995868" y="4974906"/>
            <a:ext cx="200025" cy="228600"/>
          </a:xfrm>
          <a:custGeom>
            <a:avLst/>
            <a:gdLst/>
            <a:ahLst/>
            <a:cxnLst/>
            <a:rect l="l" t="t" r="r" b="b"/>
            <a:pathLst>
              <a:path w="200025" h="228600">
                <a:moveTo>
                  <a:pt x="71661" y="-11787"/>
                </a:moveTo>
                <a:cubicBezTo>
                  <a:pt x="75813" y="-15270"/>
                  <a:pt x="81930" y="-15136"/>
                  <a:pt x="85904" y="-11385"/>
                </a:cubicBezTo>
                <a:cubicBezTo>
                  <a:pt x="91395" y="-6206"/>
                  <a:pt x="96307" y="-491"/>
                  <a:pt x="101039" y="5313"/>
                </a:cubicBezTo>
                <a:cubicBezTo>
                  <a:pt x="107067" y="12680"/>
                  <a:pt x="114300" y="22414"/>
                  <a:pt x="121265" y="33977"/>
                </a:cubicBezTo>
                <a:cubicBezTo>
                  <a:pt x="123587" y="30941"/>
                  <a:pt x="125730" y="28262"/>
                  <a:pt x="127605" y="25985"/>
                </a:cubicBezTo>
                <a:cubicBezTo>
                  <a:pt x="128096" y="25405"/>
                  <a:pt x="128588" y="24780"/>
                  <a:pt x="129079" y="24155"/>
                </a:cubicBezTo>
                <a:cubicBezTo>
                  <a:pt x="132606" y="19779"/>
                  <a:pt x="136981" y="14287"/>
                  <a:pt x="142830" y="14287"/>
                </a:cubicBezTo>
                <a:cubicBezTo>
                  <a:pt x="148813" y="14287"/>
                  <a:pt x="153010" y="19601"/>
                  <a:pt x="156582" y="24155"/>
                </a:cubicBezTo>
                <a:cubicBezTo>
                  <a:pt x="157163" y="24914"/>
                  <a:pt x="157743" y="25628"/>
                  <a:pt x="158323" y="26298"/>
                </a:cubicBezTo>
                <a:cubicBezTo>
                  <a:pt x="162922" y="31834"/>
                  <a:pt x="169039" y="39826"/>
                  <a:pt x="175156" y="49694"/>
                </a:cubicBezTo>
                <a:cubicBezTo>
                  <a:pt x="187300" y="69294"/>
                  <a:pt x="199980" y="97200"/>
                  <a:pt x="199980" y="128543"/>
                </a:cubicBezTo>
                <a:cubicBezTo>
                  <a:pt x="199980" y="183773"/>
                  <a:pt x="155198" y="228555"/>
                  <a:pt x="99968" y="228555"/>
                </a:cubicBezTo>
                <a:cubicBezTo>
                  <a:pt x="44738" y="228555"/>
                  <a:pt x="0" y="183818"/>
                  <a:pt x="0" y="128588"/>
                </a:cubicBezTo>
                <a:cubicBezTo>
                  <a:pt x="0" y="87913"/>
                  <a:pt x="18351" y="52685"/>
                  <a:pt x="35942" y="28129"/>
                </a:cubicBezTo>
                <a:cubicBezTo>
                  <a:pt x="44827" y="15761"/>
                  <a:pt x="53667" y="5849"/>
                  <a:pt x="60320" y="-938"/>
                </a:cubicBezTo>
                <a:cubicBezTo>
                  <a:pt x="63981" y="-4688"/>
                  <a:pt x="67687" y="-8394"/>
                  <a:pt x="71705" y="-11743"/>
                </a:cubicBezTo>
                <a:close/>
                <a:moveTo>
                  <a:pt x="100772" y="185738"/>
                </a:moveTo>
                <a:cubicBezTo>
                  <a:pt x="112068" y="185738"/>
                  <a:pt x="122069" y="182612"/>
                  <a:pt x="131490" y="176361"/>
                </a:cubicBezTo>
                <a:cubicBezTo>
                  <a:pt x="150287" y="163235"/>
                  <a:pt x="155332" y="136981"/>
                  <a:pt x="144036" y="116354"/>
                </a:cubicBezTo>
                <a:cubicBezTo>
                  <a:pt x="142027" y="112335"/>
                  <a:pt x="136892" y="112068"/>
                  <a:pt x="133990" y="115461"/>
                </a:cubicBezTo>
                <a:lnTo>
                  <a:pt x="122739" y="128543"/>
                </a:lnTo>
                <a:cubicBezTo>
                  <a:pt x="119792" y="131936"/>
                  <a:pt x="114479" y="131847"/>
                  <a:pt x="111710" y="128320"/>
                </a:cubicBezTo>
                <a:cubicBezTo>
                  <a:pt x="103986" y="118452"/>
                  <a:pt x="89788" y="100459"/>
                  <a:pt x="82555" y="91261"/>
                </a:cubicBezTo>
                <a:cubicBezTo>
                  <a:pt x="80144" y="88181"/>
                  <a:pt x="75768" y="87690"/>
                  <a:pt x="72956" y="90413"/>
                </a:cubicBezTo>
                <a:cubicBezTo>
                  <a:pt x="64785" y="98361"/>
                  <a:pt x="49962" y="115773"/>
                  <a:pt x="49962" y="136981"/>
                </a:cubicBezTo>
                <a:cubicBezTo>
                  <a:pt x="49962" y="167610"/>
                  <a:pt x="72554" y="185738"/>
                  <a:pt x="100727" y="185738"/>
                </a:cubicBezTo>
                <a:close/>
              </a:path>
            </a:pathLst>
          </a:custGeom>
          <a:solidFill>
            <a:srgbClr val="00A4E0"/>
          </a:solidFill>
          <a:ln/>
        </p:spPr>
      </p:sp>
      <p:sp>
        <p:nvSpPr>
          <p:cNvPr id="10" name="Shape 7"/>
          <p:cNvSpPr/>
          <p:nvPr/>
        </p:nvSpPr>
        <p:spPr>
          <a:xfrm>
            <a:off x="6391156" y="5070156"/>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00A4E0"/>
          </a:solidFill>
          <a:ln/>
        </p:spPr>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25120" y="325120"/>
            <a:ext cx="11606784" cy="195072"/>
          </a:xfrm>
          <a:prstGeom prst="rect">
            <a:avLst/>
          </a:prstGeom>
          <a:noFill/>
          <a:ln/>
        </p:spPr>
        <p:txBody>
          <a:bodyPr wrap="square" lIns="0" tIns="0" rIns="0" bIns="0" rtlCol="0" anchor="ctr"/>
          <a:lstStyle/>
          <a:p>
            <a:pPr>
              <a:lnSpc>
                <a:spcPct val="130000"/>
              </a:lnSpc>
            </a:pPr>
            <a:r>
              <a:rPr lang="en-US" sz="1024" b="1" spc="51" kern="0" dirty="0">
                <a:solidFill>
                  <a:srgbClr val="00A4E0"/>
                </a:solidFill>
                <a:latin typeface="Liter" pitchFamily="34" charset="0"/>
                <a:ea typeface="Liter" pitchFamily="34" charset="-122"/>
                <a:cs typeface="Liter" pitchFamily="34" charset="-120"/>
              </a:rPr>
              <a:t>PALO ALTO FIREWALL</a:t>
            </a:r>
            <a:endParaRPr lang="en-US" sz="1600" dirty="0"/>
          </a:p>
        </p:txBody>
      </p:sp>
      <p:sp>
        <p:nvSpPr>
          <p:cNvPr id="3" name="Text 1"/>
          <p:cNvSpPr/>
          <p:nvPr/>
        </p:nvSpPr>
        <p:spPr>
          <a:xfrm>
            <a:off x="325120" y="585216"/>
            <a:ext cx="11688064" cy="325120"/>
          </a:xfrm>
          <a:prstGeom prst="rect">
            <a:avLst/>
          </a:prstGeom>
          <a:noFill/>
          <a:ln/>
        </p:spPr>
        <p:txBody>
          <a:bodyPr wrap="square" lIns="0" tIns="0" rIns="0" bIns="0" rtlCol="0" anchor="ctr"/>
          <a:lstStyle/>
          <a:p>
            <a:pPr>
              <a:lnSpc>
                <a:spcPct val="90000"/>
              </a:lnSpc>
            </a:pPr>
            <a:r>
              <a:rPr lang="en-US" sz="2304" b="1" dirty="0">
                <a:solidFill>
                  <a:srgbClr val="E8EAED"/>
                </a:solidFill>
                <a:latin typeface="Liter" pitchFamily="34" charset="0"/>
                <a:ea typeface="Liter" pitchFamily="34" charset="-122"/>
                <a:cs typeface="Liter" pitchFamily="34" charset="-120"/>
              </a:rPr>
              <a:t>Address Objects &amp; Groups</a:t>
            </a:r>
            <a:endParaRPr lang="en-US" sz="1600" dirty="0"/>
          </a:p>
        </p:txBody>
      </p:sp>
      <p:sp>
        <p:nvSpPr>
          <p:cNvPr id="4" name="Shape 2"/>
          <p:cNvSpPr/>
          <p:nvPr/>
        </p:nvSpPr>
        <p:spPr>
          <a:xfrm>
            <a:off x="328371" y="978611"/>
            <a:ext cx="5720486" cy="3387750"/>
          </a:xfrm>
          <a:custGeom>
            <a:avLst/>
            <a:gdLst/>
            <a:ahLst/>
            <a:cxnLst/>
            <a:rect l="l" t="t" r="r" b="b"/>
            <a:pathLst>
              <a:path w="5720486" h="3387750">
                <a:moveTo>
                  <a:pt x="97533" y="0"/>
                </a:moveTo>
                <a:lnTo>
                  <a:pt x="5622953" y="0"/>
                </a:lnTo>
                <a:cubicBezTo>
                  <a:pt x="5676819" y="0"/>
                  <a:pt x="5720486" y="43667"/>
                  <a:pt x="5720486" y="97533"/>
                </a:cubicBezTo>
                <a:lnTo>
                  <a:pt x="5720486" y="3290217"/>
                </a:lnTo>
                <a:cubicBezTo>
                  <a:pt x="5720486" y="3344083"/>
                  <a:pt x="5676819" y="3387750"/>
                  <a:pt x="5622953" y="3387750"/>
                </a:cubicBezTo>
                <a:lnTo>
                  <a:pt x="97533" y="3387750"/>
                </a:lnTo>
                <a:cubicBezTo>
                  <a:pt x="43667" y="3387750"/>
                  <a:pt x="0" y="3344083"/>
                  <a:pt x="0" y="3290217"/>
                </a:cubicBezTo>
                <a:lnTo>
                  <a:pt x="0" y="97533"/>
                </a:lnTo>
                <a:cubicBezTo>
                  <a:pt x="0" y="43703"/>
                  <a:pt x="43703" y="0"/>
                  <a:pt x="97533" y="0"/>
                </a:cubicBezTo>
                <a:close/>
              </a:path>
            </a:pathLst>
          </a:custGeom>
          <a:solidFill>
            <a:srgbClr val="48515E">
              <a:alpha val="20000"/>
            </a:srgbClr>
          </a:solidFill>
          <a:ln w="10160">
            <a:solidFill>
              <a:srgbClr val="48515E">
                <a:alpha val="40000"/>
              </a:srgbClr>
            </a:solidFill>
            <a:prstDash val="solid"/>
          </a:ln>
        </p:spPr>
      </p:sp>
      <p:sp>
        <p:nvSpPr>
          <p:cNvPr id="5" name="Shape 3"/>
          <p:cNvSpPr/>
          <p:nvPr/>
        </p:nvSpPr>
        <p:spPr>
          <a:xfrm>
            <a:off x="429158" y="1079397"/>
            <a:ext cx="325120" cy="325120"/>
          </a:xfrm>
          <a:custGeom>
            <a:avLst/>
            <a:gdLst/>
            <a:ahLst/>
            <a:cxnLst/>
            <a:rect l="l" t="t" r="r" b="b"/>
            <a:pathLst>
              <a:path w="325120" h="325120">
                <a:moveTo>
                  <a:pt x="65024" y="0"/>
                </a:moveTo>
                <a:lnTo>
                  <a:pt x="260096" y="0"/>
                </a:lnTo>
                <a:cubicBezTo>
                  <a:pt x="296008" y="0"/>
                  <a:pt x="325120" y="29112"/>
                  <a:pt x="325120" y="65024"/>
                </a:cubicBezTo>
                <a:lnTo>
                  <a:pt x="325120" y="260096"/>
                </a:lnTo>
                <a:cubicBezTo>
                  <a:pt x="325120" y="296008"/>
                  <a:pt x="296008" y="325120"/>
                  <a:pt x="260096" y="325120"/>
                </a:cubicBezTo>
                <a:lnTo>
                  <a:pt x="65024" y="325120"/>
                </a:lnTo>
                <a:cubicBezTo>
                  <a:pt x="29112" y="325120"/>
                  <a:pt x="0" y="296008"/>
                  <a:pt x="0" y="260096"/>
                </a:cubicBezTo>
                <a:lnTo>
                  <a:pt x="0" y="65024"/>
                </a:lnTo>
                <a:cubicBezTo>
                  <a:pt x="0" y="29136"/>
                  <a:pt x="29136" y="0"/>
                  <a:pt x="65024" y="0"/>
                </a:cubicBezTo>
                <a:close/>
              </a:path>
            </a:pathLst>
          </a:custGeom>
          <a:solidFill>
            <a:srgbClr val="00A4E0">
              <a:alpha val="20000"/>
            </a:srgbClr>
          </a:solidFill>
          <a:ln/>
        </p:spPr>
      </p:sp>
      <p:sp>
        <p:nvSpPr>
          <p:cNvPr id="6" name="Shape 4"/>
          <p:cNvSpPr/>
          <p:nvPr/>
        </p:nvSpPr>
        <p:spPr>
          <a:xfrm>
            <a:off x="520598" y="1168805"/>
            <a:ext cx="146304" cy="146304"/>
          </a:xfrm>
          <a:custGeom>
            <a:avLst/>
            <a:gdLst/>
            <a:ahLst/>
            <a:cxnLst/>
            <a:rect l="l" t="t" r="r" b="b"/>
            <a:pathLst>
              <a:path w="146304" h="146304">
                <a:moveTo>
                  <a:pt x="54864" y="18288"/>
                </a:moveTo>
                <a:cubicBezTo>
                  <a:pt x="54864" y="13230"/>
                  <a:pt x="58950" y="9144"/>
                  <a:pt x="64008" y="9144"/>
                </a:cubicBezTo>
                <a:lnTo>
                  <a:pt x="82296" y="9144"/>
                </a:lnTo>
                <a:cubicBezTo>
                  <a:pt x="87354" y="9144"/>
                  <a:pt x="91440" y="13230"/>
                  <a:pt x="91440" y="18288"/>
                </a:cubicBezTo>
                <a:lnTo>
                  <a:pt x="91440" y="36576"/>
                </a:lnTo>
                <a:cubicBezTo>
                  <a:pt x="91440" y="41634"/>
                  <a:pt x="87354" y="45720"/>
                  <a:pt x="82296" y="45720"/>
                </a:cubicBezTo>
                <a:lnTo>
                  <a:pt x="80010" y="45720"/>
                </a:lnTo>
                <a:lnTo>
                  <a:pt x="80010" y="64008"/>
                </a:lnTo>
                <a:lnTo>
                  <a:pt x="114300" y="64008"/>
                </a:lnTo>
                <a:cubicBezTo>
                  <a:pt x="125673" y="64008"/>
                  <a:pt x="134874" y="73209"/>
                  <a:pt x="134874" y="84582"/>
                </a:cubicBezTo>
                <a:lnTo>
                  <a:pt x="134874" y="100584"/>
                </a:lnTo>
                <a:lnTo>
                  <a:pt x="137160" y="100584"/>
                </a:lnTo>
                <a:cubicBezTo>
                  <a:pt x="142218" y="100584"/>
                  <a:pt x="146304" y="104670"/>
                  <a:pt x="146304" y="109728"/>
                </a:cubicBezTo>
                <a:lnTo>
                  <a:pt x="146304" y="128016"/>
                </a:lnTo>
                <a:cubicBezTo>
                  <a:pt x="146304" y="133074"/>
                  <a:pt x="142218" y="137160"/>
                  <a:pt x="137160" y="137160"/>
                </a:cubicBezTo>
                <a:lnTo>
                  <a:pt x="118872" y="137160"/>
                </a:lnTo>
                <a:cubicBezTo>
                  <a:pt x="113814" y="137160"/>
                  <a:pt x="109728" y="133074"/>
                  <a:pt x="109728" y="128016"/>
                </a:cubicBezTo>
                <a:lnTo>
                  <a:pt x="109728" y="109728"/>
                </a:lnTo>
                <a:cubicBezTo>
                  <a:pt x="109728" y="104670"/>
                  <a:pt x="113814" y="100584"/>
                  <a:pt x="118872" y="100584"/>
                </a:cubicBezTo>
                <a:lnTo>
                  <a:pt x="121158" y="100584"/>
                </a:lnTo>
                <a:lnTo>
                  <a:pt x="121158" y="84582"/>
                </a:lnTo>
                <a:cubicBezTo>
                  <a:pt x="121158" y="80782"/>
                  <a:pt x="118100" y="77724"/>
                  <a:pt x="114300" y="77724"/>
                </a:cubicBezTo>
                <a:lnTo>
                  <a:pt x="80010" y="77724"/>
                </a:lnTo>
                <a:lnTo>
                  <a:pt x="80010" y="100584"/>
                </a:lnTo>
                <a:lnTo>
                  <a:pt x="82296" y="100584"/>
                </a:lnTo>
                <a:cubicBezTo>
                  <a:pt x="87354" y="100584"/>
                  <a:pt x="91440" y="104670"/>
                  <a:pt x="91440" y="109728"/>
                </a:cubicBezTo>
                <a:lnTo>
                  <a:pt x="91440" y="128016"/>
                </a:lnTo>
                <a:cubicBezTo>
                  <a:pt x="91440" y="133074"/>
                  <a:pt x="87354" y="137160"/>
                  <a:pt x="82296" y="137160"/>
                </a:cubicBezTo>
                <a:lnTo>
                  <a:pt x="64008" y="137160"/>
                </a:lnTo>
                <a:cubicBezTo>
                  <a:pt x="58950" y="137160"/>
                  <a:pt x="54864" y="133074"/>
                  <a:pt x="54864" y="128016"/>
                </a:cubicBezTo>
                <a:lnTo>
                  <a:pt x="54864" y="109728"/>
                </a:lnTo>
                <a:cubicBezTo>
                  <a:pt x="54864" y="104670"/>
                  <a:pt x="58950" y="100584"/>
                  <a:pt x="64008" y="100584"/>
                </a:cubicBezTo>
                <a:lnTo>
                  <a:pt x="66294" y="100584"/>
                </a:lnTo>
                <a:lnTo>
                  <a:pt x="66294" y="77724"/>
                </a:lnTo>
                <a:lnTo>
                  <a:pt x="32004" y="77724"/>
                </a:lnTo>
                <a:cubicBezTo>
                  <a:pt x="28204" y="77724"/>
                  <a:pt x="25146" y="80782"/>
                  <a:pt x="25146" y="84582"/>
                </a:cubicBezTo>
                <a:lnTo>
                  <a:pt x="25146" y="100584"/>
                </a:lnTo>
                <a:lnTo>
                  <a:pt x="27432" y="100584"/>
                </a:lnTo>
                <a:cubicBezTo>
                  <a:pt x="32490" y="100584"/>
                  <a:pt x="36576" y="104670"/>
                  <a:pt x="36576" y="109728"/>
                </a:cubicBezTo>
                <a:lnTo>
                  <a:pt x="36576" y="128016"/>
                </a:lnTo>
                <a:cubicBezTo>
                  <a:pt x="36576" y="133074"/>
                  <a:pt x="32490" y="137160"/>
                  <a:pt x="27432" y="137160"/>
                </a:cubicBezTo>
                <a:lnTo>
                  <a:pt x="9144" y="137160"/>
                </a:lnTo>
                <a:cubicBezTo>
                  <a:pt x="4086" y="137160"/>
                  <a:pt x="0" y="133074"/>
                  <a:pt x="0" y="128016"/>
                </a:cubicBezTo>
                <a:lnTo>
                  <a:pt x="0" y="109728"/>
                </a:lnTo>
                <a:cubicBezTo>
                  <a:pt x="0" y="104670"/>
                  <a:pt x="4086" y="100584"/>
                  <a:pt x="9144" y="100584"/>
                </a:cubicBezTo>
                <a:lnTo>
                  <a:pt x="11430" y="100584"/>
                </a:lnTo>
                <a:lnTo>
                  <a:pt x="11430" y="84582"/>
                </a:lnTo>
                <a:cubicBezTo>
                  <a:pt x="11430" y="73209"/>
                  <a:pt x="20631" y="64008"/>
                  <a:pt x="32004" y="64008"/>
                </a:cubicBezTo>
                <a:lnTo>
                  <a:pt x="66294" y="64008"/>
                </a:lnTo>
                <a:lnTo>
                  <a:pt x="66294" y="45720"/>
                </a:lnTo>
                <a:lnTo>
                  <a:pt x="64008" y="45720"/>
                </a:lnTo>
                <a:cubicBezTo>
                  <a:pt x="58950" y="45720"/>
                  <a:pt x="54864" y="41634"/>
                  <a:pt x="54864" y="36576"/>
                </a:cubicBezTo>
                <a:lnTo>
                  <a:pt x="54864" y="18288"/>
                </a:lnTo>
                <a:close/>
              </a:path>
            </a:pathLst>
          </a:custGeom>
          <a:solidFill>
            <a:srgbClr val="00A4E0"/>
          </a:solidFill>
          <a:ln/>
        </p:spPr>
      </p:sp>
      <p:sp>
        <p:nvSpPr>
          <p:cNvPr id="7" name="Text 5"/>
          <p:cNvSpPr/>
          <p:nvPr/>
        </p:nvSpPr>
        <p:spPr>
          <a:xfrm>
            <a:off x="851814" y="1128165"/>
            <a:ext cx="2283968" cy="227584"/>
          </a:xfrm>
          <a:prstGeom prst="rect">
            <a:avLst/>
          </a:prstGeom>
          <a:noFill/>
          <a:ln/>
        </p:spPr>
        <p:txBody>
          <a:bodyPr wrap="square" lIns="0" tIns="0" rIns="0" bIns="0" rtlCol="0" anchor="ctr"/>
          <a:lstStyle/>
          <a:p>
            <a:pPr>
              <a:lnSpc>
                <a:spcPct val="120000"/>
              </a:lnSpc>
            </a:pPr>
            <a:r>
              <a:rPr lang="en-US" sz="1280" b="1" dirty="0">
                <a:solidFill>
                  <a:srgbClr val="E8EAED"/>
                </a:solidFill>
                <a:latin typeface="Liter" pitchFamily="34" charset="0"/>
                <a:ea typeface="Liter" pitchFamily="34" charset="-122"/>
                <a:cs typeface="Liter" pitchFamily="34" charset="-120"/>
              </a:rPr>
              <a:t>Step 1: Create Address Objects</a:t>
            </a:r>
            <a:endParaRPr lang="en-US" sz="1600" dirty="0"/>
          </a:p>
        </p:txBody>
      </p:sp>
      <p:sp>
        <p:nvSpPr>
          <p:cNvPr id="8" name="Text 6"/>
          <p:cNvSpPr/>
          <p:nvPr/>
        </p:nvSpPr>
        <p:spPr>
          <a:xfrm>
            <a:off x="429158" y="1502053"/>
            <a:ext cx="5583936" cy="422656"/>
          </a:xfrm>
          <a:prstGeom prst="rect">
            <a:avLst/>
          </a:prstGeom>
          <a:noFill/>
          <a:ln/>
        </p:spPr>
        <p:txBody>
          <a:bodyPr wrap="square" lIns="0" tIns="0" rIns="0" bIns="0" rtlCol="0" anchor="ctr"/>
          <a:lstStyle/>
          <a:p>
            <a:pPr>
              <a:lnSpc>
                <a:spcPct val="140000"/>
              </a:lnSpc>
            </a:pPr>
            <a:r>
              <a:rPr lang="en-US" sz="1024" dirty="0">
                <a:solidFill>
                  <a:srgbClr val="E8EAED">
                    <a:alpha val="80000"/>
                  </a:srgbClr>
                </a:solidFill>
                <a:latin typeface="Liter" pitchFamily="34" charset="0"/>
                <a:ea typeface="Liter" pitchFamily="34" charset="-122"/>
                <a:cs typeface="Liter" pitchFamily="34" charset="-120"/>
              </a:rPr>
              <a:t>Create individual address objects for each Cloudflare Aegis IP. Use consistent naming convention with </a:t>
            </a:r>
            <a:pPr>
              <a:lnSpc>
                <a:spcPct val="140000"/>
              </a:lnSpc>
            </a:pPr>
            <a:r>
              <a:rPr lang="en-US" sz="1024" dirty="0">
                <a:solidFill>
                  <a:srgbClr val="00A4E0"/>
                </a:solidFill>
                <a:latin typeface="MiSans" pitchFamily="34" charset="0"/>
                <a:ea typeface="MiSans" pitchFamily="34" charset="-122"/>
                <a:cs typeface="MiSans" pitchFamily="34" charset="-120"/>
              </a:rPr>
              <a:t>Cloudflare_L3_Zone</a:t>
            </a:r>
            <a:pPr>
              <a:lnSpc>
                <a:spcPct val="140000"/>
              </a:lnSpc>
            </a:pPr>
            <a:r>
              <a:rPr lang="en-US" sz="1024" dirty="0">
                <a:solidFill>
                  <a:srgbClr val="E8EAED">
                    <a:alpha val="80000"/>
                  </a:srgbClr>
                </a:solidFill>
                <a:latin typeface="Liter" pitchFamily="34" charset="0"/>
                <a:ea typeface="Liter" pitchFamily="34" charset="-122"/>
                <a:cs typeface="Liter" pitchFamily="34" charset="-120"/>
              </a:rPr>
              <a:t> tag for easy management.</a:t>
            </a:r>
            <a:endParaRPr lang="en-US" sz="1600" dirty="0"/>
          </a:p>
        </p:txBody>
      </p:sp>
      <p:sp>
        <p:nvSpPr>
          <p:cNvPr id="9" name="Shape 7"/>
          <p:cNvSpPr/>
          <p:nvPr/>
        </p:nvSpPr>
        <p:spPr>
          <a:xfrm>
            <a:off x="438912" y="2022245"/>
            <a:ext cx="5504282" cy="1072896"/>
          </a:xfrm>
          <a:custGeom>
            <a:avLst/>
            <a:gdLst/>
            <a:ahLst/>
            <a:cxnLst/>
            <a:rect l="l" t="t" r="r" b="b"/>
            <a:pathLst>
              <a:path w="5504282" h="1072896">
                <a:moveTo>
                  <a:pt x="19507" y="0"/>
                </a:moveTo>
                <a:lnTo>
                  <a:pt x="5439253" y="0"/>
                </a:lnTo>
                <a:cubicBezTo>
                  <a:pt x="5475167" y="0"/>
                  <a:pt x="5504282" y="29114"/>
                  <a:pt x="5504282" y="65028"/>
                </a:cubicBezTo>
                <a:lnTo>
                  <a:pt x="5504282" y="1007868"/>
                </a:lnTo>
                <a:cubicBezTo>
                  <a:pt x="5504282" y="1043782"/>
                  <a:pt x="5475167" y="1072896"/>
                  <a:pt x="5439253" y="1072896"/>
                </a:cubicBezTo>
                <a:lnTo>
                  <a:pt x="19507" y="1072896"/>
                </a:lnTo>
                <a:cubicBezTo>
                  <a:pt x="8734" y="1072896"/>
                  <a:pt x="0" y="1064162"/>
                  <a:pt x="0" y="1053389"/>
                </a:cubicBezTo>
                <a:lnTo>
                  <a:pt x="0" y="19507"/>
                </a:lnTo>
                <a:cubicBezTo>
                  <a:pt x="0" y="8734"/>
                  <a:pt x="8734" y="0"/>
                  <a:pt x="19507" y="0"/>
                </a:cubicBezTo>
                <a:close/>
              </a:path>
            </a:pathLst>
          </a:custGeom>
          <a:solidFill>
            <a:srgbClr val="1A1D21">
              <a:alpha val="90196"/>
            </a:srgbClr>
          </a:solidFill>
          <a:ln/>
        </p:spPr>
      </p:sp>
      <p:sp>
        <p:nvSpPr>
          <p:cNvPr id="10" name="Shape 8"/>
          <p:cNvSpPr/>
          <p:nvPr/>
        </p:nvSpPr>
        <p:spPr>
          <a:xfrm>
            <a:off x="438912" y="2022245"/>
            <a:ext cx="19507" cy="1072896"/>
          </a:xfrm>
          <a:custGeom>
            <a:avLst/>
            <a:gdLst/>
            <a:ahLst/>
            <a:cxnLst/>
            <a:rect l="l" t="t" r="r" b="b"/>
            <a:pathLst>
              <a:path w="19507" h="1072896">
                <a:moveTo>
                  <a:pt x="19507" y="0"/>
                </a:moveTo>
                <a:lnTo>
                  <a:pt x="19507" y="0"/>
                </a:lnTo>
                <a:lnTo>
                  <a:pt x="19507" y="1072896"/>
                </a:lnTo>
                <a:lnTo>
                  <a:pt x="19507" y="1072896"/>
                </a:lnTo>
                <a:cubicBezTo>
                  <a:pt x="8734" y="1072896"/>
                  <a:pt x="0" y="1064162"/>
                  <a:pt x="0" y="1053389"/>
                </a:cubicBezTo>
                <a:lnTo>
                  <a:pt x="0" y="19507"/>
                </a:lnTo>
                <a:cubicBezTo>
                  <a:pt x="0" y="8734"/>
                  <a:pt x="8734" y="0"/>
                  <a:pt x="19507" y="0"/>
                </a:cubicBezTo>
                <a:close/>
              </a:path>
            </a:pathLst>
          </a:custGeom>
          <a:solidFill>
            <a:srgbClr val="F47C20"/>
          </a:solidFill>
          <a:ln/>
        </p:spPr>
      </p:sp>
      <p:sp>
        <p:nvSpPr>
          <p:cNvPr id="11" name="Text 9"/>
          <p:cNvSpPr/>
          <p:nvPr/>
        </p:nvSpPr>
        <p:spPr>
          <a:xfrm>
            <a:off x="546202" y="2119781"/>
            <a:ext cx="5356352" cy="162560"/>
          </a:xfrm>
          <a:prstGeom prst="rect">
            <a:avLst/>
          </a:prstGeom>
          <a:noFill/>
          <a:ln/>
        </p:spPr>
        <p:txBody>
          <a:bodyPr wrap="square" lIns="0" tIns="0" rIns="0" bIns="0" rtlCol="0" anchor="ctr"/>
          <a:lstStyle/>
          <a:p>
            <a:pPr>
              <a:lnSpc>
                <a:spcPct val="120000"/>
              </a:lnSpc>
            </a:pPr>
            <a:r>
              <a:rPr lang="en-US" sz="896" b="1" dirty="0">
                <a:solidFill>
                  <a:srgbClr val="F47C20"/>
                </a:solidFill>
                <a:latin typeface="MiSans" pitchFamily="34" charset="0"/>
                <a:ea typeface="MiSans" pitchFamily="34" charset="-122"/>
                <a:cs typeface="MiSans" pitchFamily="34" charset="-120"/>
              </a:rPr>
              <a:t># IPv4 Address Objects</a:t>
            </a:r>
            <a:endParaRPr lang="en-US" sz="1600" dirty="0"/>
          </a:p>
        </p:txBody>
      </p:sp>
      <p:sp>
        <p:nvSpPr>
          <p:cNvPr id="12" name="Text 10"/>
          <p:cNvSpPr/>
          <p:nvPr/>
        </p:nvSpPr>
        <p:spPr>
          <a:xfrm>
            <a:off x="510438" y="2347366"/>
            <a:ext cx="5356352" cy="650240"/>
          </a:xfrm>
          <a:prstGeom prst="rect">
            <a:avLst/>
          </a:prstGeom>
          <a:noFill/>
          <a:ln/>
        </p:spPr>
        <p:txBody>
          <a:bodyPr wrap="square" lIns="0" tIns="0" rIns="0" bIns="0" rtlCol="0" anchor="ctr"/>
          <a:lstStyle/>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set address CF_Aegis_IPv4_01 ip-netmask </a:t>
            </a:r>
            <a:pPr>
              <a:lnSpc>
                <a:spcPct val="100000"/>
              </a:lnSpc>
            </a:pPr>
            <a:r>
              <a:rPr lang="en-US" sz="889" dirty="0">
                <a:solidFill>
                  <a:srgbClr val="F47C20"/>
                </a:solidFill>
                <a:latin typeface="MiSans" pitchFamily="34" charset="0"/>
                <a:ea typeface="MiSans" pitchFamily="34" charset="-122"/>
                <a:cs typeface="MiSans" pitchFamily="34" charset="-120"/>
              </a:rPr>
              <a:t>104.28.0.85</a:t>
            </a:r>
            <a:endParaRPr lang="en-US" sz="1600" dirty="0"/>
          </a:p>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set address CF_Aegis_IPv4_01 tag Cloudflare_L3_Zone</a:t>
            </a:r>
            <a:endParaRPr lang="en-US" sz="1600" dirty="0"/>
          </a:p>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set address CF_Aegis_IPv4_02 ip-netmask </a:t>
            </a:r>
            <a:pPr>
              <a:lnSpc>
                <a:spcPct val="100000"/>
              </a:lnSpc>
            </a:pPr>
            <a:r>
              <a:rPr lang="en-US" sz="889" dirty="0">
                <a:solidFill>
                  <a:srgbClr val="F47C20"/>
                </a:solidFill>
                <a:latin typeface="MiSans" pitchFamily="34" charset="0"/>
                <a:ea typeface="MiSans" pitchFamily="34" charset="-122"/>
                <a:cs typeface="MiSans" pitchFamily="34" charset="-120"/>
              </a:rPr>
              <a:t>104.28.0.86</a:t>
            </a:r>
            <a:endParaRPr lang="en-US" sz="1600" dirty="0"/>
          </a:p>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set address CF_Aegis_IPv4_02 tag Cloudflare_L3_Zone</a:t>
            </a:r>
            <a:endParaRPr lang="en-US" sz="1600" dirty="0"/>
          </a:p>
        </p:txBody>
      </p:sp>
      <p:sp>
        <p:nvSpPr>
          <p:cNvPr id="13" name="Shape 11"/>
          <p:cNvSpPr/>
          <p:nvPr/>
        </p:nvSpPr>
        <p:spPr>
          <a:xfrm>
            <a:off x="438912" y="3192677"/>
            <a:ext cx="5504282" cy="1072896"/>
          </a:xfrm>
          <a:custGeom>
            <a:avLst/>
            <a:gdLst/>
            <a:ahLst/>
            <a:cxnLst/>
            <a:rect l="l" t="t" r="r" b="b"/>
            <a:pathLst>
              <a:path w="5504282" h="1072896">
                <a:moveTo>
                  <a:pt x="19507" y="0"/>
                </a:moveTo>
                <a:lnTo>
                  <a:pt x="5439253" y="0"/>
                </a:lnTo>
                <a:cubicBezTo>
                  <a:pt x="5475167" y="0"/>
                  <a:pt x="5504282" y="29114"/>
                  <a:pt x="5504282" y="65028"/>
                </a:cubicBezTo>
                <a:lnTo>
                  <a:pt x="5504282" y="1007868"/>
                </a:lnTo>
                <a:cubicBezTo>
                  <a:pt x="5504282" y="1043782"/>
                  <a:pt x="5475167" y="1072896"/>
                  <a:pt x="5439253" y="1072896"/>
                </a:cubicBezTo>
                <a:lnTo>
                  <a:pt x="19507" y="1072896"/>
                </a:lnTo>
                <a:cubicBezTo>
                  <a:pt x="8734" y="1072896"/>
                  <a:pt x="0" y="1064162"/>
                  <a:pt x="0" y="1053389"/>
                </a:cubicBezTo>
                <a:lnTo>
                  <a:pt x="0" y="19507"/>
                </a:lnTo>
                <a:cubicBezTo>
                  <a:pt x="0" y="8734"/>
                  <a:pt x="8734" y="0"/>
                  <a:pt x="19507" y="0"/>
                </a:cubicBezTo>
                <a:close/>
              </a:path>
            </a:pathLst>
          </a:custGeom>
          <a:solidFill>
            <a:srgbClr val="1A1D21">
              <a:alpha val="90196"/>
            </a:srgbClr>
          </a:solidFill>
          <a:ln/>
        </p:spPr>
      </p:sp>
      <p:sp>
        <p:nvSpPr>
          <p:cNvPr id="14" name="Shape 12"/>
          <p:cNvSpPr/>
          <p:nvPr/>
        </p:nvSpPr>
        <p:spPr>
          <a:xfrm>
            <a:off x="438912" y="3192677"/>
            <a:ext cx="19507" cy="1072896"/>
          </a:xfrm>
          <a:custGeom>
            <a:avLst/>
            <a:gdLst/>
            <a:ahLst/>
            <a:cxnLst/>
            <a:rect l="l" t="t" r="r" b="b"/>
            <a:pathLst>
              <a:path w="19507" h="1072896">
                <a:moveTo>
                  <a:pt x="19507" y="0"/>
                </a:moveTo>
                <a:lnTo>
                  <a:pt x="19507" y="0"/>
                </a:lnTo>
                <a:lnTo>
                  <a:pt x="19507" y="1072896"/>
                </a:lnTo>
                <a:lnTo>
                  <a:pt x="19507" y="1072896"/>
                </a:lnTo>
                <a:cubicBezTo>
                  <a:pt x="8734" y="1072896"/>
                  <a:pt x="0" y="1064162"/>
                  <a:pt x="0" y="1053389"/>
                </a:cubicBezTo>
                <a:lnTo>
                  <a:pt x="0" y="19507"/>
                </a:lnTo>
                <a:cubicBezTo>
                  <a:pt x="0" y="8734"/>
                  <a:pt x="8734" y="0"/>
                  <a:pt x="19507" y="0"/>
                </a:cubicBezTo>
                <a:close/>
              </a:path>
            </a:pathLst>
          </a:custGeom>
          <a:solidFill>
            <a:srgbClr val="F47C20"/>
          </a:solidFill>
          <a:ln/>
        </p:spPr>
      </p:sp>
      <p:sp>
        <p:nvSpPr>
          <p:cNvPr id="15" name="Text 13"/>
          <p:cNvSpPr/>
          <p:nvPr/>
        </p:nvSpPr>
        <p:spPr>
          <a:xfrm>
            <a:off x="546202" y="3290213"/>
            <a:ext cx="5356352" cy="162560"/>
          </a:xfrm>
          <a:prstGeom prst="rect">
            <a:avLst/>
          </a:prstGeom>
          <a:noFill/>
          <a:ln/>
        </p:spPr>
        <p:txBody>
          <a:bodyPr wrap="square" lIns="0" tIns="0" rIns="0" bIns="0" rtlCol="0" anchor="ctr"/>
          <a:lstStyle/>
          <a:p>
            <a:pPr>
              <a:lnSpc>
                <a:spcPct val="120000"/>
              </a:lnSpc>
            </a:pPr>
            <a:r>
              <a:rPr lang="en-US" sz="896" b="1" dirty="0">
                <a:solidFill>
                  <a:srgbClr val="00A4E0"/>
                </a:solidFill>
                <a:latin typeface="MiSans" pitchFamily="34" charset="0"/>
                <a:ea typeface="MiSans" pitchFamily="34" charset="-122"/>
                <a:cs typeface="MiSans" pitchFamily="34" charset="-120"/>
              </a:rPr>
              <a:t># IPv6 Address Objects</a:t>
            </a:r>
            <a:endParaRPr lang="en-US" sz="1600" dirty="0"/>
          </a:p>
        </p:txBody>
      </p:sp>
      <p:sp>
        <p:nvSpPr>
          <p:cNvPr id="16" name="Text 14"/>
          <p:cNvSpPr/>
          <p:nvPr/>
        </p:nvSpPr>
        <p:spPr>
          <a:xfrm>
            <a:off x="546202" y="3517797"/>
            <a:ext cx="5356352" cy="650240"/>
          </a:xfrm>
          <a:prstGeom prst="rect">
            <a:avLst/>
          </a:prstGeom>
          <a:noFill/>
          <a:ln/>
        </p:spPr>
        <p:txBody>
          <a:bodyPr wrap="square" lIns="0" tIns="0" rIns="0" bIns="0" rtlCol="0" anchor="ctr"/>
          <a:lstStyle/>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set address CF_Aegis_IPv6_01 ip-netmask </a:t>
            </a:r>
            <a:pPr>
              <a:lnSpc>
                <a:spcPct val="100000"/>
              </a:lnSpc>
            </a:pPr>
            <a:r>
              <a:rPr lang="en-US" sz="889" dirty="0">
                <a:solidFill>
                  <a:srgbClr val="ED7D31"/>
                </a:solidFill>
                <a:latin typeface="MiSans" pitchFamily="34" charset="0"/>
                <a:ea typeface="MiSans" pitchFamily="34" charset="-122"/>
                <a:cs typeface="MiSans" pitchFamily="34" charset="-120"/>
              </a:rPr>
              <a:t>2a09:bac5:fff0::24::/64</a:t>
            </a:r>
            <a:endParaRPr lang="en-US" sz="1600" dirty="0"/>
          </a:p>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set address CF_Aegis_IPv6_01 tag Cloudflare_L3_Zone</a:t>
            </a:r>
            <a:endParaRPr lang="en-US" sz="1600" dirty="0"/>
          </a:p>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set address CF_Aegis_IPv6_02 ip-netmask</a:t>
            </a:r>
            <a:pPr>
              <a:lnSpc>
                <a:spcPct val="100000"/>
              </a:lnSpc>
            </a:pPr>
            <a:r>
              <a:rPr lang="en-US" sz="896" dirty="0">
                <a:solidFill>
                  <a:srgbClr val="ED7D31"/>
                </a:solidFill>
                <a:latin typeface="MiSans" pitchFamily="34" charset="0"/>
                <a:ea typeface="MiSans" pitchFamily="34" charset="-122"/>
                <a:cs typeface="MiSans" pitchFamily="34" charset="-120"/>
              </a:rPr>
              <a:t> </a:t>
            </a:r>
            <a:pPr>
              <a:lnSpc>
                <a:spcPct val="100000"/>
              </a:lnSpc>
            </a:pPr>
            <a:r>
              <a:rPr lang="en-US" sz="889" dirty="0">
                <a:solidFill>
                  <a:srgbClr val="ED7D31"/>
                </a:solidFill>
                <a:latin typeface="MiSans" pitchFamily="34" charset="0"/>
                <a:ea typeface="MiSans" pitchFamily="34" charset="-122"/>
                <a:cs typeface="MiSans" pitchFamily="34" charset="-120"/>
              </a:rPr>
              <a:t>2a09:bac6:fff0::24::/64</a:t>
            </a:r>
            <a:endParaRPr lang="en-US" sz="1600" dirty="0"/>
          </a:p>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set address CF_Aegis_IPv6_02 tag Cloudflare_L3_Zone</a:t>
            </a:r>
            <a:endParaRPr lang="en-US" sz="1600" dirty="0"/>
          </a:p>
        </p:txBody>
      </p:sp>
      <p:sp>
        <p:nvSpPr>
          <p:cNvPr id="17" name="Shape 15"/>
          <p:cNvSpPr/>
          <p:nvPr/>
        </p:nvSpPr>
        <p:spPr>
          <a:xfrm>
            <a:off x="6149747" y="978611"/>
            <a:ext cx="5720486" cy="3664102"/>
          </a:xfrm>
          <a:custGeom>
            <a:avLst/>
            <a:gdLst/>
            <a:ahLst/>
            <a:cxnLst/>
            <a:rect l="l" t="t" r="r" b="b"/>
            <a:pathLst>
              <a:path w="5720486" h="3664102">
                <a:moveTo>
                  <a:pt x="97538" y="0"/>
                </a:moveTo>
                <a:lnTo>
                  <a:pt x="5622948" y="0"/>
                </a:lnTo>
                <a:cubicBezTo>
                  <a:pt x="5676817" y="0"/>
                  <a:pt x="5720486" y="43669"/>
                  <a:pt x="5720486" y="97538"/>
                </a:cubicBezTo>
                <a:lnTo>
                  <a:pt x="5720486" y="3566564"/>
                </a:lnTo>
                <a:cubicBezTo>
                  <a:pt x="5720486" y="3620433"/>
                  <a:pt x="5676817" y="3664102"/>
                  <a:pt x="5622948" y="3664102"/>
                </a:cubicBezTo>
                <a:lnTo>
                  <a:pt x="97538" y="3664102"/>
                </a:lnTo>
                <a:cubicBezTo>
                  <a:pt x="43669" y="3664102"/>
                  <a:pt x="0" y="3620433"/>
                  <a:pt x="0" y="3566564"/>
                </a:cubicBezTo>
                <a:lnTo>
                  <a:pt x="0" y="97538"/>
                </a:lnTo>
                <a:cubicBezTo>
                  <a:pt x="0" y="43705"/>
                  <a:pt x="43705" y="0"/>
                  <a:pt x="97538" y="0"/>
                </a:cubicBezTo>
                <a:close/>
              </a:path>
            </a:pathLst>
          </a:custGeom>
          <a:solidFill>
            <a:srgbClr val="48515E">
              <a:alpha val="20000"/>
            </a:srgbClr>
          </a:solidFill>
          <a:ln w="10160">
            <a:solidFill>
              <a:srgbClr val="48515E">
                <a:alpha val="40000"/>
              </a:srgbClr>
            </a:solidFill>
            <a:prstDash val="solid"/>
          </a:ln>
        </p:spPr>
      </p:sp>
      <p:sp>
        <p:nvSpPr>
          <p:cNvPr id="18" name="Shape 16"/>
          <p:cNvSpPr/>
          <p:nvPr/>
        </p:nvSpPr>
        <p:spPr>
          <a:xfrm>
            <a:off x="6250534" y="1079397"/>
            <a:ext cx="325120" cy="325120"/>
          </a:xfrm>
          <a:custGeom>
            <a:avLst/>
            <a:gdLst/>
            <a:ahLst/>
            <a:cxnLst/>
            <a:rect l="l" t="t" r="r" b="b"/>
            <a:pathLst>
              <a:path w="325120" h="325120">
                <a:moveTo>
                  <a:pt x="65024" y="0"/>
                </a:moveTo>
                <a:lnTo>
                  <a:pt x="260096" y="0"/>
                </a:lnTo>
                <a:cubicBezTo>
                  <a:pt x="296008" y="0"/>
                  <a:pt x="325120" y="29112"/>
                  <a:pt x="325120" y="65024"/>
                </a:cubicBezTo>
                <a:lnTo>
                  <a:pt x="325120" y="260096"/>
                </a:lnTo>
                <a:cubicBezTo>
                  <a:pt x="325120" y="296008"/>
                  <a:pt x="296008" y="325120"/>
                  <a:pt x="260096" y="325120"/>
                </a:cubicBezTo>
                <a:lnTo>
                  <a:pt x="65024" y="325120"/>
                </a:lnTo>
                <a:cubicBezTo>
                  <a:pt x="29112" y="325120"/>
                  <a:pt x="0" y="296008"/>
                  <a:pt x="0" y="260096"/>
                </a:cubicBezTo>
                <a:lnTo>
                  <a:pt x="0" y="65024"/>
                </a:lnTo>
                <a:cubicBezTo>
                  <a:pt x="0" y="29136"/>
                  <a:pt x="29136" y="0"/>
                  <a:pt x="65024" y="0"/>
                </a:cubicBezTo>
                <a:close/>
              </a:path>
            </a:pathLst>
          </a:custGeom>
          <a:solidFill>
            <a:srgbClr val="F47C20">
              <a:alpha val="20000"/>
            </a:srgbClr>
          </a:solidFill>
          <a:ln/>
        </p:spPr>
      </p:sp>
      <p:sp>
        <p:nvSpPr>
          <p:cNvPr id="19" name="Shape 17"/>
          <p:cNvSpPr/>
          <p:nvPr/>
        </p:nvSpPr>
        <p:spPr>
          <a:xfrm>
            <a:off x="6332830" y="1168805"/>
            <a:ext cx="164592" cy="146304"/>
          </a:xfrm>
          <a:custGeom>
            <a:avLst/>
            <a:gdLst/>
            <a:ahLst/>
            <a:cxnLst/>
            <a:rect l="l" t="t" r="r" b="b"/>
            <a:pathLst>
              <a:path w="164592" h="146304">
                <a:moveTo>
                  <a:pt x="9144" y="34119"/>
                </a:moveTo>
                <a:cubicBezTo>
                  <a:pt x="3686" y="30975"/>
                  <a:pt x="0" y="25060"/>
                  <a:pt x="0" y="18288"/>
                </a:cubicBezTo>
                <a:cubicBezTo>
                  <a:pt x="0" y="8201"/>
                  <a:pt x="8201" y="0"/>
                  <a:pt x="18288" y="0"/>
                </a:cubicBezTo>
                <a:cubicBezTo>
                  <a:pt x="25060" y="0"/>
                  <a:pt x="30975" y="3686"/>
                  <a:pt x="34119" y="9144"/>
                </a:cubicBezTo>
                <a:lnTo>
                  <a:pt x="130445" y="9144"/>
                </a:lnTo>
                <a:cubicBezTo>
                  <a:pt x="133617" y="3686"/>
                  <a:pt x="139503" y="0"/>
                  <a:pt x="146275" y="0"/>
                </a:cubicBezTo>
                <a:cubicBezTo>
                  <a:pt x="156362" y="0"/>
                  <a:pt x="164563" y="8201"/>
                  <a:pt x="164563" y="18288"/>
                </a:cubicBezTo>
                <a:cubicBezTo>
                  <a:pt x="164563" y="25060"/>
                  <a:pt x="160877" y="30975"/>
                  <a:pt x="155419" y="34119"/>
                </a:cubicBezTo>
                <a:lnTo>
                  <a:pt x="155419" y="112157"/>
                </a:lnTo>
                <a:cubicBezTo>
                  <a:pt x="160877" y="115329"/>
                  <a:pt x="164563" y="121215"/>
                  <a:pt x="164563" y="127987"/>
                </a:cubicBezTo>
                <a:cubicBezTo>
                  <a:pt x="164563" y="138074"/>
                  <a:pt x="156362" y="146275"/>
                  <a:pt x="146275" y="146275"/>
                </a:cubicBezTo>
                <a:cubicBezTo>
                  <a:pt x="139503" y="146275"/>
                  <a:pt x="133588" y="142589"/>
                  <a:pt x="130445" y="137131"/>
                </a:cubicBezTo>
                <a:lnTo>
                  <a:pt x="34119" y="137131"/>
                </a:lnTo>
                <a:cubicBezTo>
                  <a:pt x="30947" y="142589"/>
                  <a:pt x="25060" y="146275"/>
                  <a:pt x="18288" y="146275"/>
                </a:cubicBezTo>
                <a:cubicBezTo>
                  <a:pt x="8201" y="146275"/>
                  <a:pt x="0" y="138074"/>
                  <a:pt x="0" y="127987"/>
                </a:cubicBezTo>
                <a:cubicBezTo>
                  <a:pt x="0" y="121215"/>
                  <a:pt x="3686" y="115300"/>
                  <a:pt x="9144" y="112157"/>
                </a:cubicBezTo>
                <a:lnTo>
                  <a:pt x="9144" y="34119"/>
                </a:lnTo>
                <a:close/>
                <a:moveTo>
                  <a:pt x="137160" y="34119"/>
                </a:moveTo>
                <a:cubicBezTo>
                  <a:pt x="134388" y="32518"/>
                  <a:pt x="132074" y="30204"/>
                  <a:pt x="130473" y="27432"/>
                </a:cubicBezTo>
                <a:lnTo>
                  <a:pt x="34119" y="27432"/>
                </a:lnTo>
                <a:cubicBezTo>
                  <a:pt x="32518" y="30204"/>
                  <a:pt x="30204" y="32518"/>
                  <a:pt x="27432" y="34119"/>
                </a:cubicBezTo>
                <a:lnTo>
                  <a:pt x="27432" y="112157"/>
                </a:lnTo>
                <a:cubicBezTo>
                  <a:pt x="30204" y="113757"/>
                  <a:pt x="32518" y="116072"/>
                  <a:pt x="34119" y="118843"/>
                </a:cubicBezTo>
                <a:lnTo>
                  <a:pt x="130445" y="118843"/>
                </a:lnTo>
                <a:cubicBezTo>
                  <a:pt x="132045" y="116072"/>
                  <a:pt x="134360" y="113757"/>
                  <a:pt x="137131" y="112157"/>
                </a:cubicBezTo>
                <a:lnTo>
                  <a:pt x="137131" y="34119"/>
                </a:lnTo>
                <a:close/>
                <a:moveTo>
                  <a:pt x="41148" y="50292"/>
                </a:moveTo>
                <a:cubicBezTo>
                  <a:pt x="41148" y="45234"/>
                  <a:pt x="45234" y="41148"/>
                  <a:pt x="50292" y="41148"/>
                </a:cubicBezTo>
                <a:lnTo>
                  <a:pt x="82296" y="41148"/>
                </a:lnTo>
                <a:cubicBezTo>
                  <a:pt x="87354" y="41148"/>
                  <a:pt x="91440" y="45234"/>
                  <a:pt x="91440" y="50292"/>
                </a:cubicBezTo>
                <a:lnTo>
                  <a:pt x="91440" y="68580"/>
                </a:lnTo>
                <a:cubicBezTo>
                  <a:pt x="91440" y="73638"/>
                  <a:pt x="87354" y="77724"/>
                  <a:pt x="82296" y="77724"/>
                </a:cubicBezTo>
                <a:lnTo>
                  <a:pt x="50292" y="77724"/>
                </a:lnTo>
                <a:cubicBezTo>
                  <a:pt x="45234" y="77724"/>
                  <a:pt x="41148" y="73638"/>
                  <a:pt x="41148" y="68580"/>
                </a:cubicBezTo>
                <a:lnTo>
                  <a:pt x="41148" y="50292"/>
                </a:lnTo>
                <a:close/>
                <a:moveTo>
                  <a:pt x="73152" y="91440"/>
                </a:moveTo>
                <a:lnTo>
                  <a:pt x="82296" y="91440"/>
                </a:lnTo>
                <a:cubicBezTo>
                  <a:pt x="94926" y="91440"/>
                  <a:pt x="105156" y="81210"/>
                  <a:pt x="105156" y="68580"/>
                </a:cubicBezTo>
                <a:lnTo>
                  <a:pt x="114300" y="68580"/>
                </a:lnTo>
                <a:cubicBezTo>
                  <a:pt x="119358" y="68580"/>
                  <a:pt x="123444" y="72666"/>
                  <a:pt x="123444" y="77724"/>
                </a:cubicBezTo>
                <a:lnTo>
                  <a:pt x="123444" y="96012"/>
                </a:lnTo>
                <a:cubicBezTo>
                  <a:pt x="123444" y="101070"/>
                  <a:pt x="119358" y="105156"/>
                  <a:pt x="114300" y="105156"/>
                </a:cubicBezTo>
                <a:lnTo>
                  <a:pt x="82296" y="105156"/>
                </a:lnTo>
                <a:cubicBezTo>
                  <a:pt x="77238" y="105156"/>
                  <a:pt x="73152" y="101070"/>
                  <a:pt x="73152" y="96012"/>
                </a:cubicBezTo>
                <a:lnTo>
                  <a:pt x="73152" y="91440"/>
                </a:lnTo>
                <a:close/>
              </a:path>
            </a:pathLst>
          </a:custGeom>
          <a:solidFill>
            <a:srgbClr val="F47C20"/>
          </a:solidFill>
          <a:ln/>
        </p:spPr>
      </p:sp>
      <p:sp>
        <p:nvSpPr>
          <p:cNvPr id="20" name="Text 18"/>
          <p:cNvSpPr/>
          <p:nvPr/>
        </p:nvSpPr>
        <p:spPr>
          <a:xfrm>
            <a:off x="6673190" y="1128165"/>
            <a:ext cx="2202688" cy="227584"/>
          </a:xfrm>
          <a:prstGeom prst="rect">
            <a:avLst/>
          </a:prstGeom>
          <a:noFill/>
          <a:ln/>
        </p:spPr>
        <p:txBody>
          <a:bodyPr wrap="square" lIns="0" tIns="0" rIns="0" bIns="0" rtlCol="0" anchor="ctr"/>
          <a:lstStyle/>
          <a:p>
            <a:pPr>
              <a:lnSpc>
                <a:spcPct val="120000"/>
              </a:lnSpc>
            </a:pPr>
            <a:r>
              <a:rPr lang="en-US" sz="1280" b="1" dirty="0">
                <a:solidFill>
                  <a:srgbClr val="E8EAED"/>
                </a:solidFill>
                <a:latin typeface="Liter" pitchFamily="34" charset="0"/>
                <a:ea typeface="Liter" pitchFamily="34" charset="-122"/>
                <a:cs typeface="Liter" pitchFamily="34" charset="-120"/>
              </a:rPr>
              <a:t>Step 2: Create Address Group</a:t>
            </a:r>
            <a:endParaRPr lang="en-US" sz="1600" dirty="0"/>
          </a:p>
        </p:txBody>
      </p:sp>
      <p:sp>
        <p:nvSpPr>
          <p:cNvPr id="21" name="Text 19"/>
          <p:cNvSpPr/>
          <p:nvPr/>
        </p:nvSpPr>
        <p:spPr>
          <a:xfrm>
            <a:off x="6250534" y="1502053"/>
            <a:ext cx="5583936" cy="422656"/>
          </a:xfrm>
          <a:prstGeom prst="rect">
            <a:avLst/>
          </a:prstGeom>
          <a:noFill/>
          <a:ln/>
        </p:spPr>
        <p:txBody>
          <a:bodyPr wrap="square" lIns="0" tIns="0" rIns="0" bIns="0" rtlCol="0" anchor="ctr"/>
          <a:lstStyle/>
          <a:p>
            <a:pPr>
              <a:lnSpc>
                <a:spcPct val="140000"/>
              </a:lnSpc>
            </a:pPr>
            <a:r>
              <a:rPr lang="en-US" sz="1024" dirty="0">
                <a:solidFill>
                  <a:srgbClr val="E8EAED">
                    <a:alpha val="80000"/>
                  </a:srgbClr>
                </a:solidFill>
                <a:latin typeface="Liter" pitchFamily="34" charset="0"/>
                <a:ea typeface="Liter" pitchFamily="34" charset="-122"/>
                <a:cs typeface="Liter" pitchFamily="34" charset="-120"/>
              </a:rPr>
              <a:t>Consolidate all Aegis address objects into a single address group for simplified policy management.</a:t>
            </a:r>
            <a:endParaRPr lang="en-US" sz="1600" dirty="0"/>
          </a:p>
        </p:txBody>
      </p:sp>
      <p:sp>
        <p:nvSpPr>
          <p:cNvPr id="22" name="Shape 20"/>
          <p:cNvSpPr/>
          <p:nvPr/>
        </p:nvSpPr>
        <p:spPr>
          <a:xfrm>
            <a:off x="6260287" y="2022245"/>
            <a:ext cx="5504282" cy="1560576"/>
          </a:xfrm>
          <a:custGeom>
            <a:avLst/>
            <a:gdLst/>
            <a:ahLst/>
            <a:cxnLst/>
            <a:rect l="l" t="t" r="r" b="b"/>
            <a:pathLst>
              <a:path w="5504282" h="1560576">
                <a:moveTo>
                  <a:pt x="19507" y="0"/>
                </a:moveTo>
                <a:lnTo>
                  <a:pt x="5439252" y="0"/>
                </a:lnTo>
                <a:cubicBezTo>
                  <a:pt x="5475167" y="0"/>
                  <a:pt x="5504282" y="29115"/>
                  <a:pt x="5504282" y="65029"/>
                </a:cubicBezTo>
                <a:lnTo>
                  <a:pt x="5504282" y="1495547"/>
                </a:lnTo>
                <a:cubicBezTo>
                  <a:pt x="5504282" y="1531461"/>
                  <a:pt x="5475167" y="1560576"/>
                  <a:pt x="5439252" y="1560576"/>
                </a:cubicBezTo>
                <a:lnTo>
                  <a:pt x="19507" y="1560576"/>
                </a:lnTo>
                <a:cubicBezTo>
                  <a:pt x="8734" y="1560576"/>
                  <a:pt x="0" y="1551842"/>
                  <a:pt x="0" y="1541069"/>
                </a:cubicBezTo>
                <a:lnTo>
                  <a:pt x="0" y="19507"/>
                </a:lnTo>
                <a:cubicBezTo>
                  <a:pt x="0" y="8734"/>
                  <a:pt x="8734" y="0"/>
                  <a:pt x="19507" y="0"/>
                </a:cubicBezTo>
                <a:close/>
              </a:path>
            </a:pathLst>
          </a:custGeom>
          <a:solidFill>
            <a:srgbClr val="1A1D21">
              <a:alpha val="90196"/>
            </a:srgbClr>
          </a:solidFill>
          <a:ln/>
        </p:spPr>
      </p:sp>
      <p:sp>
        <p:nvSpPr>
          <p:cNvPr id="23" name="Shape 21"/>
          <p:cNvSpPr/>
          <p:nvPr/>
        </p:nvSpPr>
        <p:spPr>
          <a:xfrm>
            <a:off x="6260287" y="2022245"/>
            <a:ext cx="19507" cy="1560576"/>
          </a:xfrm>
          <a:custGeom>
            <a:avLst/>
            <a:gdLst/>
            <a:ahLst/>
            <a:cxnLst/>
            <a:rect l="l" t="t" r="r" b="b"/>
            <a:pathLst>
              <a:path w="19507" h="1560576">
                <a:moveTo>
                  <a:pt x="19507" y="0"/>
                </a:moveTo>
                <a:lnTo>
                  <a:pt x="19507" y="0"/>
                </a:lnTo>
                <a:lnTo>
                  <a:pt x="19507" y="1560576"/>
                </a:lnTo>
                <a:lnTo>
                  <a:pt x="19507" y="1560576"/>
                </a:lnTo>
                <a:cubicBezTo>
                  <a:pt x="8734" y="1560576"/>
                  <a:pt x="0" y="1551842"/>
                  <a:pt x="0" y="1541069"/>
                </a:cubicBezTo>
                <a:lnTo>
                  <a:pt x="0" y="19507"/>
                </a:lnTo>
                <a:cubicBezTo>
                  <a:pt x="0" y="8734"/>
                  <a:pt x="8734" y="0"/>
                  <a:pt x="19507" y="0"/>
                </a:cubicBezTo>
                <a:close/>
              </a:path>
            </a:pathLst>
          </a:custGeom>
          <a:solidFill>
            <a:srgbClr val="F47C20"/>
          </a:solidFill>
          <a:ln/>
        </p:spPr>
      </p:sp>
      <p:sp>
        <p:nvSpPr>
          <p:cNvPr id="24" name="Text 22"/>
          <p:cNvSpPr/>
          <p:nvPr/>
        </p:nvSpPr>
        <p:spPr>
          <a:xfrm>
            <a:off x="6367577" y="2119781"/>
            <a:ext cx="5356352" cy="162560"/>
          </a:xfrm>
          <a:prstGeom prst="rect">
            <a:avLst/>
          </a:prstGeom>
          <a:noFill/>
          <a:ln/>
        </p:spPr>
        <p:txBody>
          <a:bodyPr wrap="square" lIns="0" tIns="0" rIns="0" bIns="0" rtlCol="0" anchor="ctr"/>
          <a:lstStyle/>
          <a:p>
            <a:pPr>
              <a:lnSpc>
                <a:spcPct val="120000"/>
              </a:lnSpc>
            </a:pPr>
            <a:r>
              <a:rPr lang="en-US" sz="896" b="1" dirty="0">
                <a:solidFill>
                  <a:srgbClr val="F47C20"/>
                </a:solidFill>
                <a:latin typeface="MiSans" pitchFamily="34" charset="0"/>
                <a:ea typeface="MiSans" pitchFamily="34" charset="-122"/>
                <a:cs typeface="MiSans" pitchFamily="34" charset="-120"/>
              </a:rPr>
              <a:t># Create Static Address Group</a:t>
            </a:r>
            <a:endParaRPr lang="en-US" sz="1600" dirty="0"/>
          </a:p>
        </p:txBody>
      </p:sp>
      <p:sp>
        <p:nvSpPr>
          <p:cNvPr id="25" name="Text 23"/>
          <p:cNvSpPr/>
          <p:nvPr/>
        </p:nvSpPr>
        <p:spPr>
          <a:xfrm>
            <a:off x="6367577" y="2347365"/>
            <a:ext cx="5356352" cy="1137920"/>
          </a:xfrm>
          <a:prstGeom prst="rect">
            <a:avLst/>
          </a:prstGeom>
          <a:noFill/>
          <a:ln/>
        </p:spPr>
        <p:txBody>
          <a:bodyPr wrap="square" lIns="0" tIns="0" rIns="0" bIns="0" rtlCol="0" anchor="ctr"/>
          <a:lstStyle/>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set address-group CF_Aegis_IP_Group static [</a:t>
            </a:r>
            <a:endParaRPr lang="en-US" sz="1600" dirty="0"/>
          </a:p>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    CF_Aegis_IPv4_01</a:t>
            </a:r>
            <a:endParaRPr lang="en-US" sz="1600" dirty="0"/>
          </a:p>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    CF_Aegis_IPv4_02</a:t>
            </a:r>
            <a:endParaRPr lang="en-US" sz="1600" dirty="0"/>
          </a:p>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    CF_Aegis_IPv6_01</a:t>
            </a:r>
            <a:endParaRPr lang="en-US" sz="1600" dirty="0"/>
          </a:p>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    CF_Aegis_IPv6_02</a:t>
            </a:r>
            <a:endParaRPr lang="en-US" sz="1600" dirty="0"/>
          </a:p>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a:t>
            </a:r>
            <a:endParaRPr lang="en-US" sz="1600" dirty="0"/>
          </a:p>
          <a:p>
            <a:pPr>
              <a:lnSpc>
                <a:spcPct val="100000"/>
              </a:lnSpc>
            </a:pPr>
            <a:r>
              <a:rPr lang="en-US" sz="896" dirty="0">
                <a:solidFill>
                  <a:srgbClr val="E8EAED">
                    <a:alpha val="90000"/>
                  </a:srgbClr>
                </a:solidFill>
                <a:latin typeface="MiSans" pitchFamily="34" charset="0"/>
                <a:ea typeface="MiSans" pitchFamily="34" charset="-122"/>
                <a:cs typeface="MiSans" pitchFamily="34" charset="-120"/>
              </a:rPr>
              <a:t>set address-group CF_Aegis_IP_Group tag Cloudflare_L3_Zone</a:t>
            </a:r>
            <a:endParaRPr lang="en-US" sz="1600" dirty="0"/>
          </a:p>
        </p:txBody>
      </p:sp>
      <p:sp>
        <p:nvSpPr>
          <p:cNvPr id="26" name="Shape 24"/>
          <p:cNvSpPr/>
          <p:nvPr/>
        </p:nvSpPr>
        <p:spPr>
          <a:xfrm>
            <a:off x="6253785" y="3683608"/>
            <a:ext cx="5509158" cy="851814"/>
          </a:xfrm>
          <a:custGeom>
            <a:avLst/>
            <a:gdLst/>
            <a:ahLst/>
            <a:cxnLst/>
            <a:rect l="l" t="t" r="r" b="b"/>
            <a:pathLst>
              <a:path w="5509158" h="851814">
                <a:moveTo>
                  <a:pt x="65028" y="0"/>
                </a:moveTo>
                <a:lnTo>
                  <a:pt x="5444131" y="0"/>
                </a:lnTo>
                <a:cubicBezTo>
                  <a:pt x="5480045" y="0"/>
                  <a:pt x="5509158" y="29114"/>
                  <a:pt x="5509158" y="65028"/>
                </a:cubicBezTo>
                <a:lnTo>
                  <a:pt x="5509158" y="786787"/>
                </a:lnTo>
                <a:cubicBezTo>
                  <a:pt x="5509158" y="822701"/>
                  <a:pt x="5480045" y="851814"/>
                  <a:pt x="5444131" y="851814"/>
                </a:cubicBezTo>
                <a:lnTo>
                  <a:pt x="65028" y="851814"/>
                </a:lnTo>
                <a:cubicBezTo>
                  <a:pt x="29114" y="851814"/>
                  <a:pt x="0" y="822701"/>
                  <a:pt x="0" y="786787"/>
                </a:cubicBezTo>
                <a:lnTo>
                  <a:pt x="0" y="65028"/>
                </a:lnTo>
                <a:cubicBezTo>
                  <a:pt x="0" y="29138"/>
                  <a:pt x="29138" y="0"/>
                  <a:pt x="65028" y="0"/>
                </a:cubicBezTo>
                <a:close/>
              </a:path>
            </a:pathLst>
          </a:custGeom>
          <a:solidFill>
            <a:srgbClr val="00A4E0">
              <a:alpha val="10196"/>
            </a:srgbClr>
          </a:solidFill>
          <a:ln w="10160">
            <a:solidFill>
              <a:srgbClr val="00A4E0">
                <a:alpha val="30196"/>
              </a:srgbClr>
            </a:solidFill>
            <a:prstDash val="solid"/>
          </a:ln>
        </p:spPr>
      </p:sp>
      <p:sp>
        <p:nvSpPr>
          <p:cNvPr id="27" name="Shape 25"/>
          <p:cNvSpPr/>
          <p:nvPr/>
        </p:nvSpPr>
        <p:spPr>
          <a:xfrm>
            <a:off x="6387084" y="3810405"/>
            <a:ext cx="97536" cy="130048"/>
          </a:xfrm>
          <a:custGeom>
            <a:avLst/>
            <a:gdLst/>
            <a:ahLst/>
            <a:cxnLst/>
            <a:rect l="l" t="t" r="r" b="b"/>
            <a:pathLst>
              <a:path w="97536" h="130048">
                <a:moveTo>
                  <a:pt x="74397" y="97536"/>
                </a:moveTo>
                <a:cubicBezTo>
                  <a:pt x="76251" y="91872"/>
                  <a:pt x="79959" y="86741"/>
                  <a:pt x="84150" y="82321"/>
                </a:cubicBezTo>
                <a:cubicBezTo>
                  <a:pt x="92456" y="73584"/>
                  <a:pt x="97536" y="61773"/>
                  <a:pt x="97536" y="48768"/>
                </a:cubicBezTo>
                <a:cubicBezTo>
                  <a:pt x="97536" y="21844"/>
                  <a:pt x="75692" y="0"/>
                  <a:pt x="48768" y="0"/>
                </a:cubicBezTo>
                <a:cubicBezTo>
                  <a:pt x="21844" y="0"/>
                  <a:pt x="0" y="21844"/>
                  <a:pt x="0" y="48768"/>
                </a:cubicBezTo>
                <a:cubicBezTo>
                  <a:pt x="0" y="61773"/>
                  <a:pt x="5080" y="73584"/>
                  <a:pt x="13386" y="82321"/>
                </a:cubicBezTo>
                <a:cubicBezTo>
                  <a:pt x="17577" y="86741"/>
                  <a:pt x="21311" y="91872"/>
                  <a:pt x="23139" y="97536"/>
                </a:cubicBezTo>
                <a:lnTo>
                  <a:pt x="74371" y="97536"/>
                </a:lnTo>
                <a:close/>
                <a:moveTo>
                  <a:pt x="73152" y="109728"/>
                </a:moveTo>
                <a:lnTo>
                  <a:pt x="24384" y="109728"/>
                </a:lnTo>
                <a:lnTo>
                  <a:pt x="24384" y="113792"/>
                </a:lnTo>
                <a:cubicBezTo>
                  <a:pt x="24384" y="125019"/>
                  <a:pt x="33477" y="134112"/>
                  <a:pt x="44704" y="134112"/>
                </a:cubicBezTo>
                <a:lnTo>
                  <a:pt x="52832" y="134112"/>
                </a:lnTo>
                <a:cubicBezTo>
                  <a:pt x="64059" y="134112"/>
                  <a:pt x="73152" y="125019"/>
                  <a:pt x="73152" y="113792"/>
                </a:cubicBezTo>
                <a:lnTo>
                  <a:pt x="73152" y="109728"/>
                </a:lnTo>
                <a:close/>
                <a:moveTo>
                  <a:pt x="46736" y="28448"/>
                </a:moveTo>
                <a:cubicBezTo>
                  <a:pt x="36627" y="28448"/>
                  <a:pt x="28448" y="36627"/>
                  <a:pt x="28448" y="46736"/>
                </a:cubicBezTo>
                <a:cubicBezTo>
                  <a:pt x="28448" y="50114"/>
                  <a:pt x="25730" y="52832"/>
                  <a:pt x="22352" y="52832"/>
                </a:cubicBezTo>
                <a:cubicBezTo>
                  <a:pt x="18974" y="52832"/>
                  <a:pt x="16256" y="50114"/>
                  <a:pt x="16256" y="46736"/>
                </a:cubicBezTo>
                <a:cubicBezTo>
                  <a:pt x="16256" y="29896"/>
                  <a:pt x="29896" y="16256"/>
                  <a:pt x="46736" y="16256"/>
                </a:cubicBezTo>
                <a:cubicBezTo>
                  <a:pt x="50114" y="16256"/>
                  <a:pt x="52832" y="18974"/>
                  <a:pt x="52832" y="22352"/>
                </a:cubicBezTo>
                <a:cubicBezTo>
                  <a:pt x="52832" y="25730"/>
                  <a:pt x="50114" y="28448"/>
                  <a:pt x="46736" y="28448"/>
                </a:cubicBezTo>
                <a:close/>
              </a:path>
            </a:pathLst>
          </a:custGeom>
          <a:solidFill>
            <a:srgbClr val="00A4E0"/>
          </a:solidFill>
          <a:ln/>
        </p:spPr>
      </p:sp>
      <p:sp>
        <p:nvSpPr>
          <p:cNvPr id="28" name="Text 26"/>
          <p:cNvSpPr/>
          <p:nvPr/>
        </p:nvSpPr>
        <p:spPr>
          <a:xfrm>
            <a:off x="6558747" y="3784394"/>
            <a:ext cx="5168433" cy="195072"/>
          </a:xfrm>
          <a:prstGeom prst="rect">
            <a:avLst/>
          </a:prstGeom>
          <a:noFill/>
          <a:ln/>
        </p:spPr>
        <p:txBody>
          <a:bodyPr wrap="square" lIns="0" tIns="0" rIns="0" bIns="0" rtlCol="0" anchor="ctr"/>
          <a:lstStyle/>
          <a:p>
            <a:pPr>
              <a:lnSpc>
                <a:spcPct val="130000"/>
              </a:lnSpc>
            </a:pPr>
            <a:r>
              <a:rPr lang="en-US" sz="1024" b="1" dirty="0">
                <a:solidFill>
                  <a:srgbClr val="E8EAED"/>
                </a:solidFill>
                <a:latin typeface="Liter" pitchFamily="34" charset="0"/>
                <a:ea typeface="Liter" pitchFamily="34" charset="-122"/>
                <a:cs typeface="Liter" pitchFamily="34" charset="-120"/>
              </a:rPr>
              <a:t>Best Practice</a:t>
            </a:r>
            <a:endParaRPr lang="en-US" sz="1600" dirty="0"/>
          </a:p>
        </p:txBody>
      </p:sp>
      <p:sp>
        <p:nvSpPr>
          <p:cNvPr id="29" name="Text 27"/>
          <p:cNvSpPr/>
          <p:nvPr/>
        </p:nvSpPr>
        <p:spPr>
          <a:xfrm>
            <a:off x="6354572" y="4044490"/>
            <a:ext cx="5372608" cy="390144"/>
          </a:xfrm>
          <a:prstGeom prst="rect">
            <a:avLst/>
          </a:prstGeom>
          <a:noFill/>
          <a:ln/>
        </p:spPr>
        <p:txBody>
          <a:bodyPr wrap="square" lIns="0" tIns="0" rIns="0" bIns="0" rtlCol="0" anchor="ctr"/>
          <a:lstStyle/>
          <a:p>
            <a:pPr>
              <a:lnSpc>
                <a:spcPct val="130000"/>
              </a:lnSpc>
            </a:pPr>
            <a:r>
              <a:rPr lang="en-US" sz="1024" dirty="0">
                <a:solidFill>
                  <a:srgbClr val="E8EAED">
                    <a:alpha val="80000"/>
                  </a:srgbClr>
                </a:solidFill>
                <a:latin typeface="Liter" pitchFamily="34" charset="0"/>
                <a:ea typeface="Liter" pitchFamily="34" charset="-122"/>
                <a:cs typeface="Liter" pitchFamily="34" charset="-120"/>
              </a:rPr>
              <a:t>Use static groups for Aegis IPs since they don't change frequently. Tag all objects consistently for easy filtering and management.</a:t>
            </a:r>
            <a:endParaRPr lang="en-US" sz="1600" dirty="0"/>
          </a:p>
        </p:txBody>
      </p:sp>
      <p:sp>
        <p:nvSpPr>
          <p:cNvPr id="30" name="Shape 28"/>
          <p:cNvSpPr/>
          <p:nvPr/>
        </p:nvSpPr>
        <p:spPr>
          <a:xfrm>
            <a:off x="6149747" y="4743498"/>
            <a:ext cx="5720486" cy="2111654"/>
          </a:xfrm>
          <a:custGeom>
            <a:avLst/>
            <a:gdLst/>
            <a:ahLst/>
            <a:cxnLst/>
            <a:rect l="l" t="t" r="r" b="b"/>
            <a:pathLst>
              <a:path w="5720486" h="2111654">
                <a:moveTo>
                  <a:pt x="97537" y="0"/>
                </a:moveTo>
                <a:lnTo>
                  <a:pt x="5622949" y="0"/>
                </a:lnTo>
                <a:cubicBezTo>
                  <a:pt x="5676817" y="0"/>
                  <a:pt x="5720486" y="43669"/>
                  <a:pt x="5720486" y="97537"/>
                </a:cubicBezTo>
                <a:lnTo>
                  <a:pt x="5720486" y="2014117"/>
                </a:lnTo>
                <a:cubicBezTo>
                  <a:pt x="5720486" y="2067985"/>
                  <a:pt x="5676817" y="2111654"/>
                  <a:pt x="5622949" y="2111654"/>
                </a:cubicBezTo>
                <a:lnTo>
                  <a:pt x="97537" y="2111654"/>
                </a:lnTo>
                <a:cubicBezTo>
                  <a:pt x="43669" y="2111654"/>
                  <a:pt x="0" y="2067985"/>
                  <a:pt x="0" y="2014117"/>
                </a:cubicBezTo>
                <a:lnTo>
                  <a:pt x="0" y="97537"/>
                </a:lnTo>
                <a:cubicBezTo>
                  <a:pt x="0" y="43669"/>
                  <a:pt x="43669" y="0"/>
                  <a:pt x="97537" y="0"/>
                </a:cubicBezTo>
                <a:close/>
              </a:path>
            </a:pathLst>
          </a:custGeom>
          <a:solidFill>
            <a:srgbClr val="48515E">
              <a:alpha val="20000"/>
            </a:srgbClr>
          </a:solidFill>
          <a:ln w="10160">
            <a:solidFill>
              <a:srgbClr val="48515E">
                <a:alpha val="40000"/>
              </a:srgbClr>
            </a:solidFill>
            <a:prstDash val="solid"/>
          </a:ln>
        </p:spPr>
      </p:sp>
      <p:sp>
        <p:nvSpPr>
          <p:cNvPr id="31" name="Shape 29"/>
          <p:cNvSpPr/>
          <p:nvPr/>
        </p:nvSpPr>
        <p:spPr>
          <a:xfrm>
            <a:off x="6250534" y="4844288"/>
            <a:ext cx="325120" cy="325120"/>
          </a:xfrm>
          <a:custGeom>
            <a:avLst/>
            <a:gdLst/>
            <a:ahLst/>
            <a:cxnLst/>
            <a:rect l="l" t="t" r="r" b="b"/>
            <a:pathLst>
              <a:path w="325120" h="325120">
                <a:moveTo>
                  <a:pt x="65024" y="0"/>
                </a:moveTo>
                <a:lnTo>
                  <a:pt x="260096" y="0"/>
                </a:lnTo>
                <a:cubicBezTo>
                  <a:pt x="296008" y="0"/>
                  <a:pt x="325120" y="29112"/>
                  <a:pt x="325120" y="65024"/>
                </a:cubicBezTo>
                <a:lnTo>
                  <a:pt x="325120" y="260096"/>
                </a:lnTo>
                <a:cubicBezTo>
                  <a:pt x="325120" y="296008"/>
                  <a:pt x="296008" y="325120"/>
                  <a:pt x="260096" y="325120"/>
                </a:cubicBezTo>
                <a:lnTo>
                  <a:pt x="65024" y="325120"/>
                </a:lnTo>
                <a:cubicBezTo>
                  <a:pt x="29112" y="325120"/>
                  <a:pt x="0" y="296008"/>
                  <a:pt x="0" y="260096"/>
                </a:cubicBezTo>
                <a:lnTo>
                  <a:pt x="0" y="65024"/>
                </a:lnTo>
                <a:cubicBezTo>
                  <a:pt x="0" y="29136"/>
                  <a:pt x="29136" y="0"/>
                  <a:pt x="65024" y="0"/>
                </a:cubicBezTo>
                <a:close/>
              </a:path>
            </a:pathLst>
          </a:custGeom>
          <a:solidFill>
            <a:srgbClr val="00A4E0">
              <a:alpha val="20000"/>
            </a:srgbClr>
          </a:solidFill>
          <a:ln/>
        </p:spPr>
      </p:sp>
      <p:sp>
        <p:nvSpPr>
          <p:cNvPr id="32" name="Shape 30"/>
          <p:cNvSpPr/>
          <p:nvPr/>
        </p:nvSpPr>
        <p:spPr>
          <a:xfrm>
            <a:off x="6351118" y="4933696"/>
            <a:ext cx="128016" cy="146304"/>
          </a:xfrm>
          <a:custGeom>
            <a:avLst/>
            <a:gdLst/>
            <a:ahLst/>
            <a:cxnLst/>
            <a:rect l="l" t="t" r="r" b="b"/>
            <a:pathLst>
              <a:path w="128016" h="146304">
                <a:moveTo>
                  <a:pt x="73152" y="45720"/>
                </a:moveTo>
                <a:lnTo>
                  <a:pt x="73152" y="73152"/>
                </a:lnTo>
                <a:lnTo>
                  <a:pt x="109728" y="73152"/>
                </a:lnTo>
                <a:lnTo>
                  <a:pt x="109728" y="45720"/>
                </a:lnTo>
                <a:lnTo>
                  <a:pt x="73152" y="45720"/>
                </a:lnTo>
                <a:close/>
                <a:moveTo>
                  <a:pt x="54864" y="45720"/>
                </a:moveTo>
                <a:lnTo>
                  <a:pt x="18288" y="45720"/>
                </a:lnTo>
                <a:lnTo>
                  <a:pt x="18288" y="73152"/>
                </a:lnTo>
                <a:lnTo>
                  <a:pt x="54864" y="73152"/>
                </a:lnTo>
                <a:lnTo>
                  <a:pt x="54864" y="45720"/>
                </a:lnTo>
                <a:close/>
                <a:moveTo>
                  <a:pt x="0" y="91440"/>
                </a:moveTo>
                <a:lnTo>
                  <a:pt x="0" y="27432"/>
                </a:lnTo>
                <a:cubicBezTo>
                  <a:pt x="0" y="17345"/>
                  <a:pt x="8201" y="9144"/>
                  <a:pt x="18288" y="9144"/>
                </a:cubicBezTo>
                <a:lnTo>
                  <a:pt x="109728" y="9144"/>
                </a:lnTo>
                <a:cubicBezTo>
                  <a:pt x="119815" y="9144"/>
                  <a:pt x="128016" y="17345"/>
                  <a:pt x="128016" y="27432"/>
                </a:cubicBezTo>
                <a:lnTo>
                  <a:pt x="128016" y="118872"/>
                </a:lnTo>
                <a:cubicBezTo>
                  <a:pt x="128016" y="128959"/>
                  <a:pt x="119815" y="137160"/>
                  <a:pt x="109728" y="137160"/>
                </a:cubicBezTo>
                <a:lnTo>
                  <a:pt x="18288" y="137160"/>
                </a:lnTo>
                <a:cubicBezTo>
                  <a:pt x="8201" y="137160"/>
                  <a:pt x="0" y="128959"/>
                  <a:pt x="0" y="118872"/>
                </a:cubicBezTo>
                <a:lnTo>
                  <a:pt x="0" y="91440"/>
                </a:lnTo>
                <a:close/>
                <a:moveTo>
                  <a:pt x="109728" y="91440"/>
                </a:moveTo>
                <a:lnTo>
                  <a:pt x="73152" y="91440"/>
                </a:lnTo>
                <a:lnTo>
                  <a:pt x="73152" y="118872"/>
                </a:lnTo>
                <a:lnTo>
                  <a:pt x="109728" y="118872"/>
                </a:lnTo>
                <a:lnTo>
                  <a:pt x="109728" y="91440"/>
                </a:lnTo>
                <a:close/>
                <a:moveTo>
                  <a:pt x="54864" y="118872"/>
                </a:moveTo>
                <a:lnTo>
                  <a:pt x="54864" y="91440"/>
                </a:lnTo>
                <a:lnTo>
                  <a:pt x="18288" y="91440"/>
                </a:lnTo>
                <a:lnTo>
                  <a:pt x="18288" y="118872"/>
                </a:lnTo>
                <a:lnTo>
                  <a:pt x="54864" y="118872"/>
                </a:lnTo>
                <a:close/>
              </a:path>
            </a:pathLst>
          </a:custGeom>
          <a:solidFill>
            <a:srgbClr val="00A4E0"/>
          </a:solidFill>
          <a:ln/>
        </p:spPr>
      </p:sp>
      <p:sp>
        <p:nvSpPr>
          <p:cNvPr id="33" name="Text 31"/>
          <p:cNvSpPr/>
          <p:nvPr/>
        </p:nvSpPr>
        <p:spPr>
          <a:xfrm>
            <a:off x="6673190" y="4893056"/>
            <a:ext cx="1910080" cy="227584"/>
          </a:xfrm>
          <a:prstGeom prst="rect">
            <a:avLst/>
          </a:prstGeom>
          <a:noFill/>
          <a:ln/>
        </p:spPr>
        <p:txBody>
          <a:bodyPr wrap="square" lIns="0" tIns="0" rIns="0" bIns="0" rtlCol="0" anchor="ctr"/>
          <a:lstStyle/>
          <a:p>
            <a:pPr>
              <a:lnSpc>
                <a:spcPct val="120000"/>
              </a:lnSpc>
            </a:pPr>
            <a:r>
              <a:rPr lang="en-US" sz="1280" b="1" dirty="0">
                <a:solidFill>
                  <a:srgbClr val="E8EAED"/>
                </a:solidFill>
                <a:latin typeface="Liter" pitchFamily="34" charset="0"/>
                <a:ea typeface="Liter" pitchFamily="34" charset="-122"/>
                <a:cs typeface="Liter" pitchFamily="34" charset="-120"/>
              </a:rPr>
              <a:t>Address Object Summary</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250534" y="5266944"/>
          <a:ext cx="5518912" cy="1487424"/>
        </p:xfrm>
        <a:graphic>
          <a:graphicData uri="http://schemas.openxmlformats.org/drawingml/2006/table">
            <a:tbl>
              <a:tblPr/>
              <a:tblGrid>
                <a:gridCol w="1798937"/>
                <a:gridCol w="1025639"/>
                <a:gridCol w="2694336"/>
              </a:tblGrid>
              <a:tr h="297485">
                <a:tc>
                  <a:txBody>
                    <a:bodyPr/>
                    <a:lstStyle/>
                    <a:p>
                      <a:pPr algn="l"/>
                      <a:r>
                        <a:rPr lang="en-US" sz="800" b="1" u="none" dirty="0">
                          <a:solidFill>
                            <a:srgbClr val="E8EAED"/>
                          </a:solidFill>
                          <a:latin typeface="微软雅黑" pitchFamily="34" charset="0"/>
                          <a:ea typeface="微软雅黑" pitchFamily="34" charset="-122"/>
                          <a:cs typeface="微软雅黑" pitchFamily="34" charset="-120"/>
                        </a:rPr>
                        <a:t>Object Name</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10160" cap="flat" cmpd="sng" algn="ctr">
                      <a:solidFill>
                        <a:srgbClr val="48515E"/>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E8EAED"/>
                          </a:solidFill>
                          <a:latin typeface="微软雅黑" pitchFamily="34" charset="0"/>
                          <a:ea typeface="微软雅黑" pitchFamily="34" charset="-122"/>
                          <a:cs typeface="微软雅黑" pitchFamily="34" charset="-120"/>
                        </a:rPr>
                        <a:t>Type</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10160" cap="flat" cmpd="sng" algn="ctr">
                      <a:solidFill>
                        <a:srgbClr val="48515E"/>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E8EAED"/>
                          </a:solidFill>
                          <a:latin typeface="微软雅黑" pitchFamily="34" charset="0"/>
                          <a:ea typeface="微软雅黑" pitchFamily="34" charset="-122"/>
                          <a:cs typeface="微软雅黑" pitchFamily="34" charset="-120"/>
                        </a:rPr>
                        <a:t>Address</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10160" cap="flat" cmpd="sng" algn="ctr">
                      <a:solidFill>
                        <a:srgbClr val="48515E"/>
                      </a:solidFill>
                      <a:prstDash val="solid"/>
                      <a:round/>
                      <a:headEnd type="none" w="med" len="med"/>
                      <a:tailEnd type="none" w="med" len="med"/>
                    </a:lnB>
                    <a:solidFill>
                      <a:srgbClr val="FFFFFF">
                        <a:alpha val="0"/>
                      </a:srgbClr>
                    </a:solidFill>
                  </a:tcPr>
                </a:tc>
              </a:tr>
              <a:tr h="297485">
                <a:tc>
                  <a:txBody>
                    <a:bodyPr/>
                    <a:lstStyle/>
                    <a:p>
                      <a:r>
                        <a:rPr lang="en-US" sz="800" u="none" dirty="0">
                          <a:solidFill>
                            <a:srgbClr val="E8EAED"/>
                          </a:solidFill>
                          <a:latin typeface="微软雅黑" pitchFamily="34" charset="0"/>
                          <a:ea typeface="微软雅黑" pitchFamily="34" charset="-122"/>
                          <a:cs typeface="微软雅黑" pitchFamily="34" charset="-120"/>
                        </a:rPr>
                        <a:t>CF_Aegis_IPv4_01</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800" u="none" dirty="0">
                          <a:solidFill>
                            <a:srgbClr val="E8EAED"/>
                          </a:solidFill>
                          <a:latin typeface="微软雅黑" pitchFamily="34" charset="0"/>
                          <a:ea typeface="微软雅黑" pitchFamily="34" charset="-122"/>
                          <a:cs typeface="微软雅黑" pitchFamily="34" charset="-120"/>
                        </a:rPr>
                        <a:t>IP Netmask</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800" u="none" dirty="0">
                          <a:solidFill>
                            <a:srgbClr val="F47C20"/>
                          </a:solidFill>
                          <a:latin typeface="微软雅黑" pitchFamily="34" charset="0"/>
                          <a:ea typeface="微软雅黑" pitchFamily="34" charset="-122"/>
                          <a:cs typeface="微软雅黑" pitchFamily="34" charset="-120"/>
                        </a:rPr>
                        <a:t>&amp;nbsp;104.28.0.85/32</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297485">
                <a:tc>
                  <a:txBody>
                    <a:bodyPr/>
                    <a:lstStyle/>
                    <a:p>
                      <a:r>
                        <a:rPr lang="en-US" sz="800" u="none" dirty="0">
                          <a:solidFill>
                            <a:srgbClr val="E8EAED"/>
                          </a:solidFill>
                          <a:latin typeface="微软雅黑" pitchFamily="34" charset="0"/>
                          <a:ea typeface="微软雅黑" pitchFamily="34" charset="-122"/>
                          <a:cs typeface="微软雅黑" pitchFamily="34" charset="-120"/>
                        </a:rPr>
                        <a:t>CF_Aegis_IPv4_02</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800" u="none" dirty="0">
                          <a:solidFill>
                            <a:srgbClr val="E8EAED"/>
                          </a:solidFill>
                          <a:latin typeface="微软雅黑" pitchFamily="34" charset="0"/>
                          <a:ea typeface="微软雅黑" pitchFamily="34" charset="-122"/>
                          <a:cs typeface="微软雅黑" pitchFamily="34" charset="-120"/>
                        </a:rPr>
                        <a:t>IP Netmask</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800" u="none" dirty="0">
                          <a:solidFill>
                            <a:srgbClr val="F47C20"/>
                          </a:solidFill>
                          <a:latin typeface="微软雅黑" pitchFamily="34" charset="0"/>
                          <a:ea typeface="微软雅黑" pitchFamily="34" charset="-122"/>
                          <a:cs typeface="微软雅黑" pitchFamily="34" charset="-120"/>
                        </a:rPr>
                        <a:t>&amp;nbsp;104.28.0.86/32</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297485">
                <a:tc>
                  <a:txBody>
                    <a:bodyPr/>
                    <a:lstStyle/>
                    <a:p>
                      <a:r>
                        <a:rPr lang="en-US" sz="800" u="none" dirty="0">
                          <a:solidFill>
                            <a:srgbClr val="E8EAED"/>
                          </a:solidFill>
                          <a:latin typeface="微软雅黑" pitchFamily="34" charset="0"/>
                          <a:ea typeface="微软雅黑" pitchFamily="34" charset="-122"/>
                          <a:cs typeface="微软雅黑" pitchFamily="34" charset="-120"/>
                        </a:rPr>
                        <a:t>CF_Aegis_IPv6_01</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800" u="none" dirty="0">
                          <a:solidFill>
                            <a:srgbClr val="E8EAED"/>
                          </a:solidFill>
                          <a:latin typeface="微软雅黑" pitchFamily="34" charset="0"/>
                          <a:ea typeface="微软雅黑" pitchFamily="34" charset="-122"/>
                          <a:cs typeface="微软雅黑" pitchFamily="34" charset="-120"/>
                        </a:rPr>
                        <a:t>IP Netmask</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800" u="none" dirty="0">
                          <a:solidFill>
                            <a:srgbClr val="00A4E0"/>
                          </a:solidFill>
                          <a:latin typeface="微软雅黑" pitchFamily="34" charset="0"/>
                          <a:ea typeface="微软雅黑" pitchFamily="34" charset="-122"/>
                          <a:cs typeface="微软雅黑" pitchFamily="34" charset="-120"/>
                        </a:rPr>
                        <a:t>2a09:bac5:fff0::24::/64</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297485">
                <a:tc>
                  <a:txBody>
                    <a:bodyPr/>
                    <a:lstStyle/>
                    <a:p>
                      <a:r>
                        <a:rPr lang="en-US" sz="800" u="none" dirty="0">
                          <a:solidFill>
                            <a:srgbClr val="E8EAED"/>
                          </a:solidFill>
                          <a:latin typeface="微软雅黑" pitchFamily="34" charset="0"/>
                          <a:ea typeface="微软雅黑" pitchFamily="34" charset="-122"/>
                          <a:cs typeface="微软雅黑" pitchFamily="34" charset="-120"/>
                        </a:rPr>
                        <a:t>CF_Aegis_IPv6_02</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800" u="none" dirty="0">
                          <a:solidFill>
                            <a:srgbClr val="E8EAED"/>
                          </a:solidFill>
                          <a:latin typeface="微软雅黑" pitchFamily="34" charset="0"/>
                          <a:ea typeface="微软雅黑" pitchFamily="34" charset="-122"/>
                          <a:cs typeface="微软雅黑" pitchFamily="34" charset="-120"/>
                        </a:rPr>
                        <a:t>IP Netmask</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800" u="none" dirty="0">
                          <a:solidFill>
                            <a:srgbClr val="00A4E0"/>
                          </a:solidFill>
                          <a:latin typeface="微软雅黑" pitchFamily="34" charset="0"/>
                          <a:ea typeface="微软雅黑" pitchFamily="34" charset="-122"/>
                          <a:cs typeface="微软雅黑" pitchFamily="34" charset="-120"/>
                        </a:rPr>
                        <a:t>2a09:bac6:fff0::24::/64</a:t>
                      </a:r>
                      <a:endParaRPr lang="en-US" sz="800" dirty="0">
                        <a:latin typeface="微软雅黑" charset="0"/>
                        <a:ea typeface="微软雅黑" charset="0"/>
                        <a:cs typeface="微软雅黑" charset="0"/>
                      </a:endParaRPr>
                    </a:p>
                  </a:txBody>
                  <a:tcPr marL="0" marR="0" marT="65024" marB="65024"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35" name="Text 32"/>
          <p:cNvSpPr/>
          <p:nvPr/>
        </p:nvSpPr>
        <p:spPr>
          <a:xfrm>
            <a:off x="0" y="0"/>
            <a:ext cx="7620000" cy="330160"/>
          </a:xfrm>
          <a:prstGeom prst="rect">
            <a:avLst/>
          </a:prstGeom>
          <a:noFill/>
          <a:ln/>
        </p:spPr>
        <p:txBody>
          <a:bodyPr wrap="square" lIns="91440" tIns="45720" rIns="91440" bIns="45720" rtlCol="0" anchor="t">
            <a:spAutoFit/>
          </a:bodyPr>
          <a:lstStyle/>
          <a:p>
            <a:pPr>
              <a:lnSpc>
                <a:spcPct val="100000"/>
              </a:lnSpc>
            </a:pPr>
            <a:r>
              <a:rPr lang="en-US" sz="1600" dirty="0">
                <a:solidFill>
                  <a:srgbClr val="333333"/>
                </a:solidFill>
                <a:latin typeface="微软雅黑" pitchFamily="34" charset="0"/>
                <a:ea typeface="微软雅黑" pitchFamily="34" charset="-122"/>
                <a:cs typeface="微软雅黑" pitchFamily="34" charset="-120"/>
              </a:rPr>
              <a:t> 104.28.0.85</a:t>
            </a:r>
            <a:endParaRPr lang="en-US" sz="1600" dirty="0"/>
          </a:p>
        </p:txBody>
      </p:sp>
      <p:sp>
        <p:nvSpPr>
          <p:cNvPr id="36" name="Text 33"/>
          <p:cNvSpPr/>
          <p:nvPr/>
        </p:nvSpPr>
        <p:spPr>
          <a:xfrm>
            <a:off x="0" y="0"/>
            <a:ext cx="7620000" cy="330160"/>
          </a:xfrm>
          <a:prstGeom prst="rect">
            <a:avLst/>
          </a:prstGeom>
          <a:noFill/>
          <a:ln/>
        </p:spPr>
        <p:txBody>
          <a:bodyPr wrap="square" lIns="91440" tIns="45720" rIns="91440" bIns="45720" rtlCol="0" anchor="t">
            <a:spAutoFit/>
          </a:bodyPr>
          <a:lstStyle/>
          <a:p>
            <a:pPr>
              <a:lnSpc>
                <a:spcPct val="100000"/>
              </a:lnSpc>
            </a:pPr>
            <a:r>
              <a:rPr lang="en-US" sz="1600" dirty="0">
                <a:solidFill>
                  <a:srgbClr val="333333"/>
                </a:solidFill>
                <a:latin typeface="微软雅黑" pitchFamily="34" charset="0"/>
                <a:ea typeface="微软雅黑" pitchFamily="34" charset="-122"/>
                <a:cs typeface="微软雅黑" pitchFamily="34" charset="-120"/>
              </a:rPr>
              <a:t> 104.28.0.85</a:t>
            </a:r>
            <a:endParaRPr lang="en-US" sz="1600" dirty="0"/>
          </a:p>
        </p:txBody>
      </p:sp>
      <p:sp>
        <p:nvSpPr>
          <p:cNvPr id="37" name="Text 34"/>
          <p:cNvSpPr/>
          <p:nvPr/>
        </p:nvSpPr>
        <p:spPr>
          <a:xfrm>
            <a:off x="0" y="0"/>
            <a:ext cx="7620000" cy="330160"/>
          </a:xfrm>
          <a:prstGeom prst="rect">
            <a:avLst/>
          </a:prstGeom>
          <a:noFill/>
          <a:ln/>
        </p:spPr>
        <p:txBody>
          <a:bodyPr wrap="square" lIns="91440" tIns="45720" rIns="91440" bIns="45720" rtlCol="0" anchor="t">
            <a:spAutoFit/>
          </a:bodyPr>
          <a:lstStyle/>
          <a:p>
            <a:pPr>
              <a:lnSpc>
                <a:spcPct val="100000"/>
              </a:lnSpc>
            </a:pPr>
            <a:r>
              <a:rPr lang="en-US" sz="1600" dirty="0">
                <a:solidFill>
                  <a:srgbClr val="333333"/>
                </a:solidFill>
                <a:latin typeface="微软雅黑" pitchFamily="34" charset="0"/>
                <a:ea typeface="微软雅黑" pitchFamily="34" charset="-122"/>
                <a:cs typeface="微软雅黑" pitchFamily="34" charset="-120"/>
              </a:rPr>
              <a:t>2a09:bac5:fff0::24::/64</a:t>
            </a:r>
            <a:endParaRPr lang="en-US" sz="1600" dirty="0"/>
          </a:p>
        </p:txBody>
      </p:sp>
      <p:sp>
        <p:nvSpPr>
          <p:cNvPr id="38" name="Text 35"/>
          <p:cNvSpPr/>
          <p:nvPr/>
        </p:nvSpPr>
        <p:spPr>
          <a:xfrm>
            <a:off x="0" y="0"/>
            <a:ext cx="7620000" cy="330160"/>
          </a:xfrm>
          <a:prstGeom prst="rect">
            <a:avLst/>
          </a:prstGeom>
          <a:noFill/>
          <a:ln/>
        </p:spPr>
        <p:txBody>
          <a:bodyPr wrap="square" lIns="91440" tIns="45720" rIns="91440" bIns="45720" rtlCol="0" anchor="t">
            <a:spAutoFit/>
          </a:bodyPr>
          <a:lstStyle/>
          <a:p>
            <a:pPr>
              <a:lnSpc>
                <a:spcPct val="100000"/>
              </a:lnSpc>
            </a:pPr>
            <a:r>
              <a:rPr lang="en-US" sz="1600" dirty="0">
                <a:solidFill>
                  <a:srgbClr val="333333"/>
                </a:solidFill>
                <a:latin typeface="微软雅黑" pitchFamily="34" charset="0"/>
                <a:ea typeface="微软雅黑" pitchFamily="34" charset="-122"/>
                <a:cs typeface="微软雅黑" pitchFamily="34" charset="-120"/>
              </a:rPr>
              <a:t>2a09:bac5:fff0::24::/64</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45138" y="345138"/>
            <a:ext cx="11570752" cy="207083"/>
          </a:xfrm>
          <a:prstGeom prst="rect">
            <a:avLst/>
          </a:prstGeom>
          <a:noFill/>
          <a:ln/>
        </p:spPr>
        <p:txBody>
          <a:bodyPr wrap="square" lIns="0" tIns="0" rIns="0" bIns="0" rtlCol="0" anchor="ctr"/>
          <a:lstStyle/>
          <a:p>
            <a:pPr>
              <a:lnSpc>
                <a:spcPct val="130000"/>
              </a:lnSpc>
            </a:pPr>
            <a:r>
              <a:rPr lang="en-US" sz="1087" b="1" spc="54" kern="0" dirty="0">
                <a:solidFill>
                  <a:srgbClr val="00A4E0"/>
                </a:solidFill>
                <a:latin typeface="Liter" pitchFamily="34" charset="0"/>
                <a:ea typeface="Liter" pitchFamily="34" charset="-122"/>
                <a:cs typeface="Liter" pitchFamily="34" charset="-120"/>
              </a:rPr>
              <a:t>PALO ALTO FIREWALL</a:t>
            </a:r>
            <a:endParaRPr lang="en-US" sz="1600" dirty="0"/>
          </a:p>
        </p:txBody>
      </p:sp>
      <p:sp>
        <p:nvSpPr>
          <p:cNvPr id="3" name="Text 1"/>
          <p:cNvSpPr/>
          <p:nvPr/>
        </p:nvSpPr>
        <p:spPr>
          <a:xfrm>
            <a:off x="345138" y="621248"/>
            <a:ext cx="11657036" cy="345138"/>
          </a:xfrm>
          <a:prstGeom prst="rect">
            <a:avLst/>
          </a:prstGeom>
          <a:noFill/>
          <a:ln/>
        </p:spPr>
        <p:txBody>
          <a:bodyPr wrap="square" lIns="0" tIns="0" rIns="0" bIns="0" rtlCol="0" anchor="ctr"/>
          <a:lstStyle/>
          <a:p>
            <a:pPr>
              <a:lnSpc>
                <a:spcPct val="90000"/>
              </a:lnSpc>
            </a:pPr>
            <a:r>
              <a:rPr lang="en-US" sz="2446" b="1" dirty="0">
                <a:solidFill>
                  <a:srgbClr val="E8EAED"/>
                </a:solidFill>
                <a:latin typeface="Liter" pitchFamily="34" charset="0"/>
                <a:ea typeface="Liter" pitchFamily="34" charset="-122"/>
                <a:cs typeface="Liter" pitchFamily="34" charset="-120"/>
              </a:rPr>
              <a:t>Security Policy Configuration</a:t>
            </a:r>
            <a:endParaRPr lang="en-US" sz="1600" dirty="0"/>
          </a:p>
        </p:txBody>
      </p:sp>
      <p:sp>
        <p:nvSpPr>
          <p:cNvPr id="4" name="Shape 2"/>
          <p:cNvSpPr/>
          <p:nvPr/>
        </p:nvSpPr>
        <p:spPr>
          <a:xfrm>
            <a:off x="348589" y="1107893"/>
            <a:ext cx="5675794" cy="5287514"/>
          </a:xfrm>
          <a:custGeom>
            <a:avLst/>
            <a:gdLst/>
            <a:ahLst/>
            <a:cxnLst/>
            <a:rect l="l" t="t" r="r" b="b"/>
            <a:pathLst>
              <a:path w="5675794" h="5287514">
                <a:moveTo>
                  <a:pt x="103530" y="0"/>
                </a:moveTo>
                <a:lnTo>
                  <a:pt x="5572265" y="0"/>
                </a:lnTo>
                <a:cubicBezTo>
                  <a:pt x="5629443" y="0"/>
                  <a:pt x="5675794" y="46352"/>
                  <a:pt x="5675794" y="103530"/>
                </a:cubicBezTo>
                <a:lnTo>
                  <a:pt x="5675794" y="5183985"/>
                </a:lnTo>
                <a:cubicBezTo>
                  <a:pt x="5675794" y="5241162"/>
                  <a:pt x="5629443" y="5287514"/>
                  <a:pt x="5572265" y="5287514"/>
                </a:cubicBezTo>
                <a:lnTo>
                  <a:pt x="103530" y="5287514"/>
                </a:lnTo>
                <a:cubicBezTo>
                  <a:pt x="46352" y="5287514"/>
                  <a:pt x="0" y="5241162"/>
                  <a:pt x="0" y="5183985"/>
                </a:cubicBezTo>
                <a:lnTo>
                  <a:pt x="0" y="103530"/>
                </a:lnTo>
                <a:cubicBezTo>
                  <a:pt x="0" y="46390"/>
                  <a:pt x="46390" y="0"/>
                  <a:pt x="103530" y="0"/>
                </a:cubicBezTo>
                <a:close/>
              </a:path>
            </a:pathLst>
          </a:custGeom>
          <a:solidFill>
            <a:srgbClr val="48515E">
              <a:alpha val="20000"/>
            </a:srgbClr>
          </a:solidFill>
          <a:ln w="10160">
            <a:solidFill>
              <a:srgbClr val="48515E">
                <a:alpha val="40000"/>
              </a:srgbClr>
            </a:solidFill>
            <a:prstDash val="solid"/>
          </a:ln>
        </p:spPr>
      </p:sp>
      <p:sp>
        <p:nvSpPr>
          <p:cNvPr id="5" name="Shape 3"/>
          <p:cNvSpPr/>
          <p:nvPr/>
        </p:nvSpPr>
        <p:spPr>
          <a:xfrm>
            <a:off x="524610" y="1283916"/>
            <a:ext cx="345138" cy="345138"/>
          </a:xfrm>
          <a:custGeom>
            <a:avLst/>
            <a:gdLst/>
            <a:ahLst/>
            <a:cxnLst/>
            <a:rect l="l" t="t" r="r" b="b"/>
            <a:pathLst>
              <a:path w="345138" h="345138">
                <a:moveTo>
                  <a:pt x="69028" y="0"/>
                </a:moveTo>
                <a:lnTo>
                  <a:pt x="276110" y="0"/>
                </a:lnTo>
                <a:cubicBezTo>
                  <a:pt x="314208" y="0"/>
                  <a:pt x="345138" y="30930"/>
                  <a:pt x="345138" y="69028"/>
                </a:cubicBezTo>
                <a:lnTo>
                  <a:pt x="345138" y="276110"/>
                </a:lnTo>
                <a:cubicBezTo>
                  <a:pt x="345138" y="314208"/>
                  <a:pt x="314208" y="345138"/>
                  <a:pt x="276110" y="345138"/>
                </a:cubicBezTo>
                <a:lnTo>
                  <a:pt x="69028" y="345138"/>
                </a:lnTo>
                <a:cubicBezTo>
                  <a:pt x="30930" y="345138"/>
                  <a:pt x="0" y="314208"/>
                  <a:pt x="0" y="276110"/>
                </a:cubicBezTo>
                <a:lnTo>
                  <a:pt x="0" y="69028"/>
                </a:lnTo>
                <a:cubicBezTo>
                  <a:pt x="0" y="30930"/>
                  <a:pt x="30930" y="0"/>
                  <a:pt x="69028" y="0"/>
                </a:cubicBezTo>
                <a:close/>
              </a:path>
            </a:pathLst>
          </a:custGeom>
          <a:solidFill>
            <a:srgbClr val="F47C20">
              <a:alpha val="20000"/>
            </a:srgbClr>
          </a:solidFill>
          <a:ln/>
        </p:spPr>
      </p:sp>
      <p:sp>
        <p:nvSpPr>
          <p:cNvPr id="6" name="Shape 4"/>
          <p:cNvSpPr/>
          <p:nvPr/>
        </p:nvSpPr>
        <p:spPr>
          <a:xfrm>
            <a:off x="621680" y="1378829"/>
            <a:ext cx="155312" cy="155312"/>
          </a:xfrm>
          <a:custGeom>
            <a:avLst/>
            <a:gdLst/>
            <a:ahLst/>
            <a:cxnLst/>
            <a:rect l="l" t="t" r="r" b="b"/>
            <a:pathLst>
              <a:path w="155312" h="155312">
                <a:moveTo>
                  <a:pt x="77656" y="0"/>
                </a:moveTo>
                <a:cubicBezTo>
                  <a:pt x="79051" y="0"/>
                  <a:pt x="80447" y="303"/>
                  <a:pt x="81721" y="880"/>
                </a:cubicBezTo>
                <a:lnTo>
                  <a:pt x="138871" y="25117"/>
                </a:lnTo>
                <a:cubicBezTo>
                  <a:pt x="145544" y="27938"/>
                  <a:pt x="150519" y="34521"/>
                  <a:pt x="150489" y="42468"/>
                </a:cubicBezTo>
                <a:cubicBezTo>
                  <a:pt x="150337" y="72560"/>
                  <a:pt x="137961" y="127617"/>
                  <a:pt x="85695" y="152643"/>
                </a:cubicBezTo>
                <a:cubicBezTo>
                  <a:pt x="80629" y="155069"/>
                  <a:pt x="74744" y="155069"/>
                  <a:pt x="69678" y="152643"/>
                </a:cubicBezTo>
                <a:cubicBezTo>
                  <a:pt x="17382" y="127617"/>
                  <a:pt x="5036" y="72560"/>
                  <a:pt x="4884" y="42468"/>
                </a:cubicBezTo>
                <a:cubicBezTo>
                  <a:pt x="4854" y="34521"/>
                  <a:pt x="9828" y="27938"/>
                  <a:pt x="16502" y="25117"/>
                </a:cubicBezTo>
                <a:lnTo>
                  <a:pt x="73622" y="880"/>
                </a:lnTo>
                <a:cubicBezTo>
                  <a:pt x="74896" y="303"/>
                  <a:pt x="76261" y="0"/>
                  <a:pt x="77656" y="0"/>
                </a:cubicBezTo>
                <a:close/>
                <a:moveTo>
                  <a:pt x="77656" y="20263"/>
                </a:moveTo>
                <a:lnTo>
                  <a:pt x="77656" y="134958"/>
                </a:lnTo>
                <a:cubicBezTo>
                  <a:pt x="119518" y="114694"/>
                  <a:pt x="130772" y="69799"/>
                  <a:pt x="131045" y="42923"/>
                </a:cubicBezTo>
                <a:lnTo>
                  <a:pt x="77656" y="20294"/>
                </a:lnTo>
                <a:lnTo>
                  <a:pt x="77656" y="20294"/>
                </a:lnTo>
                <a:close/>
              </a:path>
            </a:pathLst>
          </a:custGeom>
          <a:solidFill>
            <a:srgbClr val="F47C20"/>
          </a:solidFill>
          <a:ln/>
        </p:spPr>
      </p:sp>
      <p:sp>
        <p:nvSpPr>
          <p:cNvPr id="7" name="Text 5"/>
          <p:cNvSpPr/>
          <p:nvPr/>
        </p:nvSpPr>
        <p:spPr>
          <a:xfrm>
            <a:off x="973289" y="1335687"/>
            <a:ext cx="2286539" cy="241597"/>
          </a:xfrm>
          <a:prstGeom prst="rect">
            <a:avLst/>
          </a:prstGeom>
          <a:noFill/>
          <a:ln/>
        </p:spPr>
        <p:txBody>
          <a:bodyPr wrap="square" lIns="0" tIns="0" rIns="0" bIns="0" rtlCol="0" anchor="ctr"/>
          <a:lstStyle/>
          <a:p>
            <a:pPr>
              <a:lnSpc>
                <a:spcPct val="120000"/>
              </a:lnSpc>
            </a:pPr>
            <a:r>
              <a:rPr lang="en-US" sz="1359" b="1" dirty="0">
                <a:solidFill>
                  <a:srgbClr val="E8EAED"/>
                </a:solidFill>
                <a:latin typeface="Liter" pitchFamily="34" charset="0"/>
                <a:ea typeface="Liter" pitchFamily="34" charset="-122"/>
                <a:cs typeface="Liter" pitchFamily="34" charset="-120"/>
              </a:rPr>
              <a:t>Step 3: Create Security Rules</a:t>
            </a:r>
            <a:endParaRPr lang="en-US" sz="1600" dirty="0"/>
          </a:p>
        </p:txBody>
      </p:sp>
      <p:sp>
        <p:nvSpPr>
          <p:cNvPr id="8" name="Shape 6"/>
          <p:cNvSpPr/>
          <p:nvPr/>
        </p:nvSpPr>
        <p:spPr>
          <a:xfrm>
            <a:off x="524610" y="1767109"/>
            <a:ext cx="5323754" cy="2174369"/>
          </a:xfrm>
          <a:custGeom>
            <a:avLst/>
            <a:gdLst/>
            <a:ahLst/>
            <a:cxnLst/>
            <a:rect l="l" t="t" r="r" b="b"/>
            <a:pathLst>
              <a:path w="5323754" h="2174369">
                <a:moveTo>
                  <a:pt x="69036" y="0"/>
                </a:moveTo>
                <a:lnTo>
                  <a:pt x="5254717" y="0"/>
                </a:lnTo>
                <a:cubicBezTo>
                  <a:pt x="5292845" y="0"/>
                  <a:pt x="5323754" y="30909"/>
                  <a:pt x="5323754" y="69036"/>
                </a:cubicBezTo>
                <a:lnTo>
                  <a:pt x="5323754" y="2105333"/>
                </a:lnTo>
                <a:cubicBezTo>
                  <a:pt x="5323754" y="2143461"/>
                  <a:pt x="5292845" y="2174369"/>
                  <a:pt x="5254717" y="2174369"/>
                </a:cubicBezTo>
                <a:lnTo>
                  <a:pt x="69036" y="2174369"/>
                </a:lnTo>
                <a:cubicBezTo>
                  <a:pt x="30909" y="2174369"/>
                  <a:pt x="0" y="2143461"/>
                  <a:pt x="0" y="2105333"/>
                </a:cubicBezTo>
                <a:lnTo>
                  <a:pt x="0" y="69036"/>
                </a:lnTo>
                <a:cubicBezTo>
                  <a:pt x="0" y="30909"/>
                  <a:pt x="30909" y="0"/>
                  <a:pt x="69036" y="0"/>
                </a:cubicBezTo>
                <a:close/>
              </a:path>
            </a:pathLst>
          </a:custGeom>
          <a:solidFill>
            <a:srgbClr val="1A1D21">
              <a:alpha val="50196"/>
            </a:srgbClr>
          </a:solidFill>
          <a:ln/>
        </p:spPr>
      </p:sp>
      <p:sp>
        <p:nvSpPr>
          <p:cNvPr id="9" name="Text 7"/>
          <p:cNvSpPr/>
          <p:nvPr/>
        </p:nvSpPr>
        <p:spPr>
          <a:xfrm>
            <a:off x="628151" y="1870651"/>
            <a:ext cx="5185699" cy="207083"/>
          </a:xfrm>
          <a:prstGeom prst="rect">
            <a:avLst/>
          </a:prstGeom>
          <a:noFill/>
          <a:ln/>
        </p:spPr>
        <p:txBody>
          <a:bodyPr wrap="square" lIns="0" tIns="0" rIns="0" bIns="0" rtlCol="0" anchor="ctr"/>
          <a:lstStyle/>
          <a:p>
            <a:pPr>
              <a:lnSpc>
                <a:spcPct val="130000"/>
              </a:lnSpc>
            </a:pPr>
            <a:r>
              <a:rPr lang="en-US" sz="1087" b="1" dirty="0">
                <a:solidFill>
                  <a:srgbClr val="F47C20"/>
                </a:solidFill>
                <a:latin typeface="Liter" pitchFamily="34" charset="0"/>
                <a:ea typeface="Liter" pitchFamily="34" charset="-122"/>
                <a:cs typeface="Liter" pitchFamily="34" charset="-120"/>
              </a:rPr>
              <a:t>Rule 1: Allow Cloudflare Aegis</a:t>
            </a:r>
            <a:endParaRPr lang="en-US" sz="1600" dirty="0"/>
          </a:p>
        </p:txBody>
      </p:sp>
      <p:sp>
        <p:nvSpPr>
          <p:cNvPr id="10" name="Shape 8"/>
          <p:cNvSpPr/>
          <p:nvPr/>
        </p:nvSpPr>
        <p:spPr>
          <a:xfrm>
            <a:off x="638505" y="2146761"/>
            <a:ext cx="5109768" cy="1691176"/>
          </a:xfrm>
          <a:custGeom>
            <a:avLst/>
            <a:gdLst/>
            <a:ahLst/>
            <a:cxnLst/>
            <a:rect l="l" t="t" r="r" b="b"/>
            <a:pathLst>
              <a:path w="5109768" h="1691176">
                <a:moveTo>
                  <a:pt x="20708" y="0"/>
                </a:moveTo>
                <a:lnTo>
                  <a:pt x="5075251" y="0"/>
                </a:lnTo>
                <a:cubicBezTo>
                  <a:pt x="5094314" y="0"/>
                  <a:pt x="5109768" y="15454"/>
                  <a:pt x="5109768" y="34517"/>
                </a:cubicBezTo>
                <a:lnTo>
                  <a:pt x="5109768" y="1656659"/>
                </a:lnTo>
                <a:cubicBezTo>
                  <a:pt x="5109768" y="1675722"/>
                  <a:pt x="5094314" y="1691176"/>
                  <a:pt x="5075251" y="1691176"/>
                </a:cubicBezTo>
                <a:lnTo>
                  <a:pt x="20708" y="1691176"/>
                </a:lnTo>
                <a:cubicBezTo>
                  <a:pt x="9279" y="1691176"/>
                  <a:pt x="0" y="1681897"/>
                  <a:pt x="0" y="1670468"/>
                </a:cubicBezTo>
                <a:lnTo>
                  <a:pt x="0" y="20708"/>
                </a:lnTo>
                <a:cubicBezTo>
                  <a:pt x="0" y="9279"/>
                  <a:pt x="9279" y="0"/>
                  <a:pt x="20708" y="0"/>
                </a:cubicBezTo>
                <a:close/>
              </a:path>
            </a:pathLst>
          </a:custGeom>
          <a:solidFill>
            <a:srgbClr val="1A1D21">
              <a:alpha val="90196"/>
            </a:srgbClr>
          </a:solidFill>
          <a:ln/>
        </p:spPr>
      </p:sp>
      <p:sp>
        <p:nvSpPr>
          <p:cNvPr id="11" name="Shape 9"/>
          <p:cNvSpPr/>
          <p:nvPr/>
        </p:nvSpPr>
        <p:spPr>
          <a:xfrm>
            <a:off x="638505" y="2146761"/>
            <a:ext cx="20708" cy="1691176"/>
          </a:xfrm>
          <a:custGeom>
            <a:avLst/>
            <a:gdLst/>
            <a:ahLst/>
            <a:cxnLst/>
            <a:rect l="l" t="t" r="r" b="b"/>
            <a:pathLst>
              <a:path w="20708" h="1691176">
                <a:moveTo>
                  <a:pt x="20708" y="0"/>
                </a:moveTo>
                <a:lnTo>
                  <a:pt x="20708" y="0"/>
                </a:lnTo>
                <a:lnTo>
                  <a:pt x="20708" y="1691176"/>
                </a:lnTo>
                <a:lnTo>
                  <a:pt x="20708" y="1691176"/>
                </a:lnTo>
                <a:cubicBezTo>
                  <a:pt x="9271" y="1691176"/>
                  <a:pt x="0" y="1681905"/>
                  <a:pt x="0" y="1670468"/>
                </a:cubicBezTo>
                <a:lnTo>
                  <a:pt x="0" y="20708"/>
                </a:lnTo>
                <a:cubicBezTo>
                  <a:pt x="0" y="9271"/>
                  <a:pt x="9271" y="0"/>
                  <a:pt x="20708" y="0"/>
                </a:cubicBezTo>
                <a:close/>
              </a:path>
            </a:pathLst>
          </a:custGeom>
          <a:solidFill>
            <a:srgbClr val="F47C20"/>
          </a:solidFill>
          <a:ln/>
        </p:spPr>
      </p:sp>
      <p:sp>
        <p:nvSpPr>
          <p:cNvPr id="12" name="Text 10"/>
          <p:cNvSpPr/>
          <p:nvPr/>
        </p:nvSpPr>
        <p:spPr>
          <a:xfrm>
            <a:off x="717887" y="2215789"/>
            <a:ext cx="5021758" cy="1553121"/>
          </a:xfrm>
          <a:prstGeom prst="rect">
            <a:avLst/>
          </a:prstGeom>
          <a:noFill/>
          <a:ln/>
        </p:spPr>
        <p:txBody>
          <a:bodyPr wrap="square" lIns="0" tIns="0" rIns="0" bIns="0" rtlCol="0" anchor="ctr"/>
          <a:lstStyle/>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set rulebase security rules CF_Aegis_Allow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from Cloudflare_L3_Zone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to Trust_L3_Zone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source CF_Aegis_IP_Group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destination Origin_Servers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service application-default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application [ web-browsing ssl ]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action allow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log-end yes</a:t>
            </a:r>
            <a:endParaRPr lang="en-US" sz="1600" dirty="0"/>
          </a:p>
        </p:txBody>
      </p:sp>
      <p:sp>
        <p:nvSpPr>
          <p:cNvPr id="13" name="Shape 11"/>
          <p:cNvSpPr/>
          <p:nvPr/>
        </p:nvSpPr>
        <p:spPr>
          <a:xfrm>
            <a:off x="524610" y="4045020"/>
            <a:ext cx="5323754" cy="2174369"/>
          </a:xfrm>
          <a:custGeom>
            <a:avLst/>
            <a:gdLst/>
            <a:ahLst/>
            <a:cxnLst/>
            <a:rect l="l" t="t" r="r" b="b"/>
            <a:pathLst>
              <a:path w="5323754" h="2174369">
                <a:moveTo>
                  <a:pt x="69036" y="0"/>
                </a:moveTo>
                <a:lnTo>
                  <a:pt x="5254717" y="0"/>
                </a:lnTo>
                <a:cubicBezTo>
                  <a:pt x="5292845" y="0"/>
                  <a:pt x="5323754" y="30909"/>
                  <a:pt x="5323754" y="69036"/>
                </a:cubicBezTo>
                <a:lnTo>
                  <a:pt x="5323754" y="2105333"/>
                </a:lnTo>
                <a:cubicBezTo>
                  <a:pt x="5323754" y="2143461"/>
                  <a:pt x="5292845" y="2174369"/>
                  <a:pt x="5254717" y="2174369"/>
                </a:cubicBezTo>
                <a:lnTo>
                  <a:pt x="69036" y="2174369"/>
                </a:lnTo>
                <a:cubicBezTo>
                  <a:pt x="30909" y="2174369"/>
                  <a:pt x="0" y="2143461"/>
                  <a:pt x="0" y="2105333"/>
                </a:cubicBezTo>
                <a:lnTo>
                  <a:pt x="0" y="69036"/>
                </a:lnTo>
                <a:cubicBezTo>
                  <a:pt x="0" y="30909"/>
                  <a:pt x="30909" y="0"/>
                  <a:pt x="69036" y="0"/>
                </a:cubicBezTo>
                <a:close/>
              </a:path>
            </a:pathLst>
          </a:custGeom>
          <a:solidFill>
            <a:srgbClr val="1A1D21">
              <a:alpha val="50196"/>
            </a:srgbClr>
          </a:solidFill>
          <a:ln/>
        </p:spPr>
      </p:sp>
      <p:sp>
        <p:nvSpPr>
          <p:cNvPr id="14" name="Text 12"/>
          <p:cNvSpPr/>
          <p:nvPr/>
        </p:nvSpPr>
        <p:spPr>
          <a:xfrm>
            <a:off x="628151" y="4148561"/>
            <a:ext cx="5185699" cy="207083"/>
          </a:xfrm>
          <a:prstGeom prst="rect">
            <a:avLst/>
          </a:prstGeom>
          <a:noFill/>
          <a:ln/>
        </p:spPr>
        <p:txBody>
          <a:bodyPr wrap="square" lIns="0" tIns="0" rIns="0" bIns="0" rtlCol="0" anchor="ctr"/>
          <a:lstStyle/>
          <a:p>
            <a:pPr>
              <a:lnSpc>
                <a:spcPct val="130000"/>
              </a:lnSpc>
            </a:pPr>
            <a:r>
              <a:rPr lang="en-US" sz="1087" b="1" dirty="0">
                <a:solidFill>
                  <a:srgbClr val="F47C20"/>
                </a:solidFill>
                <a:latin typeface="Liter" pitchFamily="34" charset="0"/>
                <a:ea typeface="Liter" pitchFamily="34" charset="-122"/>
                <a:cs typeface="Liter" pitchFamily="34" charset="-120"/>
              </a:rPr>
              <a:t>Rule 2: Deny All Other Traffic</a:t>
            </a:r>
            <a:endParaRPr lang="en-US" sz="1600" dirty="0"/>
          </a:p>
        </p:txBody>
      </p:sp>
      <p:sp>
        <p:nvSpPr>
          <p:cNvPr id="15" name="Shape 13"/>
          <p:cNvSpPr/>
          <p:nvPr/>
        </p:nvSpPr>
        <p:spPr>
          <a:xfrm>
            <a:off x="638505" y="4424672"/>
            <a:ext cx="5109768" cy="1691176"/>
          </a:xfrm>
          <a:custGeom>
            <a:avLst/>
            <a:gdLst/>
            <a:ahLst/>
            <a:cxnLst/>
            <a:rect l="l" t="t" r="r" b="b"/>
            <a:pathLst>
              <a:path w="5109768" h="1691176">
                <a:moveTo>
                  <a:pt x="20708" y="0"/>
                </a:moveTo>
                <a:lnTo>
                  <a:pt x="5075251" y="0"/>
                </a:lnTo>
                <a:cubicBezTo>
                  <a:pt x="5094314" y="0"/>
                  <a:pt x="5109768" y="15454"/>
                  <a:pt x="5109768" y="34517"/>
                </a:cubicBezTo>
                <a:lnTo>
                  <a:pt x="5109768" y="1656659"/>
                </a:lnTo>
                <a:cubicBezTo>
                  <a:pt x="5109768" y="1675722"/>
                  <a:pt x="5094314" y="1691176"/>
                  <a:pt x="5075251" y="1691176"/>
                </a:cubicBezTo>
                <a:lnTo>
                  <a:pt x="20708" y="1691176"/>
                </a:lnTo>
                <a:cubicBezTo>
                  <a:pt x="9279" y="1691176"/>
                  <a:pt x="0" y="1681897"/>
                  <a:pt x="0" y="1670468"/>
                </a:cubicBezTo>
                <a:lnTo>
                  <a:pt x="0" y="20708"/>
                </a:lnTo>
                <a:cubicBezTo>
                  <a:pt x="0" y="9279"/>
                  <a:pt x="9279" y="0"/>
                  <a:pt x="20708" y="0"/>
                </a:cubicBezTo>
                <a:close/>
              </a:path>
            </a:pathLst>
          </a:custGeom>
          <a:solidFill>
            <a:srgbClr val="1A1D21">
              <a:alpha val="90196"/>
            </a:srgbClr>
          </a:solidFill>
          <a:ln/>
        </p:spPr>
      </p:sp>
      <p:sp>
        <p:nvSpPr>
          <p:cNvPr id="16" name="Shape 14"/>
          <p:cNvSpPr/>
          <p:nvPr/>
        </p:nvSpPr>
        <p:spPr>
          <a:xfrm>
            <a:off x="638505" y="4424672"/>
            <a:ext cx="20708" cy="1691176"/>
          </a:xfrm>
          <a:custGeom>
            <a:avLst/>
            <a:gdLst/>
            <a:ahLst/>
            <a:cxnLst/>
            <a:rect l="l" t="t" r="r" b="b"/>
            <a:pathLst>
              <a:path w="20708" h="1691176">
                <a:moveTo>
                  <a:pt x="20708" y="0"/>
                </a:moveTo>
                <a:lnTo>
                  <a:pt x="20708" y="0"/>
                </a:lnTo>
                <a:lnTo>
                  <a:pt x="20708" y="1691176"/>
                </a:lnTo>
                <a:lnTo>
                  <a:pt x="20708" y="1691176"/>
                </a:lnTo>
                <a:cubicBezTo>
                  <a:pt x="9271" y="1691176"/>
                  <a:pt x="0" y="1681905"/>
                  <a:pt x="0" y="1670468"/>
                </a:cubicBezTo>
                <a:lnTo>
                  <a:pt x="0" y="20708"/>
                </a:lnTo>
                <a:cubicBezTo>
                  <a:pt x="0" y="9271"/>
                  <a:pt x="9271" y="0"/>
                  <a:pt x="20708" y="0"/>
                </a:cubicBezTo>
                <a:close/>
              </a:path>
            </a:pathLst>
          </a:custGeom>
          <a:solidFill>
            <a:srgbClr val="F47C20"/>
          </a:solidFill>
          <a:ln/>
        </p:spPr>
      </p:sp>
      <p:sp>
        <p:nvSpPr>
          <p:cNvPr id="17" name="Text 15"/>
          <p:cNvSpPr/>
          <p:nvPr/>
        </p:nvSpPr>
        <p:spPr>
          <a:xfrm>
            <a:off x="717887" y="4493699"/>
            <a:ext cx="5021758" cy="1553121"/>
          </a:xfrm>
          <a:prstGeom prst="rect">
            <a:avLst/>
          </a:prstGeom>
          <a:noFill/>
          <a:ln/>
        </p:spPr>
        <p:txBody>
          <a:bodyPr wrap="square" lIns="0" tIns="0" rIns="0" bIns="0" rtlCol="0" anchor="ctr"/>
          <a:lstStyle/>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set rulebase security rules Deny_Other_Traffic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from Untrust_L3_Zone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to Trust_L3_Zone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source any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destination Origin_Servers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service application-default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application any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action deny \</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log-end yes</a:t>
            </a:r>
            <a:endParaRPr lang="en-US" sz="1600" dirty="0"/>
          </a:p>
        </p:txBody>
      </p:sp>
      <p:sp>
        <p:nvSpPr>
          <p:cNvPr id="18" name="Shape 16"/>
          <p:cNvSpPr/>
          <p:nvPr/>
        </p:nvSpPr>
        <p:spPr>
          <a:xfrm>
            <a:off x="6169881" y="1107893"/>
            <a:ext cx="5675794" cy="1784363"/>
          </a:xfrm>
          <a:custGeom>
            <a:avLst/>
            <a:gdLst/>
            <a:ahLst/>
            <a:cxnLst/>
            <a:rect l="l" t="t" r="r" b="b"/>
            <a:pathLst>
              <a:path w="5675794" h="1784363">
                <a:moveTo>
                  <a:pt x="103547" y="0"/>
                </a:moveTo>
                <a:lnTo>
                  <a:pt x="5572248" y="0"/>
                </a:lnTo>
                <a:cubicBezTo>
                  <a:pt x="5629435" y="0"/>
                  <a:pt x="5675794" y="46359"/>
                  <a:pt x="5675794" y="103547"/>
                </a:cubicBezTo>
                <a:lnTo>
                  <a:pt x="5675794" y="1680817"/>
                </a:lnTo>
                <a:cubicBezTo>
                  <a:pt x="5675794" y="1738004"/>
                  <a:pt x="5629435" y="1784363"/>
                  <a:pt x="5572248" y="1784363"/>
                </a:cubicBezTo>
                <a:lnTo>
                  <a:pt x="103547" y="1784363"/>
                </a:lnTo>
                <a:cubicBezTo>
                  <a:pt x="46359" y="1784363"/>
                  <a:pt x="0" y="1738004"/>
                  <a:pt x="0" y="1680817"/>
                </a:cubicBezTo>
                <a:lnTo>
                  <a:pt x="0" y="103547"/>
                </a:lnTo>
                <a:cubicBezTo>
                  <a:pt x="0" y="46398"/>
                  <a:pt x="46398" y="0"/>
                  <a:pt x="103547" y="0"/>
                </a:cubicBezTo>
                <a:close/>
              </a:path>
            </a:pathLst>
          </a:custGeom>
          <a:solidFill>
            <a:srgbClr val="48515E">
              <a:alpha val="20000"/>
            </a:srgbClr>
          </a:solidFill>
          <a:ln w="10160">
            <a:solidFill>
              <a:srgbClr val="48515E">
                <a:alpha val="40000"/>
              </a:srgbClr>
            </a:solidFill>
            <a:prstDash val="solid"/>
          </a:ln>
        </p:spPr>
      </p:sp>
      <p:sp>
        <p:nvSpPr>
          <p:cNvPr id="19" name="Shape 17"/>
          <p:cNvSpPr/>
          <p:nvPr/>
        </p:nvSpPr>
        <p:spPr>
          <a:xfrm>
            <a:off x="6345902" y="1283916"/>
            <a:ext cx="345138" cy="345138"/>
          </a:xfrm>
          <a:custGeom>
            <a:avLst/>
            <a:gdLst/>
            <a:ahLst/>
            <a:cxnLst/>
            <a:rect l="l" t="t" r="r" b="b"/>
            <a:pathLst>
              <a:path w="345138" h="345138">
                <a:moveTo>
                  <a:pt x="69028" y="0"/>
                </a:moveTo>
                <a:lnTo>
                  <a:pt x="276110" y="0"/>
                </a:lnTo>
                <a:cubicBezTo>
                  <a:pt x="314208" y="0"/>
                  <a:pt x="345138" y="30930"/>
                  <a:pt x="345138" y="69028"/>
                </a:cubicBezTo>
                <a:lnTo>
                  <a:pt x="345138" y="276110"/>
                </a:lnTo>
                <a:cubicBezTo>
                  <a:pt x="345138" y="314208"/>
                  <a:pt x="314208" y="345138"/>
                  <a:pt x="276110" y="345138"/>
                </a:cubicBezTo>
                <a:lnTo>
                  <a:pt x="69028" y="345138"/>
                </a:lnTo>
                <a:cubicBezTo>
                  <a:pt x="30930" y="345138"/>
                  <a:pt x="0" y="314208"/>
                  <a:pt x="0" y="276110"/>
                </a:cubicBezTo>
                <a:lnTo>
                  <a:pt x="0" y="69028"/>
                </a:lnTo>
                <a:cubicBezTo>
                  <a:pt x="0" y="30930"/>
                  <a:pt x="30930" y="0"/>
                  <a:pt x="69028" y="0"/>
                </a:cubicBezTo>
                <a:close/>
              </a:path>
            </a:pathLst>
          </a:custGeom>
          <a:solidFill>
            <a:srgbClr val="00A4E0">
              <a:alpha val="20000"/>
            </a:srgbClr>
          </a:solidFill>
          <a:ln/>
        </p:spPr>
      </p:sp>
      <p:sp>
        <p:nvSpPr>
          <p:cNvPr id="20" name="Shape 18"/>
          <p:cNvSpPr/>
          <p:nvPr/>
        </p:nvSpPr>
        <p:spPr>
          <a:xfrm>
            <a:off x="6442972" y="1378829"/>
            <a:ext cx="155312" cy="155312"/>
          </a:xfrm>
          <a:custGeom>
            <a:avLst/>
            <a:gdLst/>
            <a:ahLst/>
            <a:cxnLst/>
            <a:rect l="l" t="t" r="r" b="b"/>
            <a:pathLst>
              <a:path w="155312" h="155312">
                <a:moveTo>
                  <a:pt x="40587" y="11011"/>
                </a:moveTo>
                <a:cubicBezTo>
                  <a:pt x="43894" y="13317"/>
                  <a:pt x="44683" y="17867"/>
                  <a:pt x="42377" y="21143"/>
                </a:cubicBezTo>
                <a:lnTo>
                  <a:pt x="25390" y="45411"/>
                </a:lnTo>
                <a:cubicBezTo>
                  <a:pt x="24146" y="47170"/>
                  <a:pt x="22205" y="48292"/>
                  <a:pt x="20051" y="48474"/>
                </a:cubicBezTo>
                <a:cubicBezTo>
                  <a:pt x="17897" y="48656"/>
                  <a:pt x="15774" y="47928"/>
                  <a:pt x="14257" y="46412"/>
                </a:cubicBezTo>
                <a:lnTo>
                  <a:pt x="2123" y="34278"/>
                </a:lnTo>
                <a:cubicBezTo>
                  <a:pt x="-698" y="31426"/>
                  <a:pt x="-698" y="26816"/>
                  <a:pt x="2123" y="23964"/>
                </a:cubicBezTo>
                <a:cubicBezTo>
                  <a:pt x="4945" y="21113"/>
                  <a:pt x="9586" y="21143"/>
                  <a:pt x="12437" y="23964"/>
                </a:cubicBezTo>
                <a:lnTo>
                  <a:pt x="18443" y="29970"/>
                </a:lnTo>
                <a:lnTo>
                  <a:pt x="30456" y="12801"/>
                </a:lnTo>
                <a:cubicBezTo>
                  <a:pt x="32761" y="9495"/>
                  <a:pt x="37311" y="8706"/>
                  <a:pt x="40587" y="11011"/>
                </a:cubicBezTo>
                <a:close/>
                <a:moveTo>
                  <a:pt x="40587" y="59546"/>
                </a:moveTo>
                <a:cubicBezTo>
                  <a:pt x="43894" y="61852"/>
                  <a:pt x="44683" y="66402"/>
                  <a:pt x="42377" y="69678"/>
                </a:cubicBezTo>
                <a:lnTo>
                  <a:pt x="25390" y="93946"/>
                </a:lnTo>
                <a:cubicBezTo>
                  <a:pt x="24146" y="95705"/>
                  <a:pt x="22205" y="96827"/>
                  <a:pt x="20051" y="97009"/>
                </a:cubicBezTo>
                <a:cubicBezTo>
                  <a:pt x="17897" y="97191"/>
                  <a:pt x="15774" y="96463"/>
                  <a:pt x="14257" y="94947"/>
                </a:cubicBezTo>
                <a:lnTo>
                  <a:pt x="2123" y="82813"/>
                </a:lnTo>
                <a:cubicBezTo>
                  <a:pt x="-728" y="79961"/>
                  <a:pt x="-728" y="75351"/>
                  <a:pt x="2123" y="72530"/>
                </a:cubicBezTo>
                <a:cubicBezTo>
                  <a:pt x="4975" y="69708"/>
                  <a:pt x="9586" y="69678"/>
                  <a:pt x="12407" y="72530"/>
                </a:cubicBezTo>
                <a:lnTo>
                  <a:pt x="18413" y="78536"/>
                </a:lnTo>
                <a:lnTo>
                  <a:pt x="30425" y="61366"/>
                </a:lnTo>
                <a:cubicBezTo>
                  <a:pt x="32731" y="58060"/>
                  <a:pt x="37281" y="57271"/>
                  <a:pt x="40557" y="59577"/>
                </a:cubicBezTo>
                <a:close/>
                <a:moveTo>
                  <a:pt x="67949" y="29121"/>
                </a:moveTo>
                <a:cubicBezTo>
                  <a:pt x="67949" y="23752"/>
                  <a:pt x="72287" y="19414"/>
                  <a:pt x="77656" y="19414"/>
                </a:cubicBezTo>
                <a:lnTo>
                  <a:pt x="145605" y="19414"/>
                </a:lnTo>
                <a:cubicBezTo>
                  <a:pt x="150974" y="19414"/>
                  <a:pt x="155312" y="23752"/>
                  <a:pt x="155312" y="29121"/>
                </a:cubicBezTo>
                <a:cubicBezTo>
                  <a:pt x="155312" y="34490"/>
                  <a:pt x="150974" y="38828"/>
                  <a:pt x="145605" y="38828"/>
                </a:cubicBezTo>
                <a:lnTo>
                  <a:pt x="77656" y="38828"/>
                </a:lnTo>
                <a:cubicBezTo>
                  <a:pt x="72287" y="38828"/>
                  <a:pt x="67949" y="34490"/>
                  <a:pt x="67949" y="29121"/>
                </a:cubicBezTo>
                <a:close/>
                <a:moveTo>
                  <a:pt x="67949" y="77656"/>
                </a:moveTo>
                <a:cubicBezTo>
                  <a:pt x="67949" y="72287"/>
                  <a:pt x="72287" y="67949"/>
                  <a:pt x="77656" y="67949"/>
                </a:cubicBezTo>
                <a:lnTo>
                  <a:pt x="145605" y="67949"/>
                </a:lnTo>
                <a:cubicBezTo>
                  <a:pt x="150974" y="67949"/>
                  <a:pt x="155312" y="72287"/>
                  <a:pt x="155312" y="77656"/>
                </a:cubicBezTo>
                <a:cubicBezTo>
                  <a:pt x="155312" y="83025"/>
                  <a:pt x="150974" y="87363"/>
                  <a:pt x="145605" y="87363"/>
                </a:cubicBezTo>
                <a:lnTo>
                  <a:pt x="77656" y="87363"/>
                </a:lnTo>
                <a:cubicBezTo>
                  <a:pt x="72287" y="87363"/>
                  <a:pt x="67949" y="83025"/>
                  <a:pt x="67949" y="77656"/>
                </a:cubicBezTo>
                <a:close/>
                <a:moveTo>
                  <a:pt x="48535" y="126191"/>
                </a:moveTo>
                <a:cubicBezTo>
                  <a:pt x="48535" y="120822"/>
                  <a:pt x="52873" y="116484"/>
                  <a:pt x="58242" y="116484"/>
                </a:cubicBezTo>
                <a:lnTo>
                  <a:pt x="145605" y="116484"/>
                </a:lnTo>
                <a:cubicBezTo>
                  <a:pt x="150974" y="116484"/>
                  <a:pt x="155312" y="120822"/>
                  <a:pt x="155312" y="126191"/>
                </a:cubicBezTo>
                <a:cubicBezTo>
                  <a:pt x="155312" y="131560"/>
                  <a:pt x="150974" y="135898"/>
                  <a:pt x="145605" y="135898"/>
                </a:cubicBezTo>
                <a:lnTo>
                  <a:pt x="58242" y="135898"/>
                </a:lnTo>
                <a:cubicBezTo>
                  <a:pt x="52873" y="135898"/>
                  <a:pt x="48535" y="131560"/>
                  <a:pt x="48535" y="126191"/>
                </a:cubicBezTo>
                <a:close/>
                <a:moveTo>
                  <a:pt x="19414" y="114057"/>
                </a:moveTo>
                <a:cubicBezTo>
                  <a:pt x="26111" y="114057"/>
                  <a:pt x="31548" y="119494"/>
                  <a:pt x="31548" y="126191"/>
                </a:cubicBezTo>
                <a:cubicBezTo>
                  <a:pt x="31548" y="132888"/>
                  <a:pt x="26111" y="138325"/>
                  <a:pt x="19414" y="138325"/>
                </a:cubicBezTo>
                <a:cubicBezTo>
                  <a:pt x="12717" y="138325"/>
                  <a:pt x="7280" y="132888"/>
                  <a:pt x="7280" y="126191"/>
                </a:cubicBezTo>
                <a:cubicBezTo>
                  <a:pt x="7280" y="119494"/>
                  <a:pt x="12717" y="114057"/>
                  <a:pt x="19414" y="114057"/>
                </a:cubicBezTo>
                <a:close/>
              </a:path>
            </a:pathLst>
          </a:custGeom>
          <a:solidFill>
            <a:srgbClr val="00A4E0"/>
          </a:solidFill>
          <a:ln/>
        </p:spPr>
      </p:sp>
      <p:sp>
        <p:nvSpPr>
          <p:cNvPr id="21" name="Text 19"/>
          <p:cNvSpPr/>
          <p:nvPr/>
        </p:nvSpPr>
        <p:spPr>
          <a:xfrm>
            <a:off x="6794581" y="1335687"/>
            <a:ext cx="1984544" cy="241597"/>
          </a:xfrm>
          <a:prstGeom prst="rect">
            <a:avLst/>
          </a:prstGeom>
          <a:noFill/>
          <a:ln/>
        </p:spPr>
        <p:txBody>
          <a:bodyPr wrap="square" lIns="0" tIns="0" rIns="0" bIns="0" rtlCol="0" anchor="ctr"/>
          <a:lstStyle/>
          <a:p>
            <a:pPr>
              <a:lnSpc>
                <a:spcPct val="120000"/>
              </a:lnSpc>
            </a:pPr>
            <a:r>
              <a:rPr lang="en-US" sz="1359" b="1" dirty="0">
                <a:solidFill>
                  <a:srgbClr val="E8EAED"/>
                </a:solidFill>
                <a:latin typeface="Liter" pitchFamily="34" charset="0"/>
                <a:ea typeface="Liter" pitchFamily="34" charset="-122"/>
                <a:cs typeface="Liter" pitchFamily="34" charset="-120"/>
              </a:rPr>
              <a:t>Security Policy Summary</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45902" y="1767109"/>
          <a:ext cx="5323754" cy="949130"/>
        </p:xfrm>
        <a:graphic>
          <a:graphicData uri="http://schemas.openxmlformats.org/drawingml/2006/table">
            <a:tbl>
              <a:tblPr/>
              <a:tblGrid>
                <a:gridCol w="1477860"/>
                <a:gridCol w="1918626"/>
                <a:gridCol w="1339581"/>
                <a:gridCol w="587687"/>
              </a:tblGrid>
              <a:tr h="316377">
                <a:tc>
                  <a:txBody>
                    <a:bodyPr/>
                    <a:lstStyle/>
                    <a:p>
                      <a:pPr algn="l"/>
                      <a:r>
                        <a:rPr lang="en-US" sz="900" b="1" u="none" dirty="0">
                          <a:solidFill>
                            <a:srgbClr val="E8EAED"/>
                          </a:solidFill>
                          <a:latin typeface="微软雅黑" pitchFamily="34" charset="0"/>
                          <a:ea typeface="微软雅黑" pitchFamily="34" charset="-122"/>
                          <a:cs typeface="微软雅黑" pitchFamily="34" charset="-120"/>
                        </a:rPr>
                        <a:t>Rule</a:t>
                      </a:r>
                      <a:endParaRPr lang="en-US" sz="900" dirty="0">
                        <a:latin typeface="微软雅黑" charset="0"/>
                        <a:ea typeface="微软雅黑" charset="0"/>
                        <a:cs typeface="微软雅黑" charset="0"/>
                      </a:endParaRPr>
                    </a:p>
                  </a:txBody>
                  <a:tcPr marL="0" marR="0" marT="69028" marB="69028"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E8EAED"/>
                          </a:solidFill>
                          <a:latin typeface="微软雅黑" pitchFamily="34" charset="0"/>
                          <a:ea typeface="微软雅黑" pitchFamily="34" charset="-122"/>
                          <a:cs typeface="微软雅黑" pitchFamily="34" charset="-120"/>
                        </a:rPr>
                        <a:t>Source</a:t>
                      </a:r>
                      <a:endParaRPr lang="en-US" sz="900" dirty="0">
                        <a:latin typeface="微软雅黑" charset="0"/>
                        <a:ea typeface="微软雅黑" charset="0"/>
                        <a:cs typeface="微软雅黑" charset="0"/>
                      </a:endParaRPr>
                    </a:p>
                  </a:txBody>
                  <a:tcPr marL="0" marR="0" marT="69028" marB="69028"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E8EAED"/>
                          </a:solidFill>
                          <a:latin typeface="微软雅黑" pitchFamily="34" charset="0"/>
                          <a:ea typeface="微软雅黑" pitchFamily="34" charset="-122"/>
                          <a:cs typeface="微软雅黑" pitchFamily="34" charset="-120"/>
                        </a:rPr>
                        <a:t>Dest</a:t>
                      </a:r>
                      <a:endParaRPr lang="en-US" sz="900" dirty="0">
                        <a:latin typeface="微软雅黑" charset="0"/>
                        <a:ea typeface="微软雅黑" charset="0"/>
                        <a:cs typeface="微软雅黑" charset="0"/>
                      </a:endParaRPr>
                    </a:p>
                  </a:txBody>
                  <a:tcPr marL="0" marR="0" marT="69028" marB="69028"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E8EAED"/>
                          </a:solidFill>
                          <a:latin typeface="微软雅黑" pitchFamily="34" charset="0"/>
                          <a:ea typeface="微软雅黑" pitchFamily="34" charset="-122"/>
                          <a:cs typeface="微软雅黑" pitchFamily="34" charset="-120"/>
                        </a:rPr>
                        <a:t>Action</a:t>
                      </a:r>
                      <a:endParaRPr lang="en-US" sz="900" dirty="0">
                        <a:latin typeface="微软雅黑" charset="0"/>
                        <a:ea typeface="微软雅黑" charset="0"/>
                        <a:cs typeface="微软雅黑" charset="0"/>
                      </a:endParaRPr>
                    </a:p>
                  </a:txBody>
                  <a:tcPr marL="0" marR="0" marT="69028" marB="69028"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r>
              <a:tr h="316377">
                <a:tc>
                  <a:txBody>
                    <a:bodyPr/>
                    <a:lstStyle/>
                    <a:p>
                      <a:r>
                        <a:rPr lang="en-US" sz="900" u="none" dirty="0">
                          <a:solidFill>
                            <a:srgbClr val="E8EAED"/>
                          </a:solidFill>
                          <a:latin typeface="微软雅黑" pitchFamily="34" charset="0"/>
                          <a:ea typeface="微软雅黑" pitchFamily="34" charset="-122"/>
                          <a:cs typeface="微软雅黑" pitchFamily="34" charset="-120"/>
                        </a:rPr>
                        <a:t>CF_Aegis_Allow</a:t>
                      </a:r>
                      <a:endParaRPr lang="en-US" sz="900" dirty="0">
                        <a:latin typeface="微软雅黑" charset="0"/>
                        <a:ea typeface="微软雅黑" charset="0"/>
                        <a:cs typeface="微软雅黑" charset="0"/>
                      </a:endParaRPr>
                    </a:p>
                  </a:txBody>
                  <a:tcPr marL="0" marR="0" marT="69028" marB="6902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F47C20"/>
                          </a:solidFill>
                          <a:latin typeface="微软雅黑" pitchFamily="34" charset="0"/>
                          <a:ea typeface="微软雅黑" pitchFamily="34" charset="-122"/>
                          <a:cs typeface="微软雅黑" pitchFamily="34" charset="-120"/>
                        </a:rPr>
                        <a:t>CF_Aegis_IP_Group</a:t>
                      </a:r>
                      <a:endParaRPr lang="en-US" sz="900" dirty="0">
                        <a:latin typeface="微软雅黑" charset="0"/>
                        <a:ea typeface="微软雅黑" charset="0"/>
                        <a:cs typeface="微软雅黑" charset="0"/>
                      </a:endParaRPr>
                    </a:p>
                  </a:txBody>
                  <a:tcPr marL="0" marR="0" marT="69028" marB="6902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E8EAED"/>
                          </a:solidFill>
                          <a:latin typeface="微软雅黑" pitchFamily="34" charset="0"/>
                          <a:ea typeface="微软雅黑" pitchFamily="34" charset="-122"/>
                          <a:cs typeface="微软雅黑" pitchFamily="34" charset="-120"/>
                        </a:rPr>
                        <a:t>Origin_Servers</a:t>
                      </a:r>
                      <a:endParaRPr lang="en-US" sz="900" dirty="0">
                        <a:latin typeface="微软雅黑" charset="0"/>
                        <a:ea typeface="微软雅黑" charset="0"/>
                        <a:cs typeface="微软雅黑" charset="0"/>
                      </a:endParaRPr>
                    </a:p>
                  </a:txBody>
                  <a:tcPr marL="0" marR="0" marT="69028" marB="6902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00A4E0"/>
                          </a:solidFill>
                          <a:latin typeface="微软雅黑" pitchFamily="34" charset="0"/>
                          <a:ea typeface="微软雅黑" pitchFamily="34" charset="-122"/>
                          <a:cs typeface="微软雅黑" pitchFamily="34" charset="-120"/>
                        </a:rPr>
                        <a:t>Allow</a:t>
                      </a:r>
                      <a:endParaRPr lang="en-US" sz="900" dirty="0">
                        <a:latin typeface="微软雅黑" charset="0"/>
                        <a:ea typeface="微软雅黑" charset="0"/>
                        <a:cs typeface="微软雅黑" charset="0"/>
                      </a:endParaRPr>
                    </a:p>
                  </a:txBody>
                  <a:tcPr marL="0" marR="0" marT="69028" marB="69028"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316377">
                <a:tc>
                  <a:txBody>
                    <a:bodyPr/>
                    <a:lstStyle/>
                    <a:p>
                      <a:r>
                        <a:rPr lang="en-US" sz="900" u="none" dirty="0">
                          <a:solidFill>
                            <a:srgbClr val="E8EAED"/>
                          </a:solidFill>
                          <a:latin typeface="微软雅黑" pitchFamily="34" charset="0"/>
                          <a:ea typeface="微软雅黑" pitchFamily="34" charset="-122"/>
                          <a:cs typeface="微软雅黑" pitchFamily="34" charset="-120"/>
                        </a:rPr>
                        <a:t>Deny_Other</a:t>
                      </a:r>
                      <a:endParaRPr lang="en-US" sz="900" dirty="0">
                        <a:latin typeface="微软雅黑" charset="0"/>
                        <a:ea typeface="微软雅黑" charset="0"/>
                        <a:cs typeface="微软雅黑" charset="0"/>
                      </a:endParaRPr>
                    </a:p>
                  </a:txBody>
                  <a:tcPr marL="0" marR="0" marT="69028" marB="69028"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900" u="none" dirty="0">
                          <a:solidFill>
                            <a:srgbClr val="E8EAED"/>
                          </a:solidFill>
                          <a:latin typeface="微软雅黑" pitchFamily="34" charset="0"/>
                          <a:ea typeface="微软雅黑" pitchFamily="34" charset="-122"/>
                          <a:cs typeface="微软雅黑" pitchFamily="34" charset="-120"/>
                        </a:rPr>
                        <a:t>Any</a:t>
                      </a:r>
                      <a:endParaRPr lang="en-US" sz="900" dirty="0">
                        <a:latin typeface="微软雅黑" charset="0"/>
                        <a:ea typeface="微软雅黑" charset="0"/>
                        <a:cs typeface="微软雅黑" charset="0"/>
                      </a:endParaRPr>
                    </a:p>
                  </a:txBody>
                  <a:tcPr marL="0" marR="0" marT="69028" marB="69028"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900" u="none" dirty="0">
                          <a:solidFill>
                            <a:srgbClr val="E8EAED"/>
                          </a:solidFill>
                          <a:latin typeface="微软雅黑" pitchFamily="34" charset="0"/>
                          <a:ea typeface="微软雅黑" pitchFamily="34" charset="-122"/>
                          <a:cs typeface="微软雅黑" pitchFamily="34" charset="-120"/>
                        </a:rPr>
                        <a:t>Origin_Servers</a:t>
                      </a:r>
                      <a:endParaRPr lang="en-US" sz="900" dirty="0">
                        <a:latin typeface="微软雅黑" charset="0"/>
                        <a:ea typeface="微软雅黑" charset="0"/>
                        <a:cs typeface="微软雅黑" charset="0"/>
                      </a:endParaRPr>
                    </a:p>
                  </a:txBody>
                  <a:tcPr marL="0" marR="0" marT="69028" marB="69028"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900" u="none" dirty="0">
                          <a:solidFill>
                            <a:srgbClr val="F47C20"/>
                          </a:solidFill>
                          <a:latin typeface="微软雅黑" pitchFamily="34" charset="0"/>
                          <a:ea typeface="微软雅黑" pitchFamily="34" charset="-122"/>
                          <a:cs typeface="微软雅黑" pitchFamily="34" charset="-120"/>
                        </a:rPr>
                        <a:t>Deny</a:t>
                      </a:r>
                      <a:endParaRPr lang="en-US" sz="900" dirty="0">
                        <a:latin typeface="微软雅黑" charset="0"/>
                        <a:ea typeface="微软雅黑" charset="0"/>
                        <a:cs typeface="微软雅黑" charset="0"/>
                      </a:endParaRPr>
                    </a:p>
                  </a:txBody>
                  <a:tcPr marL="0" marR="0" marT="69028" marB="69028"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23" name="Shape 20"/>
          <p:cNvSpPr/>
          <p:nvPr/>
        </p:nvSpPr>
        <p:spPr>
          <a:xfrm>
            <a:off x="6169881" y="3040666"/>
            <a:ext cx="5675794" cy="1732593"/>
          </a:xfrm>
          <a:custGeom>
            <a:avLst/>
            <a:gdLst/>
            <a:ahLst/>
            <a:cxnLst/>
            <a:rect l="l" t="t" r="r" b="b"/>
            <a:pathLst>
              <a:path w="5675794" h="1732593">
                <a:moveTo>
                  <a:pt x="103540" y="0"/>
                </a:moveTo>
                <a:lnTo>
                  <a:pt x="5572255" y="0"/>
                </a:lnTo>
                <a:cubicBezTo>
                  <a:pt x="5629438" y="0"/>
                  <a:pt x="5675794" y="46356"/>
                  <a:pt x="5675794" y="103540"/>
                </a:cubicBezTo>
                <a:lnTo>
                  <a:pt x="5675794" y="1629053"/>
                </a:lnTo>
                <a:cubicBezTo>
                  <a:pt x="5675794" y="1686236"/>
                  <a:pt x="5629438" y="1732593"/>
                  <a:pt x="5572255" y="1732593"/>
                </a:cubicBezTo>
                <a:lnTo>
                  <a:pt x="103540" y="1732593"/>
                </a:lnTo>
                <a:cubicBezTo>
                  <a:pt x="46356" y="1732593"/>
                  <a:pt x="0" y="1686236"/>
                  <a:pt x="0" y="1629053"/>
                </a:cubicBezTo>
                <a:lnTo>
                  <a:pt x="0" y="103540"/>
                </a:lnTo>
                <a:cubicBezTo>
                  <a:pt x="0" y="46395"/>
                  <a:pt x="46395" y="0"/>
                  <a:pt x="103540" y="0"/>
                </a:cubicBezTo>
                <a:close/>
              </a:path>
            </a:pathLst>
          </a:custGeom>
          <a:solidFill>
            <a:srgbClr val="F47C20">
              <a:alpha val="10196"/>
            </a:srgbClr>
          </a:solidFill>
          <a:ln w="10160">
            <a:solidFill>
              <a:srgbClr val="F47C20">
                <a:alpha val="30196"/>
              </a:srgbClr>
            </a:solidFill>
            <a:prstDash val="solid"/>
          </a:ln>
        </p:spPr>
      </p:sp>
      <p:sp>
        <p:nvSpPr>
          <p:cNvPr id="24" name="Shape 21"/>
          <p:cNvSpPr/>
          <p:nvPr/>
        </p:nvSpPr>
        <p:spPr>
          <a:xfrm>
            <a:off x="6367473" y="3251203"/>
            <a:ext cx="172569" cy="172569"/>
          </a:xfrm>
          <a:custGeom>
            <a:avLst/>
            <a:gdLst/>
            <a:ahLst/>
            <a:cxnLst/>
            <a:rect l="l" t="t" r="r" b="b"/>
            <a:pathLst>
              <a:path w="172569" h="172569">
                <a:moveTo>
                  <a:pt x="86285" y="172569"/>
                </a:moveTo>
                <a:cubicBezTo>
                  <a:pt x="133906" y="172569"/>
                  <a:pt x="172569" y="133906"/>
                  <a:pt x="172569" y="86285"/>
                </a:cubicBezTo>
                <a:cubicBezTo>
                  <a:pt x="172569" y="38663"/>
                  <a:pt x="133906" y="0"/>
                  <a:pt x="86285" y="0"/>
                </a:cubicBezTo>
                <a:cubicBezTo>
                  <a:pt x="38663" y="0"/>
                  <a:pt x="0" y="38663"/>
                  <a:pt x="0" y="86285"/>
                </a:cubicBezTo>
                <a:cubicBezTo>
                  <a:pt x="0" y="133906"/>
                  <a:pt x="38663" y="172569"/>
                  <a:pt x="86285" y="172569"/>
                </a:cubicBezTo>
                <a:close/>
                <a:moveTo>
                  <a:pt x="86285" y="45839"/>
                </a:moveTo>
                <a:cubicBezTo>
                  <a:pt x="90767" y="45839"/>
                  <a:pt x="94374" y="49445"/>
                  <a:pt x="94374" y="53928"/>
                </a:cubicBezTo>
                <a:lnTo>
                  <a:pt x="94374" y="91677"/>
                </a:lnTo>
                <a:cubicBezTo>
                  <a:pt x="94374" y="96160"/>
                  <a:pt x="90767" y="99766"/>
                  <a:pt x="86285" y="99766"/>
                </a:cubicBezTo>
                <a:cubicBezTo>
                  <a:pt x="81802" y="99766"/>
                  <a:pt x="78195" y="96160"/>
                  <a:pt x="78195" y="91677"/>
                </a:cubicBezTo>
                <a:lnTo>
                  <a:pt x="78195" y="53928"/>
                </a:lnTo>
                <a:cubicBezTo>
                  <a:pt x="78195" y="49445"/>
                  <a:pt x="81802" y="45839"/>
                  <a:pt x="86285" y="45839"/>
                </a:cubicBezTo>
                <a:close/>
                <a:moveTo>
                  <a:pt x="77285" y="118641"/>
                </a:moveTo>
                <a:cubicBezTo>
                  <a:pt x="77081" y="115301"/>
                  <a:pt x="78746" y="112123"/>
                  <a:pt x="81610" y="110391"/>
                </a:cubicBezTo>
                <a:cubicBezTo>
                  <a:pt x="84474" y="108658"/>
                  <a:pt x="88062" y="108658"/>
                  <a:pt x="90925" y="110391"/>
                </a:cubicBezTo>
                <a:cubicBezTo>
                  <a:pt x="93789" y="112123"/>
                  <a:pt x="95455" y="115301"/>
                  <a:pt x="95250" y="118641"/>
                </a:cubicBezTo>
                <a:cubicBezTo>
                  <a:pt x="95455" y="121982"/>
                  <a:pt x="93789" y="125160"/>
                  <a:pt x="90925" y="126892"/>
                </a:cubicBezTo>
                <a:cubicBezTo>
                  <a:pt x="88062" y="128624"/>
                  <a:pt x="84474" y="128624"/>
                  <a:pt x="81610" y="126892"/>
                </a:cubicBezTo>
                <a:cubicBezTo>
                  <a:pt x="78746" y="125160"/>
                  <a:pt x="77081" y="121982"/>
                  <a:pt x="77285" y="118641"/>
                </a:cubicBezTo>
                <a:close/>
              </a:path>
            </a:pathLst>
          </a:custGeom>
          <a:solidFill>
            <a:srgbClr val="F47C20"/>
          </a:solidFill>
          <a:ln/>
        </p:spPr>
      </p:sp>
      <p:sp>
        <p:nvSpPr>
          <p:cNvPr id="25" name="Text 22"/>
          <p:cNvSpPr/>
          <p:nvPr/>
        </p:nvSpPr>
        <p:spPr>
          <a:xfrm>
            <a:off x="6665154" y="3216689"/>
            <a:ext cx="1811975" cy="241597"/>
          </a:xfrm>
          <a:prstGeom prst="rect">
            <a:avLst/>
          </a:prstGeom>
          <a:noFill/>
          <a:ln/>
        </p:spPr>
        <p:txBody>
          <a:bodyPr wrap="square" lIns="0" tIns="0" rIns="0" bIns="0" rtlCol="0" anchor="ctr"/>
          <a:lstStyle/>
          <a:p>
            <a:pPr>
              <a:lnSpc>
                <a:spcPct val="130000"/>
              </a:lnSpc>
            </a:pPr>
            <a:r>
              <a:rPr lang="en-US" sz="1223" b="1" dirty="0">
                <a:solidFill>
                  <a:srgbClr val="E8EAED"/>
                </a:solidFill>
                <a:latin typeface="Liter" pitchFamily="34" charset="0"/>
                <a:ea typeface="Liter" pitchFamily="34" charset="-122"/>
                <a:cs typeface="Liter" pitchFamily="34" charset="-120"/>
              </a:rPr>
              <a:t>Important Considerations</a:t>
            </a:r>
            <a:endParaRPr lang="en-US" sz="1600" dirty="0"/>
          </a:p>
        </p:txBody>
      </p:sp>
      <p:sp>
        <p:nvSpPr>
          <p:cNvPr id="26" name="Shape 23"/>
          <p:cNvSpPr/>
          <p:nvPr/>
        </p:nvSpPr>
        <p:spPr>
          <a:xfrm>
            <a:off x="6397672" y="3596341"/>
            <a:ext cx="69028" cy="138055"/>
          </a:xfrm>
          <a:custGeom>
            <a:avLst/>
            <a:gdLst/>
            <a:ahLst/>
            <a:cxnLst/>
            <a:rect l="l" t="t" r="r" b="b"/>
            <a:pathLst>
              <a:path w="69028" h="138055">
                <a:moveTo>
                  <a:pt x="66628" y="62934"/>
                </a:moveTo>
                <a:cubicBezTo>
                  <a:pt x="69998" y="66304"/>
                  <a:pt x="69998" y="71778"/>
                  <a:pt x="66628" y="75148"/>
                </a:cubicBezTo>
                <a:lnTo>
                  <a:pt x="23486" y="118291"/>
                </a:lnTo>
                <a:cubicBezTo>
                  <a:pt x="20115" y="121661"/>
                  <a:pt x="14641" y="121661"/>
                  <a:pt x="11271" y="118291"/>
                </a:cubicBezTo>
                <a:cubicBezTo>
                  <a:pt x="7900" y="114920"/>
                  <a:pt x="7900" y="109446"/>
                  <a:pt x="11271" y="106076"/>
                </a:cubicBezTo>
                <a:lnTo>
                  <a:pt x="48319" y="69028"/>
                </a:lnTo>
                <a:lnTo>
                  <a:pt x="11298" y="31979"/>
                </a:lnTo>
                <a:cubicBezTo>
                  <a:pt x="7927" y="28609"/>
                  <a:pt x="7927" y="23135"/>
                  <a:pt x="11298" y="19765"/>
                </a:cubicBezTo>
                <a:cubicBezTo>
                  <a:pt x="14668" y="16394"/>
                  <a:pt x="20142" y="16394"/>
                  <a:pt x="23513" y="19765"/>
                </a:cubicBezTo>
                <a:lnTo>
                  <a:pt x="66655" y="62907"/>
                </a:lnTo>
                <a:close/>
              </a:path>
            </a:pathLst>
          </a:custGeom>
          <a:solidFill>
            <a:srgbClr val="F47C20"/>
          </a:solidFill>
          <a:ln/>
        </p:spPr>
      </p:sp>
      <p:sp>
        <p:nvSpPr>
          <p:cNvPr id="27" name="Text 24"/>
          <p:cNvSpPr/>
          <p:nvPr/>
        </p:nvSpPr>
        <p:spPr>
          <a:xfrm>
            <a:off x="6587498" y="3561827"/>
            <a:ext cx="2864645" cy="207083"/>
          </a:xfrm>
          <a:prstGeom prst="rect">
            <a:avLst/>
          </a:prstGeom>
          <a:noFill/>
          <a:ln/>
        </p:spPr>
        <p:txBody>
          <a:bodyPr wrap="square" lIns="0" tIns="0" rIns="0" bIns="0" rtlCol="0" anchor="ctr"/>
          <a:lstStyle/>
          <a:p>
            <a:pPr>
              <a:lnSpc>
                <a:spcPct val="130000"/>
              </a:lnSpc>
            </a:pPr>
            <a:r>
              <a:rPr lang="en-US" sz="1087" b="1" dirty="0">
                <a:solidFill>
                  <a:srgbClr val="E8EAED">
                    <a:alpha val="80000"/>
                  </a:srgbClr>
                </a:solidFill>
                <a:latin typeface="Liter" pitchFamily="34" charset="0"/>
                <a:ea typeface="Liter" pitchFamily="34" charset="-122"/>
                <a:cs typeface="Liter" pitchFamily="34" charset="-120"/>
              </a:rPr>
              <a:t>Rule Order:</a:t>
            </a:r>
            <a:pPr>
              <a:lnSpc>
                <a:spcPct val="130000"/>
              </a:lnSpc>
            </a:pPr>
            <a:r>
              <a:rPr lang="en-US" sz="1087" dirty="0">
                <a:solidFill>
                  <a:srgbClr val="E8EAED">
                    <a:alpha val="80000"/>
                  </a:srgbClr>
                </a:solidFill>
                <a:latin typeface="Liter" pitchFamily="34" charset="0"/>
                <a:ea typeface="Liter" pitchFamily="34" charset="-122"/>
                <a:cs typeface="Liter" pitchFamily="34" charset="-120"/>
              </a:rPr>
              <a:t> Allow rule must be above deny rule</a:t>
            </a:r>
            <a:endParaRPr lang="en-US" sz="1600" dirty="0"/>
          </a:p>
        </p:txBody>
      </p:sp>
      <p:sp>
        <p:nvSpPr>
          <p:cNvPr id="28" name="Shape 25"/>
          <p:cNvSpPr/>
          <p:nvPr/>
        </p:nvSpPr>
        <p:spPr>
          <a:xfrm>
            <a:off x="6397672" y="3872451"/>
            <a:ext cx="69028" cy="138055"/>
          </a:xfrm>
          <a:custGeom>
            <a:avLst/>
            <a:gdLst/>
            <a:ahLst/>
            <a:cxnLst/>
            <a:rect l="l" t="t" r="r" b="b"/>
            <a:pathLst>
              <a:path w="69028" h="138055">
                <a:moveTo>
                  <a:pt x="66628" y="62934"/>
                </a:moveTo>
                <a:cubicBezTo>
                  <a:pt x="69998" y="66304"/>
                  <a:pt x="69998" y="71778"/>
                  <a:pt x="66628" y="75148"/>
                </a:cubicBezTo>
                <a:lnTo>
                  <a:pt x="23486" y="118291"/>
                </a:lnTo>
                <a:cubicBezTo>
                  <a:pt x="20115" y="121661"/>
                  <a:pt x="14641" y="121661"/>
                  <a:pt x="11271" y="118291"/>
                </a:cubicBezTo>
                <a:cubicBezTo>
                  <a:pt x="7900" y="114920"/>
                  <a:pt x="7900" y="109446"/>
                  <a:pt x="11271" y="106076"/>
                </a:cubicBezTo>
                <a:lnTo>
                  <a:pt x="48319" y="69028"/>
                </a:lnTo>
                <a:lnTo>
                  <a:pt x="11298" y="31979"/>
                </a:lnTo>
                <a:cubicBezTo>
                  <a:pt x="7927" y="28609"/>
                  <a:pt x="7927" y="23135"/>
                  <a:pt x="11298" y="19765"/>
                </a:cubicBezTo>
                <a:cubicBezTo>
                  <a:pt x="14668" y="16394"/>
                  <a:pt x="20142" y="16394"/>
                  <a:pt x="23513" y="19765"/>
                </a:cubicBezTo>
                <a:lnTo>
                  <a:pt x="66655" y="62907"/>
                </a:lnTo>
                <a:close/>
              </a:path>
            </a:pathLst>
          </a:custGeom>
          <a:solidFill>
            <a:srgbClr val="F47C20"/>
          </a:solidFill>
          <a:ln/>
        </p:spPr>
      </p:sp>
      <p:sp>
        <p:nvSpPr>
          <p:cNvPr id="29" name="Text 26"/>
          <p:cNvSpPr/>
          <p:nvPr/>
        </p:nvSpPr>
        <p:spPr>
          <a:xfrm>
            <a:off x="6587498" y="3837937"/>
            <a:ext cx="2338310" cy="207083"/>
          </a:xfrm>
          <a:prstGeom prst="rect">
            <a:avLst/>
          </a:prstGeom>
          <a:noFill/>
          <a:ln/>
        </p:spPr>
        <p:txBody>
          <a:bodyPr wrap="square" lIns="0" tIns="0" rIns="0" bIns="0" rtlCol="0" anchor="ctr"/>
          <a:lstStyle/>
          <a:p>
            <a:pPr>
              <a:lnSpc>
                <a:spcPct val="130000"/>
              </a:lnSpc>
            </a:pPr>
            <a:r>
              <a:rPr lang="en-US" sz="1087" b="1" dirty="0">
                <a:solidFill>
                  <a:srgbClr val="E8EAED">
                    <a:alpha val="80000"/>
                  </a:srgbClr>
                </a:solidFill>
                <a:latin typeface="Liter" pitchFamily="34" charset="0"/>
                <a:ea typeface="Liter" pitchFamily="34" charset="-122"/>
                <a:cs typeface="Liter" pitchFamily="34" charset="-120"/>
              </a:rPr>
              <a:t>Logging:</a:t>
            </a:r>
            <a:pPr>
              <a:lnSpc>
                <a:spcPct val="130000"/>
              </a:lnSpc>
            </a:pPr>
            <a:r>
              <a:rPr lang="en-US" sz="1087" dirty="0">
                <a:solidFill>
                  <a:srgbClr val="E8EAED">
                    <a:alpha val="80000"/>
                  </a:srgbClr>
                </a:solidFill>
                <a:latin typeface="Liter" pitchFamily="34" charset="0"/>
                <a:ea typeface="Liter" pitchFamily="34" charset="-122"/>
                <a:cs typeface="Liter" pitchFamily="34" charset="-120"/>
              </a:rPr>
              <a:t> Enable log-end for audit trail</a:t>
            </a:r>
            <a:endParaRPr lang="en-US" sz="1600" dirty="0"/>
          </a:p>
        </p:txBody>
      </p:sp>
      <p:sp>
        <p:nvSpPr>
          <p:cNvPr id="30" name="Shape 27"/>
          <p:cNvSpPr/>
          <p:nvPr/>
        </p:nvSpPr>
        <p:spPr>
          <a:xfrm>
            <a:off x="6397672" y="4148561"/>
            <a:ext cx="69028" cy="138055"/>
          </a:xfrm>
          <a:custGeom>
            <a:avLst/>
            <a:gdLst/>
            <a:ahLst/>
            <a:cxnLst/>
            <a:rect l="l" t="t" r="r" b="b"/>
            <a:pathLst>
              <a:path w="69028" h="138055">
                <a:moveTo>
                  <a:pt x="66628" y="62934"/>
                </a:moveTo>
                <a:cubicBezTo>
                  <a:pt x="69998" y="66304"/>
                  <a:pt x="69998" y="71778"/>
                  <a:pt x="66628" y="75148"/>
                </a:cubicBezTo>
                <a:lnTo>
                  <a:pt x="23486" y="118291"/>
                </a:lnTo>
                <a:cubicBezTo>
                  <a:pt x="20115" y="121661"/>
                  <a:pt x="14641" y="121661"/>
                  <a:pt x="11271" y="118291"/>
                </a:cubicBezTo>
                <a:cubicBezTo>
                  <a:pt x="7900" y="114920"/>
                  <a:pt x="7900" y="109446"/>
                  <a:pt x="11271" y="106076"/>
                </a:cubicBezTo>
                <a:lnTo>
                  <a:pt x="48319" y="69028"/>
                </a:lnTo>
                <a:lnTo>
                  <a:pt x="11298" y="31979"/>
                </a:lnTo>
                <a:cubicBezTo>
                  <a:pt x="7927" y="28609"/>
                  <a:pt x="7927" y="23135"/>
                  <a:pt x="11298" y="19765"/>
                </a:cubicBezTo>
                <a:cubicBezTo>
                  <a:pt x="14668" y="16394"/>
                  <a:pt x="20142" y="16394"/>
                  <a:pt x="23513" y="19765"/>
                </a:cubicBezTo>
                <a:lnTo>
                  <a:pt x="66655" y="62907"/>
                </a:lnTo>
                <a:close/>
              </a:path>
            </a:pathLst>
          </a:custGeom>
          <a:solidFill>
            <a:srgbClr val="F47C20"/>
          </a:solidFill>
          <a:ln/>
        </p:spPr>
      </p:sp>
      <p:sp>
        <p:nvSpPr>
          <p:cNvPr id="31" name="Text 28"/>
          <p:cNvSpPr/>
          <p:nvPr/>
        </p:nvSpPr>
        <p:spPr>
          <a:xfrm>
            <a:off x="6587498" y="4114048"/>
            <a:ext cx="2519507" cy="207083"/>
          </a:xfrm>
          <a:prstGeom prst="rect">
            <a:avLst/>
          </a:prstGeom>
          <a:noFill/>
          <a:ln/>
        </p:spPr>
        <p:txBody>
          <a:bodyPr wrap="square" lIns="0" tIns="0" rIns="0" bIns="0" rtlCol="0" anchor="ctr"/>
          <a:lstStyle/>
          <a:p>
            <a:pPr>
              <a:lnSpc>
                <a:spcPct val="130000"/>
              </a:lnSpc>
            </a:pPr>
            <a:r>
              <a:rPr lang="en-US" sz="1087" b="1" dirty="0">
                <a:solidFill>
                  <a:srgbClr val="E8EAED">
                    <a:alpha val="80000"/>
                  </a:srgbClr>
                </a:solidFill>
                <a:latin typeface="Liter" pitchFamily="34" charset="0"/>
                <a:ea typeface="Liter" pitchFamily="34" charset="-122"/>
                <a:cs typeface="Liter" pitchFamily="34" charset="-120"/>
              </a:rPr>
              <a:t>Zones:</a:t>
            </a:r>
            <a:pPr>
              <a:lnSpc>
                <a:spcPct val="130000"/>
              </a:lnSpc>
            </a:pPr>
            <a:r>
              <a:rPr lang="en-US" sz="1087" dirty="0">
                <a:solidFill>
                  <a:srgbClr val="E8EAED">
                    <a:alpha val="80000"/>
                  </a:srgbClr>
                </a:solidFill>
                <a:latin typeface="Liter" pitchFamily="34" charset="0"/>
                <a:ea typeface="Liter" pitchFamily="34" charset="-122"/>
                <a:cs typeface="Liter" pitchFamily="34" charset="-120"/>
              </a:rPr>
              <a:t> Place Aegis IPs in dedicated zone</a:t>
            </a:r>
            <a:endParaRPr lang="en-US" sz="1600" dirty="0"/>
          </a:p>
        </p:txBody>
      </p:sp>
      <p:sp>
        <p:nvSpPr>
          <p:cNvPr id="32" name="Shape 29"/>
          <p:cNvSpPr/>
          <p:nvPr/>
        </p:nvSpPr>
        <p:spPr>
          <a:xfrm>
            <a:off x="6397672" y="4424672"/>
            <a:ext cx="69028" cy="138055"/>
          </a:xfrm>
          <a:custGeom>
            <a:avLst/>
            <a:gdLst/>
            <a:ahLst/>
            <a:cxnLst/>
            <a:rect l="l" t="t" r="r" b="b"/>
            <a:pathLst>
              <a:path w="69028" h="138055">
                <a:moveTo>
                  <a:pt x="66628" y="62934"/>
                </a:moveTo>
                <a:cubicBezTo>
                  <a:pt x="69998" y="66304"/>
                  <a:pt x="69998" y="71778"/>
                  <a:pt x="66628" y="75148"/>
                </a:cubicBezTo>
                <a:lnTo>
                  <a:pt x="23486" y="118291"/>
                </a:lnTo>
                <a:cubicBezTo>
                  <a:pt x="20115" y="121661"/>
                  <a:pt x="14641" y="121661"/>
                  <a:pt x="11271" y="118291"/>
                </a:cubicBezTo>
                <a:cubicBezTo>
                  <a:pt x="7900" y="114920"/>
                  <a:pt x="7900" y="109446"/>
                  <a:pt x="11271" y="106076"/>
                </a:cubicBezTo>
                <a:lnTo>
                  <a:pt x="48319" y="69028"/>
                </a:lnTo>
                <a:lnTo>
                  <a:pt x="11298" y="31979"/>
                </a:lnTo>
                <a:cubicBezTo>
                  <a:pt x="7927" y="28609"/>
                  <a:pt x="7927" y="23135"/>
                  <a:pt x="11298" y="19765"/>
                </a:cubicBezTo>
                <a:cubicBezTo>
                  <a:pt x="14668" y="16394"/>
                  <a:pt x="20142" y="16394"/>
                  <a:pt x="23513" y="19765"/>
                </a:cubicBezTo>
                <a:lnTo>
                  <a:pt x="66655" y="62907"/>
                </a:lnTo>
                <a:close/>
              </a:path>
            </a:pathLst>
          </a:custGeom>
          <a:solidFill>
            <a:srgbClr val="F47C20"/>
          </a:solidFill>
          <a:ln/>
        </p:spPr>
      </p:sp>
      <p:sp>
        <p:nvSpPr>
          <p:cNvPr id="33" name="Text 30"/>
          <p:cNvSpPr/>
          <p:nvPr/>
        </p:nvSpPr>
        <p:spPr>
          <a:xfrm>
            <a:off x="6587498" y="4390158"/>
            <a:ext cx="2467737" cy="207083"/>
          </a:xfrm>
          <a:prstGeom prst="rect">
            <a:avLst/>
          </a:prstGeom>
          <a:noFill/>
          <a:ln/>
        </p:spPr>
        <p:txBody>
          <a:bodyPr wrap="square" lIns="0" tIns="0" rIns="0" bIns="0" rtlCol="0" anchor="ctr"/>
          <a:lstStyle/>
          <a:p>
            <a:pPr>
              <a:lnSpc>
                <a:spcPct val="130000"/>
              </a:lnSpc>
            </a:pPr>
            <a:r>
              <a:rPr lang="en-US" sz="1087" b="1" dirty="0">
                <a:solidFill>
                  <a:srgbClr val="E8EAED">
                    <a:alpha val="80000"/>
                  </a:srgbClr>
                </a:solidFill>
                <a:latin typeface="Liter" pitchFamily="34" charset="0"/>
                <a:ea typeface="Liter" pitchFamily="34" charset="-122"/>
                <a:cs typeface="Liter" pitchFamily="34" charset="-120"/>
              </a:rPr>
              <a:t>Commit:</a:t>
            </a:r>
            <a:pPr>
              <a:lnSpc>
                <a:spcPct val="130000"/>
              </a:lnSpc>
            </a:pPr>
            <a:r>
              <a:rPr lang="en-US" sz="1087" dirty="0">
                <a:solidFill>
                  <a:srgbClr val="E8EAED">
                    <a:alpha val="80000"/>
                  </a:srgbClr>
                </a:solidFill>
                <a:latin typeface="Liter" pitchFamily="34" charset="0"/>
                <a:ea typeface="Liter" pitchFamily="34" charset="-122"/>
                <a:cs typeface="Liter" pitchFamily="34" charset="-120"/>
              </a:rPr>
              <a:t> Remember to commit changes</a:t>
            </a:r>
            <a:endParaRPr lang="en-US" sz="1600" dirty="0"/>
          </a:p>
        </p:txBody>
      </p:sp>
      <p:sp>
        <p:nvSpPr>
          <p:cNvPr id="34" name="Shape 31"/>
          <p:cNvSpPr/>
          <p:nvPr/>
        </p:nvSpPr>
        <p:spPr>
          <a:xfrm>
            <a:off x="6169881" y="4918217"/>
            <a:ext cx="5675794" cy="1939676"/>
          </a:xfrm>
          <a:custGeom>
            <a:avLst/>
            <a:gdLst/>
            <a:ahLst/>
            <a:cxnLst/>
            <a:rect l="l" t="t" r="r" b="b"/>
            <a:pathLst>
              <a:path w="5675794" h="1939676">
                <a:moveTo>
                  <a:pt x="103540" y="0"/>
                </a:moveTo>
                <a:lnTo>
                  <a:pt x="5572255" y="0"/>
                </a:lnTo>
                <a:cubicBezTo>
                  <a:pt x="5629438" y="0"/>
                  <a:pt x="5675794" y="46356"/>
                  <a:pt x="5675794" y="103540"/>
                </a:cubicBezTo>
                <a:lnTo>
                  <a:pt x="5675794" y="1836136"/>
                </a:lnTo>
                <a:cubicBezTo>
                  <a:pt x="5675794" y="1893319"/>
                  <a:pt x="5629438" y="1939676"/>
                  <a:pt x="5572255" y="1939676"/>
                </a:cubicBezTo>
                <a:lnTo>
                  <a:pt x="103540" y="1939676"/>
                </a:lnTo>
                <a:cubicBezTo>
                  <a:pt x="46356" y="1939676"/>
                  <a:pt x="0" y="1893319"/>
                  <a:pt x="0" y="1836136"/>
                </a:cubicBezTo>
                <a:lnTo>
                  <a:pt x="0" y="103540"/>
                </a:lnTo>
                <a:cubicBezTo>
                  <a:pt x="0" y="46356"/>
                  <a:pt x="46356" y="0"/>
                  <a:pt x="103540" y="0"/>
                </a:cubicBezTo>
                <a:close/>
              </a:path>
            </a:pathLst>
          </a:custGeom>
          <a:solidFill>
            <a:srgbClr val="00A4E0">
              <a:alpha val="10196"/>
            </a:srgbClr>
          </a:solidFill>
          <a:ln w="10160">
            <a:solidFill>
              <a:srgbClr val="00A4E0">
                <a:alpha val="30196"/>
              </a:srgbClr>
            </a:solidFill>
            <a:prstDash val="solid"/>
          </a:ln>
        </p:spPr>
      </p:sp>
      <p:sp>
        <p:nvSpPr>
          <p:cNvPr id="35" name="Shape 32"/>
          <p:cNvSpPr/>
          <p:nvPr/>
        </p:nvSpPr>
        <p:spPr>
          <a:xfrm>
            <a:off x="6367473" y="5128754"/>
            <a:ext cx="172569" cy="172569"/>
          </a:xfrm>
          <a:custGeom>
            <a:avLst/>
            <a:gdLst/>
            <a:ahLst/>
            <a:cxnLst/>
            <a:rect l="l" t="t" r="r" b="b"/>
            <a:pathLst>
              <a:path w="172569" h="172569">
                <a:moveTo>
                  <a:pt x="115473" y="3168"/>
                </a:moveTo>
                <a:cubicBezTo>
                  <a:pt x="111260" y="-1045"/>
                  <a:pt x="104418" y="-1045"/>
                  <a:pt x="100205" y="3168"/>
                </a:cubicBezTo>
                <a:cubicBezTo>
                  <a:pt x="95992" y="7381"/>
                  <a:pt x="95992" y="14223"/>
                  <a:pt x="100205" y="18437"/>
                </a:cubicBezTo>
                <a:lnTo>
                  <a:pt x="103373" y="21571"/>
                </a:lnTo>
                <a:lnTo>
                  <a:pt x="9471" y="115473"/>
                </a:lnTo>
                <a:cubicBezTo>
                  <a:pt x="3404" y="121540"/>
                  <a:pt x="0" y="129764"/>
                  <a:pt x="0" y="138359"/>
                </a:cubicBezTo>
                <a:lnTo>
                  <a:pt x="0" y="140212"/>
                </a:lnTo>
                <a:cubicBezTo>
                  <a:pt x="0" y="158076"/>
                  <a:pt x="14493" y="172569"/>
                  <a:pt x="32357" y="172569"/>
                </a:cubicBezTo>
                <a:lnTo>
                  <a:pt x="34210" y="172569"/>
                </a:lnTo>
                <a:cubicBezTo>
                  <a:pt x="42805" y="172569"/>
                  <a:pt x="51029" y="169165"/>
                  <a:pt x="57096" y="163098"/>
                </a:cubicBezTo>
                <a:lnTo>
                  <a:pt x="150998" y="69196"/>
                </a:lnTo>
                <a:lnTo>
                  <a:pt x="154166" y="72364"/>
                </a:lnTo>
                <a:cubicBezTo>
                  <a:pt x="158379" y="76577"/>
                  <a:pt x="165221" y="76577"/>
                  <a:pt x="169434" y="72364"/>
                </a:cubicBezTo>
                <a:cubicBezTo>
                  <a:pt x="173648" y="68151"/>
                  <a:pt x="173648" y="61309"/>
                  <a:pt x="169434" y="57096"/>
                </a:cubicBezTo>
                <a:lnTo>
                  <a:pt x="115507" y="3168"/>
                </a:lnTo>
                <a:close/>
                <a:moveTo>
                  <a:pt x="69196" y="86285"/>
                </a:moveTo>
                <a:lnTo>
                  <a:pt x="118641" y="36839"/>
                </a:lnTo>
                <a:lnTo>
                  <a:pt x="135730" y="53928"/>
                </a:lnTo>
                <a:lnTo>
                  <a:pt x="103373" y="86285"/>
                </a:lnTo>
                <a:lnTo>
                  <a:pt x="69162" y="86285"/>
                </a:lnTo>
                <a:close/>
              </a:path>
            </a:pathLst>
          </a:custGeom>
          <a:solidFill>
            <a:srgbClr val="00A4E0"/>
          </a:solidFill>
          <a:ln/>
        </p:spPr>
      </p:sp>
      <p:sp>
        <p:nvSpPr>
          <p:cNvPr id="36" name="Text 33"/>
          <p:cNvSpPr/>
          <p:nvPr/>
        </p:nvSpPr>
        <p:spPr>
          <a:xfrm>
            <a:off x="6665154" y="5094240"/>
            <a:ext cx="1561749" cy="241597"/>
          </a:xfrm>
          <a:prstGeom prst="rect">
            <a:avLst/>
          </a:prstGeom>
          <a:noFill/>
          <a:ln/>
        </p:spPr>
        <p:txBody>
          <a:bodyPr wrap="square" lIns="0" tIns="0" rIns="0" bIns="0" rtlCol="0" anchor="ctr"/>
          <a:lstStyle/>
          <a:p>
            <a:pPr>
              <a:lnSpc>
                <a:spcPct val="130000"/>
              </a:lnSpc>
            </a:pPr>
            <a:r>
              <a:rPr lang="en-US" sz="1223" b="1" dirty="0">
                <a:solidFill>
                  <a:srgbClr val="E8EAED"/>
                </a:solidFill>
                <a:latin typeface="Liter" pitchFamily="34" charset="0"/>
                <a:ea typeface="Liter" pitchFamily="34" charset="-122"/>
                <a:cs typeface="Liter" pitchFamily="34" charset="-120"/>
              </a:rPr>
              <a:t>Testing &amp; Verification</a:t>
            </a:r>
            <a:endParaRPr lang="en-US" sz="1600" dirty="0"/>
          </a:p>
        </p:txBody>
      </p:sp>
      <p:sp>
        <p:nvSpPr>
          <p:cNvPr id="37" name="Shape 34"/>
          <p:cNvSpPr/>
          <p:nvPr/>
        </p:nvSpPr>
        <p:spPr>
          <a:xfrm>
            <a:off x="6356256" y="5439378"/>
            <a:ext cx="5316851" cy="1242497"/>
          </a:xfrm>
          <a:custGeom>
            <a:avLst/>
            <a:gdLst/>
            <a:ahLst/>
            <a:cxnLst/>
            <a:rect l="l" t="t" r="r" b="b"/>
            <a:pathLst>
              <a:path w="5316851" h="1242497">
                <a:moveTo>
                  <a:pt x="20708" y="0"/>
                </a:moveTo>
                <a:lnTo>
                  <a:pt x="5247818" y="0"/>
                </a:lnTo>
                <a:cubicBezTo>
                  <a:pt x="5285944" y="0"/>
                  <a:pt x="5316851" y="30907"/>
                  <a:pt x="5316851" y="69033"/>
                </a:cubicBezTo>
                <a:lnTo>
                  <a:pt x="5316851" y="1173464"/>
                </a:lnTo>
                <a:cubicBezTo>
                  <a:pt x="5316851" y="1211590"/>
                  <a:pt x="5285944" y="1242497"/>
                  <a:pt x="5247818" y="1242497"/>
                </a:cubicBezTo>
                <a:lnTo>
                  <a:pt x="20708" y="1242497"/>
                </a:lnTo>
                <a:cubicBezTo>
                  <a:pt x="9271" y="1242497"/>
                  <a:pt x="0" y="1233225"/>
                  <a:pt x="0" y="1221789"/>
                </a:cubicBezTo>
                <a:lnTo>
                  <a:pt x="0" y="20708"/>
                </a:lnTo>
                <a:cubicBezTo>
                  <a:pt x="0" y="9271"/>
                  <a:pt x="9271" y="0"/>
                  <a:pt x="20708" y="0"/>
                </a:cubicBezTo>
                <a:close/>
              </a:path>
            </a:pathLst>
          </a:custGeom>
          <a:solidFill>
            <a:srgbClr val="1A1D21">
              <a:alpha val="90196"/>
            </a:srgbClr>
          </a:solidFill>
          <a:ln/>
        </p:spPr>
      </p:sp>
      <p:sp>
        <p:nvSpPr>
          <p:cNvPr id="38" name="Shape 35"/>
          <p:cNvSpPr/>
          <p:nvPr/>
        </p:nvSpPr>
        <p:spPr>
          <a:xfrm>
            <a:off x="6356256" y="5439378"/>
            <a:ext cx="20708" cy="1242497"/>
          </a:xfrm>
          <a:custGeom>
            <a:avLst/>
            <a:gdLst/>
            <a:ahLst/>
            <a:cxnLst/>
            <a:rect l="l" t="t" r="r" b="b"/>
            <a:pathLst>
              <a:path w="20708" h="1242497">
                <a:moveTo>
                  <a:pt x="20708" y="0"/>
                </a:moveTo>
                <a:lnTo>
                  <a:pt x="20708" y="0"/>
                </a:lnTo>
                <a:lnTo>
                  <a:pt x="20708" y="1242497"/>
                </a:lnTo>
                <a:lnTo>
                  <a:pt x="20708" y="1242497"/>
                </a:lnTo>
                <a:cubicBezTo>
                  <a:pt x="9271" y="1242497"/>
                  <a:pt x="0" y="1233225"/>
                  <a:pt x="0" y="1221789"/>
                </a:cubicBezTo>
                <a:lnTo>
                  <a:pt x="0" y="20708"/>
                </a:lnTo>
                <a:cubicBezTo>
                  <a:pt x="0" y="9271"/>
                  <a:pt x="9271" y="0"/>
                  <a:pt x="20708" y="0"/>
                </a:cubicBezTo>
                <a:close/>
              </a:path>
            </a:pathLst>
          </a:custGeom>
          <a:solidFill>
            <a:srgbClr val="F47C20"/>
          </a:solidFill>
          <a:ln/>
        </p:spPr>
      </p:sp>
      <p:sp>
        <p:nvSpPr>
          <p:cNvPr id="39" name="Text 36"/>
          <p:cNvSpPr/>
          <p:nvPr/>
        </p:nvSpPr>
        <p:spPr>
          <a:xfrm>
            <a:off x="6470151" y="5542920"/>
            <a:ext cx="5159813" cy="1035414"/>
          </a:xfrm>
          <a:prstGeom prst="rect">
            <a:avLst/>
          </a:prstGeom>
          <a:noFill/>
          <a:ln/>
        </p:spPr>
        <p:txBody>
          <a:bodyPr wrap="square" lIns="0" tIns="0" rIns="0" bIns="0" rtlCol="0" anchor="ctr"/>
          <a:lstStyle/>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Test from allowed IP</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curl -I https://your-origin.com</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Should return 200 OK</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Test from non-allowed IP</a:t>
            </a:r>
            <a:endParaRPr lang="en-US" sz="1600" dirty="0"/>
          </a:p>
          <a:p>
            <a:pPr>
              <a:lnSpc>
                <a:spcPct val="100000"/>
              </a:lnSpc>
            </a:pPr>
            <a:r>
              <a:rPr lang="en-US" sz="951" dirty="0">
                <a:solidFill>
                  <a:srgbClr val="E8EAED">
                    <a:alpha val="90000"/>
                  </a:srgbClr>
                </a:solidFill>
                <a:latin typeface="MiSans" pitchFamily="34" charset="0"/>
                <a:ea typeface="MiSans" pitchFamily="34" charset="-122"/>
                <a:cs typeface="MiSans" pitchFamily="34" charset="-120"/>
              </a:rPr>
              <a:t># Should timeout or connection refused</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1"/>
        </a:solidFill>
      </p:bgPr>
    </p:bg>
    <p:spTree>
      <p:nvGrpSpPr>
        <p:cNvPr id="1" name=""/>
        <p:cNvGrpSpPr/>
        <p:nvPr/>
      </p:nvGrpSpPr>
      <p:grpSpPr>
        <a:xfrm>
          <a:off x="0" y="0"/>
          <a:ext cx="0" cy="0"/>
          <a:chOff x="0" y="0"/>
          <a:chExt cx="0" cy="0"/>
        </a:xfrm>
      </p:grpSpPr>
      <p:pic>
        <p:nvPicPr>
          <p:cNvPr id="2" name="Image 0" descr="https://kimi-web-img.moonshot.cn/img/bynder.aggreko.com/03ddd384b92a6d343b91df423a9c1b0fcd6f6ea0">    </p:cNvPr>
          <p:cNvPicPr>
            <a:picLocks noChangeAspect="1"/>
          </p:cNvPicPr>
          <p:nvPr/>
        </p:nvPicPr>
        <p:blipFill>
          <a:blip r:embed="rId1">
            <a:alphaModFix amt="30000"/>
          </a:blip>
          <a:srcRect l="0" r="0"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1D21">
                  <a:alpha val="95000"/>
                </a:srgbClr>
              </a:gs>
              <a:gs pos="50000">
                <a:srgbClr val="1A1D21">
                  <a:alpha val="90000"/>
                </a:srgbClr>
              </a:gs>
              <a:gs pos="100000">
                <a:srgbClr val="F47C20">
                  <a:alpha val="30000"/>
                </a:srgbClr>
              </a:gs>
            </a:gsLst>
            <a:lin ang="2700000" scaled="1"/>
          </a:gradFill>
          <a:ln/>
        </p:spPr>
      </p:sp>
      <p:sp>
        <p:nvSpPr>
          <p:cNvPr id="4" name="Shape 1"/>
          <p:cNvSpPr/>
          <p:nvPr/>
        </p:nvSpPr>
        <p:spPr>
          <a:xfrm>
            <a:off x="5687973" y="1658304"/>
            <a:ext cx="817245" cy="579120"/>
          </a:xfrm>
          <a:custGeom>
            <a:avLst/>
            <a:gdLst/>
            <a:ahLst/>
            <a:cxnLst/>
            <a:rect l="l" t="t" r="r" b="b"/>
            <a:pathLst>
              <a:path w="817245" h="579120">
                <a:moveTo>
                  <a:pt x="289560" y="0"/>
                </a:moveTo>
                <a:lnTo>
                  <a:pt x="527685" y="0"/>
                </a:lnTo>
                <a:cubicBezTo>
                  <a:pt x="687498" y="0"/>
                  <a:pt x="817245" y="129747"/>
                  <a:pt x="817245" y="289560"/>
                </a:cubicBezTo>
                <a:lnTo>
                  <a:pt x="817245" y="289560"/>
                </a:lnTo>
                <a:cubicBezTo>
                  <a:pt x="817245" y="449373"/>
                  <a:pt x="687498" y="579120"/>
                  <a:pt x="527685" y="579120"/>
                </a:cubicBezTo>
                <a:lnTo>
                  <a:pt x="289560" y="579120"/>
                </a:lnTo>
                <a:cubicBezTo>
                  <a:pt x="129747" y="579120"/>
                  <a:pt x="0" y="449373"/>
                  <a:pt x="0" y="289560"/>
                </a:cubicBezTo>
                <a:lnTo>
                  <a:pt x="0" y="289560"/>
                </a:lnTo>
                <a:cubicBezTo>
                  <a:pt x="0" y="129747"/>
                  <a:pt x="129747" y="0"/>
                  <a:pt x="289560" y="0"/>
                </a:cubicBezTo>
                <a:close/>
              </a:path>
            </a:pathLst>
          </a:custGeom>
          <a:solidFill>
            <a:srgbClr val="F47C20">
              <a:alpha val="20000"/>
            </a:srgbClr>
          </a:solidFill>
          <a:ln w="10160">
            <a:solidFill>
              <a:srgbClr val="F47C20">
                <a:alpha val="40000"/>
              </a:srgbClr>
            </a:solidFill>
            <a:prstDash val="solid"/>
          </a:ln>
        </p:spPr>
      </p:sp>
      <p:sp>
        <p:nvSpPr>
          <p:cNvPr id="5" name="Text 2"/>
          <p:cNvSpPr/>
          <p:nvPr/>
        </p:nvSpPr>
        <p:spPr>
          <a:xfrm>
            <a:off x="5848945" y="1776413"/>
            <a:ext cx="495300" cy="342900"/>
          </a:xfrm>
          <a:prstGeom prst="rect">
            <a:avLst/>
          </a:prstGeom>
          <a:noFill/>
          <a:ln/>
        </p:spPr>
        <p:txBody>
          <a:bodyPr wrap="square" lIns="0" tIns="0" rIns="0" bIns="0" rtlCol="0" anchor="ctr"/>
          <a:lstStyle/>
          <a:p>
            <a:pPr algn="ctr">
              <a:lnSpc>
                <a:spcPct val="100000"/>
              </a:lnSpc>
            </a:pPr>
            <a:r>
              <a:rPr lang="en-US" sz="2250" b="1" dirty="0">
                <a:solidFill>
                  <a:srgbClr val="F47C20"/>
                </a:solidFill>
                <a:latin typeface="Liter" pitchFamily="34" charset="0"/>
                <a:ea typeface="Liter" pitchFamily="34" charset="-122"/>
                <a:cs typeface="Liter" pitchFamily="34" charset="-120"/>
              </a:rPr>
              <a:t>03</a:t>
            </a:r>
            <a:endParaRPr lang="en-US" sz="1600" dirty="0"/>
          </a:p>
        </p:txBody>
      </p:sp>
      <p:sp>
        <p:nvSpPr>
          <p:cNvPr id="6" name="Text 3"/>
          <p:cNvSpPr/>
          <p:nvPr/>
        </p:nvSpPr>
        <p:spPr>
          <a:xfrm>
            <a:off x="3187303" y="2546035"/>
            <a:ext cx="5819775" cy="1371600"/>
          </a:xfrm>
          <a:prstGeom prst="rect">
            <a:avLst/>
          </a:prstGeom>
          <a:noFill/>
          <a:ln/>
        </p:spPr>
        <p:txBody>
          <a:bodyPr wrap="square" lIns="0" tIns="0" rIns="0" bIns="0" rtlCol="0" anchor="ctr"/>
          <a:lstStyle/>
          <a:p>
            <a:pPr algn="ctr">
              <a:lnSpc>
                <a:spcPct val="80000"/>
              </a:lnSpc>
            </a:pPr>
            <a:r>
              <a:rPr lang="en-US" sz="5400" b="1" dirty="0">
                <a:solidFill>
                  <a:srgbClr val="E8EAED"/>
                </a:solidFill>
                <a:latin typeface="Liter" pitchFamily="34" charset="0"/>
                <a:ea typeface="Liter" pitchFamily="34" charset="-122"/>
                <a:cs typeface="Liter" pitchFamily="34" charset="-120"/>
              </a:rPr>
              <a:t>F5 Load Balancer</a:t>
            </a:r>
            <a:endParaRPr lang="en-US" sz="1600" dirty="0"/>
          </a:p>
          <a:p>
            <a:pPr algn="ctr">
              <a:lnSpc>
                <a:spcPct val="80000"/>
              </a:lnSpc>
            </a:pPr>
            <a:r>
              <a:rPr lang="en-US" sz="5400" b="1" dirty="0">
                <a:solidFill>
                  <a:srgbClr val="E8EAED"/>
                </a:solidFill>
                <a:latin typeface="Liter" pitchFamily="34" charset="0"/>
                <a:ea typeface="Liter" pitchFamily="34" charset="-122"/>
                <a:cs typeface="Liter" pitchFamily="34" charset="-120"/>
              </a:rPr>
              <a:t>Configuration</a:t>
            </a:r>
            <a:endParaRPr lang="en-US" sz="1600" dirty="0"/>
          </a:p>
        </p:txBody>
      </p:sp>
      <p:sp>
        <p:nvSpPr>
          <p:cNvPr id="7" name="Text 4"/>
          <p:cNvSpPr/>
          <p:nvPr/>
        </p:nvSpPr>
        <p:spPr>
          <a:xfrm>
            <a:off x="3301603" y="4146235"/>
            <a:ext cx="5591175" cy="371475"/>
          </a:xfrm>
          <a:prstGeom prst="rect">
            <a:avLst/>
          </a:prstGeom>
          <a:noFill/>
          <a:ln/>
        </p:spPr>
        <p:txBody>
          <a:bodyPr wrap="square" lIns="0" tIns="0" rIns="0" bIns="0" rtlCol="0" anchor="ctr"/>
          <a:lstStyle/>
          <a:p>
            <a:pPr algn="ctr">
              <a:lnSpc>
                <a:spcPct val="140000"/>
              </a:lnSpc>
            </a:pPr>
            <a:r>
              <a:rPr lang="en-US" sz="1800" dirty="0">
                <a:solidFill>
                  <a:srgbClr val="E8EAED">
                    <a:alpha val="80000"/>
                  </a:srgbClr>
                </a:solidFill>
                <a:latin typeface="Liter" pitchFamily="34" charset="0"/>
                <a:ea typeface="Liter" pitchFamily="34" charset="-122"/>
                <a:cs typeface="Liter" pitchFamily="34" charset="-120"/>
              </a:rPr>
              <a:t>Using iRules to Restrict Access by Cloudflare Aegis IPs</a:t>
            </a:r>
            <a:endParaRPr lang="en-US" sz="1600" dirty="0"/>
          </a:p>
        </p:txBody>
      </p:sp>
      <p:sp>
        <p:nvSpPr>
          <p:cNvPr id="8" name="Shape 5"/>
          <p:cNvSpPr/>
          <p:nvPr/>
        </p:nvSpPr>
        <p:spPr>
          <a:xfrm>
            <a:off x="4886206" y="507016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F47C20"/>
          </a:solidFill>
          <a:ln/>
        </p:spPr>
      </p:sp>
      <p:sp>
        <p:nvSpPr>
          <p:cNvPr id="9" name="Shape 6"/>
          <p:cNvSpPr/>
          <p:nvPr/>
        </p:nvSpPr>
        <p:spPr>
          <a:xfrm>
            <a:off x="5995868" y="4974910"/>
            <a:ext cx="200025" cy="228600"/>
          </a:xfrm>
          <a:custGeom>
            <a:avLst/>
            <a:gdLst/>
            <a:ahLst/>
            <a:cxnLst/>
            <a:rect l="l" t="t" r="r" b="b"/>
            <a:pathLst>
              <a:path w="200025" h="228600">
                <a:moveTo>
                  <a:pt x="28575" y="14288"/>
                </a:moveTo>
                <a:cubicBezTo>
                  <a:pt x="12814" y="14288"/>
                  <a:pt x="0" y="27102"/>
                  <a:pt x="0" y="42863"/>
                </a:cubicBezTo>
                <a:lnTo>
                  <a:pt x="0" y="71438"/>
                </a:lnTo>
                <a:cubicBezTo>
                  <a:pt x="0" y="87198"/>
                  <a:pt x="12814" y="100013"/>
                  <a:pt x="28575" y="100013"/>
                </a:cubicBezTo>
                <a:lnTo>
                  <a:pt x="171450" y="100013"/>
                </a:lnTo>
                <a:cubicBezTo>
                  <a:pt x="187211" y="100013"/>
                  <a:pt x="200025" y="87198"/>
                  <a:pt x="200025" y="71438"/>
                </a:cubicBezTo>
                <a:lnTo>
                  <a:pt x="200025" y="42863"/>
                </a:lnTo>
                <a:cubicBezTo>
                  <a:pt x="200025" y="27102"/>
                  <a:pt x="187211" y="14288"/>
                  <a:pt x="171450" y="14288"/>
                </a:cubicBezTo>
                <a:lnTo>
                  <a:pt x="28575" y="14288"/>
                </a:lnTo>
                <a:close/>
                <a:moveTo>
                  <a:pt x="125016" y="46434"/>
                </a:moveTo>
                <a:cubicBezTo>
                  <a:pt x="130930" y="46434"/>
                  <a:pt x="135731" y="51236"/>
                  <a:pt x="135731" y="57150"/>
                </a:cubicBezTo>
                <a:cubicBezTo>
                  <a:pt x="135731" y="63064"/>
                  <a:pt x="130930" y="67866"/>
                  <a:pt x="125016" y="67866"/>
                </a:cubicBezTo>
                <a:cubicBezTo>
                  <a:pt x="119102" y="67866"/>
                  <a:pt x="114300" y="63064"/>
                  <a:pt x="114300" y="57150"/>
                </a:cubicBezTo>
                <a:cubicBezTo>
                  <a:pt x="114300" y="51236"/>
                  <a:pt x="119102" y="46434"/>
                  <a:pt x="125016" y="46434"/>
                </a:cubicBezTo>
                <a:close/>
                <a:moveTo>
                  <a:pt x="150019" y="57150"/>
                </a:moveTo>
                <a:cubicBezTo>
                  <a:pt x="150019" y="51236"/>
                  <a:pt x="154820" y="46434"/>
                  <a:pt x="160734" y="46434"/>
                </a:cubicBezTo>
                <a:cubicBezTo>
                  <a:pt x="166648" y="46434"/>
                  <a:pt x="171450" y="51236"/>
                  <a:pt x="171450" y="57150"/>
                </a:cubicBezTo>
                <a:cubicBezTo>
                  <a:pt x="171450" y="63064"/>
                  <a:pt x="166648" y="67866"/>
                  <a:pt x="160734" y="67866"/>
                </a:cubicBezTo>
                <a:cubicBezTo>
                  <a:pt x="154820" y="67866"/>
                  <a:pt x="150019" y="63064"/>
                  <a:pt x="150019" y="57150"/>
                </a:cubicBezTo>
                <a:close/>
                <a:moveTo>
                  <a:pt x="28575" y="128588"/>
                </a:moveTo>
                <a:cubicBezTo>
                  <a:pt x="12814" y="128588"/>
                  <a:pt x="0" y="141402"/>
                  <a:pt x="0" y="157163"/>
                </a:cubicBezTo>
                <a:lnTo>
                  <a:pt x="0" y="185738"/>
                </a:lnTo>
                <a:cubicBezTo>
                  <a:pt x="0" y="201498"/>
                  <a:pt x="12814" y="214313"/>
                  <a:pt x="28575" y="214313"/>
                </a:cubicBezTo>
                <a:lnTo>
                  <a:pt x="171450" y="214313"/>
                </a:lnTo>
                <a:cubicBezTo>
                  <a:pt x="187211" y="214313"/>
                  <a:pt x="200025" y="201498"/>
                  <a:pt x="200025" y="185738"/>
                </a:cubicBezTo>
                <a:lnTo>
                  <a:pt x="200025" y="157163"/>
                </a:lnTo>
                <a:cubicBezTo>
                  <a:pt x="200025" y="141402"/>
                  <a:pt x="187211" y="128588"/>
                  <a:pt x="171450" y="128588"/>
                </a:cubicBezTo>
                <a:lnTo>
                  <a:pt x="28575" y="128588"/>
                </a:lnTo>
                <a:close/>
                <a:moveTo>
                  <a:pt x="125016" y="160734"/>
                </a:moveTo>
                <a:cubicBezTo>
                  <a:pt x="130930" y="160734"/>
                  <a:pt x="135731" y="165536"/>
                  <a:pt x="135731" y="171450"/>
                </a:cubicBezTo>
                <a:cubicBezTo>
                  <a:pt x="135731" y="177364"/>
                  <a:pt x="130930" y="182166"/>
                  <a:pt x="125016" y="182166"/>
                </a:cubicBezTo>
                <a:cubicBezTo>
                  <a:pt x="119102" y="182166"/>
                  <a:pt x="114300" y="177364"/>
                  <a:pt x="114300" y="171450"/>
                </a:cubicBezTo>
                <a:cubicBezTo>
                  <a:pt x="114300" y="165536"/>
                  <a:pt x="119102" y="160734"/>
                  <a:pt x="125016" y="160734"/>
                </a:cubicBezTo>
                <a:close/>
                <a:moveTo>
                  <a:pt x="150019" y="171450"/>
                </a:moveTo>
                <a:cubicBezTo>
                  <a:pt x="150019" y="165536"/>
                  <a:pt x="154820" y="160734"/>
                  <a:pt x="160734" y="160734"/>
                </a:cubicBezTo>
                <a:cubicBezTo>
                  <a:pt x="166648" y="160734"/>
                  <a:pt x="171450" y="165536"/>
                  <a:pt x="171450" y="171450"/>
                </a:cubicBezTo>
                <a:cubicBezTo>
                  <a:pt x="171450" y="177364"/>
                  <a:pt x="166648" y="182166"/>
                  <a:pt x="160734" y="182166"/>
                </a:cubicBezTo>
                <a:cubicBezTo>
                  <a:pt x="154820" y="182166"/>
                  <a:pt x="150019" y="177364"/>
                  <a:pt x="150019" y="171450"/>
                </a:cubicBezTo>
                <a:close/>
              </a:path>
            </a:pathLst>
          </a:custGeom>
          <a:solidFill>
            <a:srgbClr val="F47C20"/>
          </a:solidFill>
          <a:ln/>
        </p:spPr>
      </p:sp>
      <p:sp>
        <p:nvSpPr>
          <p:cNvPr id="10" name="Shape 7"/>
          <p:cNvSpPr/>
          <p:nvPr/>
        </p:nvSpPr>
        <p:spPr>
          <a:xfrm>
            <a:off x="6391156" y="507016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F47C20"/>
          </a:solidFill>
          <a:ln/>
        </p:spPr>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43437" y="343437"/>
            <a:ext cx="11573814" cy="206062"/>
          </a:xfrm>
          <a:prstGeom prst="rect">
            <a:avLst/>
          </a:prstGeom>
          <a:noFill/>
          <a:ln/>
        </p:spPr>
        <p:txBody>
          <a:bodyPr wrap="square" lIns="0" tIns="0" rIns="0" bIns="0" rtlCol="0" anchor="ctr"/>
          <a:lstStyle/>
          <a:p>
            <a:pPr>
              <a:lnSpc>
                <a:spcPct val="130000"/>
              </a:lnSpc>
            </a:pPr>
            <a:r>
              <a:rPr lang="en-US" sz="1082" b="1" spc="54" kern="0" dirty="0">
                <a:solidFill>
                  <a:srgbClr val="F47C20"/>
                </a:solidFill>
                <a:latin typeface="Liter" pitchFamily="34" charset="0"/>
                <a:ea typeface="Liter" pitchFamily="34" charset="-122"/>
                <a:cs typeface="Liter" pitchFamily="34" charset="-120"/>
              </a:rPr>
              <a:t>F5 LOAD BALANCER</a:t>
            </a:r>
            <a:endParaRPr lang="en-US" sz="1600" dirty="0"/>
          </a:p>
        </p:txBody>
      </p:sp>
      <p:sp>
        <p:nvSpPr>
          <p:cNvPr id="3" name="Text 1"/>
          <p:cNvSpPr/>
          <p:nvPr/>
        </p:nvSpPr>
        <p:spPr>
          <a:xfrm>
            <a:off x="343437" y="618186"/>
            <a:ext cx="11659673" cy="343437"/>
          </a:xfrm>
          <a:prstGeom prst="rect">
            <a:avLst/>
          </a:prstGeom>
          <a:noFill/>
          <a:ln/>
        </p:spPr>
        <p:txBody>
          <a:bodyPr wrap="square" lIns="0" tIns="0" rIns="0" bIns="0" rtlCol="0" anchor="ctr"/>
          <a:lstStyle/>
          <a:p>
            <a:pPr>
              <a:lnSpc>
                <a:spcPct val="90000"/>
              </a:lnSpc>
            </a:pPr>
            <a:r>
              <a:rPr lang="en-US" sz="2434" b="1" dirty="0">
                <a:solidFill>
                  <a:srgbClr val="E8EAED"/>
                </a:solidFill>
                <a:latin typeface="Liter" pitchFamily="34" charset="0"/>
                <a:ea typeface="Liter" pitchFamily="34" charset="-122"/>
                <a:cs typeface="Liter" pitchFamily="34" charset="-120"/>
              </a:rPr>
              <a:t>Data Group &amp; iRule Setup</a:t>
            </a:r>
            <a:endParaRPr lang="en-US" sz="1600" dirty="0"/>
          </a:p>
        </p:txBody>
      </p:sp>
      <p:sp>
        <p:nvSpPr>
          <p:cNvPr id="4" name="Shape 2"/>
          <p:cNvSpPr/>
          <p:nvPr/>
        </p:nvSpPr>
        <p:spPr>
          <a:xfrm>
            <a:off x="346871" y="1033744"/>
            <a:ext cx="5699331" cy="4488717"/>
          </a:xfrm>
          <a:custGeom>
            <a:avLst/>
            <a:gdLst/>
            <a:ahLst/>
            <a:cxnLst/>
            <a:rect l="l" t="t" r="r" b="b"/>
            <a:pathLst>
              <a:path w="5699331" h="4488717">
                <a:moveTo>
                  <a:pt x="103016" y="0"/>
                </a:moveTo>
                <a:lnTo>
                  <a:pt x="5596315" y="0"/>
                </a:lnTo>
                <a:cubicBezTo>
                  <a:pt x="5653171" y="0"/>
                  <a:pt x="5699331" y="46160"/>
                  <a:pt x="5699331" y="103016"/>
                </a:cubicBezTo>
                <a:lnTo>
                  <a:pt x="5699331" y="4385701"/>
                </a:lnTo>
                <a:cubicBezTo>
                  <a:pt x="5699331" y="4442557"/>
                  <a:pt x="5653171" y="4488717"/>
                  <a:pt x="5596315" y="4488717"/>
                </a:cubicBezTo>
                <a:lnTo>
                  <a:pt x="103016" y="4488717"/>
                </a:lnTo>
                <a:cubicBezTo>
                  <a:pt x="46160" y="4488717"/>
                  <a:pt x="0" y="4442557"/>
                  <a:pt x="0" y="4385701"/>
                </a:cubicBezTo>
                <a:lnTo>
                  <a:pt x="0" y="103016"/>
                </a:lnTo>
                <a:cubicBezTo>
                  <a:pt x="0" y="46160"/>
                  <a:pt x="46160" y="0"/>
                  <a:pt x="103016" y="0"/>
                </a:cubicBezTo>
                <a:close/>
              </a:path>
            </a:pathLst>
          </a:custGeom>
          <a:solidFill>
            <a:srgbClr val="48515E">
              <a:alpha val="20000"/>
            </a:srgbClr>
          </a:solidFill>
          <a:ln w="10160">
            <a:solidFill>
              <a:srgbClr val="48515E">
                <a:alpha val="40000"/>
              </a:srgbClr>
            </a:solidFill>
            <a:prstDash val="solid"/>
          </a:ln>
        </p:spPr>
      </p:sp>
      <p:sp>
        <p:nvSpPr>
          <p:cNvPr id="5" name="Shape 3"/>
          <p:cNvSpPr/>
          <p:nvPr/>
        </p:nvSpPr>
        <p:spPr>
          <a:xfrm>
            <a:off x="453336" y="1140208"/>
            <a:ext cx="343437" cy="343437"/>
          </a:xfrm>
          <a:custGeom>
            <a:avLst/>
            <a:gdLst/>
            <a:ahLst/>
            <a:cxnLst/>
            <a:rect l="l" t="t" r="r" b="b"/>
            <a:pathLst>
              <a:path w="343437" h="343437">
                <a:moveTo>
                  <a:pt x="68687" y="0"/>
                </a:moveTo>
                <a:lnTo>
                  <a:pt x="274749" y="0"/>
                </a:lnTo>
                <a:cubicBezTo>
                  <a:pt x="312684" y="0"/>
                  <a:pt x="343437" y="30752"/>
                  <a:pt x="343437" y="68687"/>
                </a:cubicBezTo>
                <a:lnTo>
                  <a:pt x="343437" y="274749"/>
                </a:lnTo>
                <a:cubicBezTo>
                  <a:pt x="343437" y="312684"/>
                  <a:pt x="312684" y="343437"/>
                  <a:pt x="274749" y="343437"/>
                </a:cubicBezTo>
                <a:lnTo>
                  <a:pt x="68687" y="343437"/>
                </a:lnTo>
                <a:cubicBezTo>
                  <a:pt x="30752" y="343437"/>
                  <a:pt x="0" y="312684"/>
                  <a:pt x="0" y="274749"/>
                </a:cubicBezTo>
                <a:lnTo>
                  <a:pt x="0" y="68687"/>
                </a:lnTo>
                <a:cubicBezTo>
                  <a:pt x="0" y="30752"/>
                  <a:pt x="30752" y="0"/>
                  <a:pt x="68687" y="0"/>
                </a:cubicBezTo>
                <a:close/>
              </a:path>
            </a:pathLst>
          </a:custGeom>
          <a:solidFill>
            <a:srgbClr val="F47C20">
              <a:alpha val="20000"/>
            </a:srgbClr>
          </a:solidFill>
          <a:ln/>
        </p:spPr>
      </p:sp>
      <p:sp>
        <p:nvSpPr>
          <p:cNvPr id="6" name="Shape 4"/>
          <p:cNvSpPr/>
          <p:nvPr/>
        </p:nvSpPr>
        <p:spPr>
          <a:xfrm>
            <a:off x="559587" y="1234653"/>
            <a:ext cx="135228" cy="154546"/>
          </a:xfrm>
          <a:custGeom>
            <a:avLst/>
            <a:gdLst/>
            <a:ahLst/>
            <a:cxnLst/>
            <a:rect l="l" t="t" r="r" b="b"/>
            <a:pathLst>
              <a:path w="135228" h="154546">
                <a:moveTo>
                  <a:pt x="135228" y="62120"/>
                </a:moveTo>
                <a:cubicBezTo>
                  <a:pt x="130761" y="65079"/>
                  <a:pt x="125629" y="67463"/>
                  <a:pt x="120287" y="69365"/>
                </a:cubicBezTo>
                <a:cubicBezTo>
                  <a:pt x="106100" y="74436"/>
                  <a:pt x="87476" y="77273"/>
                  <a:pt x="67614" y="77273"/>
                </a:cubicBezTo>
                <a:cubicBezTo>
                  <a:pt x="47752" y="77273"/>
                  <a:pt x="29098" y="74406"/>
                  <a:pt x="14942" y="69365"/>
                </a:cubicBezTo>
                <a:cubicBezTo>
                  <a:pt x="9629" y="67463"/>
                  <a:pt x="4467" y="65079"/>
                  <a:pt x="0" y="62120"/>
                </a:cubicBezTo>
                <a:lnTo>
                  <a:pt x="0" y="86932"/>
                </a:lnTo>
                <a:cubicBezTo>
                  <a:pt x="0" y="100274"/>
                  <a:pt x="30275" y="111080"/>
                  <a:pt x="67614" y="111080"/>
                </a:cubicBezTo>
                <a:cubicBezTo>
                  <a:pt x="104953" y="111080"/>
                  <a:pt x="135228" y="100274"/>
                  <a:pt x="135228" y="86932"/>
                </a:cubicBezTo>
                <a:lnTo>
                  <a:pt x="135228" y="62120"/>
                </a:lnTo>
                <a:close/>
                <a:moveTo>
                  <a:pt x="135228" y="38637"/>
                </a:moveTo>
                <a:lnTo>
                  <a:pt x="135228" y="24148"/>
                </a:lnTo>
                <a:cubicBezTo>
                  <a:pt x="135228" y="10806"/>
                  <a:pt x="104953" y="0"/>
                  <a:pt x="67614" y="0"/>
                </a:cubicBezTo>
                <a:cubicBezTo>
                  <a:pt x="30275" y="0"/>
                  <a:pt x="0" y="10806"/>
                  <a:pt x="0" y="24148"/>
                </a:cubicBezTo>
                <a:lnTo>
                  <a:pt x="0" y="38637"/>
                </a:lnTo>
                <a:cubicBezTo>
                  <a:pt x="0" y="51978"/>
                  <a:pt x="30275" y="62785"/>
                  <a:pt x="67614" y="62785"/>
                </a:cubicBezTo>
                <a:cubicBezTo>
                  <a:pt x="104953" y="62785"/>
                  <a:pt x="135228" y="51978"/>
                  <a:pt x="135228" y="38637"/>
                </a:cubicBezTo>
                <a:close/>
                <a:moveTo>
                  <a:pt x="120287" y="117661"/>
                </a:moveTo>
                <a:cubicBezTo>
                  <a:pt x="106130" y="122701"/>
                  <a:pt x="87506" y="125569"/>
                  <a:pt x="67614" y="125569"/>
                </a:cubicBezTo>
                <a:cubicBezTo>
                  <a:pt x="47722" y="125569"/>
                  <a:pt x="29098" y="122701"/>
                  <a:pt x="14942" y="117661"/>
                </a:cubicBezTo>
                <a:cubicBezTo>
                  <a:pt x="9629" y="115759"/>
                  <a:pt x="4467" y="113374"/>
                  <a:pt x="0" y="110416"/>
                </a:cubicBezTo>
                <a:lnTo>
                  <a:pt x="0" y="130399"/>
                </a:lnTo>
                <a:cubicBezTo>
                  <a:pt x="0" y="143740"/>
                  <a:pt x="30275" y="154546"/>
                  <a:pt x="67614" y="154546"/>
                </a:cubicBezTo>
                <a:cubicBezTo>
                  <a:pt x="104953" y="154546"/>
                  <a:pt x="135228" y="143740"/>
                  <a:pt x="135228" y="130399"/>
                </a:cubicBezTo>
                <a:lnTo>
                  <a:pt x="135228" y="110416"/>
                </a:lnTo>
                <a:cubicBezTo>
                  <a:pt x="130761" y="113374"/>
                  <a:pt x="125629" y="115759"/>
                  <a:pt x="120287" y="117661"/>
                </a:cubicBezTo>
                <a:close/>
              </a:path>
            </a:pathLst>
          </a:custGeom>
          <a:solidFill>
            <a:srgbClr val="F47C20"/>
          </a:solidFill>
          <a:ln/>
        </p:spPr>
      </p:sp>
      <p:sp>
        <p:nvSpPr>
          <p:cNvPr id="7" name="Text 5"/>
          <p:cNvSpPr/>
          <p:nvPr/>
        </p:nvSpPr>
        <p:spPr>
          <a:xfrm>
            <a:off x="899804" y="1191723"/>
            <a:ext cx="2017690" cy="240406"/>
          </a:xfrm>
          <a:prstGeom prst="rect">
            <a:avLst/>
          </a:prstGeom>
          <a:noFill/>
          <a:ln/>
        </p:spPr>
        <p:txBody>
          <a:bodyPr wrap="square" lIns="0" tIns="0" rIns="0" bIns="0" rtlCol="0" anchor="ctr"/>
          <a:lstStyle/>
          <a:p>
            <a:pPr>
              <a:lnSpc>
                <a:spcPct val="120000"/>
              </a:lnSpc>
            </a:pPr>
            <a:r>
              <a:rPr lang="en-US" sz="1352" b="1" dirty="0">
                <a:solidFill>
                  <a:srgbClr val="E8EAED"/>
                </a:solidFill>
                <a:latin typeface="Liter" pitchFamily="34" charset="0"/>
                <a:ea typeface="Liter" pitchFamily="34" charset="-122"/>
                <a:cs typeface="Liter" pitchFamily="34" charset="-120"/>
              </a:rPr>
              <a:t>Step 1: Create Data Group</a:t>
            </a:r>
            <a:endParaRPr lang="en-US" sz="1600" dirty="0"/>
          </a:p>
        </p:txBody>
      </p:sp>
      <p:sp>
        <p:nvSpPr>
          <p:cNvPr id="8" name="Text 6"/>
          <p:cNvSpPr/>
          <p:nvPr/>
        </p:nvSpPr>
        <p:spPr>
          <a:xfrm>
            <a:off x="453336" y="1586676"/>
            <a:ext cx="5555087" cy="446468"/>
          </a:xfrm>
          <a:prstGeom prst="rect">
            <a:avLst/>
          </a:prstGeom>
          <a:noFill/>
          <a:ln/>
        </p:spPr>
        <p:txBody>
          <a:bodyPr wrap="square" lIns="0" tIns="0" rIns="0" bIns="0" rtlCol="0" anchor="ctr"/>
          <a:lstStyle/>
          <a:p>
            <a:pPr>
              <a:lnSpc>
                <a:spcPct val="140000"/>
              </a:lnSpc>
            </a:pPr>
            <a:r>
              <a:rPr lang="en-US" sz="1082" dirty="0">
                <a:solidFill>
                  <a:srgbClr val="E8EAED">
                    <a:alpha val="80000"/>
                  </a:srgbClr>
                </a:solidFill>
                <a:latin typeface="Liter" pitchFamily="34" charset="0"/>
                <a:ea typeface="Liter" pitchFamily="34" charset="-122"/>
                <a:cs typeface="Liter" pitchFamily="34" charset="-120"/>
              </a:rPr>
              <a:t>Create an internal data group to store Cloudflare Aegis IP addresses. This allows easy management and updates without modifying the iRule.</a:t>
            </a:r>
            <a:endParaRPr lang="en-US" sz="1600" dirty="0"/>
          </a:p>
        </p:txBody>
      </p:sp>
      <p:sp>
        <p:nvSpPr>
          <p:cNvPr id="9" name="Shape 7"/>
          <p:cNvSpPr/>
          <p:nvPr/>
        </p:nvSpPr>
        <p:spPr>
          <a:xfrm>
            <a:off x="463639" y="2136174"/>
            <a:ext cx="5470945" cy="1991932"/>
          </a:xfrm>
          <a:custGeom>
            <a:avLst/>
            <a:gdLst/>
            <a:ahLst/>
            <a:cxnLst/>
            <a:rect l="l" t="t" r="r" b="b"/>
            <a:pathLst>
              <a:path w="5470945" h="1991932">
                <a:moveTo>
                  <a:pt x="20606" y="0"/>
                </a:moveTo>
                <a:lnTo>
                  <a:pt x="5402264" y="0"/>
                </a:lnTo>
                <a:cubicBezTo>
                  <a:pt x="5440195" y="0"/>
                  <a:pt x="5470945" y="30750"/>
                  <a:pt x="5470945" y="68682"/>
                </a:cubicBezTo>
                <a:lnTo>
                  <a:pt x="5470945" y="1923251"/>
                </a:lnTo>
                <a:cubicBezTo>
                  <a:pt x="5470945" y="1961182"/>
                  <a:pt x="5440195" y="1991932"/>
                  <a:pt x="5402264" y="1991932"/>
                </a:cubicBezTo>
                <a:lnTo>
                  <a:pt x="20606" y="1991932"/>
                </a:lnTo>
                <a:cubicBezTo>
                  <a:pt x="9226" y="1991932"/>
                  <a:pt x="0" y="1982707"/>
                  <a:pt x="0" y="1971326"/>
                </a:cubicBezTo>
                <a:lnTo>
                  <a:pt x="0" y="20606"/>
                </a:lnTo>
                <a:cubicBezTo>
                  <a:pt x="0" y="9226"/>
                  <a:pt x="9226" y="0"/>
                  <a:pt x="20606" y="0"/>
                </a:cubicBezTo>
                <a:close/>
              </a:path>
            </a:pathLst>
          </a:custGeom>
          <a:solidFill>
            <a:srgbClr val="1A1D21">
              <a:alpha val="90196"/>
            </a:srgbClr>
          </a:solidFill>
          <a:ln/>
        </p:spPr>
      </p:sp>
      <p:sp>
        <p:nvSpPr>
          <p:cNvPr id="10" name="Shape 8"/>
          <p:cNvSpPr/>
          <p:nvPr/>
        </p:nvSpPr>
        <p:spPr>
          <a:xfrm>
            <a:off x="463639" y="2136174"/>
            <a:ext cx="20606" cy="1991932"/>
          </a:xfrm>
          <a:custGeom>
            <a:avLst/>
            <a:gdLst/>
            <a:ahLst/>
            <a:cxnLst/>
            <a:rect l="l" t="t" r="r" b="b"/>
            <a:pathLst>
              <a:path w="20606" h="1991932">
                <a:moveTo>
                  <a:pt x="20606" y="0"/>
                </a:moveTo>
                <a:lnTo>
                  <a:pt x="20606" y="0"/>
                </a:lnTo>
                <a:lnTo>
                  <a:pt x="20606" y="1991932"/>
                </a:lnTo>
                <a:lnTo>
                  <a:pt x="20606" y="1991932"/>
                </a:lnTo>
                <a:cubicBezTo>
                  <a:pt x="9226" y="1991932"/>
                  <a:pt x="0" y="1982707"/>
                  <a:pt x="0" y="1971326"/>
                </a:cubicBezTo>
                <a:lnTo>
                  <a:pt x="0" y="20606"/>
                </a:lnTo>
                <a:cubicBezTo>
                  <a:pt x="0" y="9233"/>
                  <a:pt x="9233" y="0"/>
                  <a:pt x="20606" y="0"/>
                </a:cubicBezTo>
                <a:close/>
              </a:path>
            </a:pathLst>
          </a:custGeom>
          <a:solidFill>
            <a:srgbClr val="F47C20"/>
          </a:solidFill>
          <a:ln/>
        </p:spPr>
      </p:sp>
      <p:sp>
        <p:nvSpPr>
          <p:cNvPr id="11" name="Text 9"/>
          <p:cNvSpPr/>
          <p:nvPr/>
        </p:nvSpPr>
        <p:spPr>
          <a:xfrm>
            <a:off x="576974" y="2239205"/>
            <a:ext cx="5314682" cy="171718"/>
          </a:xfrm>
          <a:prstGeom prst="rect">
            <a:avLst/>
          </a:prstGeom>
          <a:noFill/>
          <a:ln/>
        </p:spPr>
        <p:txBody>
          <a:bodyPr wrap="square" lIns="0" tIns="0" rIns="0" bIns="0" rtlCol="0" anchor="ctr"/>
          <a:lstStyle/>
          <a:p>
            <a:pPr>
              <a:lnSpc>
                <a:spcPct val="120000"/>
              </a:lnSpc>
            </a:pPr>
            <a:r>
              <a:rPr lang="en-US" sz="946" b="1" dirty="0">
                <a:solidFill>
                  <a:srgbClr val="F47C20"/>
                </a:solidFill>
                <a:latin typeface="MiSans" pitchFamily="34" charset="0"/>
                <a:ea typeface="MiSans" pitchFamily="34" charset="-122"/>
                <a:cs typeface="MiSans" pitchFamily="34" charset="-120"/>
              </a:rPr>
              <a:t># Create Data Group via TMSH</a:t>
            </a:r>
            <a:endParaRPr lang="en-US" sz="1600" dirty="0"/>
          </a:p>
        </p:txBody>
      </p:sp>
      <p:sp>
        <p:nvSpPr>
          <p:cNvPr id="12" name="Text 10"/>
          <p:cNvSpPr/>
          <p:nvPr/>
        </p:nvSpPr>
        <p:spPr>
          <a:xfrm>
            <a:off x="576974" y="2479611"/>
            <a:ext cx="5314682" cy="1545465"/>
          </a:xfrm>
          <a:prstGeom prst="rect">
            <a:avLst/>
          </a:prstGeom>
          <a:noFill/>
          <a:ln/>
        </p:spPr>
        <p:txBody>
          <a:bodyPr wrap="square" lIns="0" tIns="0" rIns="0" bIns="0" rtlCol="0" anchor="ctr"/>
          <a:lstStyle/>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create ltm data-group internal DG-CF-AEGIS-IPLIST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type ip</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records add {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104.28.0.85 {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104.28.0.86{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2a09:bac5:fff0::24::/64 {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2a09:bac6:fff0::24::/64 {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a:t>
            </a:r>
            <a:endParaRPr lang="en-US" sz="1600" dirty="0"/>
          </a:p>
        </p:txBody>
      </p:sp>
      <p:sp>
        <p:nvSpPr>
          <p:cNvPr id="13" name="Shape 11"/>
          <p:cNvSpPr/>
          <p:nvPr/>
        </p:nvSpPr>
        <p:spPr>
          <a:xfrm>
            <a:off x="456771" y="4234572"/>
            <a:ext cx="5476097" cy="1174553"/>
          </a:xfrm>
          <a:custGeom>
            <a:avLst/>
            <a:gdLst/>
            <a:ahLst/>
            <a:cxnLst/>
            <a:rect l="l" t="t" r="r" b="b"/>
            <a:pathLst>
              <a:path w="5476097" h="1174553">
                <a:moveTo>
                  <a:pt x="68688" y="0"/>
                </a:moveTo>
                <a:lnTo>
                  <a:pt x="5407409" y="0"/>
                </a:lnTo>
                <a:cubicBezTo>
                  <a:pt x="5445344" y="0"/>
                  <a:pt x="5476097" y="30753"/>
                  <a:pt x="5476097" y="68688"/>
                </a:cubicBezTo>
                <a:lnTo>
                  <a:pt x="5476097" y="1105865"/>
                </a:lnTo>
                <a:cubicBezTo>
                  <a:pt x="5476097" y="1143801"/>
                  <a:pt x="5445344" y="1174553"/>
                  <a:pt x="5407409" y="1174553"/>
                </a:cubicBezTo>
                <a:lnTo>
                  <a:pt x="68688" y="1174553"/>
                </a:lnTo>
                <a:cubicBezTo>
                  <a:pt x="30753" y="1174553"/>
                  <a:pt x="0" y="1143801"/>
                  <a:pt x="0" y="1105865"/>
                </a:cubicBezTo>
                <a:lnTo>
                  <a:pt x="0" y="68688"/>
                </a:lnTo>
                <a:cubicBezTo>
                  <a:pt x="0" y="30778"/>
                  <a:pt x="30778" y="0"/>
                  <a:pt x="68688" y="0"/>
                </a:cubicBezTo>
                <a:close/>
              </a:path>
            </a:pathLst>
          </a:custGeom>
          <a:solidFill>
            <a:srgbClr val="00A4E0">
              <a:alpha val="10196"/>
            </a:srgbClr>
          </a:solidFill>
          <a:ln w="10160">
            <a:solidFill>
              <a:srgbClr val="00A4E0">
                <a:alpha val="30196"/>
              </a:srgbClr>
            </a:solidFill>
            <a:prstDash val="solid"/>
          </a:ln>
        </p:spPr>
      </p:sp>
      <p:sp>
        <p:nvSpPr>
          <p:cNvPr id="14" name="Shape 12"/>
          <p:cNvSpPr/>
          <p:nvPr/>
        </p:nvSpPr>
        <p:spPr>
          <a:xfrm>
            <a:off x="597580" y="4368512"/>
            <a:ext cx="103031" cy="137375"/>
          </a:xfrm>
          <a:custGeom>
            <a:avLst/>
            <a:gdLst/>
            <a:ahLst/>
            <a:cxnLst/>
            <a:rect l="l" t="t" r="r" b="b"/>
            <a:pathLst>
              <a:path w="103031" h="137375">
                <a:moveTo>
                  <a:pt x="78588" y="103031"/>
                </a:moveTo>
                <a:cubicBezTo>
                  <a:pt x="80547" y="97048"/>
                  <a:pt x="84464" y="91628"/>
                  <a:pt x="88891" y="86959"/>
                </a:cubicBezTo>
                <a:cubicBezTo>
                  <a:pt x="97665" y="77729"/>
                  <a:pt x="103031" y="65253"/>
                  <a:pt x="103031" y="51515"/>
                </a:cubicBezTo>
                <a:cubicBezTo>
                  <a:pt x="103031" y="23075"/>
                  <a:pt x="79956" y="0"/>
                  <a:pt x="51515" y="0"/>
                </a:cubicBezTo>
                <a:cubicBezTo>
                  <a:pt x="23075" y="0"/>
                  <a:pt x="0" y="23075"/>
                  <a:pt x="0" y="51515"/>
                </a:cubicBezTo>
                <a:cubicBezTo>
                  <a:pt x="0" y="65253"/>
                  <a:pt x="5366" y="77729"/>
                  <a:pt x="14140" y="86959"/>
                </a:cubicBezTo>
                <a:cubicBezTo>
                  <a:pt x="18567" y="91628"/>
                  <a:pt x="22511" y="97048"/>
                  <a:pt x="24443" y="103031"/>
                </a:cubicBezTo>
                <a:lnTo>
                  <a:pt x="78561" y="103031"/>
                </a:lnTo>
                <a:close/>
                <a:moveTo>
                  <a:pt x="77273" y="115910"/>
                </a:moveTo>
                <a:lnTo>
                  <a:pt x="25758" y="115910"/>
                </a:lnTo>
                <a:lnTo>
                  <a:pt x="25758" y="120203"/>
                </a:lnTo>
                <a:cubicBezTo>
                  <a:pt x="25758" y="132062"/>
                  <a:pt x="35363" y="141668"/>
                  <a:pt x="47223" y="141668"/>
                </a:cubicBezTo>
                <a:lnTo>
                  <a:pt x="55808" y="141668"/>
                </a:lnTo>
                <a:cubicBezTo>
                  <a:pt x="67668" y="141668"/>
                  <a:pt x="77273" y="132062"/>
                  <a:pt x="77273" y="120203"/>
                </a:cubicBezTo>
                <a:lnTo>
                  <a:pt x="77273" y="115910"/>
                </a:lnTo>
                <a:close/>
                <a:moveTo>
                  <a:pt x="49369" y="30051"/>
                </a:moveTo>
                <a:cubicBezTo>
                  <a:pt x="38690" y="30051"/>
                  <a:pt x="30051" y="38690"/>
                  <a:pt x="30051" y="49369"/>
                </a:cubicBezTo>
                <a:cubicBezTo>
                  <a:pt x="30051" y="52938"/>
                  <a:pt x="27180" y="55808"/>
                  <a:pt x="23611" y="55808"/>
                </a:cubicBezTo>
                <a:cubicBezTo>
                  <a:pt x="20043" y="55808"/>
                  <a:pt x="17172" y="52938"/>
                  <a:pt x="17172" y="49369"/>
                </a:cubicBezTo>
                <a:cubicBezTo>
                  <a:pt x="17172" y="31580"/>
                  <a:pt x="31580" y="17172"/>
                  <a:pt x="49369" y="17172"/>
                </a:cubicBezTo>
                <a:cubicBezTo>
                  <a:pt x="52938" y="17172"/>
                  <a:pt x="55808" y="20043"/>
                  <a:pt x="55808" y="23611"/>
                </a:cubicBezTo>
                <a:cubicBezTo>
                  <a:pt x="55808" y="27180"/>
                  <a:pt x="52938" y="30051"/>
                  <a:pt x="49369" y="30051"/>
                </a:cubicBezTo>
                <a:close/>
              </a:path>
            </a:pathLst>
          </a:custGeom>
          <a:solidFill>
            <a:srgbClr val="00A4E0"/>
          </a:solidFill>
          <a:ln/>
        </p:spPr>
      </p:sp>
      <p:sp>
        <p:nvSpPr>
          <p:cNvPr id="15" name="Text 13"/>
          <p:cNvSpPr/>
          <p:nvPr/>
        </p:nvSpPr>
        <p:spPr>
          <a:xfrm>
            <a:off x="781391" y="4341036"/>
            <a:ext cx="5113699" cy="206062"/>
          </a:xfrm>
          <a:prstGeom prst="rect">
            <a:avLst/>
          </a:prstGeom>
          <a:noFill/>
          <a:ln/>
        </p:spPr>
        <p:txBody>
          <a:bodyPr wrap="square" lIns="0" tIns="0" rIns="0" bIns="0" rtlCol="0" anchor="ctr"/>
          <a:lstStyle/>
          <a:p>
            <a:pPr>
              <a:lnSpc>
                <a:spcPct val="130000"/>
              </a:lnSpc>
            </a:pPr>
            <a:r>
              <a:rPr lang="en-US" sz="1082" b="1" dirty="0">
                <a:solidFill>
                  <a:srgbClr val="E8EAED"/>
                </a:solidFill>
                <a:latin typeface="Liter" pitchFamily="34" charset="0"/>
                <a:ea typeface="Liter" pitchFamily="34" charset="-122"/>
                <a:cs typeface="Liter" pitchFamily="34" charset="-120"/>
              </a:rPr>
              <a:t>Data Group Benefits</a:t>
            </a:r>
            <a:endParaRPr lang="en-US" sz="1600" dirty="0"/>
          </a:p>
        </p:txBody>
      </p:sp>
      <p:sp>
        <p:nvSpPr>
          <p:cNvPr id="16" name="Shape 14"/>
          <p:cNvSpPr/>
          <p:nvPr/>
        </p:nvSpPr>
        <p:spPr>
          <a:xfrm>
            <a:off x="588994" y="4650128"/>
            <a:ext cx="120203" cy="137375"/>
          </a:xfrm>
          <a:custGeom>
            <a:avLst/>
            <a:gdLst/>
            <a:ahLst/>
            <a:cxnLst/>
            <a:rect l="l" t="t" r="r" b="b"/>
            <a:pathLst>
              <a:path w="120203" h="137375">
                <a:moveTo>
                  <a:pt x="116661" y="18809"/>
                </a:moveTo>
                <a:cubicBezTo>
                  <a:pt x="120498" y="21599"/>
                  <a:pt x="121357" y="26965"/>
                  <a:pt x="118566" y="30802"/>
                </a:cubicBezTo>
                <a:lnTo>
                  <a:pt x="49879" y="125247"/>
                </a:lnTo>
                <a:cubicBezTo>
                  <a:pt x="48403" y="127286"/>
                  <a:pt x="46122" y="128547"/>
                  <a:pt x="43600" y="128762"/>
                </a:cubicBezTo>
                <a:cubicBezTo>
                  <a:pt x="41078" y="128977"/>
                  <a:pt x="38637" y="128037"/>
                  <a:pt x="36866" y="126267"/>
                </a:cubicBezTo>
                <a:lnTo>
                  <a:pt x="2522" y="91923"/>
                </a:lnTo>
                <a:cubicBezTo>
                  <a:pt x="-832" y="88569"/>
                  <a:pt x="-832" y="83122"/>
                  <a:pt x="2522" y="79769"/>
                </a:cubicBezTo>
                <a:cubicBezTo>
                  <a:pt x="5876" y="76415"/>
                  <a:pt x="11323" y="76415"/>
                  <a:pt x="14677" y="79769"/>
                </a:cubicBezTo>
                <a:lnTo>
                  <a:pt x="41910" y="107002"/>
                </a:lnTo>
                <a:lnTo>
                  <a:pt x="104695" y="20687"/>
                </a:lnTo>
                <a:cubicBezTo>
                  <a:pt x="107485" y="16850"/>
                  <a:pt x="112851" y="15991"/>
                  <a:pt x="116688" y="18782"/>
                </a:cubicBezTo>
                <a:close/>
              </a:path>
            </a:pathLst>
          </a:custGeom>
          <a:solidFill>
            <a:srgbClr val="00A4E0"/>
          </a:solidFill>
          <a:ln/>
        </p:spPr>
      </p:sp>
      <p:sp>
        <p:nvSpPr>
          <p:cNvPr id="17" name="Text 15"/>
          <p:cNvSpPr/>
          <p:nvPr/>
        </p:nvSpPr>
        <p:spPr>
          <a:xfrm>
            <a:off x="803642" y="4615785"/>
            <a:ext cx="2077792" cy="206062"/>
          </a:xfrm>
          <a:prstGeom prst="rect">
            <a:avLst/>
          </a:prstGeom>
          <a:noFill/>
          <a:ln/>
        </p:spPr>
        <p:txBody>
          <a:bodyPr wrap="square" lIns="0" tIns="0" rIns="0" bIns="0" rtlCol="0" anchor="ctr"/>
          <a:lstStyle/>
          <a:p>
            <a:pPr>
              <a:lnSpc>
                <a:spcPct val="130000"/>
              </a:lnSpc>
            </a:pPr>
            <a:r>
              <a:rPr lang="en-US" sz="1082" dirty="0">
                <a:solidFill>
                  <a:srgbClr val="E8EAED">
                    <a:alpha val="80000"/>
                  </a:srgbClr>
                </a:solidFill>
                <a:latin typeface="Liter" pitchFamily="34" charset="0"/>
                <a:ea typeface="Liter" pitchFamily="34" charset="-122"/>
                <a:cs typeface="Liter" pitchFamily="34" charset="-120"/>
              </a:rPr>
              <a:t>Update IPs without iRule changes</a:t>
            </a:r>
            <a:endParaRPr lang="en-US" sz="1600" dirty="0"/>
          </a:p>
        </p:txBody>
      </p:sp>
      <p:sp>
        <p:nvSpPr>
          <p:cNvPr id="18" name="Shape 16"/>
          <p:cNvSpPr/>
          <p:nvPr/>
        </p:nvSpPr>
        <p:spPr>
          <a:xfrm>
            <a:off x="588994" y="4890534"/>
            <a:ext cx="120203" cy="137375"/>
          </a:xfrm>
          <a:custGeom>
            <a:avLst/>
            <a:gdLst/>
            <a:ahLst/>
            <a:cxnLst/>
            <a:rect l="l" t="t" r="r" b="b"/>
            <a:pathLst>
              <a:path w="120203" h="137375">
                <a:moveTo>
                  <a:pt x="116661" y="18809"/>
                </a:moveTo>
                <a:cubicBezTo>
                  <a:pt x="120498" y="21599"/>
                  <a:pt x="121357" y="26965"/>
                  <a:pt x="118566" y="30802"/>
                </a:cubicBezTo>
                <a:lnTo>
                  <a:pt x="49879" y="125247"/>
                </a:lnTo>
                <a:cubicBezTo>
                  <a:pt x="48403" y="127286"/>
                  <a:pt x="46122" y="128547"/>
                  <a:pt x="43600" y="128762"/>
                </a:cubicBezTo>
                <a:cubicBezTo>
                  <a:pt x="41078" y="128977"/>
                  <a:pt x="38637" y="128037"/>
                  <a:pt x="36866" y="126267"/>
                </a:cubicBezTo>
                <a:lnTo>
                  <a:pt x="2522" y="91923"/>
                </a:lnTo>
                <a:cubicBezTo>
                  <a:pt x="-832" y="88569"/>
                  <a:pt x="-832" y="83122"/>
                  <a:pt x="2522" y="79769"/>
                </a:cubicBezTo>
                <a:cubicBezTo>
                  <a:pt x="5876" y="76415"/>
                  <a:pt x="11323" y="76415"/>
                  <a:pt x="14677" y="79769"/>
                </a:cubicBezTo>
                <a:lnTo>
                  <a:pt x="41910" y="107002"/>
                </a:lnTo>
                <a:lnTo>
                  <a:pt x="104695" y="20687"/>
                </a:lnTo>
                <a:cubicBezTo>
                  <a:pt x="107485" y="16850"/>
                  <a:pt x="112851" y="15991"/>
                  <a:pt x="116688" y="18782"/>
                </a:cubicBezTo>
                <a:close/>
              </a:path>
            </a:pathLst>
          </a:custGeom>
          <a:solidFill>
            <a:srgbClr val="00A4E0"/>
          </a:solidFill>
          <a:ln/>
        </p:spPr>
      </p:sp>
      <p:sp>
        <p:nvSpPr>
          <p:cNvPr id="19" name="Text 17"/>
          <p:cNvSpPr/>
          <p:nvPr/>
        </p:nvSpPr>
        <p:spPr>
          <a:xfrm>
            <a:off x="803642" y="4856190"/>
            <a:ext cx="1734355" cy="206062"/>
          </a:xfrm>
          <a:prstGeom prst="rect">
            <a:avLst/>
          </a:prstGeom>
          <a:noFill/>
          <a:ln/>
        </p:spPr>
        <p:txBody>
          <a:bodyPr wrap="square" lIns="0" tIns="0" rIns="0" bIns="0" rtlCol="0" anchor="ctr"/>
          <a:lstStyle/>
          <a:p>
            <a:pPr>
              <a:lnSpc>
                <a:spcPct val="130000"/>
              </a:lnSpc>
            </a:pPr>
            <a:r>
              <a:rPr lang="en-US" sz="1082" dirty="0">
                <a:solidFill>
                  <a:srgbClr val="E8EAED">
                    <a:alpha val="80000"/>
                  </a:srgbClr>
                </a:solidFill>
                <a:latin typeface="Liter" pitchFamily="34" charset="0"/>
                <a:ea typeface="Liter" pitchFamily="34" charset="-122"/>
                <a:cs typeface="Liter" pitchFamily="34" charset="-120"/>
              </a:rPr>
              <a:t>Centralized IP management</a:t>
            </a:r>
            <a:endParaRPr lang="en-US" sz="1600" dirty="0"/>
          </a:p>
        </p:txBody>
      </p:sp>
      <p:sp>
        <p:nvSpPr>
          <p:cNvPr id="20" name="Shape 18"/>
          <p:cNvSpPr/>
          <p:nvPr/>
        </p:nvSpPr>
        <p:spPr>
          <a:xfrm>
            <a:off x="588994" y="5130940"/>
            <a:ext cx="120203" cy="137375"/>
          </a:xfrm>
          <a:custGeom>
            <a:avLst/>
            <a:gdLst/>
            <a:ahLst/>
            <a:cxnLst/>
            <a:rect l="l" t="t" r="r" b="b"/>
            <a:pathLst>
              <a:path w="120203" h="137375">
                <a:moveTo>
                  <a:pt x="116661" y="18809"/>
                </a:moveTo>
                <a:cubicBezTo>
                  <a:pt x="120498" y="21599"/>
                  <a:pt x="121357" y="26965"/>
                  <a:pt x="118566" y="30802"/>
                </a:cubicBezTo>
                <a:lnTo>
                  <a:pt x="49879" y="125247"/>
                </a:lnTo>
                <a:cubicBezTo>
                  <a:pt x="48403" y="127286"/>
                  <a:pt x="46122" y="128547"/>
                  <a:pt x="43600" y="128762"/>
                </a:cubicBezTo>
                <a:cubicBezTo>
                  <a:pt x="41078" y="128977"/>
                  <a:pt x="38637" y="128037"/>
                  <a:pt x="36866" y="126267"/>
                </a:cubicBezTo>
                <a:lnTo>
                  <a:pt x="2522" y="91923"/>
                </a:lnTo>
                <a:cubicBezTo>
                  <a:pt x="-832" y="88569"/>
                  <a:pt x="-832" y="83122"/>
                  <a:pt x="2522" y="79769"/>
                </a:cubicBezTo>
                <a:cubicBezTo>
                  <a:pt x="5876" y="76415"/>
                  <a:pt x="11323" y="76415"/>
                  <a:pt x="14677" y="79769"/>
                </a:cubicBezTo>
                <a:lnTo>
                  <a:pt x="41910" y="107002"/>
                </a:lnTo>
                <a:lnTo>
                  <a:pt x="104695" y="20687"/>
                </a:lnTo>
                <a:cubicBezTo>
                  <a:pt x="107485" y="16850"/>
                  <a:pt x="112851" y="15991"/>
                  <a:pt x="116688" y="18782"/>
                </a:cubicBezTo>
                <a:close/>
              </a:path>
            </a:pathLst>
          </a:custGeom>
          <a:solidFill>
            <a:srgbClr val="00A4E0"/>
          </a:solidFill>
          <a:ln/>
        </p:spPr>
      </p:sp>
      <p:sp>
        <p:nvSpPr>
          <p:cNvPr id="21" name="Text 19"/>
          <p:cNvSpPr/>
          <p:nvPr/>
        </p:nvSpPr>
        <p:spPr>
          <a:xfrm>
            <a:off x="803642" y="5096596"/>
            <a:ext cx="2034862" cy="206062"/>
          </a:xfrm>
          <a:prstGeom prst="rect">
            <a:avLst/>
          </a:prstGeom>
          <a:noFill/>
          <a:ln/>
        </p:spPr>
        <p:txBody>
          <a:bodyPr wrap="square" lIns="0" tIns="0" rIns="0" bIns="0" rtlCol="0" anchor="ctr"/>
          <a:lstStyle/>
          <a:p>
            <a:pPr>
              <a:lnSpc>
                <a:spcPct val="130000"/>
              </a:lnSpc>
            </a:pPr>
            <a:r>
              <a:rPr lang="en-US" sz="1082" dirty="0">
                <a:solidFill>
                  <a:srgbClr val="E8EAED">
                    <a:alpha val="80000"/>
                  </a:srgbClr>
                </a:solidFill>
                <a:latin typeface="Liter" pitchFamily="34" charset="0"/>
                <a:ea typeface="Liter" pitchFamily="34" charset="-122"/>
                <a:cs typeface="Liter" pitchFamily="34" charset="-120"/>
              </a:rPr>
              <a:t>Type "ip" enables CIDR matching</a:t>
            </a:r>
            <a:endParaRPr lang="en-US" sz="1600" dirty="0"/>
          </a:p>
        </p:txBody>
      </p:sp>
      <p:sp>
        <p:nvSpPr>
          <p:cNvPr id="22" name="Shape 20"/>
          <p:cNvSpPr/>
          <p:nvPr/>
        </p:nvSpPr>
        <p:spPr>
          <a:xfrm>
            <a:off x="6152775" y="1033744"/>
            <a:ext cx="5699331" cy="4128108"/>
          </a:xfrm>
          <a:custGeom>
            <a:avLst/>
            <a:gdLst/>
            <a:ahLst/>
            <a:cxnLst/>
            <a:rect l="l" t="t" r="r" b="b"/>
            <a:pathLst>
              <a:path w="5699331" h="4128108">
                <a:moveTo>
                  <a:pt x="103038" y="0"/>
                </a:moveTo>
                <a:lnTo>
                  <a:pt x="5596293" y="0"/>
                </a:lnTo>
                <a:cubicBezTo>
                  <a:pt x="5653199" y="0"/>
                  <a:pt x="5699331" y="46131"/>
                  <a:pt x="5699331" y="103038"/>
                </a:cubicBezTo>
                <a:lnTo>
                  <a:pt x="5699331" y="4025071"/>
                </a:lnTo>
                <a:cubicBezTo>
                  <a:pt x="5699331" y="4081977"/>
                  <a:pt x="5653199" y="4128108"/>
                  <a:pt x="5596293" y="4128108"/>
                </a:cubicBezTo>
                <a:lnTo>
                  <a:pt x="103038" y="4128108"/>
                </a:lnTo>
                <a:cubicBezTo>
                  <a:pt x="46131" y="4128108"/>
                  <a:pt x="0" y="4081977"/>
                  <a:pt x="0" y="4025071"/>
                </a:cubicBezTo>
                <a:lnTo>
                  <a:pt x="0" y="103038"/>
                </a:lnTo>
                <a:cubicBezTo>
                  <a:pt x="0" y="46170"/>
                  <a:pt x="46170" y="0"/>
                  <a:pt x="103038" y="0"/>
                </a:cubicBezTo>
                <a:close/>
              </a:path>
            </a:pathLst>
          </a:custGeom>
          <a:solidFill>
            <a:srgbClr val="48515E">
              <a:alpha val="20000"/>
            </a:srgbClr>
          </a:solidFill>
          <a:ln w="10160">
            <a:solidFill>
              <a:srgbClr val="48515E">
                <a:alpha val="40000"/>
              </a:srgbClr>
            </a:solidFill>
            <a:prstDash val="solid"/>
          </a:ln>
        </p:spPr>
      </p:sp>
      <p:sp>
        <p:nvSpPr>
          <p:cNvPr id="23" name="Shape 21"/>
          <p:cNvSpPr/>
          <p:nvPr/>
        </p:nvSpPr>
        <p:spPr>
          <a:xfrm>
            <a:off x="6259240" y="1140208"/>
            <a:ext cx="343437" cy="343437"/>
          </a:xfrm>
          <a:custGeom>
            <a:avLst/>
            <a:gdLst/>
            <a:ahLst/>
            <a:cxnLst/>
            <a:rect l="l" t="t" r="r" b="b"/>
            <a:pathLst>
              <a:path w="343437" h="343437">
                <a:moveTo>
                  <a:pt x="68687" y="0"/>
                </a:moveTo>
                <a:lnTo>
                  <a:pt x="274749" y="0"/>
                </a:lnTo>
                <a:cubicBezTo>
                  <a:pt x="312684" y="0"/>
                  <a:pt x="343437" y="30752"/>
                  <a:pt x="343437" y="68687"/>
                </a:cubicBezTo>
                <a:lnTo>
                  <a:pt x="343437" y="274749"/>
                </a:lnTo>
                <a:cubicBezTo>
                  <a:pt x="343437" y="312684"/>
                  <a:pt x="312684" y="343437"/>
                  <a:pt x="274749" y="343437"/>
                </a:cubicBezTo>
                <a:lnTo>
                  <a:pt x="68687" y="343437"/>
                </a:lnTo>
                <a:cubicBezTo>
                  <a:pt x="30752" y="343437"/>
                  <a:pt x="0" y="312684"/>
                  <a:pt x="0" y="274749"/>
                </a:cubicBezTo>
                <a:lnTo>
                  <a:pt x="0" y="68687"/>
                </a:lnTo>
                <a:cubicBezTo>
                  <a:pt x="0" y="30752"/>
                  <a:pt x="30752" y="0"/>
                  <a:pt x="68687" y="0"/>
                </a:cubicBezTo>
                <a:close/>
              </a:path>
            </a:pathLst>
          </a:custGeom>
          <a:solidFill>
            <a:srgbClr val="00A4E0">
              <a:alpha val="20000"/>
            </a:srgbClr>
          </a:solidFill>
          <a:ln/>
        </p:spPr>
      </p:sp>
      <p:sp>
        <p:nvSpPr>
          <p:cNvPr id="24" name="Shape 22"/>
          <p:cNvSpPr/>
          <p:nvPr/>
        </p:nvSpPr>
        <p:spPr>
          <a:xfrm>
            <a:off x="6346172" y="1234653"/>
            <a:ext cx="173865" cy="154546"/>
          </a:xfrm>
          <a:custGeom>
            <a:avLst/>
            <a:gdLst/>
            <a:ahLst/>
            <a:cxnLst/>
            <a:rect l="l" t="t" r="r" b="b"/>
            <a:pathLst>
              <a:path w="173865" h="154546">
                <a:moveTo>
                  <a:pt x="108907" y="362"/>
                </a:moveTo>
                <a:cubicBezTo>
                  <a:pt x="103776" y="-1117"/>
                  <a:pt x="98433" y="1871"/>
                  <a:pt x="96954" y="7003"/>
                </a:cubicBezTo>
                <a:lnTo>
                  <a:pt x="58317" y="142231"/>
                </a:lnTo>
                <a:cubicBezTo>
                  <a:pt x="56838" y="147362"/>
                  <a:pt x="59826" y="152705"/>
                  <a:pt x="64958" y="154184"/>
                </a:cubicBezTo>
                <a:cubicBezTo>
                  <a:pt x="70089" y="155663"/>
                  <a:pt x="75432" y="152675"/>
                  <a:pt x="76911" y="147544"/>
                </a:cubicBezTo>
                <a:lnTo>
                  <a:pt x="115548" y="12315"/>
                </a:lnTo>
                <a:cubicBezTo>
                  <a:pt x="117027" y="7184"/>
                  <a:pt x="114038" y="1841"/>
                  <a:pt x="108907" y="362"/>
                </a:cubicBezTo>
                <a:close/>
                <a:moveTo>
                  <a:pt x="128406" y="41444"/>
                </a:moveTo>
                <a:cubicBezTo>
                  <a:pt x="124633" y="45217"/>
                  <a:pt x="124633" y="51344"/>
                  <a:pt x="128406" y="55118"/>
                </a:cubicBezTo>
                <a:lnTo>
                  <a:pt x="150562" y="77273"/>
                </a:lnTo>
                <a:lnTo>
                  <a:pt x="128406" y="99429"/>
                </a:lnTo>
                <a:cubicBezTo>
                  <a:pt x="124633" y="103202"/>
                  <a:pt x="124633" y="109330"/>
                  <a:pt x="128406" y="113103"/>
                </a:cubicBezTo>
                <a:cubicBezTo>
                  <a:pt x="132179" y="116876"/>
                  <a:pt x="138307" y="116876"/>
                  <a:pt x="142080" y="113103"/>
                </a:cubicBezTo>
                <a:lnTo>
                  <a:pt x="171058" y="84125"/>
                </a:lnTo>
                <a:cubicBezTo>
                  <a:pt x="174831" y="80352"/>
                  <a:pt x="174831" y="74225"/>
                  <a:pt x="171058" y="70451"/>
                </a:cubicBezTo>
                <a:lnTo>
                  <a:pt x="142080" y="41474"/>
                </a:lnTo>
                <a:cubicBezTo>
                  <a:pt x="138307" y="37701"/>
                  <a:pt x="132179" y="37701"/>
                  <a:pt x="128406" y="41474"/>
                </a:cubicBezTo>
                <a:close/>
                <a:moveTo>
                  <a:pt x="45489" y="41444"/>
                </a:moveTo>
                <a:cubicBezTo>
                  <a:pt x="41715" y="37671"/>
                  <a:pt x="35588" y="37671"/>
                  <a:pt x="31815" y="41444"/>
                </a:cubicBezTo>
                <a:lnTo>
                  <a:pt x="2837" y="70421"/>
                </a:lnTo>
                <a:cubicBezTo>
                  <a:pt x="-936" y="74194"/>
                  <a:pt x="-936" y="80322"/>
                  <a:pt x="2837" y="84095"/>
                </a:cubicBezTo>
                <a:lnTo>
                  <a:pt x="31815" y="113072"/>
                </a:lnTo>
                <a:cubicBezTo>
                  <a:pt x="35588" y="116846"/>
                  <a:pt x="41715" y="116846"/>
                  <a:pt x="45489" y="113072"/>
                </a:cubicBezTo>
                <a:cubicBezTo>
                  <a:pt x="49262" y="109299"/>
                  <a:pt x="49262" y="103172"/>
                  <a:pt x="45489" y="99399"/>
                </a:cubicBezTo>
                <a:lnTo>
                  <a:pt x="23333" y="77273"/>
                </a:lnTo>
                <a:lnTo>
                  <a:pt x="45458" y="55118"/>
                </a:lnTo>
                <a:cubicBezTo>
                  <a:pt x="49232" y="51344"/>
                  <a:pt x="49232" y="45217"/>
                  <a:pt x="45458" y="41444"/>
                </a:cubicBezTo>
                <a:close/>
              </a:path>
            </a:pathLst>
          </a:custGeom>
          <a:solidFill>
            <a:srgbClr val="00A4E0"/>
          </a:solidFill>
          <a:ln/>
        </p:spPr>
      </p:sp>
      <p:sp>
        <p:nvSpPr>
          <p:cNvPr id="25" name="Text 23"/>
          <p:cNvSpPr/>
          <p:nvPr/>
        </p:nvSpPr>
        <p:spPr>
          <a:xfrm>
            <a:off x="6705707" y="1191723"/>
            <a:ext cx="1562637" cy="240406"/>
          </a:xfrm>
          <a:prstGeom prst="rect">
            <a:avLst/>
          </a:prstGeom>
          <a:noFill/>
          <a:ln/>
        </p:spPr>
        <p:txBody>
          <a:bodyPr wrap="square" lIns="0" tIns="0" rIns="0" bIns="0" rtlCol="0" anchor="ctr"/>
          <a:lstStyle/>
          <a:p>
            <a:pPr>
              <a:lnSpc>
                <a:spcPct val="120000"/>
              </a:lnSpc>
            </a:pPr>
            <a:r>
              <a:rPr lang="en-US" sz="1352" b="1" dirty="0">
                <a:solidFill>
                  <a:srgbClr val="E8EAED"/>
                </a:solidFill>
                <a:latin typeface="Liter" pitchFamily="34" charset="0"/>
                <a:ea typeface="Liter" pitchFamily="34" charset="-122"/>
                <a:cs typeface="Liter" pitchFamily="34" charset="-120"/>
              </a:rPr>
              <a:t>Step 2: Create iRule</a:t>
            </a:r>
            <a:endParaRPr lang="en-US" sz="1600" dirty="0"/>
          </a:p>
        </p:txBody>
      </p:sp>
      <p:sp>
        <p:nvSpPr>
          <p:cNvPr id="26" name="Shape 24"/>
          <p:cNvSpPr/>
          <p:nvPr/>
        </p:nvSpPr>
        <p:spPr>
          <a:xfrm>
            <a:off x="6269543" y="1586676"/>
            <a:ext cx="5470945" cy="3468710"/>
          </a:xfrm>
          <a:custGeom>
            <a:avLst/>
            <a:gdLst/>
            <a:ahLst/>
            <a:cxnLst/>
            <a:rect l="l" t="t" r="r" b="b"/>
            <a:pathLst>
              <a:path w="5470945" h="3468710">
                <a:moveTo>
                  <a:pt x="20606" y="0"/>
                </a:moveTo>
                <a:lnTo>
                  <a:pt x="5402265" y="0"/>
                </a:lnTo>
                <a:cubicBezTo>
                  <a:pt x="5440196" y="0"/>
                  <a:pt x="5470945" y="30749"/>
                  <a:pt x="5470945" y="68680"/>
                </a:cubicBezTo>
                <a:lnTo>
                  <a:pt x="5470945" y="3400029"/>
                </a:lnTo>
                <a:cubicBezTo>
                  <a:pt x="5470945" y="3437961"/>
                  <a:pt x="5440196" y="3468710"/>
                  <a:pt x="5402265" y="3468710"/>
                </a:cubicBezTo>
                <a:lnTo>
                  <a:pt x="20606" y="3468710"/>
                </a:lnTo>
                <a:cubicBezTo>
                  <a:pt x="9226" y="3468710"/>
                  <a:pt x="0" y="3459484"/>
                  <a:pt x="0" y="3448104"/>
                </a:cubicBezTo>
                <a:lnTo>
                  <a:pt x="0" y="20606"/>
                </a:lnTo>
                <a:cubicBezTo>
                  <a:pt x="0" y="9233"/>
                  <a:pt x="9233" y="0"/>
                  <a:pt x="20606" y="0"/>
                </a:cubicBezTo>
                <a:close/>
              </a:path>
            </a:pathLst>
          </a:custGeom>
          <a:solidFill>
            <a:srgbClr val="1A1D21">
              <a:alpha val="90196"/>
            </a:srgbClr>
          </a:solidFill>
          <a:ln/>
        </p:spPr>
      </p:sp>
      <p:sp>
        <p:nvSpPr>
          <p:cNvPr id="27" name="Shape 25"/>
          <p:cNvSpPr/>
          <p:nvPr/>
        </p:nvSpPr>
        <p:spPr>
          <a:xfrm>
            <a:off x="6269543" y="1586676"/>
            <a:ext cx="20606" cy="3468710"/>
          </a:xfrm>
          <a:custGeom>
            <a:avLst/>
            <a:gdLst/>
            <a:ahLst/>
            <a:cxnLst/>
            <a:rect l="l" t="t" r="r" b="b"/>
            <a:pathLst>
              <a:path w="20606" h="3468710">
                <a:moveTo>
                  <a:pt x="20606" y="0"/>
                </a:moveTo>
                <a:lnTo>
                  <a:pt x="20606" y="0"/>
                </a:lnTo>
                <a:lnTo>
                  <a:pt x="20606" y="3468710"/>
                </a:lnTo>
                <a:lnTo>
                  <a:pt x="20606" y="3468710"/>
                </a:lnTo>
                <a:cubicBezTo>
                  <a:pt x="9226" y="3468710"/>
                  <a:pt x="0" y="3459484"/>
                  <a:pt x="0" y="3448104"/>
                </a:cubicBezTo>
                <a:lnTo>
                  <a:pt x="0" y="20606"/>
                </a:lnTo>
                <a:cubicBezTo>
                  <a:pt x="0" y="9233"/>
                  <a:pt x="9233" y="0"/>
                  <a:pt x="20606" y="0"/>
                </a:cubicBezTo>
                <a:close/>
              </a:path>
            </a:pathLst>
          </a:custGeom>
          <a:solidFill>
            <a:srgbClr val="F47C20"/>
          </a:solidFill>
          <a:ln/>
        </p:spPr>
      </p:sp>
      <p:sp>
        <p:nvSpPr>
          <p:cNvPr id="28" name="Text 26"/>
          <p:cNvSpPr/>
          <p:nvPr/>
        </p:nvSpPr>
        <p:spPr>
          <a:xfrm>
            <a:off x="6382877" y="1689706"/>
            <a:ext cx="5314682" cy="3262648"/>
          </a:xfrm>
          <a:prstGeom prst="rect">
            <a:avLst/>
          </a:prstGeom>
          <a:noFill/>
          <a:ln/>
        </p:spPr>
        <p:txBody>
          <a:bodyPr wrap="square" lIns="0" tIns="0" rIns="0" bIns="0" rtlCol="0" anchor="ctr"/>
          <a:lstStyle/>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when HTTP_REQUEST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set DEBUG 1</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set CLIENT_IP [IP::client_addr]</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set HOST [HTTP::host]</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set PATH [HTTP::path]</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if { [class match -- $CLIENT_IP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equals DG-CF-AEGIS-IPLIST] }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if { $DEBUG }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log local0. "ALLOW: $CLIENT_IP -&gt; $HOST$PATH"</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 Continue to pool</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 else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if { $DEBUG }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log local0. "DENY: $CLIENT_IP -&gt; $HOST$PATH"</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reject</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946" dirty="0">
                <a:solidFill>
                  <a:srgbClr val="E8EAED">
                    <a:alpha val="90000"/>
                  </a:srgbClr>
                </a:solidFill>
                <a:latin typeface="MiSans" pitchFamily="34" charset="0"/>
                <a:ea typeface="MiSans" pitchFamily="34" charset="-122"/>
                <a:cs typeface="MiSans" pitchFamily="34" charset="-120"/>
              </a:rPr>
              <a:t>}</a:t>
            </a:r>
            <a:endParaRPr lang="en-US" sz="1600" dirty="0"/>
          </a:p>
        </p:txBody>
      </p:sp>
      <p:sp>
        <p:nvSpPr>
          <p:cNvPr id="29" name="Shape 27"/>
          <p:cNvSpPr/>
          <p:nvPr/>
        </p:nvSpPr>
        <p:spPr>
          <a:xfrm>
            <a:off x="6152775" y="5271749"/>
            <a:ext cx="5699331" cy="1586677"/>
          </a:xfrm>
          <a:custGeom>
            <a:avLst/>
            <a:gdLst/>
            <a:ahLst/>
            <a:cxnLst/>
            <a:rect l="l" t="t" r="r" b="b"/>
            <a:pathLst>
              <a:path w="5699331" h="1586677">
                <a:moveTo>
                  <a:pt x="103039" y="0"/>
                </a:moveTo>
                <a:lnTo>
                  <a:pt x="5596292" y="0"/>
                </a:lnTo>
                <a:cubicBezTo>
                  <a:pt x="5653199" y="0"/>
                  <a:pt x="5699331" y="46132"/>
                  <a:pt x="5699331" y="103039"/>
                </a:cubicBezTo>
                <a:lnTo>
                  <a:pt x="5699331" y="1483638"/>
                </a:lnTo>
                <a:cubicBezTo>
                  <a:pt x="5699331" y="1540545"/>
                  <a:pt x="5653199" y="1586677"/>
                  <a:pt x="5596292" y="1586677"/>
                </a:cubicBezTo>
                <a:lnTo>
                  <a:pt x="103039" y="1586677"/>
                </a:lnTo>
                <a:cubicBezTo>
                  <a:pt x="46132" y="1586677"/>
                  <a:pt x="0" y="1540545"/>
                  <a:pt x="0" y="1483638"/>
                </a:cubicBezTo>
                <a:lnTo>
                  <a:pt x="0" y="103039"/>
                </a:lnTo>
                <a:cubicBezTo>
                  <a:pt x="0" y="46170"/>
                  <a:pt x="46170" y="0"/>
                  <a:pt x="103039" y="0"/>
                </a:cubicBezTo>
                <a:close/>
              </a:path>
            </a:pathLst>
          </a:custGeom>
          <a:solidFill>
            <a:srgbClr val="F47C20">
              <a:alpha val="10196"/>
            </a:srgbClr>
          </a:solidFill>
          <a:ln w="10160">
            <a:solidFill>
              <a:srgbClr val="F47C20">
                <a:alpha val="30196"/>
              </a:srgbClr>
            </a:solidFill>
            <a:prstDash val="solid"/>
          </a:ln>
        </p:spPr>
      </p:sp>
      <p:sp>
        <p:nvSpPr>
          <p:cNvPr id="30" name="Shape 28"/>
          <p:cNvSpPr/>
          <p:nvPr/>
        </p:nvSpPr>
        <p:spPr>
          <a:xfrm>
            <a:off x="6280705" y="5412556"/>
            <a:ext cx="171718" cy="171718"/>
          </a:xfrm>
          <a:custGeom>
            <a:avLst/>
            <a:gdLst/>
            <a:ahLst/>
            <a:cxnLst/>
            <a:rect l="l" t="t" r="r" b="b"/>
            <a:pathLst>
              <a:path w="171718" h="171718">
                <a:moveTo>
                  <a:pt x="85859" y="171718"/>
                </a:moveTo>
                <a:cubicBezTo>
                  <a:pt x="133246" y="171718"/>
                  <a:pt x="171718" y="133246"/>
                  <a:pt x="171718" y="85859"/>
                </a:cubicBezTo>
                <a:cubicBezTo>
                  <a:pt x="171718" y="38472"/>
                  <a:pt x="133246" y="0"/>
                  <a:pt x="85859" y="0"/>
                </a:cubicBezTo>
                <a:cubicBezTo>
                  <a:pt x="38472" y="0"/>
                  <a:pt x="0" y="38472"/>
                  <a:pt x="0" y="85859"/>
                </a:cubicBezTo>
                <a:cubicBezTo>
                  <a:pt x="0" y="133246"/>
                  <a:pt x="38472" y="171718"/>
                  <a:pt x="85859" y="171718"/>
                </a:cubicBezTo>
                <a:close/>
                <a:moveTo>
                  <a:pt x="75127" y="53662"/>
                </a:moveTo>
                <a:cubicBezTo>
                  <a:pt x="75127" y="47739"/>
                  <a:pt x="79936" y="42930"/>
                  <a:pt x="85859" y="42930"/>
                </a:cubicBezTo>
                <a:cubicBezTo>
                  <a:pt x="91783" y="42930"/>
                  <a:pt x="96592" y="47739"/>
                  <a:pt x="96592" y="53662"/>
                </a:cubicBezTo>
                <a:cubicBezTo>
                  <a:pt x="96592" y="59585"/>
                  <a:pt x="91783" y="64394"/>
                  <a:pt x="85859" y="64394"/>
                </a:cubicBezTo>
                <a:cubicBezTo>
                  <a:pt x="79936" y="64394"/>
                  <a:pt x="75127" y="59585"/>
                  <a:pt x="75127" y="53662"/>
                </a:cubicBezTo>
                <a:close/>
                <a:moveTo>
                  <a:pt x="72444" y="75127"/>
                </a:moveTo>
                <a:lnTo>
                  <a:pt x="88542" y="75127"/>
                </a:lnTo>
                <a:cubicBezTo>
                  <a:pt x="93003" y="75127"/>
                  <a:pt x="96592" y="78715"/>
                  <a:pt x="96592" y="83176"/>
                </a:cubicBezTo>
                <a:lnTo>
                  <a:pt x="96592" y="112690"/>
                </a:lnTo>
                <a:lnTo>
                  <a:pt x="99275" y="112690"/>
                </a:lnTo>
                <a:cubicBezTo>
                  <a:pt x="103735" y="112690"/>
                  <a:pt x="107324" y="116279"/>
                  <a:pt x="107324" y="120739"/>
                </a:cubicBezTo>
                <a:cubicBezTo>
                  <a:pt x="107324" y="125200"/>
                  <a:pt x="103735" y="128789"/>
                  <a:pt x="99275" y="128789"/>
                </a:cubicBezTo>
                <a:lnTo>
                  <a:pt x="72444" y="128789"/>
                </a:lnTo>
                <a:cubicBezTo>
                  <a:pt x="67983" y="128789"/>
                  <a:pt x="64394" y="125200"/>
                  <a:pt x="64394" y="120739"/>
                </a:cubicBezTo>
                <a:cubicBezTo>
                  <a:pt x="64394" y="116279"/>
                  <a:pt x="67983" y="112690"/>
                  <a:pt x="72444" y="112690"/>
                </a:cubicBezTo>
                <a:lnTo>
                  <a:pt x="80493" y="112690"/>
                </a:lnTo>
                <a:lnTo>
                  <a:pt x="80493" y="91225"/>
                </a:lnTo>
                <a:lnTo>
                  <a:pt x="72444" y="91225"/>
                </a:lnTo>
                <a:cubicBezTo>
                  <a:pt x="67983" y="91225"/>
                  <a:pt x="64394" y="87637"/>
                  <a:pt x="64394" y="83176"/>
                </a:cubicBezTo>
                <a:cubicBezTo>
                  <a:pt x="64394" y="78715"/>
                  <a:pt x="67983" y="75127"/>
                  <a:pt x="72444" y="75127"/>
                </a:cubicBezTo>
                <a:close/>
              </a:path>
            </a:pathLst>
          </a:custGeom>
          <a:solidFill>
            <a:srgbClr val="F47C20"/>
          </a:solidFill>
          <a:ln/>
        </p:spPr>
      </p:sp>
      <p:sp>
        <p:nvSpPr>
          <p:cNvPr id="31" name="Text 29"/>
          <p:cNvSpPr/>
          <p:nvPr/>
        </p:nvSpPr>
        <p:spPr>
          <a:xfrm>
            <a:off x="6576919" y="5378212"/>
            <a:ext cx="1244958" cy="240406"/>
          </a:xfrm>
          <a:prstGeom prst="rect">
            <a:avLst/>
          </a:prstGeom>
          <a:noFill/>
          <a:ln/>
        </p:spPr>
        <p:txBody>
          <a:bodyPr wrap="square" lIns="0" tIns="0" rIns="0" bIns="0" rtlCol="0" anchor="ctr"/>
          <a:lstStyle/>
          <a:p>
            <a:pPr>
              <a:lnSpc>
                <a:spcPct val="130000"/>
              </a:lnSpc>
            </a:pPr>
            <a:r>
              <a:rPr lang="en-US" sz="1217" b="1" dirty="0">
                <a:solidFill>
                  <a:srgbClr val="E8EAED"/>
                </a:solidFill>
                <a:latin typeface="Liter" pitchFamily="34" charset="0"/>
                <a:ea typeface="Liter" pitchFamily="34" charset="-122"/>
                <a:cs typeface="Liter" pitchFamily="34" charset="-120"/>
              </a:rPr>
              <a:t>iRule Explanation</a:t>
            </a:r>
            <a:endParaRPr lang="en-US" sz="1600" dirty="0"/>
          </a:p>
        </p:txBody>
      </p:sp>
      <p:sp>
        <p:nvSpPr>
          <p:cNvPr id="32" name="Text 30"/>
          <p:cNvSpPr/>
          <p:nvPr/>
        </p:nvSpPr>
        <p:spPr>
          <a:xfrm>
            <a:off x="6259240" y="5721649"/>
            <a:ext cx="901521" cy="206062"/>
          </a:xfrm>
          <a:prstGeom prst="rect">
            <a:avLst/>
          </a:prstGeom>
          <a:noFill/>
          <a:ln/>
        </p:spPr>
        <p:txBody>
          <a:bodyPr wrap="square" lIns="0" tIns="0" rIns="0" bIns="0" rtlCol="0" anchor="ctr"/>
          <a:lstStyle/>
          <a:p>
            <a:pPr>
              <a:lnSpc>
                <a:spcPct val="130000"/>
              </a:lnSpc>
            </a:pPr>
            <a:r>
              <a:rPr lang="en-US" sz="1082" dirty="0">
                <a:solidFill>
                  <a:srgbClr val="F47C20"/>
                </a:solidFill>
                <a:latin typeface="MiSans" pitchFamily="34" charset="0"/>
                <a:ea typeface="MiSans" pitchFamily="34" charset="-122"/>
                <a:cs typeface="MiSans" pitchFamily="34" charset="-120"/>
              </a:rPr>
              <a:t>class match</a:t>
            </a:r>
            <a:endParaRPr lang="en-US" sz="1600" dirty="0"/>
          </a:p>
        </p:txBody>
      </p:sp>
      <p:sp>
        <p:nvSpPr>
          <p:cNvPr id="33" name="Text 31"/>
          <p:cNvSpPr/>
          <p:nvPr/>
        </p:nvSpPr>
        <p:spPr>
          <a:xfrm>
            <a:off x="7158829" y="5721649"/>
            <a:ext cx="2077792" cy="206062"/>
          </a:xfrm>
          <a:prstGeom prst="rect">
            <a:avLst/>
          </a:prstGeom>
          <a:noFill/>
          <a:ln/>
        </p:spPr>
        <p:txBody>
          <a:bodyPr wrap="square" lIns="0" tIns="0" rIns="0" bIns="0" rtlCol="0" anchor="ctr"/>
          <a:lstStyle/>
          <a:p>
            <a:pPr>
              <a:lnSpc>
                <a:spcPct val="130000"/>
              </a:lnSpc>
            </a:pPr>
            <a:r>
              <a:rPr lang="en-US" sz="1082" dirty="0">
                <a:solidFill>
                  <a:srgbClr val="E8EAED">
                    <a:alpha val="80000"/>
                  </a:srgbClr>
                </a:solidFill>
                <a:latin typeface="Liter" pitchFamily="34" charset="0"/>
                <a:ea typeface="Liter" pitchFamily="34" charset="-122"/>
                <a:cs typeface="Liter" pitchFamily="34" charset="-120"/>
              </a:rPr>
              <a:t>Checks if client IP is in data group</a:t>
            </a:r>
            <a:endParaRPr lang="en-US" sz="1600" dirty="0"/>
          </a:p>
        </p:txBody>
      </p:sp>
      <p:sp>
        <p:nvSpPr>
          <p:cNvPr id="34" name="Text 32"/>
          <p:cNvSpPr/>
          <p:nvPr/>
        </p:nvSpPr>
        <p:spPr>
          <a:xfrm>
            <a:off x="6259240" y="5996398"/>
            <a:ext cx="223234" cy="206062"/>
          </a:xfrm>
          <a:prstGeom prst="rect">
            <a:avLst/>
          </a:prstGeom>
          <a:noFill/>
          <a:ln/>
        </p:spPr>
        <p:txBody>
          <a:bodyPr wrap="square" lIns="0" tIns="0" rIns="0" bIns="0" rtlCol="0" anchor="ctr"/>
          <a:lstStyle/>
          <a:p>
            <a:pPr>
              <a:lnSpc>
                <a:spcPct val="130000"/>
              </a:lnSpc>
            </a:pPr>
            <a:r>
              <a:rPr lang="en-US" sz="1082" dirty="0">
                <a:solidFill>
                  <a:srgbClr val="F47C20"/>
                </a:solidFill>
                <a:latin typeface="MiSans" pitchFamily="34" charset="0"/>
                <a:ea typeface="MiSans" pitchFamily="34" charset="-122"/>
                <a:cs typeface="MiSans" pitchFamily="34" charset="-120"/>
              </a:rPr>
              <a:t>--</a:t>
            </a:r>
            <a:endParaRPr lang="en-US" sz="1600" dirty="0"/>
          </a:p>
        </p:txBody>
      </p:sp>
      <p:sp>
        <p:nvSpPr>
          <p:cNvPr id="35" name="Text 33"/>
          <p:cNvSpPr/>
          <p:nvPr/>
        </p:nvSpPr>
        <p:spPr>
          <a:xfrm>
            <a:off x="6479039" y="5996398"/>
            <a:ext cx="2197994" cy="206062"/>
          </a:xfrm>
          <a:prstGeom prst="rect">
            <a:avLst/>
          </a:prstGeom>
          <a:noFill/>
          <a:ln/>
        </p:spPr>
        <p:txBody>
          <a:bodyPr wrap="square" lIns="0" tIns="0" rIns="0" bIns="0" rtlCol="0" anchor="ctr"/>
          <a:lstStyle/>
          <a:p>
            <a:pPr>
              <a:lnSpc>
                <a:spcPct val="130000"/>
              </a:lnSpc>
            </a:pPr>
            <a:r>
              <a:rPr lang="en-US" sz="1082" dirty="0">
                <a:solidFill>
                  <a:srgbClr val="E8EAED">
                    <a:alpha val="80000"/>
                  </a:srgbClr>
                </a:solidFill>
                <a:latin typeface="Liter" pitchFamily="34" charset="0"/>
                <a:ea typeface="Liter" pitchFamily="34" charset="-122"/>
                <a:cs typeface="Liter" pitchFamily="34" charset="-120"/>
              </a:rPr>
              <a:t>Enables CIDR matching for subnets</a:t>
            </a:r>
            <a:endParaRPr lang="en-US" sz="1600" dirty="0"/>
          </a:p>
        </p:txBody>
      </p:sp>
      <p:sp>
        <p:nvSpPr>
          <p:cNvPr id="36" name="Text 34"/>
          <p:cNvSpPr/>
          <p:nvPr/>
        </p:nvSpPr>
        <p:spPr>
          <a:xfrm>
            <a:off x="6259240" y="6271148"/>
            <a:ext cx="446468" cy="206062"/>
          </a:xfrm>
          <a:prstGeom prst="rect">
            <a:avLst/>
          </a:prstGeom>
          <a:noFill/>
          <a:ln/>
        </p:spPr>
        <p:txBody>
          <a:bodyPr wrap="square" lIns="0" tIns="0" rIns="0" bIns="0" rtlCol="0" anchor="ctr"/>
          <a:lstStyle/>
          <a:p>
            <a:pPr>
              <a:lnSpc>
                <a:spcPct val="130000"/>
              </a:lnSpc>
            </a:pPr>
            <a:r>
              <a:rPr lang="en-US" sz="1082" dirty="0">
                <a:solidFill>
                  <a:srgbClr val="F47C20"/>
                </a:solidFill>
                <a:latin typeface="MiSans" pitchFamily="34" charset="0"/>
                <a:ea typeface="MiSans" pitchFamily="34" charset="-122"/>
                <a:cs typeface="MiSans" pitchFamily="34" charset="-120"/>
              </a:rPr>
              <a:t>DEBUG</a:t>
            </a:r>
            <a:endParaRPr lang="en-US" sz="1600" dirty="0"/>
          </a:p>
        </p:txBody>
      </p:sp>
      <p:sp>
        <p:nvSpPr>
          <p:cNvPr id="37" name="Text 35"/>
          <p:cNvSpPr/>
          <p:nvPr/>
        </p:nvSpPr>
        <p:spPr>
          <a:xfrm>
            <a:off x="6705600" y="6271148"/>
            <a:ext cx="2146479" cy="206062"/>
          </a:xfrm>
          <a:prstGeom prst="rect">
            <a:avLst/>
          </a:prstGeom>
          <a:noFill/>
          <a:ln/>
        </p:spPr>
        <p:txBody>
          <a:bodyPr wrap="square" lIns="0" tIns="0" rIns="0" bIns="0" rtlCol="0" anchor="ctr"/>
          <a:lstStyle/>
          <a:p>
            <a:pPr>
              <a:lnSpc>
                <a:spcPct val="130000"/>
              </a:lnSpc>
            </a:pPr>
            <a:r>
              <a:rPr lang="en-US" sz="1082" dirty="0">
                <a:solidFill>
                  <a:srgbClr val="E8EAED">
                    <a:alpha val="80000"/>
                  </a:srgbClr>
                </a:solidFill>
                <a:latin typeface="Liter" pitchFamily="34" charset="0"/>
                <a:ea typeface="Liter" pitchFamily="34" charset="-122"/>
                <a:cs typeface="Liter" pitchFamily="34" charset="-120"/>
              </a:rPr>
              <a:t>Enable logging for troubleshooting</a:t>
            </a:r>
            <a:endParaRPr lang="en-US" sz="1600" dirty="0"/>
          </a:p>
        </p:txBody>
      </p:sp>
      <p:sp>
        <p:nvSpPr>
          <p:cNvPr id="38" name="Text 36"/>
          <p:cNvSpPr/>
          <p:nvPr/>
        </p:nvSpPr>
        <p:spPr>
          <a:xfrm>
            <a:off x="6259240" y="6545897"/>
            <a:ext cx="523741" cy="206062"/>
          </a:xfrm>
          <a:prstGeom prst="rect">
            <a:avLst/>
          </a:prstGeom>
          <a:noFill/>
          <a:ln/>
        </p:spPr>
        <p:txBody>
          <a:bodyPr wrap="square" lIns="0" tIns="0" rIns="0" bIns="0" rtlCol="0" anchor="ctr"/>
          <a:lstStyle/>
          <a:p>
            <a:pPr>
              <a:lnSpc>
                <a:spcPct val="130000"/>
              </a:lnSpc>
            </a:pPr>
            <a:r>
              <a:rPr lang="en-US" sz="1082" dirty="0">
                <a:solidFill>
                  <a:srgbClr val="F47C20"/>
                </a:solidFill>
                <a:latin typeface="MiSans" pitchFamily="34" charset="0"/>
                <a:ea typeface="MiSans" pitchFamily="34" charset="-122"/>
                <a:cs typeface="MiSans" pitchFamily="34" charset="-120"/>
              </a:rPr>
              <a:t>reject</a:t>
            </a:r>
            <a:endParaRPr lang="en-US" sz="1600" dirty="0"/>
          </a:p>
        </p:txBody>
      </p:sp>
      <p:sp>
        <p:nvSpPr>
          <p:cNvPr id="39" name="Text 37"/>
          <p:cNvSpPr/>
          <p:nvPr/>
        </p:nvSpPr>
        <p:spPr>
          <a:xfrm>
            <a:off x="6781156" y="6545897"/>
            <a:ext cx="1957589" cy="206062"/>
          </a:xfrm>
          <a:prstGeom prst="rect">
            <a:avLst/>
          </a:prstGeom>
          <a:noFill/>
          <a:ln/>
        </p:spPr>
        <p:txBody>
          <a:bodyPr wrap="square" lIns="0" tIns="0" rIns="0" bIns="0" rtlCol="0" anchor="ctr"/>
          <a:lstStyle/>
          <a:p>
            <a:pPr>
              <a:lnSpc>
                <a:spcPct val="130000"/>
              </a:lnSpc>
            </a:pPr>
            <a:r>
              <a:rPr lang="en-US" sz="1082" dirty="0">
                <a:solidFill>
                  <a:srgbClr val="E8EAED">
                    <a:alpha val="80000"/>
                  </a:srgbClr>
                </a:solidFill>
                <a:latin typeface="Liter" pitchFamily="34" charset="0"/>
                <a:ea typeface="Liter" pitchFamily="34" charset="-122"/>
                <a:cs typeface="Liter" pitchFamily="34" charset="-120"/>
              </a:rPr>
              <a:t>Closes connection immediately</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41513" y="341513"/>
            <a:ext cx="11577277" cy="204908"/>
          </a:xfrm>
          <a:prstGeom prst="rect">
            <a:avLst/>
          </a:prstGeom>
          <a:noFill/>
          <a:ln/>
        </p:spPr>
        <p:txBody>
          <a:bodyPr wrap="square" lIns="0" tIns="0" rIns="0" bIns="0" rtlCol="0" anchor="ctr"/>
          <a:lstStyle/>
          <a:p>
            <a:pPr>
              <a:lnSpc>
                <a:spcPct val="130000"/>
              </a:lnSpc>
            </a:pPr>
            <a:r>
              <a:rPr lang="en-US" sz="1076" b="1" spc="54" kern="0" dirty="0">
                <a:solidFill>
                  <a:srgbClr val="F47C20"/>
                </a:solidFill>
                <a:latin typeface="Liter" pitchFamily="34" charset="0"/>
                <a:ea typeface="Liter" pitchFamily="34" charset="-122"/>
                <a:cs typeface="Liter" pitchFamily="34" charset="-120"/>
              </a:rPr>
              <a:t>F5 LOAD BALANCER</a:t>
            </a:r>
            <a:endParaRPr lang="en-US" sz="1600" dirty="0"/>
          </a:p>
        </p:txBody>
      </p:sp>
      <p:sp>
        <p:nvSpPr>
          <p:cNvPr id="3" name="Text 1"/>
          <p:cNvSpPr/>
          <p:nvPr/>
        </p:nvSpPr>
        <p:spPr>
          <a:xfrm>
            <a:off x="341513" y="614723"/>
            <a:ext cx="11662655" cy="341513"/>
          </a:xfrm>
          <a:prstGeom prst="rect">
            <a:avLst/>
          </a:prstGeom>
          <a:noFill/>
          <a:ln/>
        </p:spPr>
        <p:txBody>
          <a:bodyPr wrap="square" lIns="0" tIns="0" rIns="0" bIns="0" rtlCol="0" anchor="ctr"/>
          <a:lstStyle/>
          <a:p>
            <a:pPr>
              <a:lnSpc>
                <a:spcPct val="90000"/>
              </a:lnSpc>
            </a:pPr>
            <a:r>
              <a:rPr lang="en-US" sz="2420" b="1" dirty="0">
                <a:solidFill>
                  <a:srgbClr val="E8EAED"/>
                </a:solidFill>
                <a:latin typeface="Liter" pitchFamily="34" charset="0"/>
                <a:ea typeface="Liter" pitchFamily="34" charset="-122"/>
                <a:cs typeface="Liter" pitchFamily="34" charset="-120"/>
              </a:rPr>
              <a:t>Virtual Server Configuration</a:t>
            </a:r>
            <a:endParaRPr lang="en-US" sz="1600" dirty="0"/>
          </a:p>
        </p:txBody>
      </p:sp>
      <p:sp>
        <p:nvSpPr>
          <p:cNvPr id="4" name="Shape 2"/>
          <p:cNvSpPr/>
          <p:nvPr/>
        </p:nvSpPr>
        <p:spPr>
          <a:xfrm>
            <a:off x="344928" y="1096255"/>
            <a:ext cx="5675939" cy="3763469"/>
          </a:xfrm>
          <a:custGeom>
            <a:avLst/>
            <a:gdLst/>
            <a:ahLst/>
            <a:cxnLst/>
            <a:rect l="l" t="t" r="r" b="b"/>
            <a:pathLst>
              <a:path w="5675939" h="3763469">
                <a:moveTo>
                  <a:pt x="102442" y="0"/>
                </a:moveTo>
                <a:lnTo>
                  <a:pt x="5573498" y="0"/>
                </a:lnTo>
                <a:cubicBezTo>
                  <a:pt x="5630075" y="0"/>
                  <a:pt x="5675939" y="45865"/>
                  <a:pt x="5675939" y="102442"/>
                </a:cubicBezTo>
                <a:lnTo>
                  <a:pt x="5675939" y="3661027"/>
                </a:lnTo>
                <a:cubicBezTo>
                  <a:pt x="5675939" y="3717604"/>
                  <a:pt x="5630075" y="3763469"/>
                  <a:pt x="5573498" y="3763469"/>
                </a:cubicBezTo>
                <a:lnTo>
                  <a:pt x="102442" y="3763469"/>
                </a:lnTo>
                <a:cubicBezTo>
                  <a:pt x="45865" y="3763469"/>
                  <a:pt x="0" y="3717604"/>
                  <a:pt x="0" y="3661027"/>
                </a:cubicBezTo>
                <a:lnTo>
                  <a:pt x="0" y="102442"/>
                </a:lnTo>
                <a:cubicBezTo>
                  <a:pt x="0" y="45903"/>
                  <a:pt x="45903" y="0"/>
                  <a:pt x="102442" y="0"/>
                </a:cubicBezTo>
                <a:close/>
              </a:path>
            </a:pathLst>
          </a:custGeom>
          <a:solidFill>
            <a:srgbClr val="48515E">
              <a:alpha val="20000"/>
            </a:srgbClr>
          </a:solidFill>
          <a:ln w="10160">
            <a:solidFill>
              <a:srgbClr val="48515E">
                <a:alpha val="40000"/>
              </a:srgbClr>
            </a:solidFill>
            <a:prstDash val="solid"/>
          </a:ln>
        </p:spPr>
      </p:sp>
      <p:sp>
        <p:nvSpPr>
          <p:cNvPr id="5" name="Shape 3"/>
          <p:cNvSpPr/>
          <p:nvPr/>
        </p:nvSpPr>
        <p:spPr>
          <a:xfrm>
            <a:off x="519099" y="1270425"/>
            <a:ext cx="341513" cy="341513"/>
          </a:xfrm>
          <a:custGeom>
            <a:avLst/>
            <a:gdLst/>
            <a:ahLst/>
            <a:cxnLst/>
            <a:rect l="l" t="t" r="r" b="b"/>
            <a:pathLst>
              <a:path w="341513" h="341513">
                <a:moveTo>
                  <a:pt x="68303" y="0"/>
                </a:moveTo>
                <a:lnTo>
                  <a:pt x="273210" y="0"/>
                </a:lnTo>
                <a:cubicBezTo>
                  <a:pt x="310907" y="0"/>
                  <a:pt x="341513" y="30605"/>
                  <a:pt x="341513" y="68303"/>
                </a:cubicBezTo>
                <a:lnTo>
                  <a:pt x="341513" y="273210"/>
                </a:lnTo>
                <a:cubicBezTo>
                  <a:pt x="341513" y="310933"/>
                  <a:pt x="310933" y="341513"/>
                  <a:pt x="273210" y="341513"/>
                </a:cubicBezTo>
                <a:lnTo>
                  <a:pt x="68303" y="341513"/>
                </a:lnTo>
                <a:cubicBezTo>
                  <a:pt x="30605" y="341513"/>
                  <a:pt x="0" y="310907"/>
                  <a:pt x="0" y="273210"/>
                </a:cubicBezTo>
                <a:lnTo>
                  <a:pt x="0" y="68303"/>
                </a:lnTo>
                <a:cubicBezTo>
                  <a:pt x="0" y="30605"/>
                  <a:pt x="30605" y="0"/>
                  <a:pt x="68303" y="0"/>
                </a:cubicBezTo>
                <a:close/>
              </a:path>
            </a:pathLst>
          </a:custGeom>
          <a:solidFill>
            <a:srgbClr val="F47C20">
              <a:alpha val="20000"/>
            </a:srgbClr>
          </a:solidFill>
          <a:ln/>
        </p:spPr>
      </p:sp>
      <p:sp>
        <p:nvSpPr>
          <p:cNvPr id="6" name="Shape 4"/>
          <p:cNvSpPr/>
          <p:nvPr/>
        </p:nvSpPr>
        <p:spPr>
          <a:xfrm>
            <a:off x="624755" y="1364341"/>
            <a:ext cx="134471" cy="153681"/>
          </a:xfrm>
          <a:custGeom>
            <a:avLst/>
            <a:gdLst/>
            <a:ahLst/>
            <a:cxnLst/>
            <a:rect l="l" t="t" r="r" b="b"/>
            <a:pathLst>
              <a:path w="134471" h="153681">
                <a:moveTo>
                  <a:pt x="38420" y="-9605"/>
                </a:moveTo>
                <a:cubicBezTo>
                  <a:pt x="43733" y="-9605"/>
                  <a:pt x="48025" y="-5313"/>
                  <a:pt x="48025" y="0"/>
                </a:cubicBezTo>
                <a:lnTo>
                  <a:pt x="48025" y="28815"/>
                </a:lnTo>
                <a:lnTo>
                  <a:pt x="86445" y="28815"/>
                </a:lnTo>
                <a:lnTo>
                  <a:pt x="86445" y="0"/>
                </a:lnTo>
                <a:cubicBezTo>
                  <a:pt x="86445" y="-5313"/>
                  <a:pt x="90738" y="-9605"/>
                  <a:pt x="96050" y="-9605"/>
                </a:cubicBezTo>
                <a:cubicBezTo>
                  <a:pt x="101363" y="-9605"/>
                  <a:pt x="105655" y="-5313"/>
                  <a:pt x="105655" y="0"/>
                </a:cubicBezTo>
                <a:lnTo>
                  <a:pt x="105655" y="28815"/>
                </a:lnTo>
                <a:lnTo>
                  <a:pt x="124866" y="28815"/>
                </a:lnTo>
                <a:cubicBezTo>
                  <a:pt x="130178" y="28815"/>
                  <a:pt x="134471" y="33107"/>
                  <a:pt x="134471" y="38420"/>
                </a:cubicBezTo>
                <a:cubicBezTo>
                  <a:pt x="134471" y="43733"/>
                  <a:pt x="130178" y="48025"/>
                  <a:pt x="124866" y="48025"/>
                </a:cubicBezTo>
                <a:lnTo>
                  <a:pt x="124866" y="67235"/>
                </a:lnTo>
                <a:cubicBezTo>
                  <a:pt x="124866" y="95780"/>
                  <a:pt x="104095" y="119493"/>
                  <a:pt x="76840" y="124055"/>
                </a:cubicBezTo>
                <a:lnTo>
                  <a:pt x="76840" y="144076"/>
                </a:lnTo>
                <a:cubicBezTo>
                  <a:pt x="76840" y="149388"/>
                  <a:pt x="72548" y="153681"/>
                  <a:pt x="67235" y="153681"/>
                </a:cubicBezTo>
                <a:cubicBezTo>
                  <a:pt x="61923" y="153681"/>
                  <a:pt x="57630" y="149388"/>
                  <a:pt x="57630" y="144076"/>
                </a:cubicBezTo>
                <a:lnTo>
                  <a:pt x="57630" y="124055"/>
                </a:lnTo>
                <a:cubicBezTo>
                  <a:pt x="30376" y="119493"/>
                  <a:pt x="9605" y="95780"/>
                  <a:pt x="9605" y="67235"/>
                </a:cubicBezTo>
                <a:lnTo>
                  <a:pt x="9605" y="48025"/>
                </a:lnTo>
                <a:cubicBezTo>
                  <a:pt x="4292" y="48025"/>
                  <a:pt x="0" y="43733"/>
                  <a:pt x="0" y="38420"/>
                </a:cubicBezTo>
                <a:cubicBezTo>
                  <a:pt x="0" y="33107"/>
                  <a:pt x="4292" y="28815"/>
                  <a:pt x="9605" y="28815"/>
                </a:cubicBezTo>
                <a:lnTo>
                  <a:pt x="28815" y="28815"/>
                </a:lnTo>
                <a:lnTo>
                  <a:pt x="28815" y="0"/>
                </a:lnTo>
                <a:cubicBezTo>
                  <a:pt x="28815" y="-5313"/>
                  <a:pt x="33107" y="-9605"/>
                  <a:pt x="38420" y="-9605"/>
                </a:cubicBezTo>
                <a:close/>
              </a:path>
            </a:pathLst>
          </a:custGeom>
          <a:solidFill>
            <a:srgbClr val="F47C20"/>
          </a:solidFill>
          <a:ln/>
        </p:spPr>
      </p:sp>
      <p:sp>
        <p:nvSpPr>
          <p:cNvPr id="7" name="Text 5"/>
          <p:cNvSpPr/>
          <p:nvPr/>
        </p:nvSpPr>
        <p:spPr>
          <a:xfrm>
            <a:off x="963066" y="1321652"/>
            <a:ext cx="2732101" cy="239059"/>
          </a:xfrm>
          <a:prstGeom prst="rect">
            <a:avLst/>
          </a:prstGeom>
          <a:noFill/>
          <a:ln/>
        </p:spPr>
        <p:txBody>
          <a:bodyPr wrap="square" lIns="0" tIns="0" rIns="0" bIns="0" rtlCol="0" anchor="ctr"/>
          <a:lstStyle/>
          <a:p>
            <a:pPr>
              <a:lnSpc>
                <a:spcPct val="120000"/>
              </a:lnSpc>
            </a:pPr>
            <a:r>
              <a:rPr lang="en-US" sz="1345" b="1" dirty="0">
                <a:solidFill>
                  <a:srgbClr val="E8EAED"/>
                </a:solidFill>
                <a:latin typeface="Liter" pitchFamily="34" charset="0"/>
                <a:ea typeface="Liter" pitchFamily="34" charset="-122"/>
                <a:cs typeface="Liter" pitchFamily="34" charset="-120"/>
              </a:rPr>
              <a:t>Step 3: Apply iRule to Virtual Server</a:t>
            </a:r>
            <a:endParaRPr lang="en-US" sz="1600" dirty="0"/>
          </a:p>
        </p:txBody>
      </p:sp>
      <p:sp>
        <p:nvSpPr>
          <p:cNvPr id="8" name="Shape 6"/>
          <p:cNvSpPr/>
          <p:nvPr/>
        </p:nvSpPr>
        <p:spPr>
          <a:xfrm>
            <a:off x="519099" y="1748543"/>
            <a:ext cx="5327597" cy="1878319"/>
          </a:xfrm>
          <a:custGeom>
            <a:avLst/>
            <a:gdLst/>
            <a:ahLst/>
            <a:cxnLst/>
            <a:rect l="l" t="t" r="r" b="b"/>
            <a:pathLst>
              <a:path w="5327597" h="1878319">
                <a:moveTo>
                  <a:pt x="68296" y="0"/>
                </a:moveTo>
                <a:lnTo>
                  <a:pt x="5259301" y="0"/>
                </a:lnTo>
                <a:cubicBezTo>
                  <a:pt x="5297020" y="0"/>
                  <a:pt x="5327597" y="30577"/>
                  <a:pt x="5327597" y="68296"/>
                </a:cubicBezTo>
                <a:lnTo>
                  <a:pt x="5327597" y="1810024"/>
                </a:lnTo>
                <a:cubicBezTo>
                  <a:pt x="5327597" y="1847742"/>
                  <a:pt x="5297020" y="1878319"/>
                  <a:pt x="5259301" y="1878319"/>
                </a:cubicBezTo>
                <a:lnTo>
                  <a:pt x="68296" y="1878319"/>
                </a:lnTo>
                <a:cubicBezTo>
                  <a:pt x="30577" y="1878319"/>
                  <a:pt x="0" y="1847742"/>
                  <a:pt x="0" y="1810024"/>
                </a:cubicBezTo>
                <a:lnTo>
                  <a:pt x="0" y="68296"/>
                </a:lnTo>
                <a:cubicBezTo>
                  <a:pt x="0" y="30577"/>
                  <a:pt x="30577" y="0"/>
                  <a:pt x="68296" y="0"/>
                </a:cubicBezTo>
                <a:close/>
              </a:path>
            </a:pathLst>
          </a:custGeom>
          <a:solidFill>
            <a:srgbClr val="1A1D21">
              <a:alpha val="50196"/>
            </a:srgbClr>
          </a:solidFill>
          <a:ln/>
        </p:spPr>
      </p:sp>
      <p:sp>
        <p:nvSpPr>
          <p:cNvPr id="9" name="Text 7"/>
          <p:cNvSpPr/>
          <p:nvPr/>
        </p:nvSpPr>
        <p:spPr>
          <a:xfrm>
            <a:off x="621553" y="1850997"/>
            <a:ext cx="5190992" cy="204908"/>
          </a:xfrm>
          <a:prstGeom prst="rect">
            <a:avLst/>
          </a:prstGeom>
          <a:noFill/>
          <a:ln/>
        </p:spPr>
        <p:txBody>
          <a:bodyPr wrap="square" lIns="0" tIns="0" rIns="0" bIns="0" rtlCol="0" anchor="ctr"/>
          <a:lstStyle/>
          <a:p>
            <a:pPr>
              <a:lnSpc>
                <a:spcPct val="130000"/>
              </a:lnSpc>
            </a:pPr>
            <a:r>
              <a:rPr lang="en-US" sz="1076" b="1" dirty="0">
                <a:solidFill>
                  <a:srgbClr val="E8EAED"/>
                </a:solidFill>
                <a:latin typeface="Liter" pitchFamily="34" charset="0"/>
                <a:ea typeface="Liter" pitchFamily="34" charset="-122"/>
                <a:cs typeface="Liter" pitchFamily="34" charset="-120"/>
              </a:rPr>
              <a:t>Via Web UI:</a:t>
            </a:r>
            <a:endParaRPr lang="en-US" sz="1600" dirty="0"/>
          </a:p>
        </p:txBody>
      </p:sp>
      <p:sp>
        <p:nvSpPr>
          <p:cNvPr id="10" name="Text 8"/>
          <p:cNvSpPr/>
          <p:nvPr/>
        </p:nvSpPr>
        <p:spPr>
          <a:xfrm>
            <a:off x="621553" y="2124207"/>
            <a:ext cx="5190992" cy="1400202"/>
          </a:xfrm>
          <a:prstGeom prst="rect">
            <a:avLst/>
          </a:prstGeom>
          <a:noFill/>
          <a:ln/>
        </p:spPr>
        <p:txBody>
          <a:bodyPr wrap="square" lIns="0" tIns="0" rIns="0" bIns="0" rtlCol="0" anchor="ctr"/>
          <a:lstStyle/>
          <a:p>
            <a:pPr marL="254000" indent="-254000">
              <a:lnSpc>
                <a:spcPct val="130000"/>
              </a:lnSpc>
              <a:spcBef>
                <a:spcPts val="10"/>
              </a:spcBef>
              <a:buSzPct val="100000"/>
              <a:buFont typeface="+mj-lt"/>
              <a:buAutoNum type="arabicPeriod" startAt="1"/>
            </a:pPr>
            <a:r>
              <a:rPr lang="en-US" sz="1076" dirty="0">
                <a:solidFill>
                  <a:srgbClr val="E8EAED">
                    <a:alpha val="80000"/>
                  </a:srgbClr>
                </a:solidFill>
                <a:latin typeface="Liter" pitchFamily="34" charset="0"/>
                <a:ea typeface="Liter" pitchFamily="34" charset="-122"/>
                <a:cs typeface="Liter" pitchFamily="34" charset="-120"/>
              </a:rPr>
              <a:t>Navigate to </a:t>
            </a:r>
            <a:pPr>
              <a:lnSpc>
                <a:spcPct val="130000"/>
              </a:lnSpc>
              <a:spcBef>
                <a:spcPts val="10"/>
              </a:spcBef>
            </a:pPr>
            <a:r>
              <a:rPr lang="en-US" sz="1076" b="1" dirty="0">
                <a:solidFill>
                  <a:srgbClr val="E8EAED">
                    <a:alpha val="80000"/>
                  </a:srgbClr>
                </a:solidFill>
                <a:latin typeface="Liter" pitchFamily="34" charset="0"/>
                <a:ea typeface="Liter" pitchFamily="34" charset="-122"/>
                <a:cs typeface="Liter" pitchFamily="34" charset="-120"/>
              </a:rPr>
              <a:t>Local Traffic → Virtual Servers</a:t>
            </a:r>
            <a:endParaRPr lang="en-US" sz="1600" dirty="0"/>
          </a:p>
          <a:p>
            <a:pPr marL="254000" indent="-254000">
              <a:lnSpc>
                <a:spcPct val="130000"/>
              </a:lnSpc>
              <a:spcBef>
                <a:spcPts val="10"/>
              </a:spcBef>
              <a:buSzPct val="100000"/>
              <a:buFont typeface="+mj-lt"/>
              <a:buAutoNum type="arabicPeriod" startAt="1"/>
            </a:pPr>
            <a:r>
              <a:rPr lang="en-US" sz="1076" dirty="0">
                <a:solidFill>
                  <a:srgbClr val="E8EAED">
                    <a:alpha val="80000"/>
                  </a:srgbClr>
                </a:solidFill>
                <a:latin typeface="Liter" pitchFamily="34" charset="0"/>
                <a:ea typeface="Liter" pitchFamily="34" charset="-122"/>
                <a:cs typeface="Liter" pitchFamily="34" charset="-120"/>
              </a:rPr>
              <a:t>Select your virtual server</a:t>
            </a:r>
            <a:endParaRPr lang="en-US" sz="1600" dirty="0"/>
          </a:p>
          <a:p>
            <a:pPr marL="254000" indent="-254000">
              <a:lnSpc>
                <a:spcPct val="130000"/>
              </a:lnSpc>
              <a:spcBef>
                <a:spcPts val="10"/>
              </a:spcBef>
              <a:buSzPct val="100000"/>
              <a:buFont typeface="+mj-lt"/>
              <a:buAutoNum type="arabicPeriod" startAt="1"/>
            </a:pPr>
            <a:r>
              <a:rPr lang="en-US" sz="1076" dirty="0">
                <a:solidFill>
                  <a:srgbClr val="E8EAED">
                    <a:alpha val="80000"/>
                  </a:srgbClr>
                </a:solidFill>
                <a:latin typeface="Liter" pitchFamily="34" charset="0"/>
                <a:ea typeface="Liter" pitchFamily="34" charset="-122"/>
                <a:cs typeface="Liter" pitchFamily="34" charset="-120"/>
              </a:rPr>
              <a:t>Go to </a:t>
            </a:r>
            <a:pPr>
              <a:lnSpc>
                <a:spcPct val="130000"/>
              </a:lnSpc>
              <a:spcBef>
                <a:spcPts val="10"/>
              </a:spcBef>
            </a:pPr>
            <a:r>
              <a:rPr lang="en-US" sz="1076" b="1" dirty="0">
                <a:solidFill>
                  <a:srgbClr val="E8EAED">
                    <a:alpha val="80000"/>
                  </a:srgbClr>
                </a:solidFill>
                <a:latin typeface="Liter" pitchFamily="34" charset="0"/>
                <a:ea typeface="Liter" pitchFamily="34" charset="-122"/>
                <a:cs typeface="Liter" pitchFamily="34" charset="-120"/>
              </a:rPr>
              <a:t>Resources</a:t>
            </a:r>
            <a:pPr>
              <a:lnSpc>
                <a:spcPct val="130000"/>
              </a:lnSpc>
              <a:spcBef>
                <a:spcPts val="10"/>
              </a:spcBef>
            </a:pPr>
            <a:r>
              <a:rPr lang="en-US" sz="1076" dirty="0">
                <a:solidFill>
                  <a:srgbClr val="E8EAED">
                    <a:alpha val="80000"/>
                  </a:srgbClr>
                </a:solidFill>
                <a:latin typeface="Liter" pitchFamily="34" charset="0"/>
                <a:ea typeface="Liter" pitchFamily="34" charset="-122"/>
                <a:cs typeface="Liter" pitchFamily="34" charset="-120"/>
              </a:rPr>
              <a:t> tab</a:t>
            </a:r>
            <a:endParaRPr lang="en-US" sz="1600" dirty="0"/>
          </a:p>
          <a:p>
            <a:pPr marL="254000" indent="-254000">
              <a:lnSpc>
                <a:spcPct val="130000"/>
              </a:lnSpc>
              <a:spcBef>
                <a:spcPts val="10"/>
              </a:spcBef>
              <a:buSzPct val="100000"/>
              <a:buFont typeface="+mj-lt"/>
              <a:buAutoNum type="arabicPeriod" startAt="1"/>
            </a:pPr>
            <a:r>
              <a:rPr lang="en-US" sz="1076" dirty="0">
                <a:solidFill>
                  <a:srgbClr val="E8EAED">
                    <a:alpha val="80000"/>
                  </a:srgbClr>
                </a:solidFill>
                <a:latin typeface="Liter" pitchFamily="34" charset="0"/>
                <a:ea typeface="Liter" pitchFamily="34" charset="-122"/>
                <a:cs typeface="Liter" pitchFamily="34" charset="-120"/>
              </a:rPr>
              <a:t>Click </a:t>
            </a:r>
            <a:pPr>
              <a:lnSpc>
                <a:spcPct val="130000"/>
              </a:lnSpc>
              <a:spcBef>
                <a:spcPts val="10"/>
              </a:spcBef>
            </a:pPr>
            <a:r>
              <a:rPr lang="en-US" sz="1076" b="1" dirty="0">
                <a:solidFill>
                  <a:srgbClr val="E8EAED">
                    <a:alpha val="80000"/>
                  </a:srgbClr>
                </a:solidFill>
                <a:latin typeface="Liter" pitchFamily="34" charset="0"/>
                <a:ea typeface="Liter" pitchFamily="34" charset="-122"/>
                <a:cs typeface="Liter" pitchFamily="34" charset="-120"/>
              </a:rPr>
              <a:t>Manage</a:t>
            </a:r>
            <a:pPr>
              <a:lnSpc>
                <a:spcPct val="130000"/>
              </a:lnSpc>
              <a:spcBef>
                <a:spcPts val="10"/>
              </a:spcBef>
            </a:pPr>
            <a:r>
              <a:rPr lang="en-US" sz="1076" dirty="0">
                <a:solidFill>
                  <a:srgbClr val="E8EAED">
                    <a:alpha val="80000"/>
                  </a:srgbClr>
                </a:solidFill>
                <a:latin typeface="Liter" pitchFamily="34" charset="0"/>
                <a:ea typeface="Liter" pitchFamily="34" charset="-122"/>
                <a:cs typeface="Liter" pitchFamily="34" charset="-120"/>
              </a:rPr>
              <a:t> in iRules section</a:t>
            </a:r>
            <a:endParaRPr lang="en-US" sz="1600" dirty="0"/>
          </a:p>
          <a:p>
            <a:pPr marL="254000" indent="-254000">
              <a:lnSpc>
                <a:spcPct val="130000"/>
              </a:lnSpc>
              <a:spcBef>
                <a:spcPts val="10"/>
              </a:spcBef>
              <a:buSzPct val="100000"/>
              <a:buFont typeface="+mj-lt"/>
              <a:buAutoNum type="arabicPeriod" startAt="1"/>
            </a:pPr>
            <a:r>
              <a:rPr lang="en-US" sz="1076" dirty="0">
                <a:solidFill>
                  <a:srgbClr val="E8EAED">
                    <a:alpha val="80000"/>
                  </a:srgbClr>
                </a:solidFill>
                <a:latin typeface="Liter" pitchFamily="34" charset="0"/>
                <a:ea typeface="Liter" pitchFamily="34" charset="-122"/>
                <a:cs typeface="Liter" pitchFamily="34" charset="-120"/>
              </a:rPr>
              <a:t>Move iRule to </a:t>
            </a:r>
            <a:pPr>
              <a:lnSpc>
                <a:spcPct val="130000"/>
              </a:lnSpc>
              <a:spcBef>
                <a:spcPts val="10"/>
              </a:spcBef>
            </a:pPr>
            <a:r>
              <a:rPr lang="en-US" sz="1076" b="1" dirty="0">
                <a:solidFill>
                  <a:srgbClr val="E8EAED">
                    <a:alpha val="80000"/>
                  </a:srgbClr>
                </a:solidFill>
                <a:latin typeface="Liter" pitchFamily="34" charset="0"/>
                <a:ea typeface="Liter" pitchFamily="34" charset="-122"/>
                <a:cs typeface="Liter" pitchFamily="34" charset="-120"/>
              </a:rPr>
              <a:t>Enabled</a:t>
            </a:r>
            <a:pPr>
              <a:lnSpc>
                <a:spcPct val="130000"/>
              </a:lnSpc>
              <a:spcBef>
                <a:spcPts val="10"/>
              </a:spcBef>
            </a:pPr>
            <a:r>
              <a:rPr lang="en-US" sz="1076" dirty="0">
                <a:solidFill>
                  <a:srgbClr val="E8EAED">
                    <a:alpha val="80000"/>
                  </a:srgbClr>
                </a:solidFill>
                <a:latin typeface="Liter" pitchFamily="34" charset="0"/>
                <a:ea typeface="Liter" pitchFamily="34" charset="-122"/>
                <a:cs typeface="Liter" pitchFamily="34" charset="-120"/>
              </a:rPr>
              <a:t> list</a:t>
            </a:r>
            <a:endParaRPr lang="en-US" sz="1600" dirty="0"/>
          </a:p>
          <a:p>
            <a:pPr marL="254000" indent="-254000">
              <a:lnSpc>
                <a:spcPct val="130000"/>
              </a:lnSpc>
              <a:spcBef>
                <a:spcPts val="10"/>
              </a:spcBef>
              <a:buSzPct val="100000"/>
              <a:buFont typeface="+mj-lt"/>
              <a:buAutoNum type="arabicPeriod" startAt="1"/>
            </a:pPr>
            <a:r>
              <a:rPr lang="en-US" sz="1076" dirty="0">
                <a:solidFill>
                  <a:srgbClr val="E8EAED">
                    <a:alpha val="80000"/>
                  </a:srgbClr>
                </a:solidFill>
                <a:latin typeface="Liter" pitchFamily="34" charset="0"/>
                <a:ea typeface="Liter" pitchFamily="34" charset="-122"/>
                <a:cs typeface="Liter" pitchFamily="34" charset="-120"/>
              </a:rPr>
              <a:t>Click </a:t>
            </a:r>
            <a:pPr>
              <a:lnSpc>
                <a:spcPct val="130000"/>
              </a:lnSpc>
              <a:spcBef>
                <a:spcPts val="10"/>
              </a:spcBef>
            </a:pPr>
            <a:r>
              <a:rPr lang="en-US" sz="1076" b="1" dirty="0">
                <a:solidFill>
                  <a:srgbClr val="E8EAED">
                    <a:alpha val="80000"/>
                  </a:srgbClr>
                </a:solidFill>
                <a:latin typeface="Liter" pitchFamily="34" charset="0"/>
                <a:ea typeface="Liter" pitchFamily="34" charset="-122"/>
                <a:cs typeface="Liter" pitchFamily="34" charset="-120"/>
              </a:rPr>
              <a:t>Finished</a:t>
            </a:r>
            <a:endParaRPr lang="en-US" sz="1600" dirty="0"/>
          </a:p>
        </p:txBody>
      </p:sp>
      <p:sp>
        <p:nvSpPr>
          <p:cNvPr id="11" name="Shape 9"/>
          <p:cNvSpPr/>
          <p:nvPr/>
        </p:nvSpPr>
        <p:spPr>
          <a:xfrm>
            <a:off x="519099" y="3729316"/>
            <a:ext cx="5327597" cy="956235"/>
          </a:xfrm>
          <a:custGeom>
            <a:avLst/>
            <a:gdLst/>
            <a:ahLst/>
            <a:cxnLst/>
            <a:rect l="l" t="t" r="r" b="b"/>
            <a:pathLst>
              <a:path w="5327597" h="956235">
                <a:moveTo>
                  <a:pt x="68304" y="0"/>
                </a:moveTo>
                <a:lnTo>
                  <a:pt x="5259293" y="0"/>
                </a:lnTo>
                <a:cubicBezTo>
                  <a:pt x="5297016" y="0"/>
                  <a:pt x="5327597" y="30581"/>
                  <a:pt x="5327597" y="68304"/>
                </a:cubicBezTo>
                <a:lnTo>
                  <a:pt x="5327597" y="887931"/>
                </a:lnTo>
                <a:cubicBezTo>
                  <a:pt x="5327597" y="925655"/>
                  <a:pt x="5297016" y="956235"/>
                  <a:pt x="5259293" y="956235"/>
                </a:cubicBezTo>
                <a:lnTo>
                  <a:pt x="68304" y="956235"/>
                </a:lnTo>
                <a:cubicBezTo>
                  <a:pt x="30581" y="956235"/>
                  <a:pt x="0" y="925655"/>
                  <a:pt x="0" y="887931"/>
                </a:cubicBezTo>
                <a:lnTo>
                  <a:pt x="0" y="68304"/>
                </a:lnTo>
                <a:cubicBezTo>
                  <a:pt x="0" y="30606"/>
                  <a:pt x="30606" y="0"/>
                  <a:pt x="68304" y="0"/>
                </a:cubicBezTo>
                <a:close/>
              </a:path>
            </a:pathLst>
          </a:custGeom>
          <a:solidFill>
            <a:srgbClr val="1A1D21">
              <a:alpha val="50196"/>
            </a:srgbClr>
          </a:solidFill>
          <a:ln/>
        </p:spPr>
      </p:sp>
      <p:sp>
        <p:nvSpPr>
          <p:cNvPr id="12" name="Text 10"/>
          <p:cNvSpPr/>
          <p:nvPr/>
        </p:nvSpPr>
        <p:spPr>
          <a:xfrm>
            <a:off x="621553" y="3831770"/>
            <a:ext cx="5190992" cy="204908"/>
          </a:xfrm>
          <a:prstGeom prst="rect">
            <a:avLst/>
          </a:prstGeom>
          <a:noFill/>
          <a:ln/>
        </p:spPr>
        <p:txBody>
          <a:bodyPr wrap="square" lIns="0" tIns="0" rIns="0" bIns="0" rtlCol="0" anchor="ctr"/>
          <a:lstStyle/>
          <a:p>
            <a:pPr>
              <a:lnSpc>
                <a:spcPct val="130000"/>
              </a:lnSpc>
            </a:pPr>
            <a:r>
              <a:rPr lang="en-US" sz="1076" b="1" dirty="0">
                <a:solidFill>
                  <a:srgbClr val="E8EAED"/>
                </a:solidFill>
                <a:latin typeface="Liter" pitchFamily="34" charset="0"/>
                <a:ea typeface="Liter" pitchFamily="34" charset="-122"/>
                <a:cs typeface="Liter" pitchFamily="34" charset="-120"/>
              </a:rPr>
              <a:t>Via TMSH:</a:t>
            </a:r>
            <a:endParaRPr lang="en-US" sz="1600" dirty="0"/>
          </a:p>
        </p:txBody>
      </p:sp>
      <p:sp>
        <p:nvSpPr>
          <p:cNvPr id="13" name="Shape 11"/>
          <p:cNvSpPr/>
          <p:nvPr/>
        </p:nvSpPr>
        <p:spPr>
          <a:xfrm>
            <a:off x="631798" y="4104980"/>
            <a:ext cx="5115859" cy="478118"/>
          </a:xfrm>
          <a:custGeom>
            <a:avLst/>
            <a:gdLst/>
            <a:ahLst/>
            <a:cxnLst/>
            <a:rect l="l" t="t" r="r" b="b"/>
            <a:pathLst>
              <a:path w="5115859" h="478118">
                <a:moveTo>
                  <a:pt x="20491" y="0"/>
                </a:moveTo>
                <a:lnTo>
                  <a:pt x="5081707" y="0"/>
                </a:lnTo>
                <a:cubicBezTo>
                  <a:pt x="5100568" y="0"/>
                  <a:pt x="5115859" y="15290"/>
                  <a:pt x="5115859" y="34152"/>
                </a:cubicBezTo>
                <a:lnTo>
                  <a:pt x="5115859" y="443966"/>
                </a:lnTo>
                <a:cubicBezTo>
                  <a:pt x="5115859" y="462827"/>
                  <a:pt x="5100568" y="478118"/>
                  <a:pt x="5081707" y="478118"/>
                </a:cubicBezTo>
                <a:lnTo>
                  <a:pt x="20491" y="478118"/>
                </a:lnTo>
                <a:cubicBezTo>
                  <a:pt x="9174" y="478118"/>
                  <a:pt x="0" y="468944"/>
                  <a:pt x="0" y="457627"/>
                </a:cubicBezTo>
                <a:lnTo>
                  <a:pt x="0" y="20491"/>
                </a:lnTo>
                <a:cubicBezTo>
                  <a:pt x="0" y="9182"/>
                  <a:pt x="9182" y="0"/>
                  <a:pt x="20491" y="0"/>
                </a:cubicBezTo>
                <a:close/>
              </a:path>
            </a:pathLst>
          </a:custGeom>
          <a:solidFill>
            <a:srgbClr val="1A1D21">
              <a:alpha val="90196"/>
            </a:srgbClr>
          </a:solidFill>
          <a:ln/>
        </p:spPr>
      </p:sp>
      <p:sp>
        <p:nvSpPr>
          <p:cNvPr id="14" name="Shape 12"/>
          <p:cNvSpPr/>
          <p:nvPr/>
        </p:nvSpPr>
        <p:spPr>
          <a:xfrm>
            <a:off x="631798" y="4104980"/>
            <a:ext cx="20491" cy="478118"/>
          </a:xfrm>
          <a:custGeom>
            <a:avLst/>
            <a:gdLst/>
            <a:ahLst/>
            <a:cxnLst/>
            <a:rect l="l" t="t" r="r" b="b"/>
            <a:pathLst>
              <a:path w="20491" h="478118">
                <a:moveTo>
                  <a:pt x="20491" y="0"/>
                </a:moveTo>
                <a:lnTo>
                  <a:pt x="20491" y="0"/>
                </a:lnTo>
                <a:lnTo>
                  <a:pt x="20491" y="478118"/>
                </a:lnTo>
                <a:lnTo>
                  <a:pt x="20491" y="478118"/>
                </a:lnTo>
                <a:cubicBezTo>
                  <a:pt x="9174" y="478118"/>
                  <a:pt x="0" y="468944"/>
                  <a:pt x="0" y="457627"/>
                </a:cubicBezTo>
                <a:lnTo>
                  <a:pt x="0" y="20491"/>
                </a:lnTo>
                <a:cubicBezTo>
                  <a:pt x="0" y="9174"/>
                  <a:pt x="9174" y="0"/>
                  <a:pt x="20491" y="0"/>
                </a:cubicBezTo>
                <a:close/>
              </a:path>
            </a:pathLst>
          </a:custGeom>
          <a:solidFill>
            <a:srgbClr val="F47C20"/>
          </a:solidFill>
          <a:ln/>
        </p:spPr>
      </p:sp>
      <p:sp>
        <p:nvSpPr>
          <p:cNvPr id="15" name="Text 13"/>
          <p:cNvSpPr/>
          <p:nvPr/>
        </p:nvSpPr>
        <p:spPr>
          <a:xfrm>
            <a:off x="710346" y="4173282"/>
            <a:ext cx="5028773" cy="341513"/>
          </a:xfrm>
          <a:prstGeom prst="rect">
            <a:avLst/>
          </a:prstGeom>
          <a:noFill/>
          <a:ln/>
        </p:spPr>
        <p:txBody>
          <a:bodyPr wrap="square" lIns="0" tIns="0" rIns="0" bIns="0" rtlCol="0" anchor="ctr"/>
          <a:lstStyle/>
          <a:p>
            <a:pPr>
              <a:lnSpc>
                <a:spcPct val="100000"/>
              </a:lnSpc>
            </a:pPr>
            <a:r>
              <a:rPr lang="en-US" sz="941" dirty="0">
                <a:solidFill>
                  <a:srgbClr val="E8EAED">
                    <a:alpha val="90000"/>
                  </a:srgbClr>
                </a:solidFill>
                <a:latin typeface="MiSans" pitchFamily="34" charset="0"/>
                <a:ea typeface="MiSans" pitchFamily="34" charset="-122"/>
                <a:cs typeface="MiSans" pitchFamily="34" charset="-120"/>
              </a:rPr>
              <a:t>modify ltm virtual vs_example.com \</a:t>
            </a:r>
            <a:endParaRPr lang="en-US" sz="1600" dirty="0"/>
          </a:p>
          <a:p>
            <a:pPr>
              <a:lnSpc>
                <a:spcPct val="100000"/>
              </a:lnSpc>
            </a:pPr>
            <a:r>
              <a:rPr lang="en-US" sz="941" dirty="0">
                <a:solidFill>
                  <a:srgbClr val="E8EAED">
                    <a:alpha val="90000"/>
                  </a:srgbClr>
                </a:solidFill>
                <a:latin typeface="MiSans" pitchFamily="34" charset="0"/>
                <a:ea typeface="MiSans" pitchFamily="34" charset="-122"/>
                <a:cs typeface="MiSans" pitchFamily="34" charset="-120"/>
              </a:rPr>
              <a:t>  rules { iRule_CF_Aegis_Whitelist }</a:t>
            </a:r>
            <a:endParaRPr lang="en-US" sz="1600" dirty="0"/>
          </a:p>
        </p:txBody>
      </p:sp>
      <p:sp>
        <p:nvSpPr>
          <p:cNvPr id="16" name="Shape 14"/>
          <p:cNvSpPr/>
          <p:nvPr/>
        </p:nvSpPr>
        <p:spPr>
          <a:xfrm>
            <a:off x="344928" y="5003165"/>
            <a:ext cx="5675939" cy="1133822"/>
          </a:xfrm>
          <a:custGeom>
            <a:avLst/>
            <a:gdLst/>
            <a:ahLst/>
            <a:cxnLst/>
            <a:rect l="l" t="t" r="r" b="b"/>
            <a:pathLst>
              <a:path w="5675939" h="1133822">
                <a:moveTo>
                  <a:pt x="102452" y="0"/>
                </a:moveTo>
                <a:lnTo>
                  <a:pt x="5573487" y="0"/>
                </a:lnTo>
                <a:cubicBezTo>
                  <a:pt x="5630070" y="0"/>
                  <a:pt x="5675939" y="45869"/>
                  <a:pt x="5675939" y="102452"/>
                </a:cubicBezTo>
                <a:lnTo>
                  <a:pt x="5675939" y="1031370"/>
                </a:lnTo>
                <a:cubicBezTo>
                  <a:pt x="5675939" y="1087952"/>
                  <a:pt x="5630070" y="1133822"/>
                  <a:pt x="5573487" y="1133822"/>
                </a:cubicBezTo>
                <a:lnTo>
                  <a:pt x="102452" y="1133822"/>
                </a:lnTo>
                <a:cubicBezTo>
                  <a:pt x="45869" y="1133822"/>
                  <a:pt x="0" y="1087952"/>
                  <a:pt x="0" y="1031370"/>
                </a:cubicBezTo>
                <a:lnTo>
                  <a:pt x="0" y="102452"/>
                </a:lnTo>
                <a:cubicBezTo>
                  <a:pt x="0" y="45907"/>
                  <a:pt x="45907" y="0"/>
                  <a:pt x="102452" y="0"/>
                </a:cubicBezTo>
                <a:close/>
              </a:path>
            </a:pathLst>
          </a:custGeom>
          <a:solidFill>
            <a:srgbClr val="00A4E0">
              <a:alpha val="10196"/>
            </a:srgbClr>
          </a:solidFill>
          <a:ln w="10160">
            <a:solidFill>
              <a:srgbClr val="00A4E0">
                <a:alpha val="30196"/>
              </a:srgbClr>
            </a:solidFill>
            <a:prstDash val="solid"/>
          </a:ln>
        </p:spPr>
      </p:sp>
      <p:sp>
        <p:nvSpPr>
          <p:cNvPr id="17" name="Shape 15"/>
          <p:cNvSpPr/>
          <p:nvPr/>
        </p:nvSpPr>
        <p:spPr>
          <a:xfrm>
            <a:off x="529771" y="5211486"/>
            <a:ext cx="192101" cy="170756"/>
          </a:xfrm>
          <a:custGeom>
            <a:avLst/>
            <a:gdLst/>
            <a:ahLst/>
            <a:cxnLst/>
            <a:rect l="l" t="t" r="r" b="b"/>
            <a:pathLst>
              <a:path w="192101" h="170756">
                <a:moveTo>
                  <a:pt x="82243" y="124932"/>
                </a:moveTo>
                <a:lnTo>
                  <a:pt x="50226" y="156949"/>
                </a:lnTo>
                <a:cubicBezTo>
                  <a:pt x="46058" y="161118"/>
                  <a:pt x="39287" y="161118"/>
                  <a:pt x="35118" y="156949"/>
                </a:cubicBezTo>
                <a:lnTo>
                  <a:pt x="3102" y="124932"/>
                </a:lnTo>
                <a:cubicBezTo>
                  <a:pt x="-1067" y="120763"/>
                  <a:pt x="-1067" y="113993"/>
                  <a:pt x="3102" y="109824"/>
                </a:cubicBezTo>
                <a:cubicBezTo>
                  <a:pt x="7270" y="105655"/>
                  <a:pt x="14041" y="105655"/>
                  <a:pt x="18210" y="109824"/>
                </a:cubicBezTo>
                <a:lnTo>
                  <a:pt x="32017" y="123632"/>
                </a:lnTo>
                <a:lnTo>
                  <a:pt x="32017" y="21345"/>
                </a:lnTo>
                <a:cubicBezTo>
                  <a:pt x="32017" y="15441"/>
                  <a:pt x="36786" y="10672"/>
                  <a:pt x="42689" y="10672"/>
                </a:cubicBezTo>
                <a:cubicBezTo>
                  <a:pt x="48592" y="10672"/>
                  <a:pt x="53361" y="15441"/>
                  <a:pt x="53361" y="21345"/>
                </a:cubicBezTo>
                <a:lnTo>
                  <a:pt x="53361" y="123632"/>
                </a:lnTo>
                <a:lnTo>
                  <a:pt x="67169" y="109824"/>
                </a:lnTo>
                <a:cubicBezTo>
                  <a:pt x="71337" y="105655"/>
                  <a:pt x="78108" y="105655"/>
                  <a:pt x="82277" y="109824"/>
                </a:cubicBezTo>
                <a:cubicBezTo>
                  <a:pt x="86445" y="113993"/>
                  <a:pt x="86445" y="120763"/>
                  <a:pt x="82277" y="124932"/>
                </a:cubicBezTo>
                <a:close/>
                <a:moveTo>
                  <a:pt x="106723" y="160084"/>
                </a:moveTo>
                <a:cubicBezTo>
                  <a:pt x="100820" y="160084"/>
                  <a:pt x="96050" y="155315"/>
                  <a:pt x="96050" y="149412"/>
                </a:cubicBezTo>
                <a:cubicBezTo>
                  <a:pt x="96050" y="143509"/>
                  <a:pt x="100820" y="138739"/>
                  <a:pt x="106723" y="138739"/>
                </a:cubicBezTo>
                <a:lnTo>
                  <a:pt x="117395" y="138739"/>
                </a:lnTo>
                <a:cubicBezTo>
                  <a:pt x="123298" y="138739"/>
                  <a:pt x="128067" y="143509"/>
                  <a:pt x="128067" y="149412"/>
                </a:cubicBezTo>
                <a:cubicBezTo>
                  <a:pt x="128067" y="155315"/>
                  <a:pt x="123298" y="160084"/>
                  <a:pt x="117395" y="160084"/>
                </a:cubicBezTo>
                <a:lnTo>
                  <a:pt x="106723" y="160084"/>
                </a:lnTo>
                <a:close/>
                <a:moveTo>
                  <a:pt x="106723" y="117395"/>
                </a:moveTo>
                <a:cubicBezTo>
                  <a:pt x="100820" y="117395"/>
                  <a:pt x="96050" y="112626"/>
                  <a:pt x="96050" y="106723"/>
                </a:cubicBezTo>
                <a:cubicBezTo>
                  <a:pt x="96050" y="100820"/>
                  <a:pt x="100820" y="96050"/>
                  <a:pt x="106723" y="96050"/>
                </a:cubicBezTo>
                <a:lnTo>
                  <a:pt x="138739" y="96050"/>
                </a:lnTo>
                <a:cubicBezTo>
                  <a:pt x="144643" y="96050"/>
                  <a:pt x="149412" y="100820"/>
                  <a:pt x="149412" y="106723"/>
                </a:cubicBezTo>
                <a:cubicBezTo>
                  <a:pt x="149412" y="112626"/>
                  <a:pt x="144643" y="117395"/>
                  <a:pt x="138739" y="117395"/>
                </a:cubicBezTo>
                <a:lnTo>
                  <a:pt x="106723" y="117395"/>
                </a:lnTo>
                <a:close/>
                <a:moveTo>
                  <a:pt x="106723" y="74706"/>
                </a:moveTo>
                <a:cubicBezTo>
                  <a:pt x="100820" y="74706"/>
                  <a:pt x="96050" y="69937"/>
                  <a:pt x="96050" y="64034"/>
                </a:cubicBezTo>
                <a:cubicBezTo>
                  <a:pt x="96050" y="58131"/>
                  <a:pt x="100820" y="53361"/>
                  <a:pt x="106723" y="53361"/>
                </a:cubicBezTo>
                <a:lnTo>
                  <a:pt x="160084" y="53361"/>
                </a:lnTo>
                <a:cubicBezTo>
                  <a:pt x="165987" y="53361"/>
                  <a:pt x="170756" y="58131"/>
                  <a:pt x="170756" y="64034"/>
                </a:cubicBezTo>
                <a:cubicBezTo>
                  <a:pt x="170756" y="69937"/>
                  <a:pt x="165987" y="74706"/>
                  <a:pt x="160084" y="74706"/>
                </a:cubicBezTo>
                <a:lnTo>
                  <a:pt x="106723" y="74706"/>
                </a:lnTo>
                <a:close/>
                <a:moveTo>
                  <a:pt x="106723" y="32017"/>
                </a:moveTo>
                <a:cubicBezTo>
                  <a:pt x="100820" y="32017"/>
                  <a:pt x="96050" y="27248"/>
                  <a:pt x="96050" y="21345"/>
                </a:cubicBezTo>
                <a:cubicBezTo>
                  <a:pt x="96050" y="15441"/>
                  <a:pt x="100820" y="10672"/>
                  <a:pt x="106723" y="10672"/>
                </a:cubicBezTo>
                <a:lnTo>
                  <a:pt x="181429" y="10672"/>
                </a:lnTo>
                <a:cubicBezTo>
                  <a:pt x="187332" y="10672"/>
                  <a:pt x="192101" y="15441"/>
                  <a:pt x="192101" y="21345"/>
                </a:cubicBezTo>
                <a:cubicBezTo>
                  <a:pt x="192101" y="27248"/>
                  <a:pt x="187332" y="32017"/>
                  <a:pt x="181429" y="32017"/>
                </a:cubicBezTo>
                <a:lnTo>
                  <a:pt x="106723" y="32017"/>
                </a:lnTo>
                <a:close/>
              </a:path>
            </a:pathLst>
          </a:custGeom>
          <a:solidFill>
            <a:srgbClr val="00A4E0"/>
          </a:solidFill>
          <a:ln/>
        </p:spPr>
      </p:sp>
      <p:sp>
        <p:nvSpPr>
          <p:cNvPr id="18" name="Text 16"/>
          <p:cNvSpPr/>
          <p:nvPr/>
        </p:nvSpPr>
        <p:spPr>
          <a:xfrm>
            <a:off x="834998" y="5177334"/>
            <a:ext cx="930622" cy="239059"/>
          </a:xfrm>
          <a:prstGeom prst="rect">
            <a:avLst/>
          </a:prstGeom>
          <a:noFill/>
          <a:ln/>
        </p:spPr>
        <p:txBody>
          <a:bodyPr wrap="square" lIns="0" tIns="0" rIns="0" bIns="0" rtlCol="0" anchor="ctr"/>
          <a:lstStyle/>
          <a:p>
            <a:pPr>
              <a:lnSpc>
                <a:spcPct val="130000"/>
              </a:lnSpc>
            </a:pPr>
            <a:r>
              <a:rPr lang="en-US" sz="1210" b="1" dirty="0">
                <a:solidFill>
                  <a:srgbClr val="E8EAED"/>
                </a:solidFill>
                <a:latin typeface="Liter" pitchFamily="34" charset="0"/>
                <a:ea typeface="Liter" pitchFamily="34" charset="-122"/>
                <a:cs typeface="Liter" pitchFamily="34" charset="-120"/>
              </a:rPr>
              <a:t>iRule Priority</a:t>
            </a:r>
            <a:endParaRPr lang="en-US" sz="1600" dirty="0"/>
          </a:p>
        </p:txBody>
      </p:sp>
      <p:sp>
        <p:nvSpPr>
          <p:cNvPr id="19" name="Text 17"/>
          <p:cNvSpPr/>
          <p:nvPr/>
        </p:nvSpPr>
        <p:spPr>
          <a:xfrm>
            <a:off x="519099" y="5518847"/>
            <a:ext cx="5395899" cy="443966"/>
          </a:xfrm>
          <a:prstGeom prst="rect">
            <a:avLst/>
          </a:prstGeom>
          <a:noFill/>
          <a:ln/>
        </p:spPr>
        <p:txBody>
          <a:bodyPr wrap="square" lIns="0" tIns="0" rIns="0" bIns="0" rtlCol="0" anchor="ctr"/>
          <a:lstStyle/>
          <a:p>
            <a:pPr>
              <a:lnSpc>
                <a:spcPct val="140000"/>
              </a:lnSpc>
            </a:pPr>
            <a:r>
              <a:rPr lang="en-US" sz="1076" dirty="0">
                <a:solidFill>
                  <a:srgbClr val="E8EAED">
                    <a:alpha val="80000"/>
                  </a:srgbClr>
                </a:solidFill>
                <a:latin typeface="Liter" pitchFamily="34" charset="0"/>
                <a:ea typeface="Liter" pitchFamily="34" charset="-122"/>
                <a:cs typeface="Liter" pitchFamily="34" charset="-120"/>
              </a:rPr>
              <a:t>If multiple iRules are attached, order matters. Place the Aegis whitelist iRule </a:t>
            </a:r>
            <a:pPr>
              <a:lnSpc>
                <a:spcPct val="140000"/>
              </a:lnSpc>
            </a:pPr>
            <a:r>
              <a:rPr lang="en-US" sz="1076" b="1" dirty="0">
                <a:solidFill>
                  <a:srgbClr val="00A4E0"/>
                </a:solidFill>
                <a:latin typeface="Liter" pitchFamily="34" charset="0"/>
                <a:ea typeface="Liter" pitchFamily="34" charset="-122"/>
                <a:cs typeface="Liter" pitchFamily="34" charset="-120"/>
              </a:rPr>
              <a:t>first</a:t>
            </a:r>
            <a:pPr>
              <a:lnSpc>
                <a:spcPct val="140000"/>
              </a:lnSpc>
            </a:pPr>
            <a:r>
              <a:rPr lang="en-US" sz="1076" dirty="0">
                <a:solidFill>
                  <a:srgbClr val="E8EAED">
                    <a:alpha val="80000"/>
                  </a:srgbClr>
                </a:solidFill>
                <a:latin typeface="Liter" pitchFamily="34" charset="0"/>
                <a:ea typeface="Liter" pitchFamily="34" charset="-122"/>
                <a:cs typeface="Liter" pitchFamily="34" charset="-120"/>
              </a:rPr>
              <a:t> to reject unauthorized traffic before processing other rules.</a:t>
            </a:r>
            <a:endParaRPr lang="en-US" sz="1600" dirty="0"/>
          </a:p>
        </p:txBody>
      </p:sp>
      <p:sp>
        <p:nvSpPr>
          <p:cNvPr id="20" name="Shape 18"/>
          <p:cNvSpPr/>
          <p:nvPr/>
        </p:nvSpPr>
        <p:spPr>
          <a:xfrm>
            <a:off x="6165797" y="1096255"/>
            <a:ext cx="5675939" cy="4173284"/>
          </a:xfrm>
          <a:custGeom>
            <a:avLst/>
            <a:gdLst/>
            <a:ahLst/>
            <a:cxnLst/>
            <a:rect l="l" t="t" r="r" b="b"/>
            <a:pathLst>
              <a:path w="5675939" h="4173284">
                <a:moveTo>
                  <a:pt x="102454" y="0"/>
                </a:moveTo>
                <a:lnTo>
                  <a:pt x="5573485" y="0"/>
                </a:lnTo>
                <a:cubicBezTo>
                  <a:pt x="5630069" y="0"/>
                  <a:pt x="5675939" y="45870"/>
                  <a:pt x="5675939" y="102454"/>
                </a:cubicBezTo>
                <a:lnTo>
                  <a:pt x="5675939" y="4070830"/>
                </a:lnTo>
                <a:cubicBezTo>
                  <a:pt x="5675939" y="4127414"/>
                  <a:pt x="5630069" y="4173284"/>
                  <a:pt x="5573485" y="4173284"/>
                </a:cubicBezTo>
                <a:lnTo>
                  <a:pt x="102454" y="4173284"/>
                </a:lnTo>
                <a:cubicBezTo>
                  <a:pt x="45870" y="4173284"/>
                  <a:pt x="0" y="4127414"/>
                  <a:pt x="0" y="4070830"/>
                </a:cubicBezTo>
                <a:lnTo>
                  <a:pt x="0" y="102454"/>
                </a:lnTo>
                <a:cubicBezTo>
                  <a:pt x="0" y="45908"/>
                  <a:pt x="45908" y="0"/>
                  <a:pt x="102454" y="0"/>
                </a:cubicBezTo>
                <a:close/>
              </a:path>
            </a:pathLst>
          </a:custGeom>
          <a:solidFill>
            <a:srgbClr val="48515E">
              <a:alpha val="20000"/>
            </a:srgbClr>
          </a:solidFill>
          <a:ln w="10160">
            <a:solidFill>
              <a:srgbClr val="48515E">
                <a:alpha val="40000"/>
              </a:srgbClr>
            </a:solidFill>
            <a:prstDash val="solid"/>
          </a:ln>
        </p:spPr>
      </p:sp>
      <p:sp>
        <p:nvSpPr>
          <p:cNvPr id="21" name="Shape 19"/>
          <p:cNvSpPr/>
          <p:nvPr/>
        </p:nvSpPr>
        <p:spPr>
          <a:xfrm>
            <a:off x="6339968" y="1270425"/>
            <a:ext cx="341513" cy="341513"/>
          </a:xfrm>
          <a:custGeom>
            <a:avLst/>
            <a:gdLst/>
            <a:ahLst/>
            <a:cxnLst/>
            <a:rect l="l" t="t" r="r" b="b"/>
            <a:pathLst>
              <a:path w="341513" h="341513">
                <a:moveTo>
                  <a:pt x="68303" y="0"/>
                </a:moveTo>
                <a:lnTo>
                  <a:pt x="273210" y="0"/>
                </a:lnTo>
                <a:cubicBezTo>
                  <a:pt x="310907" y="0"/>
                  <a:pt x="341513" y="30605"/>
                  <a:pt x="341513" y="68303"/>
                </a:cubicBezTo>
                <a:lnTo>
                  <a:pt x="341513" y="273210"/>
                </a:lnTo>
                <a:cubicBezTo>
                  <a:pt x="341513" y="310933"/>
                  <a:pt x="310933" y="341513"/>
                  <a:pt x="273210" y="341513"/>
                </a:cubicBezTo>
                <a:lnTo>
                  <a:pt x="68303" y="341513"/>
                </a:lnTo>
                <a:cubicBezTo>
                  <a:pt x="30605" y="341513"/>
                  <a:pt x="0" y="310907"/>
                  <a:pt x="0" y="273210"/>
                </a:cubicBezTo>
                <a:lnTo>
                  <a:pt x="0" y="68303"/>
                </a:lnTo>
                <a:cubicBezTo>
                  <a:pt x="0" y="30605"/>
                  <a:pt x="30605" y="0"/>
                  <a:pt x="68303" y="0"/>
                </a:cubicBezTo>
                <a:close/>
              </a:path>
            </a:pathLst>
          </a:custGeom>
          <a:solidFill>
            <a:srgbClr val="F47C20">
              <a:alpha val="20000"/>
            </a:srgbClr>
          </a:solidFill>
          <a:ln/>
        </p:spPr>
      </p:sp>
      <p:sp>
        <p:nvSpPr>
          <p:cNvPr id="22" name="Shape 20"/>
          <p:cNvSpPr/>
          <p:nvPr/>
        </p:nvSpPr>
        <p:spPr>
          <a:xfrm>
            <a:off x="6436019" y="1364341"/>
            <a:ext cx="153681" cy="153681"/>
          </a:xfrm>
          <a:custGeom>
            <a:avLst/>
            <a:gdLst/>
            <a:ahLst/>
            <a:cxnLst/>
            <a:rect l="l" t="t" r="r" b="b"/>
            <a:pathLst>
              <a:path w="153681" h="153681">
                <a:moveTo>
                  <a:pt x="102834" y="2821"/>
                </a:moveTo>
                <a:cubicBezTo>
                  <a:pt x="99082" y="-930"/>
                  <a:pt x="92989" y="-930"/>
                  <a:pt x="89237" y="2821"/>
                </a:cubicBezTo>
                <a:cubicBezTo>
                  <a:pt x="85485" y="6573"/>
                  <a:pt x="85485" y="12667"/>
                  <a:pt x="89237" y="16419"/>
                </a:cubicBezTo>
                <a:lnTo>
                  <a:pt x="92058" y="19210"/>
                </a:lnTo>
                <a:lnTo>
                  <a:pt x="8434" y="102834"/>
                </a:lnTo>
                <a:cubicBezTo>
                  <a:pt x="3032" y="108237"/>
                  <a:pt x="0" y="115561"/>
                  <a:pt x="0" y="123215"/>
                </a:cubicBezTo>
                <a:lnTo>
                  <a:pt x="0" y="124866"/>
                </a:lnTo>
                <a:cubicBezTo>
                  <a:pt x="0" y="140774"/>
                  <a:pt x="12907" y="153681"/>
                  <a:pt x="28815" y="153681"/>
                </a:cubicBezTo>
                <a:lnTo>
                  <a:pt x="30466" y="153681"/>
                </a:lnTo>
                <a:cubicBezTo>
                  <a:pt x="38120" y="153681"/>
                  <a:pt x="45444" y="150649"/>
                  <a:pt x="50847" y="145246"/>
                </a:cubicBezTo>
                <a:lnTo>
                  <a:pt x="134471" y="61622"/>
                </a:lnTo>
                <a:lnTo>
                  <a:pt x="137292" y="64444"/>
                </a:lnTo>
                <a:cubicBezTo>
                  <a:pt x="141044" y="68196"/>
                  <a:pt x="147137" y="68196"/>
                  <a:pt x="150889" y="64444"/>
                </a:cubicBezTo>
                <a:cubicBezTo>
                  <a:pt x="154641" y="60692"/>
                  <a:pt x="154641" y="54599"/>
                  <a:pt x="150889" y="50847"/>
                </a:cubicBezTo>
                <a:lnTo>
                  <a:pt x="102864" y="2821"/>
                </a:lnTo>
                <a:close/>
                <a:moveTo>
                  <a:pt x="61622" y="76840"/>
                </a:moveTo>
                <a:lnTo>
                  <a:pt x="105655" y="32807"/>
                </a:lnTo>
                <a:lnTo>
                  <a:pt x="120873" y="48025"/>
                </a:lnTo>
                <a:lnTo>
                  <a:pt x="92058" y="76840"/>
                </a:lnTo>
                <a:lnTo>
                  <a:pt x="61592" y="76840"/>
                </a:lnTo>
                <a:close/>
              </a:path>
            </a:pathLst>
          </a:custGeom>
          <a:solidFill>
            <a:srgbClr val="F47C20"/>
          </a:solidFill>
          <a:ln/>
        </p:spPr>
      </p:sp>
      <p:sp>
        <p:nvSpPr>
          <p:cNvPr id="23" name="Text 21"/>
          <p:cNvSpPr/>
          <p:nvPr/>
        </p:nvSpPr>
        <p:spPr>
          <a:xfrm>
            <a:off x="6783935" y="1321652"/>
            <a:ext cx="1716101" cy="239059"/>
          </a:xfrm>
          <a:prstGeom prst="rect">
            <a:avLst/>
          </a:prstGeom>
          <a:noFill/>
          <a:ln/>
        </p:spPr>
        <p:txBody>
          <a:bodyPr wrap="square" lIns="0" tIns="0" rIns="0" bIns="0" rtlCol="0" anchor="ctr"/>
          <a:lstStyle/>
          <a:p>
            <a:pPr>
              <a:lnSpc>
                <a:spcPct val="120000"/>
              </a:lnSpc>
            </a:pPr>
            <a:r>
              <a:rPr lang="en-US" sz="1345" b="1" dirty="0">
                <a:solidFill>
                  <a:srgbClr val="E8EAED"/>
                </a:solidFill>
                <a:latin typeface="Liter" pitchFamily="34" charset="0"/>
                <a:ea typeface="Liter" pitchFamily="34" charset="-122"/>
                <a:cs typeface="Liter" pitchFamily="34" charset="-120"/>
              </a:rPr>
              <a:t>Testing &amp; Verification</a:t>
            </a:r>
            <a:endParaRPr lang="en-US" sz="1600" dirty="0"/>
          </a:p>
        </p:txBody>
      </p:sp>
      <p:sp>
        <p:nvSpPr>
          <p:cNvPr id="24" name="Shape 22"/>
          <p:cNvSpPr/>
          <p:nvPr/>
        </p:nvSpPr>
        <p:spPr>
          <a:xfrm>
            <a:off x="6339968" y="1748543"/>
            <a:ext cx="5327597" cy="1058689"/>
          </a:xfrm>
          <a:custGeom>
            <a:avLst/>
            <a:gdLst/>
            <a:ahLst/>
            <a:cxnLst/>
            <a:rect l="l" t="t" r="r" b="b"/>
            <a:pathLst>
              <a:path w="5327597" h="1058689">
                <a:moveTo>
                  <a:pt x="68307" y="0"/>
                </a:moveTo>
                <a:lnTo>
                  <a:pt x="5259290" y="0"/>
                </a:lnTo>
                <a:cubicBezTo>
                  <a:pt x="5297015" y="0"/>
                  <a:pt x="5327597" y="30582"/>
                  <a:pt x="5327597" y="68307"/>
                </a:cubicBezTo>
                <a:lnTo>
                  <a:pt x="5327597" y="990382"/>
                </a:lnTo>
                <a:cubicBezTo>
                  <a:pt x="5327597" y="1028107"/>
                  <a:pt x="5297015" y="1058689"/>
                  <a:pt x="5259290" y="1058689"/>
                </a:cubicBezTo>
                <a:lnTo>
                  <a:pt x="68307" y="1058689"/>
                </a:lnTo>
                <a:cubicBezTo>
                  <a:pt x="30582" y="1058689"/>
                  <a:pt x="0" y="1028107"/>
                  <a:pt x="0" y="990382"/>
                </a:cubicBezTo>
                <a:lnTo>
                  <a:pt x="0" y="68307"/>
                </a:lnTo>
                <a:cubicBezTo>
                  <a:pt x="0" y="30582"/>
                  <a:pt x="30582" y="0"/>
                  <a:pt x="68307" y="0"/>
                </a:cubicBezTo>
                <a:close/>
              </a:path>
            </a:pathLst>
          </a:custGeom>
          <a:solidFill>
            <a:srgbClr val="1A1D21">
              <a:alpha val="50196"/>
            </a:srgbClr>
          </a:solidFill>
          <a:ln/>
        </p:spPr>
      </p:sp>
      <p:sp>
        <p:nvSpPr>
          <p:cNvPr id="25" name="Text 23"/>
          <p:cNvSpPr/>
          <p:nvPr/>
        </p:nvSpPr>
        <p:spPr>
          <a:xfrm>
            <a:off x="6442422" y="1850997"/>
            <a:ext cx="5190992" cy="204908"/>
          </a:xfrm>
          <a:prstGeom prst="rect">
            <a:avLst/>
          </a:prstGeom>
          <a:noFill/>
          <a:ln/>
        </p:spPr>
        <p:txBody>
          <a:bodyPr wrap="square" lIns="0" tIns="0" rIns="0" bIns="0" rtlCol="0" anchor="ctr"/>
          <a:lstStyle/>
          <a:p>
            <a:pPr>
              <a:lnSpc>
                <a:spcPct val="130000"/>
              </a:lnSpc>
            </a:pPr>
            <a:r>
              <a:rPr lang="en-US" sz="1076" b="1" dirty="0">
                <a:solidFill>
                  <a:srgbClr val="E8EAED"/>
                </a:solidFill>
                <a:latin typeface="Liter" pitchFamily="34" charset="0"/>
                <a:ea typeface="Liter" pitchFamily="34" charset="-122"/>
                <a:cs typeface="Liter" pitchFamily="34" charset="-120"/>
              </a:rPr>
              <a:t>1. Check Logs</a:t>
            </a:r>
            <a:endParaRPr lang="en-US" sz="1600" dirty="0"/>
          </a:p>
        </p:txBody>
      </p:sp>
      <p:sp>
        <p:nvSpPr>
          <p:cNvPr id="26" name="Shape 24"/>
          <p:cNvSpPr/>
          <p:nvPr/>
        </p:nvSpPr>
        <p:spPr>
          <a:xfrm>
            <a:off x="6452667" y="2124207"/>
            <a:ext cx="5115859" cy="307361"/>
          </a:xfrm>
          <a:custGeom>
            <a:avLst/>
            <a:gdLst/>
            <a:ahLst/>
            <a:cxnLst/>
            <a:rect l="l" t="t" r="r" b="b"/>
            <a:pathLst>
              <a:path w="5115859" h="307361">
                <a:moveTo>
                  <a:pt x="20491" y="0"/>
                </a:moveTo>
                <a:lnTo>
                  <a:pt x="5081708" y="0"/>
                </a:lnTo>
                <a:cubicBezTo>
                  <a:pt x="5100569" y="0"/>
                  <a:pt x="5115859" y="15290"/>
                  <a:pt x="5115859" y="34151"/>
                </a:cubicBezTo>
                <a:lnTo>
                  <a:pt x="5115859" y="273210"/>
                </a:lnTo>
                <a:cubicBezTo>
                  <a:pt x="5115859" y="292071"/>
                  <a:pt x="5100569" y="307361"/>
                  <a:pt x="5081708" y="307361"/>
                </a:cubicBezTo>
                <a:lnTo>
                  <a:pt x="20491" y="307361"/>
                </a:lnTo>
                <a:cubicBezTo>
                  <a:pt x="9174" y="307361"/>
                  <a:pt x="0" y="298187"/>
                  <a:pt x="0" y="286871"/>
                </a:cubicBezTo>
                <a:lnTo>
                  <a:pt x="0" y="20491"/>
                </a:lnTo>
                <a:cubicBezTo>
                  <a:pt x="0" y="9174"/>
                  <a:pt x="9174" y="0"/>
                  <a:pt x="20491" y="0"/>
                </a:cubicBezTo>
                <a:close/>
              </a:path>
            </a:pathLst>
          </a:custGeom>
          <a:solidFill>
            <a:srgbClr val="1A1D21">
              <a:alpha val="90196"/>
            </a:srgbClr>
          </a:solidFill>
          <a:ln/>
        </p:spPr>
      </p:sp>
      <p:sp>
        <p:nvSpPr>
          <p:cNvPr id="27" name="Shape 25"/>
          <p:cNvSpPr/>
          <p:nvPr/>
        </p:nvSpPr>
        <p:spPr>
          <a:xfrm>
            <a:off x="6452667" y="2124207"/>
            <a:ext cx="20491" cy="307361"/>
          </a:xfrm>
          <a:custGeom>
            <a:avLst/>
            <a:gdLst/>
            <a:ahLst/>
            <a:cxnLst/>
            <a:rect l="l" t="t" r="r" b="b"/>
            <a:pathLst>
              <a:path w="20491" h="307361">
                <a:moveTo>
                  <a:pt x="20491" y="0"/>
                </a:moveTo>
                <a:lnTo>
                  <a:pt x="20491" y="0"/>
                </a:lnTo>
                <a:lnTo>
                  <a:pt x="20491" y="307361"/>
                </a:lnTo>
                <a:lnTo>
                  <a:pt x="20491" y="307361"/>
                </a:lnTo>
                <a:cubicBezTo>
                  <a:pt x="9174" y="307361"/>
                  <a:pt x="0" y="298187"/>
                  <a:pt x="0" y="286871"/>
                </a:cubicBezTo>
                <a:lnTo>
                  <a:pt x="0" y="20491"/>
                </a:lnTo>
                <a:cubicBezTo>
                  <a:pt x="0" y="9174"/>
                  <a:pt x="9174" y="0"/>
                  <a:pt x="20491" y="0"/>
                </a:cubicBezTo>
                <a:close/>
              </a:path>
            </a:pathLst>
          </a:custGeom>
          <a:solidFill>
            <a:srgbClr val="F47C20"/>
          </a:solidFill>
          <a:ln/>
        </p:spPr>
      </p:sp>
      <p:sp>
        <p:nvSpPr>
          <p:cNvPr id="28" name="Text 26"/>
          <p:cNvSpPr/>
          <p:nvPr/>
        </p:nvSpPr>
        <p:spPr>
          <a:xfrm>
            <a:off x="6531215" y="2192509"/>
            <a:ext cx="5028773" cy="170756"/>
          </a:xfrm>
          <a:prstGeom prst="rect">
            <a:avLst/>
          </a:prstGeom>
          <a:noFill/>
          <a:ln/>
        </p:spPr>
        <p:txBody>
          <a:bodyPr wrap="square" lIns="0" tIns="0" rIns="0" bIns="0" rtlCol="0" anchor="ctr"/>
          <a:lstStyle/>
          <a:p>
            <a:pPr>
              <a:lnSpc>
                <a:spcPct val="100000"/>
              </a:lnSpc>
            </a:pPr>
            <a:r>
              <a:rPr lang="en-US" sz="941" dirty="0">
                <a:solidFill>
                  <a:srgbClr val="E8EAED">
                    <a:alpha val="90000"/>
                  </a:srgbClr>
                </a:solidFill>
                <a:latin typeface="MiSans" pitchFamily="34" charset="0"/>
                <a:ea typeface="MiSans" pitchFamily="34" charset="-122"/>
                <a:cs typeface="MiSans" pitchFamily="34" charset="-120"/>
              </a:rPr>
              <a:t>tail -f /var/log/ltm | grep iRule</a:t>
            </a:r>
            <a:endParaRPr lang="en-US" sz="1600" dirty="0"/>
          </a:p>
        </p:txBody>
      </p:sp>
      <p:sp>
        <p:nvSpPr>
          <p:cNvPr id="29" name="Text 27"/>
          <p:cNvSpPr/>
          <p:nvPr/>
        </p:nvSpPr>
        <p:spPr>
          <a:xfrm>
            <a:off x="6442422" y="2499871"/>
            <a:ext cx="5190992" cy="204908"/>
          </a:xfrm>
          <a:prstGeom prst="rect">
            <a:avLst/>
          </a:prstGeom>
          <a:noFill/>
          <a:ln/>
        </p:spPr>
        <p:txBody>
          <a:bodyPr wrap="square" lIns="0" tIns="0" rIns="0" bIns="0" rtlCol="0" anchor="ctr"/>
          <a:lstStyle/>
          <a:p>
            <a:pPr>
              <a:lnSpc>
                <a:spcPct val="130000"/>
              </a:lnSpc>
            </a:pPr>
            <a:r>
              <a:rPr lang="en-US" sz="1076" dirty="0">
                <a:solidFill>
                  <a:srgbClr val="E8EAED">
                    <a:alpha val="70000"/>
                  </a:srgbClr>
                </a:solidFill>
                <a:latin typeface="Liter" pitchFamily="34" charset="0"/>
                <a:ea typeface="Liter" pitchFamily="34" charset="-122"/>
                <a:cs typeface="Liter" pitchFamily="34" charset="-120"/>
              </a:rPr>
              <a:t>Look for ALLOW/DENY messages</a:t>
            </a:r>
            <a:endParaRPr lang="en-US" sz="1600" dirty="0"/>
          </a:p>
        </p:txBody>
      </p:sp>
      <p:sp>
        <p:nvSpPr>
          <p:cNvPr id="30" name="Shape 28"/>
          <p:cNvSpPr/>
          <p:nvPr/>
        </p:nvSpPr>
        <p:spPr>
          <a:xfrm>
            <a:off x="6339968" y="2909686"/>
            <a:ext cx="5327597" cy="956235"/>
          </a:xfrm>
          <a:custGeom>
            <a:avLst/>
            <a:gdLst/>
            <a:ahLst/>
            <a:cxnLst/>
            <a:rect l="l" t="t" r="r" b="b"/>
            <a:pathLst>
              <a:path w="5327597" h="956235">
                <a:moveTo>
                  <a:pt x="68304" y="0"/>
                </a:moveTo>
                <a:lnTo>
                  <a:pt x="5259293" y="0"/>
                </a:lnTo>
                <a:cubicBezTo>
                  <a:pt x="5297016" y="0"/>
                  <a:pt x="5327597" y="30581"/>
                  <a:pt x="5327597" y="68304"/>
                </a:cubicBezTo>
                <a:lnTo>
                  <a:pt x="5327597" y="887931"/>
                </a:lnTo>
                <a:cubicBezTo>
                  <a:pt x="5327597" y="925655"/>
                  <a:pt x="5297016" y="956235"/>
                  <a:pt x="5259293" y="956235"/>
                </a:cubicBezTo>
                <a:lnTo>
                  <a:pt x="68304" y="956235"/>
                </a:lnTo>
                <a:cubicBezTo>
                  <a:pt x="30581" y="956235"/>
                  <a:pt x="0" y="925655"/>
                  <a:pt x="0" y="887931"/>
                </a:cubicBezTo>
                <a:lnTo>
                  <a:pt x="0" y="68304"/>
                </a:lnTo>
                <a:cubicBezTo>
                  <a:pt x="0" y="30606"/>
                  <a:pt x="30606" y="0"/>
                  <a:pt x="68304" y="0"/>
                </a:cubicBezTo>
                <a:close/>
              </a:path>
            </a:pathLst>
          </a:custGeom>
          <a:solidFill>
            <a:srgbClr val="1A1D21">
              <a:alpha val="50196"/>
            </a:srgbClr>
          </a:solidFill>
          <a:ln/>
        </p:spPr>
      </p:sp>
      <p:sp>
        <p:nvSpPr>
          <p:cNvPr id="31" name="Text 29"/>
          <p:cNvSpPr/>
          <p:nvPr/>
        </p:nvSpPr>
        <p:spPr>
          <a:xfrm>
            <a:off x="6442422" y="3012140"/>
            <a:ext cx="5190992" cy="204908"/>
          </a:xfrm>
          <a:prstGeom prst="rect">
            <a:avLst/>
          </a:prstGeom>
          <a:noFill/>
          <a:ln/>
        </p:spPr>
        <p:txBody>
          <a:bodyPr wrap="square" lIns="0" tIns="0" rIns="0" bIns="0" rtlCol="0" anchor="ctr"/>
          <a:lstStyle/>
          <a:p>
            <a:pPr>
              <a:lnSpc>
                <a:spcPct val="130000"/>
              </a:lnSpc>
            </a:pPr>
            <a:r>
              <a:rPr lang="en-US" sz="1076" b="1" dirty="0">
                <a:solidFill>
                  <a:srgbClr val="E8EAED"/>
                </a:solidFill>
                <a:latin typeface="Liter" pitchFamily="34" charset="0"/>
                <a:ea typeface="Liter" pitchFamily="34" charset="-122"/>
                <a:cs typeface="Liter" pitchFamily="34" charset="-120"/>
              </a:rPr>
              <a:t>2. Test from Allowed IP</a:t>
            </a:r>
            <a:endParaRPr lang="en-US" sz="1600" dirty="0"/>
          </a:p>
        </p:txBody>
      </p:sp>
      <p:sp>
        <p:nvSpPr>
          <p:cNvPr id="32" name="Shape 30"/>
          <p:cNvSpPr/>
          <p:nvPr/>
        </p:nvSpPr>
        <p:spPr>
          <a:xfrm>
            <a:off x="6452667" y="3285350"/>
            <a:ext cx="5115859" cy="478118"/>
          </a:xfrm>
          <a:custGeom>
            <a:avLst/>
            <a:gdLst/>
            <a:ahLst/>
            <a:cxnLst/>
            <a:rect l="l" t="t" r="r" b="b"/>
            <a:pathLst>
              <a:path w="5115859" h="478118">
                <a:moveTo>
                  <a:pt x="20491" y="0"/>
                </a:moveTo>
                <a:lnTo>
                  <a:pt x="5081707" y="0"/>
                </a:lnTo>
                <a:cubicBezTo>
                  <a:pt x="5100568" y="0"/>
                  <a:pt x="5115859" y="15290"/>
                  <a:pt x="5115859" y="34152"/>
                </a:cubicBezTo>
                <a:lnTo>
                  <a:pt x="5115859" y="443966"/>
                </a:lnTo>
                <a:cubicBezTo>
                  <a:pt x="5115859" y="462827"/>
                  <a:pt x="5100568" y="478118"/>
                  <a:pt x="5081707" y="478118"/>
                </a:cubicBezTo>
                <a:lnTo>
                  <a:pt x="20491" y="478118"/>
                </a:lnTo>
                <a:cubicBezTo>
                  <a:pt x="9174" y="478118"/>
                  <a:pt x="0" y="468944"/>
                  <a:pt x="0" y="457627"/>
                </a:cubicBezTo>
                <a:lnTo>
                  <a:pt x="0" y="20491"/>
                </a:lnTo>
                <a:cubicBezTo>
                  <a:pt x="0" y="9182"/>
                  <a:pt x="9182" y="0"/>
                  <a:pt x="20491" y="0"/>
                </a:cubicBezTo>
                <a:close/>
              </a:path>
            </a:pathLst>
          </a:custGeom>
          <a:solidFill>
            <a:srgbClr val="1A1D21">
              <a:alpha val="90196"/>
            </a:srgbClr>
          </a:solidFill>
          <a:ln/>
        </p:spPr>
      </p:sp>
      <p:sp>
        <p:nvSpPr>
          <p:cNvPr id="33" name="Shape 31"/>
          <p:cNvSpPr/>
          <p:nvPr/>
        </p:nvSpPr>
        <p:spPr>
          <a:xfrm>
            <a:off x="6452667" y="3285350"/>
            <a:ext cx="20491" cy="478118"/>
          </a:xfrm>
          <a:custGeom>
            <a:avLst/>
            <a:gdLst/>
            <a:ahLst/>
            <a:cxnLst/>
            <a:rect l="l" t="t" r="r" b="b"/>
            <a:pathLst>
              <a:path w="20491" h="478118">
                <a:moveTo>
                  <a:pt x="20491" y="0"/>
                </a:moveTo>
                <a:lnTo>
                  <a:pt x="20491" y="0"/>
                </a:lnTo>
                <a:lnTo>
                  <a:pt x="20491" y="478118"/>
                </a:lnTo>
                <a:lnTo>
                  <a:pt x="20491" y="478118"/>
                </a:lnTo>
                <a:cubicBezTo>
                  <a:pt x="9174" y="478118"/>
                  <a:pt x="0" y="468944"/>
                  <a:pt x="0" y="457627"/>
                </a:cubicBezTo>
                <a:lnTo>
                  <a:pt x="0" y="20491"/>
                </a:lnTo>
                <a:cubicBezTo>
                  <a:pt x="0" y="9174"/>
                  <a:pt x="9174" y="0"/>
                  <a:pt x="20491" y="0"/>
                </a:cubicBezTo>
                <a:close/>
              </a:path>
            </a:pathLst>
          </a:custGeom>
          <a:solidFill>
            <a:srgbClr val="F47C20"/>
          </a:solidFill>
          <a:ln/>
        </p:spPr>
      </p:sp>
      <p:sp>
        <p:nvSpPr>
          <p:cNvPr id="34" name="Text 32"/>
          <p:cNvSpPr/>
          <p:nvPr/>
        </p:nvSpPr>
        <p:spPr>
          <a:xfrm>
            <a:off x="6531215" y="3353652"/>
            <a:ext cx="5028773" cy="341513"/>
          </a:xfrm>
          <a:prstGeom prst="rect">
            <a:avLst/>
          </a:prstGeom>
          <a:noFill/>
          <a:ln/>
        </p:spPr>
        <p:txBody>
          <a:bodyPr wrap="square" lIns="0" tIns="0" rIns="0" bIns="0" rtlCol="0" anchor="ctr"/>
          <a:lstStyle/>
          <a:p>
            <a:pPr>
              <a:lnSpc>
                <a:spcPct val="100000"/>
              </a:lnSpc>
            </a:pPr>
            <a:r>
              <a:rPr lang="en-US" sz="941" dirty="0">
                <a:solidFill>
                  <a:srgbClr val="E8EAED">
                    <a:alpha val="90000"/>
                  </a:srgbClr>
                </a:solidFill>
                <a:latin typeface="MiSans" pitchFamily="34" charset="0"/>
                <a:ea typeface="MiSans" pitchFamily="34" charset="-122"/>
                <a:cs typeface="MiSans" pitchFamily="34" charset="-120"/>
              </a:rPr>
              <a:t>curl -I https://your-site.com</a:t>
            </a:r>
            <a:endParaRPr lang="en-US" sz="1600" dirty="0"/>
          </a:p>
          <a:p>
            <a:pPr>
              <a:lnSpc>
                <a:spcPct val="100000"/>
              </a:lnSpc>
            </a:pPr>
            <a:r>
              <a:rPr lang="en-US" sz="941" dirty="0">
                <a:solidFill>
                  <a:srgbClr val="E8EAED">
                    <a:alpha val="90000"/>
                  </a:srgbClr>
                </a:solidFill>
                <a:latin typeface="MiSans" pitchFamily="34" charset="0"/>
                <a:ea typeface="MiSans" pitchFamily="34" charset="-122"/>
                <a:cs typeface="MiSans" pitchFamily="34" charset="-120"/>
              </a:rPr>
              <a:t># Expected: HTTP/1.1 200 OK</a:t>
            </a:r>
            <a:endParaRPr lang="en-US" sz="1600" dirty="0"/>
          </a:p>
        </p:txBody>
      </p:sp>
      <p:sp>
        <p:nvSpPr>
          <p:cNvPr id="35" name="Shape 33"/>
          <p:cNvSpPr/>
          <p:nvPr/>
        </p:nvSpPr>
        <p:spPr>
          <a:xfrm>
            <a:off x="6339968" y="3968375"/>
            <a:ext cx="5327597" cy="1126992"/>
          </a:xfrm>
          <a:custGeom>
            <a:avLst/>
            <a:gdLst/>
            <a:ahLst/>
            <a:cxnLst/>
            <a:rect l="l" t="t" r="r" b="b"/>
            <a:pathLst>
              <a:path w="5327597" h="1126992">
                <a:moveTo>
                  <a:pt x="68307" y="0"/>
                </a:moveTo>
                <a:lnTo>
                  <a:pt x="5259290" y="0"/>
                </a:lnTo>
                <a:cubicBezTo>
                  <a:pt x="5297015" y="0"/>
                  <a:pt x="5327597" y="30582"/>
                  <a:pt x="5327597" y="68307"/>
                </a:cubicBezTo>
                <a:lnTo>
                  <a:pt x="5327597" y="1058685"/>
                </a:lnTo>
                <a:cubicBezTo>
                  <a:pt x="5327597" y="1096410"/>
                  <a:pt x="5297015" y="1126992"/>
                  <a:pt x="5259290" y="1126992"/>
                </a:cubicBezTo>
                <a:lnTo>
                  <a:pt x="68307" y="1126992"/>
                </a:lnTo>
                <a:cubicBezTo>
                  <a:pt x="30582" y="1126992"/>
                  <a:pt x="0" y="1096410"/>
                  <a:pt x="0" y="1058685"/>
                </a:cubicBezTo>
                <a:lnTo>
                  <a:pt x="0" y="68307"/>
                </a:lnTo>
                <a:cubicBezTo>
                  <a:pt x="0" y="30582"/>
                  <a:pt x="30582" y="0"/>
                  <a:pt x="68307" y="0"/>
                </a:cubicBezTo>
                <a:close/>
              </a:path>
            </a:pathLst>
          </a:custGeom>
          <a:solidFill>
            <a:srgbClr val="1A1D21">
              <a:alpha val="50196"/>
            </a:srgbClr>
          </a:solidFill>
          <a:ln/>
        </p:spPr>
      </p:sp>
      <p:sp>
        <p:nvSpPr>
          <p:cNvPr id="36" name="Text 34"/>
          <p:cNvSpPr/>
          <p:nvPr/>
        </p:nvSpPr>
        <p:spPr>
          <a:xfrm>
            <a:off x="6442422" y="4070829"/>
            <a:ext cx="5190992" cy="204908"/>
          </a:xfrm>
          <a:prstGeom prst="rect">
            <a:avLst/>
          </a:prstGeom>
          <a:noFill/>
          <a:ln/>
        </p:spPr>
        <p:txBody>
          <a:bodyPr wrap="square" lIns="0" tIns="0" rIns="0" bIns="0" rtlCol="0" anchor="ctr"/>
          <a:lstStyle/>
          <a:p>
            <a:pPr>
              <a:lnSpc>
                <a:spcPct val="130000"/>
              </a:lnSpc>
            </a:pPr>
            <a:r>
              <a:rPr lang="en-US" sz="1076" b="1" dirty="0">
                <a:solidFill>
                  <a:srgbClr val="E8EAED"/>
                </a:solidFill>
                <a:latin typeface="Liter" pitchFamily="34" charset="0"/>
                <a:ea typeface="Liter" pitchFamily="34" charset="-122"/>
                <a:cs typeface="Liter" pitchFamily="34" charset="-120"/>
              </a:rPr>
              <a:t>3. Test from Blocked IP</a:t>
            </a:r>
            <a:endParaRPr lang="en-US" sz="1600" dirty="0"/>
          </a:p>
        </p:txBody>
      </p:sp>
      <p:sp>
        <p:nvSpPr>
          <p:cNvPr id="37" name="Shape 35"/>
          <p:cNvSpPr/>
          <p:nvPr/>
        </p:nvSpPr>
        <p:spPr>
          <a:xfrm>
            <a:off x="6452667" y="4344039"/>
            <a:ext cx="5115859" cy="648874"/>
          </a:xfrm>
          <a:custGeom>
            <a:avLst/>
            <a:gdLst/>
            <a:ahLst/>
            <a:cxnLst/>
            <a:rect l="l" t="t" r="r" b="b"/>
            <a:pathLst>
              <a:path w="5115859" h="648874">
                <a:moveTo>
                  <a:pt x="20491" y="0"/>
                </a:moveTo>
                <a:lnTo>
                  <a:pt x="5081709" y="0"/>
                </a:lnTo>
                <a:cubicBezTo>
                  <a:pt x="5100569" y="0"/>
                  <a:pt x="5115859" y="15290"/>
                  <a:pt x="5115859" y="34150"/>
                </a:cubicBezTo>
                <a:lnTo>
                  <a:pt x="5115859" y="614724"/>
                </a:lnTo>
                <a:cubicBezTo>
                  <a:pt x="5115859" y="633584"/>
                  <a:pt x="5100569" y="648874"/>
                  <a:pt x="5081709" y="648874"/>
                </a:cubicBezTo>
                <a:lnTo>
                  <a:pt x="20491" y="648874"/>
                </a:lnTo>
                <a:cubicBezTo>
                  <a:pt x="9174" y="648874"/>
                  <a:pt x="0" y="639700"/>
                  <a:pt x="0" y="628383"/>
                </a:cubicBezTo>
                <a:lnTo>
                  <a:pt x="0" y="20491"/>
                </a:lnTo>
                <a:cubicBezTo>
                  <a:pt x="0" y="9174"/>
                  <a:pt x="9174" y="0"/>
                  <a:pt x="20491" y="0"/>
                </a:cubicBezTo>
                <a:close/>
              </a:path>
            </a:pathLst>
          </a:custGeom>
          <a:solidFill>
            <a:srgbClr val="1A1D21">
              <a:alpha val="90196"/>
            </a:srgbClr>
          </a:solidFill>
          <a:ln/>
        </p:spPr>
      </p:sp>
      <p:sp>
        <p:nvSpPr>
          <p:cNvPr id="38" name="Shape 36"/>
          <p:cNvSpPr/>
          <p:nvPr/>
        </p:nvSpPr>
        <p:spPr>
          <a:xfrm>
            <a:off x="6452667" y="4344039"/>
            <a:ext cx="20491" cy="648874"/>
          </a:xfrm>
          <a:custGeom>
            <a:avLst/>
            <a:gdLst/>
            <a:ahLst/>
            <a:cxnLst/>
            <a:rect l="l" t="t" r="r" b="b"/>
            <a:pathLst>
              <a:path w="20491" h="648874">
                <a:moveTo>
                  <a:pt x="20491" y="0"/>
                </a:moveTo>
                <a:lnTo>
                  <a:pt x="20491" y="0"/>
                </a:lnTo>
                <a:lnTo>
                  <a:pt x="20491" y="648874"/>
                </a:lnTo>
                <a:lnTo>
                  <a:pt x="20491" y="648874"/>
                </a:lnTo>
                <a:cubicBezTo>
                  <a:pt x="9174" y="648874"/>
                  <a:pt x="0" y="639700"/>
                  <a:pt x="0" y="628383"/>
                </a:cubicBezTo>
                <a:lnTo>
                  <a:pt x="0" y="20491"/>
                </a:lnTo>
                <a:cubicBezTo>
                  <a:pt x="0" y="9174"/>
                  <a:pt x="9174" y="0"/>
                  <a:pt x="20491" y="0"/>
                </a:cubicBezTo>
                <a:close/>
              </a:path>
            </a:pathLst>
          </a:custGeom>
          <a:solidFill>
            <a:srgbClr val="F47C20"/>
          </a:solidFill>
          <a:ln/>
        </p:spPr>
      </p:sp>
      <p:sp>
        <p:nvSpPr>
          <p:cNvPr id="39" name="Text 37"/>
          <p:cNvSpPr/>
          <p:nvPr/>
        </p:nvSpPr>
        <p:spPr>
          <a:xfrm>
            <a:off x="6531215" y="4412341"/>
            <a:ext cx="5028773" cy="512269"/>
          </a:xfrm>
          <a:prstGeom prst="rect">
            <a:avLst/>
          </a:prstGeom>
          <a:noFill/>
          <a:ln/>
        </p:spPr>
        <p:txBody>
          <a:bodyPr wrap="square" lIns="0" tIns="0" rIns="0" bIns="0" rtlCol="0" anchor="ctr"/>
          <a:lstStyle/>
          <a:p>
            <a:pPr>
              <a:lnSpc>
                <a:spcPct val="100000"/>
              </a:lnSpc>
            </a:pPr>
            <a:r>
              <a:rPr lang="en-US" sz="941" dirty="0">
                <a:solidFill>
                  <a:srgbClr val="E8EAED">
                    <a:alpha val="90000"/>
                  </a:srgbClr>
                </a:solidFill>
                <a:latin typeface="MiSans" pitchFamily="34" charset="0"/>
                <a:ea typeface="MiSans" pitchFamily="34" charset="-122"/>
                <a:cs typeface="MiSans" pitchFamily="34" charset="-120"/>
              </a:rPr>
              <a:t>curl -I --connect-timeout 5 \</a:t>
            </a:r>
            <a:endParaRPr lang="en-US" sz="1600" dirty="0"/>
          </a:p>
          <a:p>
            <a:pPr>
              <a:lnSpc>
                <a:spcPct val="100000"/>
              </a:lnSpc>
            </a:pPr>
            <a:r>
              <a:rPr lang="en-US" sz="941" dirty="0">
                <a:solidFill>
                  <a:srgbClr val="E8EAED">
                    <a:alpha val="90000"/>
                  </a:srgbClr>
                </a:solidFill>
                <a:latin typeface="MiSans" pitchFamily="34" charset="0"/>
                <a:ea typeface="MiSans" pitchFamily="34" charset="-122"/>
                <a:cs typeface="MiSans" pitchFamily="34" charset="-120"/>
              </a:rPr>
              <a:t>  https://your-site.com</a:t>
            </a:r>
            <a:endParaRPr lang="en-US" sz="1600" dirty="0"/>
          </a:p>
          <a:p>
            <a:pPr>
              <a:lnSpc>
                <a:spcPct val="100000"/>
              </a:lnSpc>
            </a:pPr>
            <a:r>
              <a:rPr lang="en-US" sz="941" dirty="0">
                <a:solidFill>
                  <a:srgbClr val="E8EAED">
                    <a:alpha val="90000"/>
                  </a:srgbClr>
                </a:solidFill>
                <a:latin typeface="MiSans" pitchFamily="34" charset="0"/>
                <a:ea typeface="MiSans" pitchFamily="34" charset="-122"/>
                <a:cs typeface="MiSans" pitchFamily="34" charset="-120"/>
              </a:rPr>
              <a:t># Expected: Connection timeout</a:t>
            </a:r>
            <a:endParaRPr lang="en-US" sz="1600" dirty="0"/>
          </a:p>
        </p:txBody>
      </p:sp>
      <p:sp>
        <p:nvSpPr>
          <p:cNvPr id="40" name="Shape 38"/>
          <p:cNvSpPr/>
          <p:nvPr/>
        </p:nvSpPr>
        <p:spPr>
          <a:xfrm>
            <a:off x="6165797" y="5412980"/>
            <a:ext cx="5675939" cy="1441183"/>
          </a:xfrm>
          <a:custGeom>
            <a:avLst/>
            <a:gdLst/>
            <a:ahLst/>
            <a:cxnLst/>
            <a:rect l="l" t="t" r="r" b="b"/>
            <a:pathLst>
              <a:path w="5675939" h="1441183">
                <a:moveTo>
                  <a:pt x="102454" y="0"/>
                </a:moveTo>
                <a:lnTo>
                  <a:pt x="5573486" y="0"/>
                </a:lnTo>
                <a:cubicBezTo>
                  <a:pt x="5630069" y="0"/>
                  <a:pt x="5675939" y="45870"/>
                  <a:pt x="5675939" y="102454"/>
                </a:cubicBezTo>
                <a:lnTo>
                  <a:pt x="5675939" y="1338729"/>
                </a:lnTo>
                <a:cubicBezTo>
                  <a:pt x="5675939" y="1395313"/>
                  <a:pt x="5630069" y="1441183"/>
                  <a:pt x="5573486" y="1441183"/>
                </a:cubicBezTo>
                <a:lnTo>
                  <a:pt x="102454" y="1441183"/>
                </a:lnTo>
                <a:cubicBezTo>
                  <a:pt x="45870" y="1441183"/>
                  <a:pt x="0" y="1395313"/>
                  <a:pt x="0" y="1338729"/>
                </a:cubicBezTo>
                <a:lnTo>
                  <a:pt x="0" y="102454"/>
                </a:lnTo>
                <a:cubicBezTo>
                  <a:pt x="0" y="45870"/>
                  <a:pt x="45870" y="0"/>
                  <a:pt x="102454" y="0"/>
                </a:cubicBezTo>
                <a:close/>
              </a:path>
            </a:pathLst>
          </a:custGeom>
          <a:solidFill>
            <a:srgbClr val="F47C20">
              <a:alpha val="10196"/>
            </a:srgbClr>
          </a:solidFill>
          <a:ln w="10160">
            <a:solidFill>
              <a:srgbClr val="F47C20">
                <a:alpha val="30196"/>
              </a:srgbClr>
            </a:solidFill>
            <a:prstDash val="solid"/>
          </a:ln>
        </p:spPr>
      </p:sp>
      <p:sp>
        <p:nvSpPr>
          <p:cNvPr id="41" name="Shape 39"/>
          <p:cNvSpPr/>
          <p:nvPr/>
        </p:nvSpPr>
        <p:spPr>
          <a:xfrm>
            <a:off x="6350640" y="5621301"/>
            <a:ext cx="192101" cy="170756"/>
          </a:xfrm>
          <a:custGeom>
            <a:avLst/>
            <a:gdLst/>
            <a:ahLst/>
            <a:cxnLst/>
            <a:rect l="l" t="t" r="r" b="b"/>
            <a:pathLst>
              <a:path w="192101" h="170756">
                <a:moveTo>
                  <a:pt x="169889" y="32884"/>
                </a:moveTo>
                <a:cubicBezTo>
                  <a:pt x="172424" y="30349"/>
                  <a:pt x="176659" y="30983"/>
                  <a:pt x="177927" y="34318"/>
                </a:cubicBezTo>
                <a:cubicBezTo>
                  <a:pt x="180195" y="40221"/>
                  <a:pt x="181429" y="46658"/>
                  <a:pt x="181429" y="53361"/>
                </a:cubicBezTo>
                <a:cubicBezTo>
                  <a:pt x="181429" y="82843"/>
                  <a:pt x="157549" y="106723"/>
                  <a:pt x="128067" y="106723"/>
                </a:cubicBezTo>
                <a:cubicBezTo>
                  <a:pt x="122231" y="106723"/>
                  <a:pt x="116595" y="105789"/>
                  <a:pt x="111325" y="104055"/>
                </a:cubicBezTo>
                <a:lnTo>
                  <a:pt x="48992" y="166387"/>
                </a:lnTo>
                <a:cubicBezTo>
                  <a:pt x="39621" y="175759"/>
                  <a:pt x="24413" y="175759"/>
                  <a:pt x="15041" y="166387"/>
                </a:cubicBezTo>
                <a:cubicBezTo>
                  <a:pt x="5670" y="157016"/>
                  <a:pt x="5670" y="141808"/>
                  <a:pt x="15041" y="132436"/>
                </a:cubicBezTo>
                <a:lnTo>
                  <a:pt x="77374" y="70103"/>
                </a:lnTo>
                <a:cubicBezTo>
                  <a:pt x="75640" y="64834"/>
                  <a:pt x="74706" y="59231"/>
                  <a:pt x="74706" y="53361"/>
                </a:cubicBezTo>
                <a:cubicBezTo>
                  <a:pt x="74706" y="23879"/>
                  <a:pt x="98585" y="0"/>
                  <a:pt x="128067" y="0"/>
                </a:cubicBezTo>
                <a:cubicBezTo>
                  <a:pt x="134771" y="0"/>
                  <a:pt x="141207" y="1234"/>
                  <a:pt x="147111" y="3502"/>
                </a:cubicBezTo>
                <a:cubicBezTo>
                  <a:pt x="150446" y="4769"/>
                  <a:pt x="151046" y="9005"/>
                  <a:pt x="148545" y="11539"/>
                </a:cubicBezTo>
                <a:lnTo>
                  <a:pt x="118962" y="41122"/>
                </a:lnTo>
                <a:cubicBezTo>
                  <a:pt x="117962" y="42122"/>
                  <a:pt x="117395" y="43489"/>
                  <a:pt x="117395" y="44890"/>
                </a:cubicBezTo>
                <a:lnTo>
                  <a:pt x="117395" y="58697"/>
                </a:lnTo>
                <a:cubicBezTo>
                  <a:pt x="117395" y="61632"/>
                  <a:pt x="119796" y="64034"/>
                  <a:pt x="122731" y="64034"/>
                </a:cubicBezTo>
                <a:lnTo>
                  <a:pt x="136538" y="64034"/>
                </a:lnTo>
                <a:cubicBezTo>
                  <a:pt x="137939" y="64034"/>
                  <a:pt x="139306" y="63467"/>
                  <a:pt x="140307" y="62466"/>
                </a:cubicBezTo>
                <a:lnTo>
                  <a:pt x="169889" y="32884"/>
                </a:lnTo>
                <a:close/>
              </a:path>
            </a:pathLst>
          </a:custGeom>
          <a:solidFill>
            <a:srgbClr val="F47C20"/>
          </a:solidFill>
          <a:ln/>
        </p:spPr>
      </p:sp>
      <p:sp>
        <p:nvSpPr>
          <p:cNvPr id="42" name="Text 40"/>
          <p:cNvSpPr/>
          <p:nvPr/>
        </p:nvSpPr>
        <p:spPr>
          <a:xfrm>
            <a:off x="6655867" y="5587150"/>
            <a:ext cx="1186756" cy="239059"/>
          </a:xfrm>
          <a:prstGeom prst="rect">
            <a:avLst/>
          </a:prstGeom>
          <a:noFill/>
          <a:ln/>
        </p:spPr>
        <p:txBody>
          <a:bodyPr wrap="square" lIns="0" tIns="0" rIns="0" bIns="0" rtlCol="0" anchor="ctr"/>
          <a:lstStyle/>
          <a:p>
            <a:pPr>
              <a:lnSpc>
                <a:spcPct val="130000"/>
              </a:lnSpc>
            </a:pPr>
            <a:r>
              <a:rPr lang="en-US" sz="1210" b="1" dirty="0">
                <a:solidFill>
                  <a:srgbClr val="E8EAED"/>
                </a:solidFill>
                <a:latin typeface="Liter" pitchFamily="34" charset="0"/>
                <a:ea typeface="Liter" pitchFamily="34" charset="-122"/>
                <a:cs typeface="Liter" pitchFamily="34" charset="-120"/>
              </a:rPr>
              <a:t>Troubleshooting</a:t>
            </a:r>
            <a:endParaRPr lang="en-US" sz="1600" dirty="0"/>
          </a:p>
        </p:txBody>
      </p:sp>
      <p:sp>
        <p:nvSpPr>
          <p:cNvPr id="43" name="Shape 41"/>
          <p:cNvSpPr/>
          <p:nvPr/>
        </p:nvSpPr>
        <p:spPr>
          <a:xfrm>
            <a:off x="6391195" y="5962813"/>
            <a:ext cx="68303" cy="136605"/>
          </a:xfrm>
          <a:custGeom>
            <a:avLst/>
            <a:gdLst/>
            <a:ahLst/>
            <a:cxnLst/>
            <a:rect l="l" t="t" r="r" b="b"/>
            <a:pathLst>
              <a:path w="68303" h="136605">
                <a:moveTo>
                  <a:pt x="65928" y="62273"/>
                </a:moveTo>
                <a:cubicBezTo>
                  <a:pt x="69263" y="65608"/>
                  <a:pt x="69263" y="71024"/>
                  <a:pt x="65928" y="74359"/>
                </a:cubicBezTo>
                <a:lnTo>
                  <a:pt x="23239" y="117048"/>
                </a:lnTo>
                <a:cubicBezTo>
                  <a:pt x="19904" y="120383"/>
                  <a:pt x="14488" y="120383"/>
                  <a:pt x="11153" y="117048"/>
                </a:cubicBezTo>
                <a:cubicBezTo>
                  <a:pt x="7817" y="113713"/>
                  <a:pt x="7817" y="108297"/>
                  <a:pt x="11153" y="104962"/>
                </a:cubicBezTo>
                <a:lnTo>
                  <a:pt x="47812" y="68303"/>
                </a:lnTo>
                <a:lnTo>
                  <a:pt x="11179" y="31643"/>
                </a:lnTo>
                <a:cubicBezTo>
                  <a:pt x="7844" y="28308"/>
                  <a:pt x="7844" y="22892"/>
                  <a:pt x="11179" y="19557"/>
                </a:cubicBezTo>
                <a:cubicBezTo>
                  <a:pt x="14514" y="16222"/>
                  <a:pt x="19930" y="16222"/>
                  <a:pt x="23266" y="19557"/>
                </a:cubicBezTo>
                <a:lnTo>
                  <a:pt x="65955" y="62246"/>
                </a:lnTo>
                <a:close/>
              </a:path>
            </a:pathLst>
          </a:custGeom>
          <a:solidFill>
            <a:srgbClr val="F47C20"/>
          </a:solidFill>
          <a:ln/>
        </p:spPr>
      </p:sp>
      <p:sp>
        <p:nvSpPr>
          <p:cNvPr id="44" name="Text 42"/>
          <p:cNvSpPr/>
          <p:nvPr/>
        </p:nvSpPr>
        <p:spPr>
          <a:xfrm>
            <a:off x="6579027" y="5928662"/>
            <a:ext cx="2450353" cy="204908"/>
          </a:xfrm>
          <a:prstGeom prst="rect">
            <a:avLst/>
          </a:prstGeom>
          <a:noFill/>
          <a:ln/>
        </p:spPr>
        <p:txBody>
          <a:bodyPr wrap="square" lIns="0" tIns="0" rIns="0" bIns="0" rtlCol="0" anchor="ctr"/>
          <a:lstStyle/>
          <a:p>
            <a:pPr>
              <a:lnSpc>
                <a:spcPct val="130000"/>
              </a:lnSpc>
            </a:pPr>
            <a:r>
              <a:rPr lang="en-US" sz="1076" b="1" dirty="0">
                <a:solidFill>
                  <a:srgbClr val="E8EAED">
                    <a:alpha val="80000"/>
                  </a:srgbClr>
                </a:solidFill>
                <a:latin typeface="Liter" pitchFamily="34" charset="0"/>
                <a:ea typeface="Liter" pitchFamily="34" charset="-122"/>
                <a:cs typeface="Liter" pitchFamily="34" charset="-120"/>
              </a:rPr>
              <a:t>iRule not triggering:</a:t>
            </a:r>
            <a:pPr>
              <a:lnSpc>
                <a:spcPct val="130000"/>
              </a:lnSpc>
            </a:pPr>
            <a:r>
              <a:rPr lang="en-US" sz="1076" dirty="0">
                <a:solidFill>
                  <a:srgbClr val="E8EAED">
                    <a:alpha val="80000"/>
                  </a:srgbClr>
                </a:solidFill>
                <a:latin typeface="Liter" pitchFamily="34" charset="0"/>
                <a:ea typeface="Liter" pitchFamily="34" charset="-122"/>
                <a:cs typeface="Liter" pitchFamily="34" charset="-120"/>
              </a:rPr>
              <a:t> Check VS iRules list</a:t>
            </a:r>
            <a:endParaRPr lang="en-US" sz="1600" dirty="0"/>
          </a:p>
        </p:txBody>
      </p:sp>
      <p:sp>
        <p:nvSpPr>
          <p:cNvPr id="45" name="Shape 43"/>
          <p:cNvSpPr/>
          <p:nvPr/>
        </p:nvSpPr>
        <p:spPr>
          <a:xfrm>
            <a:off x="6391195" y="6236024"/>
            <a:ext cx="68303" cy="136605"/>
          </a:xfrm>
          <a:custGeom>
            <a:avLst/>
            <a:gdLst/>
            <a:ahLst/>
            <a:cxnLst/>
            <a:rect l="l" t="t" r="r" b="b"/>
            <a:pathLst>
              <a:path w="68303" h="136605">
                <a:moveTo>
                  <a:pt x="65928" y="62273"/>
                </a:moveTo>
                <a:cubicBezTo>
                  <a:pt x="69263" y="65608"/>
                  <a:pt x="69263" y="71024"/>
                  <a:pt x="65928" y="74359"/>
                </a:cubicBezTo>
                <a:lnTo>
                  <a:pt x="23239" y="117048"/>
                </a:lnTo>
                <a:cubicBezTo>
                  <a:pt x="19904" y="120383"/>
                  <a:pt x="14488" y="120383"/>
                  <a:pt x="11153" y="117048"/>
                </a:cubicBezTo>
                <a:cubicBezTo>
                  <a:pt x="7817" y="113713"/>
                  <a:pt x="7817" y="108297"/>
                  <a:pt x="11153" y="104962"/>
                </a:cubicBezTo>
                <a:lnTo>
                  <a:pt x="47812" y="68303"/>
                </a:lnTo>
                <a:lnTo>
                  <a:pt x="11179" y="31643"/>
                </a:lnTo>
                <a:cubicBezTo>
                  <a:pt x="7844" y="28308"/>
                  <a:pt x="7844" y="22892"/>
                  <a:pt x="11179" y="19557"/>
                </a:cubicBezTo>
                <a:cubicBezTo>
                  <a:pt x="14514" y="16222"/>
                  <a:pt x="19930" y="16222"/>
                  <a:pt x="23266" y="19557"/>
                </a:cubicBezTo>
                <a:lnTo>
                  <a:pt x="65955" y="62246"/>
                </a:lnTo>
                <a:close/>
              </a:path>
            </a:pathLst>
          </a:custGeom>
          <a:solidFill>
            <a:srgbClr val="F47C20"/>
          </a:solidFill>
          <a:ln/>
        </p:spPr>
      </p:sp>
      <p:sp>
        <p:nvSpPr>
          <p:cNvPr id="46" name="Text 44"/>
          <p:cNvSpPr/>
          <p:nvPr/>
        </p:nvSpPr>
        <p:spPr>
          <a:xfrm>
            <a:off x="6579027" y="6201872"/>
            <a:ext cx="2885782" cy="204908"/>
          </a:xfrm>
          <a:prstGeom prst="rect">
            <a:avLst/>
          </a:prstGeom>
          <a:noFill/>
          <a:ln/>
        </p:spPr>
        <p:txBody>
          <a:bodyPr wrap="square" lIns="0" tIns="0" rIns="0" bIns="0" rtlCol="0" anchor="ctr"/>
          <a:lstStyle/>
          <a:p>
            <a:pPr>
              <a:lnSpc>
                <a:spcPct val="130000"/>
              </a:lnSpc>
            </a:pPr>
            <a:r>
              <a:rPr lang="en-US" sz="1076" b="1" dirty="0">
                <a:solidFill>
                  <a:srgbClr val="E8EAED">
                    <a:alpha val="80000"/>
                  </a:srgbClr>
                </a:solidFill>
                <a:latin typeface="Liter" pitchFamily="34" charset="0"/>
                <a:ea typeface="Liter" pitchFamily="34" charset="-122"/>
                <a:cs typeface="Liter" pitchFamily="34" charset="-120"/>
              </a:rPr>
              <a:t>Data group not found:</a:t>
            </a:r>
            <a:pPr>
              <a:lnSpc>
                <a:spcPct val="130000"/>
              </a:lnSpc>
            </a:pPr>
            <a:r>
              <a:rPr lang="en-US" sz="1076" dirty="0">
                <a:solidFill>
                  <a:srgbClr val="E8EAED">
                    <a:alpha val="80000"/>
                  </a:srgbClr>
                </a:solidFill>
                <a:latin typeface="Liter" pitchFamily="34" charset="0"/>
                <a:ea typeface="Liter" pitchFamily="34" charset="-122"/>
                <a:cs typeface="Liter" pitchFamily="34" charset="-120"/>
              </a:rPr>
              <a:t> Verify exact name match</a:t>
            </a:r>
            <a:endParaRPr lang="en-US" sz="1600" dirty="0"/>
          </a:p>
        </p:txBody>
      </p:sp>
      <p:sp>
        <p:nvSpPr>
          <p:cNvPr id="47" name="Shape 45"/>
          <p:cNvSpPr/>
          <p:nvPr/>
        </p:nvSpPr>
        <p:spPr>
          <a:xfrm>
            <a:off x="6391195" y="6509234"/>
            <a:ext cx="68303" cy="136605"/>
          </a:xfrm>
          <a:custGeom>
            <a:avLst/>
            <a:gdLst/>
            <a:ahLst/>
            <a:cxnLst/>
            <a:rect l="l" t="t" r="r" b="b"/>
            <a:pathLst>
              <a:path w="68303" h="136605">
                <a:moveTo>
                  <a:pt x="65928" y="62273"/>
                </a:moveTo>
                <a:cubicBezTo>
                  <a:pt x="69263" y="65608"/>
                  <a:pt x="69263" y="71024"/>
                  <a:pt x="65928" y="74359"/>
                </a:cubicBezTo>
                <a:lnTo>
                  <a:pt x="23239" y="117048"/>
                </a:lnTo>
                <a:cubicBezTo>
                  <a:pt x="19904" y="120383"/>
                  <a:pt x="14488" y="120383"/>
                  <a:pt x="11153" y="117048"/>
                </a:cubicBezTo>
                <a:cubicBezTo>
                  <a:pt x="7817" y="113713"/>
                  <a:pt x="7817" y="108297"/>
                  <a:pt x="11153" y="104962"/>
                </a:cubicBezTo>
                <a:lnTo>
                  <a:pt x="47812" y="68303"/>
                </a:lnTo>
                <a:lnTo>
                  <a:pt x="11179" y="31643"/>
                </a:lnTo>
                <a:cubicBezTo>
                  <a:pt x="7844" y="28308"/>
                  <a:pt x="7844" y="22892"/>
                  <a:pt x="11179" y="19557"/>
                </a:cubicBezTo>
                <a:cubicBezTo>
                  <a:pt x="14514" y="16222"/>
                  <a:pt x="19930" y="16222"/>
                  <a:pt x="23266" y="19557"/>
                </a:cubicBezTo>
                <a:lnTo>
                  <a:pt x="65955" y="62246"/>
                </a:lnTo>
                <a:close/>
              </a:path>
            </a:pathLst>
          </a:custGeom>
          <a:solidFill>
            <a:srgbClr val="F47C20"/>
          </a:solidFill>
          <a:ln/>
        </p:spPr>
      </p:sp>
      <p:sp>
        <p:nvSpPr>
          <p:cNvPr id="48" name="Text 46"/>
          <p:cNvSpPr/>
          <p:nvPr/>
        </p:nvSpPr>
        <p:spPr>
          <a:xfrm>
            <a:off x="6579027" y="6475082"/>
            <a:ext cx="2791866" cy="204908"/>
          </a:xfrm>
          <a:prstGeom prst="rect">
            <a:avLst/>
          </a:prstGeom>
          <a:noFill/>
          <a:ln/>
        </p:spPr>
        <p:txBody>
          <a:bodyPr wrap="square" lIns="0" tIns="0" rIns="0" bIns="0" rtlCol="0" anchor="ctr"/>
          <a:lstStyle/>
          <a:p>
            <a:pPr>
              <a:lnSpc>
                <a:spcPct val="130000"/>
              </a:lnSpc>
            </a:pPr>
            <a:r>
              <a:rPr lang="en-US" sz="1076" b="1" dirty="0">
                <a:solidFill>
                  <a:srgbClr val="E8EAED">
                    <a:alpha val="80000"/>
                  </a:srgbClr>
                </a:solidFill>
                <a:latin typeface="Liter" pitchFamily="34" charset="0"/>
                <a:ea typeface="Liter" pitchFamily="34" charset="-122"/>
                <a:cs typeface="Liter" pitchFamily="34" charset="-120"/>
              </a:rPr>
              <a:t>IPs not matching:</a:t>
            </a:r>
            <a:pPr>
              <a:lnSpc>
                <a:spcPct val="130000"/>
              </a:lnSpc>
            </a:pPr>
            <a:r>
              <a:rPr lang="en-US" sz="1076" dirty="0">
                <a:solidFill>
                  <a:srgbClr val="E8EAED">
                    <a:alpha val="80000"/>
                  </a:srgbClr>
                </a:solidFill>
                <a:latin typeface="Liter" pitchFamily="34" charset="0"/>
                <a:ea typeface="Liter" pitchFamily="34" charset="-122"/>
                <a:cs typeface="Liter" pitchFamily="34" charset="-120"/>
              </a:rPr>
              <a:t> Use CIDR notation correctly</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D21"/>
        </a:solidFill>
      </p:bgPr>
    </p:bg>
    <p:spTree>
      <p:nvGrpSpPr>
        <p:cNvPr id="1" name=""/>
        <p:cNvGrpSpPr/>
        <p:nvPr/>
      </p:nvGrpSpPr>
      <p:grpSpPr>
        <a:xfrm>
          <a:off x="0" y="0"/>
          <a:ext cx="0" cy="0"/>
          <a:chOff x="0" y="0"/>
          <a:chExt cx="0" cy="0"/>
        </a:xfrm>
      </p:grpSpPr>
      <p:pic>
        <p:nvPicPr>
          <p:cNvPr id="2" name="Image 0" descr="https://kimi-web-img.moonshot.cn/img/as1.ftcdn.net/e44b1c1c93d6efd355387123aca59e2a21e7c115.jpg">    </p:cNvPr>
          <p:cNvPicPr>
            <a:picLocks noChangeAspect="1"/>
          </p:cNvPicPr>
          <p:nvPr/>
        </p:nvPicPr>
        <p:blipFill>
          <a:blip r:embed="rId1">
            <a:alphaModFix amt="30000"/>
          </a:blip>
          <a:srcRect l="44" r="44"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1D21">
                  <a:alpha val="95000"/>
                </a:srgbClr>
              </a:gs>
              <a:gs pos="50000">
                <a:srgbClr val="1A1D21">
                  <a:alpha val="90000"/>
                </a:srgbClr>
              </a:gs>
              <a:gs pos="100000">
                <a:srgbClr val="00A4E0">
                  <a:alpha val="30000"/>
                </a:srgbClr>
              </a:gs>
            </a:gsLst>
            <a:lin ang="2700000" scaled="1"/>
          </a:gradFill>
          <a:ln/>
        </p:spPr>
      </p:sp>
      <p:sp>
        <p:nvSpPr>
          <p:cNvPr id="4" name="Shape 1"/>
          <p:cNvSpPr/>
          <p:nvPr/>
        </p:nvSpPr>
        <p:spPr>
          <a:xfrm>
            <a:off x="5688211" y="1658304"/>
            <a:ext cx="817245" cy="579120"/>
          </a:xfrm>
          <a:custGeom>
            <a:avLst/>
            <a:gdLst/>
            <a:ahLst/>
            <a:cxnLst/>
            <a:rect l="l" t="t" r="r" b="b"/>
            <a:pathLst>
              <a:path w="817245" h="579120">
                <a:moveTo>
                  <a:pt x="289560" y="0"/>
                </a:moveTo>
                <a:lnTo>
                  <a:pt x="527685" y="0"/>
                </a:lnTo>
                <a:cubicBezTo>
                  <a:pt x="687498" y="0"/>
                  <a:pt x="817245" y="129747"/>
                  <a:pt x="817245" y="289560"/>
                </a:cubicBezTo>
                <a:lnTo>
                  <a:pt x="817245" y="289560"/>
                </a:lnTo>
                <a:cubicBezTo>
                  <a:pt x="817245" y="449373"/>
                  <a:pt x="687498" y="579120"/>
                  <a:pt x="527685" y="579120"/>
                </a:cubicBezTo>
                <a:lnTo>
                  <a:pt x="289560" y="579120"/>
                </a:lnTo>
                <a:cubicBezTo>
                  <a:pt x="129747" y="579120"/>
                  <a:pt x="0" y="449373"/>
                  <a:pt x="0" y="289560"/>
                </a:cubicBezTo>
                <a:lnTo>
                  <a:pt x="0" y="289560"/>
                </a:lnTo>
                <a:cubicBezTo>
                  <a:pt x="0" y="129747"/>
                  <a:pt x="129747" y="0"/>
                  <a:pt x="289560" y="0"/>
                </a:cubicBezTo>
                <a:close/>
              </a:path>
            </a:pathLst>
          </a:custGeom>
          <a:solidFill>
            <a:srgbClr val="00A4E0">
              <a:alpha val="20000"/>
            </a:srgbClr>
          </a:solidFill>
          <a:ln w="10160">
            <a:solidFill>
              <a:srgbClr val="00A4E0">
                <a:alpha val="40000"/>
              </a:srgbClr>
            </a:solidFill>
            <a:prstDash val="solid"/>
          </a:ln>
        </p:spPr>
      </p:sp>
      <p:sp>
        <p:nvSpPr>
          <p:cNvPr id="5" name="Text 2"/>
          <p:cNvSpPr/>
          <p:nvPr/>
        </p:nvSpPr>
        <p:spPr>
          <a:xfrm>
            <a:off x="5849184" y="1776413"/>
            <a:ext cx="495300" cy="342900"/>
          </a:xfrm>
          <a:prstGeom prst="rect">
            <a:avLst/>
          </a:prstGeom>
          <a:noFill/>
          <a:ln/>
        </p:spPr>
        <p:txBody>
          <a:bodyPr wrap="square" lIns="0" tIns="0" rIns="0" bIns="0" rtlCol="0" anchor="ctr"/>
          <a:lstStyle/>
          <a:p>
            <a:pPr algn="ctr">
              <a:lnSpc>
                <a:spcPct val="100000"/>
              </a:lnSpc>
            </a:pPr>
            <a:r>
              <a:rPr lang="en-US" sz="2250" b="1" dirty="0">
                <a:solidFill>
                  <a:srgbClr val="00A4E0"/>
                </a:solidFill>
                <a:latin typeface="Liter" pitchFamily="34" charset="0"/>
                <a:ea typeface="Liter" pitchFamily="34" charset="-122"/>
                <a:cs typeface="Liter" pitchFamily="34" charset="-120"/>
              </a:rPr>
              <a:t>04</a:t>
            </a:r>
            <a:endParaRPr lang="en-US" sz="1600" dirty="0"/>
          </a:p>
        </p:txBody>
      </p:sp>
      <p:sp>
        <p:nvSpPr>
          <p:cNvPr id="6" name="Text 3"/>
          <p:cNvSpPr/>
          <p:nvPr/>
        </p:nvSpPr>
        <p:spPr>
          <a:xfrm>
            <a:off x="3277195" y="2546031"/>
            <a:ext cx="5638800" cy="1371600"/>
          </a:xfrm>
          <a:prstGeom prst="rect">
            <a:avLst/>
          </a:prstGeom>
          <a:noFill/>
          <a:ln/>
        </p:spPr>
        <p:txBody>
          <a:bodyPr wrap="square" lIns="0" tIns="0" rIns="0" bIns="0" rtlCol="0" anchor="ctr"/>
          <a:lstStyle/>
          <a:p>
            <a:pPr algn="ctr">
              <a:lnSpc>
                <a:spcPct val="80000"/>
              </a:lnSpc>
            </a:pPr>
            <a:r>
              <a:rPr lang="en-US" sz="5400" b="1" dirty="0">
                <a:solidFill>
                  <a:srgbClr val="E8EAED"/>
                </a:solidFill>
                <a:latin typeface="Liter" pitchFamily="34" charset="0"/>
                <a:ea typeface="Liter" pitchFamily="34" charset="-122"/>
                <a:cs typeface="Liter" pitchFamily="34" charset="-120"/>
              </a:rPr>
              <a:t>AWS ALB</a:t>
            </a:r>
            <a:endParaRPr lang="en-US" sz="1600" dirty="0"/>
          </a:p>
          <a:p>
            <a:pPr algn="ctr">
              <a:lnSpc>
                <a:spcPct val="80000"/>
              </a:lnSpc>
            </a:pPr>
            <a:r>
              <a:rPr lang="en-US" sz="5400" b="1" dirty="0">
                <a:solidFill>
                  <a:srgbClr val="E8EAED"/>
                </a:solidFill>
                <a:latin typeface="Liter" pitchFamily="34" charset="0"/>
                <a:ea typeface="Liter" pitchFamily="34" charset="-122"/>
                <a:cs typeface="Liter" pitchFamily="34" charset="-120"/>
              </a:rPr>
              <a:t>Configuration</a:t>
            </a:r>
            <a:endParaRPr lang="en-US" sz="1600" dirty="0"/>
          </a:p>
        </p:txBody>
      </p:sp>
      <p:sp>
        <p:nvSpPr>
          <p:cNvPr id="7" name="Text 4"/>
          <p:cNvSpPr/>
          <p:nvPr/>
        </p:nvSpPr>
        <p:spPr>
          <a:xfrm>
            <a:off x="3391495" y="4146231"/>
            <a:ext cx="5410200" cy="371475"/>
          </a:xfrm>
          <a:prstGeom prst="rect">
            <a:avLst/>
          </a:prstGeom>
          <a:noFill/>
          <a:ln/>
        </p:spPr>
        <p:txBody>
          <a:bodyPr wrap="square" lIns="0" tIns="0" rIns="0" bIns="0" rtlCol="0" anchor="ctr"/>
          <a:lstStyle/>
          <a:p>
            <a:pPr algn="ctr">
              <a:lnSpc>
                <a:spcPct val="140000"/>
              </a:lnSpc>
            </a:pPr>
            <a:r>
              <a:rPr lang="en-US" sz="1800" dirty="0">
                <a:solidFill>
                  <a:srgbClr val="E8EAED">
                    <a:alpha val="80000"/>
                  </a:srgbClr>
                </a:solidFill>
                <a:latin typeface="Liter" pitchFamily="34" charset="0"/>
                <a:ea typeface="Liter" pitchFamily="34" charset="-122"/>
                <a:cs typeface="Liter" pitchFamily="34" charset="-120"/>
              </a:rPr>
              <a:t>Security Group Rules for Cloudflare Aegis Integration</a:t>
            </a:r>
            <a:endParaRPr lang="en-US" sz="1600" dirty="0"/>
          </a:p>
        </p:txBody>
      </p:sp>
      <p:sp>
        <p:nvSpPr>
          <p:cNvPr id="8" name="Shape 5"/>
          <p:cNvSpPr/>
          <p:nvPr/>
        </p:nvSpPr>
        <p:spPr>
          <a:xfrm>
            <a:off x="4886325" y="5070156"/>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00A4E0"/>
          </a:solidFill>
          <a:ln/>
        </p:spPr>
      </p:sp>
      <p:sp>
        <p:nvSpPr>
          <p:cNvPr id="9" name="Shape 6"/>
          <p:cNvSpPr/>
          <p:nvPr/>
        </p:nvSpPr>
        <p:spPr>
          <a:xfrm>
            <a:off x="5967413" y="4974906"/>
            <a:ext cx="257175" cy="228600"/>
          </a:xfrm>
          <a:custGeom>
            <a:avLst/>
            <a:gdLst/>
            <a:ahLst/>
            <a:cxnLst/>
            <a:rect l="l" t="t" r="r" b="b"/>
            <a:pathLst>
              <a:path w="257175" h="228600">
                <a:moveTo>
                  <a:pt x="0" y="150019"/>
                </a:moveTo>
                <a:cubicBezTo>
                  <a:pt x="0" y="185514"/>
                  <a:pt x="28798" y="214313"/>
                  <a:pt x="64294" y="214313"/>
                </a:cubicBezTo>
                <a:lnTo>
                  <a:pt x="200025" y="214313"/>
                </a:lnTo>
                <a:cubicBezTo>
                  <a:pt x="231591" y="214313"/>
                  <a:pt x="257175" y="188729"/>
                  <a:pt x="257175" y="157163"/>
                </a:cubicBezTo>
                <a:cubicBezTo>
                  <a:pt x="257175" y="134124"/>
                  <a:pt x="243557" y="114255"/>
                  <a:pt x="223912" y="105236"/>
                </a:cubicBezTo>
                <a:cubicBezTo>
                  <a:pt x="226903" y="99387"/>
                  <a:pt x="228600" y="92735"/>
                  <a:pt x="228600" y="85725"/>
                </a:cubicBezTo>
                <a:cubicBezTo>
                  <a:pt x="228600" y="62061"/>
                  <a:pt x="209401" y="42863"/>
                  <a:pt x="185738" y="42863"/>
                </a:cubicBezTo>
                <a:cubicBezTo>
                  <a:pt x="177835" y="42863"/>
                  <a:pt x="170468" y="45006"/>
                  <a:pt x="164128" y="48711"/>
                </a:cubicBezTo>
                <a:cubicBezTo>
                  <a:pt x="153367" y="28262"/>
                  <a:pt x="131891" y="14288"/>
                  <a:pt x="107156" y="14288"/>
                </a:cubicBezTo>
                <a:cubicBezTo>
                  <a:pt x="71661" y="14288"/>
                  <a:pt x="42863" y="43086"/>
                  <a:pt x="42863" y="78581"/>
                </a:cubicBezTo>
                <a:cubicBezTo>
                  <a:pt x="42863" y="82153"/>
                  <a:pt x="43175" y="85680"/>
                  <a:pt x="43711" y="89074"/>
                </a:cubicBezTo>
                <a:cubicBezTo>
                  <a:pt x="18306" y="97646"/>
                  <a:pt x="0" y="121712"/>
                  <a:pt x="0" y="150019"/>
                </a:cubicBezTo>
                <a:close/>
              </a:path>
            </a:pathLst>
          </a:custGeom>
          <a:solidFill>
            <a:srgbClr val="00A4E0"/>
          </a:solidFill>
          <a:ln/>
        </p:spPr>
      </p:sp>
      <p:sp>
        <p:nvSpPr>
          <p:cNvPr id="10" name="Shape 7"/>
          <p:cNvSpPr/>
          <p:nvPr/>
        </p:nvSpPr>
        <p:spPr>
          <a:xfrm>
            <a:off x="6391275" y="5070156"/>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00A4E0"/>
          </a:solidFill>
          <a:ln/>
        </p:spPr>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0A4E0"/>
                </a:solidFill>
                <a:latin typeface="Liter" pitchFamily="34" charset="0"/>
                <a:ea typeface="Liter" pitchFamily="34" charset="-122"/>
                <a:cs typeface="Liter" pitchFamily="34" charset="-120"/>
              </a:rPr>
              <a:t>AWS APPLICATION LOAD BALANCER</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8EAED"/>
                </a:solidFill>
                <a:latin typeface="Liter" pitchFamily="34" charset="0"/>
                <a:ea typeface="Liter" pitchFamily="34" charset="-122"/>
                <a:cs typeface="Liter" pitchFamily="34" charset="-120"/>
              </a:rPr>
              <a:t>Security Group Inbound Rules</a:t>
            </a:r>
            <a:endParaRPr lang="en-US" sz="1600" dirty="0"/>
          </a:p>
        </p:txBody>
      </p:sp>
      <p:sp>
        <p:nvSpPr>
          <p:cNvPr id="4" name="Shape 2"/>
          <p:cNvSpPr/>
          <p:nvPr/>
        </p:nvSpPr>
        <p:spPr>
          <a:xfrm>
            <a:off x="384810" y="1146810"/>
            <a:ext cx="5646420" cy="3436620"/>
          </a:xfrm>
          <a:custGeom>
            <a:avLst/>
            <a:gdLst/>
            <a:ahLst/>
            <a:cxnLst/>
            <a:rect l="l" t="t" r="r" b="b"/>
            <a:pathLst>
              <a:path w="5646420" h="3436620">
                <a:moveTo>
                  <a:pt x="114302" y="0"/>
                </a:moveTo>
                <a:lnTo>
                  <a:pt x="5532118" y="0"/>
                </a:lnTo>
                <a:cubicBezTo>
                  <a:pt x="5595245" y="0"/>
                  <a:pt x="5646420" y="51175"/>
                  <a:pt x="5646420" y="114302"/>
                </a:cubicBezTo>
                <a:lnTo>
                  <a:pt x="5646420" y="3322318"/>
                </a:lnTo>
                <a:cubicBezTo>
                  <a:pt x="5646420" y="3385445"/>
                  <a:pt x="5595245" y="3436620"/>
                  <a:pt x="5532118" y="3436620"/>
                </a:cubicBezTo>
                <a:lnTo>
                  <a:pt x="114302" y="3436620"/>
                </a:lnTo>
                <a:cubicBezTo>
                  <a:pt x="51175" y="3436620"/>
                  <a:pt x="0" y="3385445"/>
                  <a:pt x="0" y="3322318"/>
                </a:cubicBezTo>
                <a:lnTo>
                  <a:pt x="0" y="114302"/>
                </a:lnTo>
                <a:cubicBezTo>
                  <a:pt x="0" y="51217"/>
                  <a:pt x="51217" y="0"/>
                  <a:pt x="114302" y="0"/>
                </a:cubicBezTo>
                <a:close/>
              </a:path>
            </a:pathLst>
          </a:custGeom>
          <a:solidFill>
            <a:srgbClr val="48515E">
              <a:alpha val="20000"/>
            </a:srgbClr>
          </a:solidFill>
          <a:ln w="10160">
            <a:solidFill>
              <a:srgbClr val="48515E">
                <a:alpha val="40000"/>
              </a:srgbClr>
            </a:solidFill>
            <a:prstDash val="solid"/>
          </a:ln>
        </p:spPr>
      </p:sp>
      <p:sp>
        <p:nvSpPr>
          <p:cNvPr id="5" name="Shape 3"/>
          <p:cNvSpPr/>
          <p:nvPr/>
        </p:nvSpPr>
        <p:spPr>
          <a:xfrm>
            <a:off x="502920" y="1264918"/>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00A4E0">
              <a:alpha val="20000"/>
            </a:srgbClr>
          </a:solidFill>
          <a:ln/>
        </p:spPr>
      </p:sp>
      <p:sp>
        <p:nvSpPr>
          <p:cNvPr id="6" name="Shape 4"/>
          <p:cNvSpPr/>
          <p:nvPr/>
        </p:nvSpPr>
        <p:spPr>
          <a:xfrm>
            <a:off x="610076" y="1369693"/>
            <a:ext cx="171450" cy="171450"/>
          </a:xfrm>
          <a:custGeom>
            <a:avLst/>
            <a:gdLst/>
            <a:ahLst/>
            <a:cxnLst/>
            <a:rect l="l" t="t" r="r" b="b"/>
            <a:pathLst>
              <a:path w="171450" h="171450">
                <a:moveTo>
                  <a:pt x="85725" y="0"/>
                </a:moveTo>
                <a:cubicBezTo>
                  <a:pt x="87265" y="0"/>
                  <a:pt x="88806" y="335"/>
                  <a:pt x="90212" y="971"/>
                </a:cubicBezTo>
                <a:lnTo>
                  <a:pt x="153300" y="27727"/>
                </a:lnTo>
                <a:cubicBezTo>
                  <a:pt x="160667" y="30841"/>
                  <a:pt x="166159" y="38107"/>
                  <a:pt x="166126" y="46881"/>
                </a:cubicBezTo>
                <a:cubicBezTo>
                  <a:pt x="165958" y="80099"/>
                  <a:pt x="152296" y="140877"/>
                  <a:pt x="94599" y="168503"/>
                </a:cubicBezTo>
                <a:cubicBezTo>
                  <a:pt x="89007" y="171182"/>
                  <a:pt x="82510" y="171182"/>
                  <a:pt x="76918" y="168503"/>
                </a:cubicBezTo>
                <a:cubicBezTo>
                  <a:pt x="19188" y="140877"/>
                  <a:pt x="5559" y="80099"/>
                  <a:pt x="5391" y="46881"/>
                </a:cubicBezTo>
                <a:cubicBezTo>
                  <a:pt x="5358" y="38107"/>
                  <a:pt x="10850" y="30841"/>
                  <a:pt x="18217" y="27727"/>
                </a:cubicBezTo>
                <a:lnTo>
                  <a:pt x="81271" y="971"/>
                </a:lnTo>
                <a:cubicBezTo>
                  <a:pt x="82678" y="335"/>
                  <a:pt x="84185" y="0"/>
                  <a:pt x="85725" y="0"/>
                </a:cubicBezTo>
                <a:close/>
                <a:moveTo>
                  <a:pt x="85725" y="22369"/>
                </a:moveTo>
                <a:lnTo>
                  <a:pt x="85725" y="148981"/>
                </a:lnTo>
                <a:cubicBezTo>
                  <a:pt x="131936" y="126612"/>
                  <a:pt x="144360" y="77052"/>
                  <a:pt x="144661" y="47383"/>
                </a:cubicBezTo>
                <a:lnTo>
                  <a:pt x="85725" y="22402"/>
                </a:lnTo>
                <a:lnTo>
                  <a:pt x="85725" y="22402"/>
                </a:lnTo>
                <a:close/>
              </a:path>
            </a:pathLst>
          </a:custGeom>
          <a:solidFill>
            <a:srgbClr val="00A4E0"/>
          </a:solidFill>
          <a:ln/>
        </p:spPr>
      </p:sp>
      <p:sp>
        <p:nvSpPr>
          <p:cNvPr id="7" name="Text 5"/>
          <p:cNvSpPr/>
          <p:nvPr/>
        </p:nvSpPr>
        <p:spPr>
          <a:xfrm>
            <a:off x="998220" y="1322068"/>
            <a:ext cx="2305050" cy="266700"/>
          </a:xfrm>
          <a:prstGeom prst="rect">
            <a:avLst/>
          </a:prstGeom>
          <a:noFill/>
          <a:ln/>
        </p:spPr>
        <p:txBody>
          <a:bodyPr wrap="square" lIns="0" tIns="0" rIns="0" bIns="0" rtlCol="0" anchor="ctr"/>
          <a:lstStyle/>
          <a:p>
            <a:pPr>
              <a:lnSpc>
                <a:spcPct val="120000"/>
              </a:lnSpc>
            </a:pPr>
            <a:r>
              <a:rPr lang="en-US" sz="1500" b="1" dirty="0">
                <a:solidFill>
                  <a:srgbClr val="E8EAED"/>
                </a:solidFill>
                <a:latin typeface="Liter" pitchFamily="34" charset="0"/>
                <a:ea typeface="Liter" pitchFamily="34" charset="-122"/>
                <a:cs typeface="Liter" pitchFamily="34" charset="-120"/>
              </a:rPr>
              <a:t>Security Groups vs NACLs</a:t>
            </a:r>
            <a:endParaRPr lang="en-US" sz="1600" dirty="0"/>
          </a:p>
        </p:txBody>
      </p:sp>
      <p:sp>
        <p:nvSpPr>
          <p:cNvPr id="8" name="Shape 6"/>
          <p:cNvSpPr/>
          <p:nvPr/>
        </p:nvSpPr>
        <p:spPr>
          <a:xfrm>
            <a:off x="502920" y="1760218"/>
            <a:ext cx="5410200" cy="1295400"/>
          </a:xfrm>
          <a:custGeom>
            <a:avLst/>
            <a:gdLst/>
            <a:ahLst/>
            <a:cxnLst/>
            <a:rect l="l" t="t" r="r" b="b"/>
            <a:pathLst>
              <a:path w="5410200" h="1295400">
                <a:moveTo>
                  <a:pt x="76195" y="0"/>
                </a:moveTo>
                <a:lnTo>
                  <a:pt x="5334005" y="0"/>
                </a:lnTo>
                <a:cubicBezTo>
                  <a:pt x="5376058" y="0"/>
                  <a:pt x="5410200" y="34142"/>
                  <a:pt x="5410200" y="76195"/>
                </a:cubicBezTo>
                <a:lnTo>
                  <a:pt x="5410200" y="1219205"/>
                </a:lnTo>
                <a:cubicBezTo>
                  <a:pt x="5410200" y="1261286"/>
                  <a:pt x="5376086" y="1295400"/>
                  <a:pt x="5334005" y="1295400"/>
                </a:cubicBezTo>
                <a:lnTo>
                  <a:pt x="76195" y="1295400"/>
                </a:lnTo>
                <a:cubicBezTo>
                  <a:pt x="34142" y="1295400"/>
                  <a:pt x="0" y="1261258"/>
                  <a:pt x="0" y="1219205"/>
                </a:cubicBezTo>
                <a:lnTo>
                  <a:pt x="0" y="76195"/>
                </a:lnTo>
                <a:cubicBezTo>
                  <a:pt x="0" y="34142"/>
                  <a:pt x="34142" y="0"/>
                  <a:pt x="76195" y="0"/>
                </a:cubicBezTo>
                <a:close/>
              </a:path>
            </a:pathLst>
          </a:custGeom>
          <a:solidFill>
            <a:srgbClr val="1A1D21">
              <a:alpha val="50196"/>
            </a:srgbClr>
          </a:solidFill>
          <a:ln/>
        </p:spPr>
      </p:sp>
      <p:sp>
        <p:nvSpPr>
          <p:cNvPr id="9" name="Text 7"/>
          <p:cNvSpPr/>
          <p:nvPr/>
        </p:nvSpPr>
        <p:spPr>
          <a:xfrm>
            <a:off x="617220" y="1874518"/>
            <a:ext cx="5257800" cy="228600"/>
          </a:xfrm>
          <a:prstGeom prst="rect">
            <a:avLst/>
          </a:prstGeom>
          <a:noFill/>
          <a:ln/>
        </p:spPr>
        <p:txBody>
          <a:bodyPr wrap="square" lIns="0" tIns="0" rIns="0" bIns="0" rtlCol="0" anchor="ctr"/>
          <a:lstStyle/>
          <a:p>
            <a:pPr>
              <a:lnSpc>
                <a:spcPct val="130000"/>
              </a:lnSpc>
            </a:pPr>
            <a:r>
              <a:rPr lang="en-US" sz="1200" b="1" dirty="0">
                <a:solidFill>
                  <a:srgbClr val="00A4E0"/>
                </a:solidFill>
                <a:latin typeface="Liter" pitchFamily="34" charset="0"/>
                <a:ea typeface="Liter" pitchFamily="34" charset="-122"/>
                <a:cs typeface="Liter" pitchFamily="34" charset="-120"/>
              </a:rPr>
              <a:t>Security Groups (Recommended)</a:t>
            </a:r>
            <a:endParaRPr lang="en-US" sz="1600" dirty="0"/>
          </a:p>
        </p:txBody>
      </p:sp>
      <p:sp>
        <p:nvSpPr>
          <p:cNvPr id="10" name="Shape 8"/>
          <p:cNvSpPr/>
          <p:nvPr/>
        </p:nvSpPr>
        <p:spPr>
          <a:xfrm>
            <a:off x="645795" y="2217418"/>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00A4E0"/>
          </a:solidFill>
          <a:ln/>
        </p:spPr>
      </p:sp>
      <p:sp>
        <p:nvSpPr>
          <p:cNvPr id="11" name="Text 9"/>
          <p:cNvSpPr/>
          <p:nvPr/>
        </p:nvSpPr>
        <p:spPr>
          <a:xfrm>
            <a:off x="883920" y="2179318"/>
            <a:ext cx="2466975" cy="2286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Stateful:</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Return traffic auto-allowed</a:t>
            </a:r>
            <a:endParaRPr lang="en-US" sz="1600" dirty="0"/>
          </a:p>
        </p:txBody>
      </p:sp>
      <p:sp>
        <p:nvSpPr>
          <p:cNvPr id="12" name="Shape 10"/>
          <p:cNvSpPr/>
          <p:nvPr/>
        </p:nvSpPr>
        <p:spPr>
          <a:xfrm>
            <a:off x="645795" y="2484118"/>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00A4E0"/>
          </a:solidFill>
          <a:ln/>
        </p:spPr>
      </p:sp>
      <p:sp>
        <p:nvSpPr>
          <p:cNvPr id="13" name="Text 11"/>
          <p:cNvSpPr/>
          <p:nvPr/>
        </p:nvSpPr>
        <p:spPr>
          <a:xfrm>
            <a:off x="883920" y="2446018"/>
            <a:ext cx="2085975" cy="2286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Instance-level:</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Applied to ALB</a:t>
            </a:r>
            <a:endParaRPr lang="en-US" sz="1600" dirty="0"/>
          </a:p>
        </p:txBody>
      </p:sp>
      <p:sp>
        <p:nvSpPr>
          <p:cNvPr id="14" name="Shape 12"/>
          <p:cNvSpPr/>
          <p:nvPr/>
        </p:nvSpPr>
        <p:spPr>
          <a:xfrm>
            <a:off x="645795" y="2750818"/>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00A4E0"/>
          </a:solidFill>
          <a:ln/>
        </p:spPr>
      </p:sp>
      <p:sp>
        <p:nvSpPr>
          <p:cNvPr id="15" name="Text 13"/>
          <p:cNvSpPr/>
          <p:nvPr/>
        </p:nvSpPr>
        <p:spPr>
          <a:xfrm>
            <a:off x="883920" y="2712718"/>
            <a:ext cx="2419350" cy="2286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Allow-only:</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Implicit deny by default</a:t>
            </a:r>
            <a:endParaRPr lang="en-US" sz="1600" dirty="0"/>
          </a:p>
        </p:txBody>
      </p:sp>
      <p:sp>
        <p:nvSpPr>
          <p:cNvPr id="16" name="Shape 14"/>
          <p:cNvSpPr/>
          <p:nvPr/>
        </p:nvSpPr>
        <p:spPr>
          <a:xfrm>
            <a:off x="502920" y="3169918"/>
            <a:ext cx="5410200" cy="1295400"/>
          </a:xfrm>
          <a:custGeom>
            <a:avLst/>
            <a:gdLst/>
            <a:ahLst/>
            <a:cxnLst/>
            <a:rect l="l" t="t" r="r" b="b"/>
            <a:pathLst>
              <a:path w="5410200" h="1295400">
                <a:moveTo>
                  <a:pt x="76195" y="0"/>
                </a:moveTo>
                <a:lnTo>
                  <a:pt x="5334005" y="0"/>
                </a:lnTo>
                <a:cubicBezTo>
                  <a:pt x="5376058" y="0"/>
                  <a:pt x="5410200" y="34142"/>
                  <a:pt x="5410200" y="76195"/>
                </a:cubicBezTo>
                <a:lnTo>
                  <a:pt x="5410200" y="1219205"/>
                </a:lnTo>
                <a:cubicBezTo>
                  <a:pt x="5410200" y="1261286"/>
                  <a:pt x="5376086" y="1295400"/>
                  <a:pt x="5334005" y="1295400"/>
                </a:cubicBezTo>
                <a:lnTo>
                  <a:pt x="76195" y="1295400"/>
                </a:lnTo>
                <a:cubicBezTo>
                  <a:pt x="34142" y="1295400"/>
                  <a:pt x="0" y="1261258"/>
                  <a:pt x="0" y="1219205"/>
                </a:cubicBezTo>
                <a:lnTo>
                  <a:pt x="0" y="76195"/>
                </a:lnTo>
                <a:cubicBezTo>
                  <a:pt x="0" y="34142"/>
                  <a:pt x="34142" y="0"/>
                  <a:pt x="76195" y="0"/>
                </a:cubicBezTo>
                <a:close/>
              </a:path>
            </a:pathLst>
          </a:custGeom>
          <a:solidFill>
            <a:srgbClr val="1A1D21">
              <a:alpha val="50196"/>
            </a:srgbClr>
          </a:solidFill>
          <a:ln/>
        </p:spPr>
      </p:sp>
      <p:sp>
        <p:nvSpPr>
          <p:cNvPr id="17" name="Text 15"/>
          <p:cNvSpPr/>
          <p:nvPr/>
        </p:nvSpPr>
        <p:spPr>
          <a:xfrm>
            <a:off x="617220" y="3284218"/>
            <a:ext cx="5257800" cy="228600"/>
          </a:xfrm>
          <a:prstGeom prst="rect">
            <a:avLst/>
          </a:prstGeom>
          <a:noFill/>
          <a:ln/>
        </p:spPr>
        <p:txBody>
          <a:bodyPr wrap="square" lIns="0" tIns="0" rIns="0" bIns="0" rtlCol="0" anchor="ctr"/>
          <a:lstStyle/>
          <a:p>
            <a:pPr>
              <a:lnSpc>
                <a:spcPct val="130000"/>
              </a:lnSpc>
            </a:pPr>
            <a:r>
              <a:rPr lang="en-US" sz="1200" b="1" dirty="0">
                <a:solidFill>
                  <a:srgbClr val="F47C20"/>
                </a:solidFill>
                <a:latin typeface="Liter" pitchFamily="34" charset="0"/>
                <a:ea typeface="Liter" pitchFamily="34" charset="-122"/>
                <a:cs typeface="Liter" pitchFamily="34" charset="-120"/>
              </a:rPr>
              <a:t>Network ACLs (Alternative)</a:t>
            </a:r>
            <a:endParaRPr lang="en-US" sz="1600" dirty="0"/>
          </a:p>
        </p:txBody>
      </p:sp>
      <p:sp>
        <p:nvSpPr>
          <p:cNvPr id="18" name="Shape 16"/>
          <p:cNvSpPr/>
          <p:nvPr/>
        </p:nvSpPr>
        <p:spPr>
          <a:xfrm>
            <a:off x="655320" y="3627118"/>
            <a:ext cx="114300" cy="152400"/>
          </a:xfrm>
          <a:custGeom>
            <a:avLst/>
            <a:gdLst/>
            <a:ahLst/>
            <a:cxnLst/>
            <a:rect l="l" t="t" r="r" b="b"/>
            <a:pathLst>
              <a:path w="114300" h="152400">
                <a:moveTo>
                  <a:pt x="16401" y="21848"/>
                </a:moveTo>
                <a:cubicBezTo>
                  <a:pt x="12680" y="18127"/>
                  <a:pt x="6638" y="18127"/>
                  <a:pt x="2917" y="21848"/>
                </a:cubicBezTo>
                <a:cubicBezTo>
                  <a:pt x="-804" y="25569"/>
                  <a:pt x="-804" y="31611"/>
                  <a:pt x="2917" y="35332"/>
                </a:cubicBezTo>
                <a:lnTo>
                  <a:pt x="43815" y="76200"/>
                </a:lnTo>
                <a:lnTo>
                  <a:pt x="2947" y="117098"/>
                </a:lnTo>
                <a:cubicBezTo>
                  <a:pt x="-774" y="120819"/>
                  <a:pt x="-774" y="126861"/>
                  <a:pt x="2947" y="130582"/>
                </a:cubicBezTo>
                <a:cubicBezTo>
                  <a:pt x="6668" y="134303"/>
                  <a:pt x="12710" y="134303"/>
                  <a:pt x="16431" y="130582"/>
                </a:cubicBezTo>
                <a:lnTo>
                  <a:pt x="57299" y="89684"/>
                </a:lnTo>
                <a:lnTo>
                  <a:pt x="98197" y="130552"/>
                </a:lnTo>
                <a:cubicBezTo>
                  <a:pt x="101918" y="134273"/>
                  <a:pt x="107960" y="134273"/>
                  <a:pt x="111681" y="130552"/>
                </a:cubicBezTo>
                <a:cubicBezTo>
                  <a:pt x="115401" y="126831"/>
                  <a:pt x="115401" y="120789"/>
                  <a:pt x="111681" y="117068"/>
                </a:cubicBezTo>
                <a:lnTo>
                  <a:pt x="70783" y="76200"/>
                </a:lnTo>
                <a:lnTo>
                  <a:pt x="111651" y="35302"/>
                </a:lnTo>
                <a:cubicBezTo>
                  <a:pt x="115372" y="31581"/>
                  <a:pt x="115372" y="25539"/>
                  <a:pt x="111651" y="21818"/>
                </a:cubicBezTo>
                <a:cubicBezTo>
                  <a:pt x="107930" y="18098"/>
                  <a:pt x="101888" y="18098"/>
                  <a:pt x="98167" y="21818"/>
                </a:cubicBezTo>
                <a:lnTo>
                  <a:pt x="57299" y="62716"/>
                </a:lnTo>
                <a:lnTo>
                  <a:pt x="16401" y="21848"/>
                </a:lnTo>
                <a:close/>
              </a:path>
            </a:pathLst>
          </a:custGeom>
          <a:solidFill>
            <a:srgbClr val="F47C20"/>
          </a:solidFill>
          <a:ln/>
        </p:spPr>
      </p:sp>
      <p:sp>
        <p:nvSpPr>
          <p:cNvPr id="19" name="Text 17"/>
          <p:cNvSpPr/>
          <p:nvPr/>
        </p:nvSpPr>
        <p:spPr>
          <a:xfrm>
            <a:off x="883920" y="3589018"/>
            <a:ext cx="2362200" cy="2286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Stateless:</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Must allow return traffic</a:t>
            </a:r>
            <a:endParaRPr lang="en-US" sz="1600" dirty="0"/>
          </a:p>
        </p:txBody>
      </p:sp>
      <p:sp>
        <p:nvSpPr>
          <p:cNvPr id="20" name="Shape 18"/>
          <p:cNvSpPr/>
          <p:nvPr/>
        </p:nvSpPr>
        <p:spPr>
          <a:xfrm>
            <a:off x="655320" y="3893818"/>
            <a:ext cx="114300" cy="152400"/>
          </a:xfrm>
          <a:custGeom>
            <a:avLst/>
            <a:gdLst/>
            <a:ahLst/>
            <a:cxnLst/>
            <a:rect l="l" t="t" r="r" b="b"/>
            <a:pathLst>
              <a:path w="114300" h="152400">
                <a:moveTo>
                  <a:pt x="16401" y="21848"/>
                </a:moveTo>
                <a:cubicBezTo>
                  <a:pt x="12680" y="18127"/>
                  <a:pt x="6638" y="18127"/>
                  <a:pt x="2917" y="21848"/>
                </a:cubicBezTo>
                <a:cubicBezTo>
                  <a:pt x="-804" y="25569"/>
                  <a:pt x="-804" y="31611"/>
                  <a:pt x="2917" y="35332"/>
                </a:cubicBezTo>
                <a:lnTo>
                  <a:pt x="43815" y="76200"/>
                </a:lnTo>
                <a:lnTo>
                  <a:pt x="2947" y="117098"/>
                </a:lnTo>
                <a:cubicBezTo>
                  <a:pt x="-774" y="120819"/>
                  <a:pt x="-774" y="126861"/>
                  <a:pt x="2947" y="130582"/>
                </a:cubicBezTo>
                <a:cubicBezTo>
                  <a:pt x="6668" y="134303"/>
                  <a:pt x="12710" y="134303"/>
                  <a:pt x="16431" y="130582"/>
                </a:cubicBezTo>
                <a:lnTo>
                  <a:pt x="57299" y="89684"/>
                </a:lnTo>
                <a:lnTo>
                  <a:pt x="98197" y="130552"/>
                </a:lnTo>
                <a:cubicBezTo>
                  <a:pt x="101918" y="134273"/>
                  <a:pt x="107960" y="134273"/>
                  <a:pt x="111681" y="130552"/>
                </a:cubicBezTo>
                <a:cubicBezTo>
                  <a:pt x="115401" y="126831"/>
                  <a:pt x="115401" y="120789"/>
                  <a:pt x="111681" y="117068"/>
                </a:cubicBezTo>
                <a:lnTo>
                  <a:pt x="70783" y="76200"/>
                </a:lnTo>
                <a:lnTo>
                  <a:pt x="111651" y="35302"/>
                </a:lnTo>
                <a:cubicBezTo>
                  <a:pt x="115372" y="31581"/>
                  <a:pt x="115372" y="25539"/>
                  <a:pt x="111651" y="21818"/>
                </a:cubicBezTo>
                <a:cubicBezTo>
                  <a:pt x="107930" y="18098"/>
                  <a:pt x="101888" y="18098"/>
                  <a:pt x="98167" y="21818"/>
                </a:cubicBezTo>
                <a:lnTo>
                  <a:pt x="57299" y="62716"/>
                </a:lnTo>
                <a:lnTo>
                  <a:pt x="16401" y="21848"/>
                </a:lnTo>
                <a:close/>
              </a:path>
            </a:pathLst>
          </a:custGeom>
          <a:solidFill>
            <a:srgbClr val="F47C20"/>
          </a:solidFill>
          <a:ln/>
        </p:spPr>
      </p:sp>
      <p:sp>
        <p:nvSpPr>
          <p:cNvPr id="21" name="Text 19"/>
          <p:cNvSpPr/>
          <p:nvPr/>
        </p:nvSpPr>
        <p:spPr>
          <a:xfrm>
            <a:off x="883920" y="3855718"/>
            <a:ext cx="2352675" cy="2286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Subnet-level:</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Affects all instances</a:t>
            </a:r>
            <a:endParaRPr lang="en-US" sz="1600" dirty="0"/>
          </a:p>
        </p:txBody>
      </p:sp>
      <p:sp>
        <p:nvSpPr>
          <p:cNvPr id="22" name="Shape 20"/>
          <p:cNvSpPr/>
          <p:nvPr/>
        </p:nvSpPr>
        <p:spPr>
          <a:xfrm>
            <a:off x="655320" y="4160518"/>
            <a:ext cx="114300" cy="152400"/>
          </a:xfrm>
          <a:custGeom>
            <a:avLst/>
            <a:gdLst/>
            <a:ahLst/>
            <a:cxnLst/>
            <a:rect l="l" t="t" r="r" b="b"/>
            <a:pathLst>
              <a:path w="114300" h="152400">
                <a:moveTo>
                  <a:pt x="16401" y="21848"/>
                </a:moveTo>
                <a:cubicBezTo>
                  <a:pt x="12680" y="18127"/>
                  <a:pt x="6638" y="18127"/>
                  <a:pt x="2917" y="21848"/>
                </a:cubicBezTo>
                <a:cubicBezTo>
                  <a:pt x="-804" y="25569"/>
                  <a:pt x="-804" y="31611"/>
                  <a:pt x="2917" y="35332"/>
                </a:cubicBezTo>
                <a:lnTo>
                  <a:pt x="43815" y="76200"/>
                </a:lnTo>
                <a:lnTo>
                  <a:pt x="2947" y="117098"/>
                </a:lnTo>
                <a:cubicBezTo>
                  <a:pt x="-774" y="120819"/>
                  <a:pt x="-774" y="126861"/>
                  <a:pt x="2947" y="130582"/>
                </a:cubicBezTo>
                <a:cubicBezTo>
                  <a:pt x="6668" y="134303"/>
                  <a:pt x="12710" y="134303"/>
                  <a:pt x="16431" y="130582"/>
                </a:cubicBezTo>
                <a:lnTo>
                  <a:pt x="57299" y="89684"/>
                </a:lnTo>
                <a:lnTo>
                  <a:pt x="98197" y="130552"/>
                </a:lnTo>
                <a:cubicBezTo>
                  <a:pt x="101918" y="134273"/>
                  <a:pt x="107960" y="134273"/>
                  <a:pt x="111681" y="130552"/>
                </a:cubicBezTo>
                <a:cubicBezTo>
                  <a:pt x="115401" y="126831"/>
                  <a:pt x="115401" y="120789"/>
                  <a:pt x="111681" y="117068"/>
                </a:cubicBezTo>
                <a:lnTo>
                  <a:pt x="70783" y="76200"/>
                </a:lnTo>
                <a:lnTo>
                  <a:pt x="111651" y="35302"/>
                </a:lnTo>
                <a:cubicBezTo>
                  <a:pt x="115372" y="31581"/>
                  <a:pt x="115372" y="25539"/>
                  <a:pt x="111651" y="21818"/>
                </a:cubicBezTo>
                <a:cubicBezTo>
                  <a:pt x="107930" y="18098"/>
                  <a:pt x="101888" y="18098"/>
                  <a:pt x="98167" y="21818"/>
                </a:cubicBezTo>
                <a:lnTo>
                  <a:pt x="57299" y="62716"/>
                </a:lnTo>
                <a:lnTo>
                  <a:pt x="16401" y="21848"/>
                </a:lnTo>
                <a:close/>
              </a:path>
            </a:pathLst>
          </a:custGeom>
          <a:solidFill>
            <a:srgbClr val="F47C20"/>
          </a:solidFill>
          <a:ln/>
        </p:spPr>
      </p:sp>
      <p:sp>
        <p:nvSpPr>
          <p:cNvPr id="23" name="Text 21"/>
          <p:cNvSpPr/>
          <p:nvPr/>
        </p:nvSpPr>
        <p:spPr>
          <a:xfrm>
            <a:off x="883920" y="4122418"/>
            <a:ext cx="2733675" cy="2286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More complex:</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Requires outbound rules</a:t>
            </a:r>
            <a:endParaRPr lang="en-US" sz="1600" dirty="0"/>
          </a:p>
        </p:txBody>
      </p:sp>
      <p:sp>
        <p:nvSpPr>
          <p:cNvPr id="24" name="Shape 22"/>
          <p:cNvSpPr/>
          <p:nvPr/>
        </p:nvSpPr>
        <p:spPr>
          <a:xfrm>
            <a:off x="6156960" y="1146810"/>
            <a:ext cx="5646420" cy="3550920"/>
          </a:xfrm>
          <a:custGeom>
            <a:avLst/>
            <a:gdLst/>
            <a:ahLst/>
            <a:cxnLst/>
            <a:rect l="l" t="t" r="r" b="b"/>
            <a:pathLst>
              <a:path w="5646420" h="3550920">
                <a:moveTo>
                  <a:pt x="114304" y="0"/>
                </a:moveTo>
                <a:lnTo>
                  <a:pt x="5532116" y="0"/>
                </a:lnTo>
                <a:cubicBezTo>
                  <a:pt x="5595244" y="0"/>
                  <a:pt x="5646420" y="51176"/>
                  <a:pt x="5646420" y="114304"/>
                </a:cubicBezTo>
                <a:lnTo>
                  <a:pt x="5646420" y="3436616"/>
                </a:lnTo>
                <a:cubicBezTo>
                  <a:pt x="5646420" y="3499744"/>
                  <a:pt x="5595244" y="3550920"/>
                  <a:pt x="5532116" y="3550920"/>
                </a:cubicBezTo>
                <a:lnTo>
                  <a:pt x="114304" y="3550920"/>
                </a:lnTo>
                <a:cubicBezTo>
                  <a:pt x="51176" y="3550920"/>
                  <a:pt x="0" y="3499744"/>
                  <a:pt x="0" y="3436616"/>
                </a:cubicBezTo>
                <a:lnTo>
                  <a:pt x="0" y="114304"/>
                </a:lnTo>
                <a:cubicBezTo>
                  <a:pt x="0" y="51218"/>
                  <a:pt x="51218" y="0"/>
                  <a:pt x="114304" y="0"/>
                </a:cubicBezTo>
                <a:close/>
              </a:path>
            </a:pathLst>
          </a:custGeom>
          <a:solidFill>
            <a:srgbClr val="48515E">
              <a:alpha val="20000"/>
            </a:srgbClr>
          </a:solidFill>
          <a:ln w="10160">
            <a:solidFill>
              <a:srgbClr val="48515E">
                <a:alpha val="40000"/>
              </a:srgbClr>
            </a:solidFill>
            <a:prstDash val="solid"/>
          </a:ln>
        </p:spPr>
      </p:sp>
      <p:sp>
        <p:nvSpPr>
          <p:cNvPr id="25" name="Shape 23"/>
          <p:cNvSpPr/>
          <p:nvPr/>
        </p:nvSpPr>
        <p:spPr>
          <a:xfrm>
            <a:off x="6275070" y="1264918"/>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47C20">
              <a:alpha val="20000"/>
            </a:srgbClr>
          </a:solidFill>
          <a:ln/>
        </p:spPr>
      </p:sp>
      <p:sp>
        <p:nvSpPr>
          <p:cNvPr id="26" name="Shape 24"/>
          <p:cNvSpPr/>
          <p:nvPr/>
        </p:nvSpPr>
        <p:spPr>
          <a:xfrm>
            <a:off x="6382226" y="1369693"/>
            <a:ext cx="171450" cy="171450"/>
          </a:xfrm>
          <a:custGeom>
            <a:avLst/>
            <a:gdLst/>
            <a:ahLst/>
            <a:cxnLst/>
            <a:rect l="l" t="t" r="r" b="b"/>
            <a:pathLst>
              <a:path w="171450" h="171450">
                <a:moveTo>
                  <a:pt x="3148" y="39715"/>
                </a:moveTo>
                <a:cubicBezTo>
                  <a:pt x="-1038" y="35529"/>
                  <a:pt x="-1038" y="28731"/>
                  <a:pt x="3148" y="24545"/>
                </a:cubicBezTo>
                <a:cubicBezTo>
                  <a:pt x="7334" y="20360"/>
                  <a:pt x="14131" y="20360"/>
                  <a:pt x="18317" y="24545"/>
                </a:cubicBezTo>
                <a:lnTo>
                  <a:pt x="71895" y="78124"/>
                </a:lnTo>
                <a:cubicBezTo>
                  <a:pt x="76081" y="82309"/>
                  <a:pt x="76081" y="89107"/>
                  <a:pt x="71895" y="93293"/>
                </a:cubicBezTo>
                <a:lnTo>
                  <a:pt x="18317" y="146871"/>
                </a:lnTo>
                <a:cubicBezTo>
                  <a:pt x="14131" y="151057"/>
                  <a:pt x="7334" y="151057"/>
                  <a:pt x="3148" y="146871"/>
                </a:cubicBezTo>
                <a:cubicBezTo>
                  <a:pt x="-1038" y="142685"/>
                  <a:pt x="-1038" y="135888"/>
                  <a:pt x="3148" y="131702"/>
                </a:cubicBezTo>
                <a:lnTo>
                  <a:pt x="49124" y="85725"/>
                </a:lnTo>
                <a:lnTo>
                  <a:pt x="3148" y="39715"/>
                </a:lnTo>
                <a:close/>
                <a:moveTo>
                  <a:pt x="75009" y="128588"/>
                </a:moveTo>
                <a:lnTo>
                  <a:pt x="160734" y="128588"/>
                </a:lnTo>
                <a:cubicBezTo>
                  <a:pt x="166661" y="128588"/>
                  <a:pt x="171450" y="133376"/>
                  <a:pt x="171450" y="139303"/>
                </a:cubicBezTo>
                <a:cubicBezTo>
                  <a:pt x="171450" y="145230"/>
                  <a:pt x="166661" y="150019"/>
                  <a:pt x="160734" y="150019"/>
                </a:cubicBezTo>
                <a:lnTo>
                  <a:pt x="75009" y="150019"/>
                </a:lnTo>
                <a:cubicBezTo>
                  <a:pt x="69082" y="150019"/>
                  <a:pt x="64294" y="145230"/>
                  <a:pt x="64294" y="139303"/>
                </a:cubicBezTo>
                <a:cubicBezTo>
                  <a:pt x="64294" y="133376"/>
                  <a:pt x="69082" y="128588"/>
                  <a:pt x="75009" y="128588"/>
                </a:cubicBezTo>
                <a:close/>
              </a:path>
            </a:pathLst>
          </a:custGeom>
          <a:solidFill>
            <a:srgbClr val="F47C20"/>
          </a:solidFill>
          <a:ln/>
        </p:spPr>
      </p:sp>
      <p:sp>
        <p:nvSpPr>
          <p:cNvPr id="27" name="Text 25"/>
          <p:cNvSpPr/>
          <p:nvPr/>
        </p:nvSpPr>
        <p:spPr>
          <a:xfrm>
            <a:off x="6770370" y="1322068"/>
            <a:ext cx="2047875" cy="266700"/>
          </a:xfrm>
          <a:prstGeom prst="rect">
            <a:avLst/>
          </a:prstGeom>
          <a:noFill/>
          <a:ln/>
        </p:spPr>
        <p:txBody>
          <a:bodyPr wrap="square" lIns="0" tIns="0" rIns="0" bIns="0" rtlCol="0" anchor="ctr"/>
          <a:lstStyle/>
          <a:p>
            <a:pPr>
              <a:lnSpc>
                <a:spcPct val="120000"/>
              </a:lnSpc>
            </a:pPr>
            <a:r>
              <a:rPr lang="en-US" sz="1500" b="1" dirty="0">
                <a:solidFill>
                  <a:srgbClr val="E8EAED"/>
                </a:solidFill>
                <a:latin typeface="Liter" pitchFamily="34" charset="0"/>
                <a:ea typeface="Liter" pitchFamily="34" charset="-122"/>
                <a:cs typeface="Liter" pitchFamily="34" charset="-120"/>
              </a:rPr>
              <a:t>AWS CLI Configuration</a:t>
            </a:r>
            <a:endParaRPr lang="en-US" sz="1600" dirty="0"/>
          </a:p>
        </p:txBody>
      </p:sp>
      <p:sp>
        <p:nvSpPr>
          <p:cNvPr id="28" name="Shape 26"/>
          <p:cNvSpPr/>
          <p:nvPr/>
        </p:nvSpPr>
        <p:spPr>
          <a:xfrm>
            <a:off x="6286500" y="1760218"/>
            <a:ext cx="5402580" cy="1447800"/>
          </a:xfrm>
          <a:custGeom>
            <a:avLst/>
            <a:gdLst/>
            <a:ahLst/>
            <a:cxnLst/>
            <a:rect l="l" t="t" r="r" b="b"/>
            <a:pathLst>
              <a:path w="5402580" h="1447800">
                <a:moveTo>
                  <a:pt x="22860" y="0"/>
                </a:moveTo>
                <a:lnTo>
                  <a:pt x="5326382" y="0"/>
                </a:lnTo>
                <a:cubicBezTo>
                  <a:pt x="5368437" y="0"/>
                  <a:pt x="5402580" y="34143"/>
                  <a:pt x="5402580" y="76198"/>
                </a:cubicBezTo>
                <a:lnTo>
                  <a:pt x="5402580" y="1371602"/>
                </a:lnTo>
                <a:cubicBezTo>
                  <a:pt x="5402580" y="1413657"/>
                  <a:pt x="5368437" y="1447800"/>
                  <a:pt x="5326382" y="1447800"/>
                </a:cubicBezTo>
                <a:lnTo>
                  <a:pt x="22860" y="1447800"/>
                </a:lnTo>
                <a:cubicBezTo>
                  <a:pt x="10235" y="1447800"/>
                  <a:pt x="0" y="1437565"/>
                  <a:pt x="0" y="1424940"/>
                </a:cubicBezTo>
                <a:lnTo>
                  <a:pt x="0" y="22860"/>
                </a:lnTo>
                <a:cubicBezTo>
                  <a:pt x="0" y="10243"/>
                  <a:pt x="10243" y="0"/>
                  <a:pt x="22860" y="0"/>
                </a:cubicBezTo>
                <a:close/>
              </a:path>
            </a:pathLst>
          </a:custGeom>
          <a:solidFill>
            <a:srgbClr val="1A1D21">
              <a:alpha val="90196"/>
            </a:srgbClr>
          </a:solidFill>
          <a:ln/>
        </p:spPr>
      </p:sp>
      <p:sp>
        <p:nvSpPr>
          <p:cNvPr id="29" name="Shape 27"/>
          <p:cNvSpPr/>
          <p:nvPr/>
        </p:nvSpPr>
        <p:spPr>
          <a:xfrm>
            <a:off x="6286500" y="1760218"/>
            <a:ext cx="22860" cy="1447800"/>
          </a:xfrm>
          <a:custGeom>
            <a:avLst/>
            <a:gdLst/>
            <a:ahLst/>
            <a:cxnLst/>
            <a:rect l="l" t="t" r="r" b="b"/>
            <a:pathLst>
              <a:path w="22860" h="1447800">
                <a:moveTo>
                  <a:pt x="22860" y="0"/>
                </a:moveTo>
                <a:lnTo>
                  <a:pt x="22860" y="0"/>
                </a:lnTo>
                <a:lnTo>
                  <a:pt x="22860" y="1447800"/>
                </a:lnTo>
                <a:lnTo>
                  <a:pt x="22860" y="1447800"/>
                </a:lnTo>
                <a:cubicBezTo>
                  <a:pt x="10235" y="1447800"/>
                  <a:pt x="0" y="1437565"/>
                  <a:pt x="0" y="1424940"/>
                </a:cubicBezTo>
                <a:lnTo>
                  <a:pt x="0" y="22860"/>
                </a:lnTo>
                <a:cubicBezTo>
                  <a:pt x="0" y="10243"/>
                  <a:pt x="10243" y="0"/>
                  <a:pt x="22860" y="0"/>
                </a:cubicBezTo>
                <a:close/>
              </a:path>
            </a:pathLst>
          </a:custGeom>
          <a:solidFill>
            <a:srgbClr val="F47C20"/>
          </a:solidFill>
          <a:ln/>
        </p:spPr>
      </p:sp>
      <p:sp>
        <p:nvSpPr>
          <p:cNvPr id="30" name="Text 28"/>
          <p:cNvSpPr/>
          <p:nvPr/>
        </p:nvSpPr>
        <p:spPr>
          <a:xfrm>
            <a:off x="6412230" y="1874518"/>
            <a:ext cx="5229225" cy="190500"/>
          </a:xfrm>
          <a:prstGeom prst="rect">
            <a:avLst/>
          </a:prstGeom>
          <a:noFill/>
          <a:ln/>
        </p:spPr>
        <p:txBody>
          <a:bodyPr wrap="square" lIns="0" tIns="0" rIns="0" bIns="0" rtlCol="0" anchor="ctr"/>
          <a:lstStyle/>
          <a:p>
            <a:pPr>
              <a:lnSpc>
                <a:spcPct val="120000"/>
              </a:lnSpc>
            </a:pPr>
            <a:r>
              <a:rPr lang="en-US" sz="1050" b="1" dirty="0">
                <a:solidFill>
                  <a:srgbClr val="F47C20"/>
                </a:solidFill>
                <a:latin typeface="MiSans" pitchFamily="34" charset="0"/>
                <a:ea typeface="MiSans" pitchFamily="34" charset="-122"/>
                <a:cs typeface="MiSans" pitchFamily="34" charset="-120"/>
              </a:rPr>
              <a:t># Add IPv4 Inbound Rule</a:t>
            </a:r>
            <a:endParaRPr lang="en-US" sz="1600" dirty="0"/>
          </a:p>
        </p:txBody>
      </p:sp>
      <p:sp>
        <p:nvSpPr>
          <p:cNvPr id="31" name="Text 29"/>
          <p:cNvSpPr/>
          <p:nvPr/>
        </p:nvSpPr>
        <p:spPr>
          <a:xfrm>
            <a:off x="6412230" y="2141218"/>
            <a:ext cx="5229225" cy="952500"/>
          </a:xfrm>
          <a:prstGeom prst="rect">
            <a:avLst/>
          </a:prstGeom>
          <a:noFill/>
          <a:ln/>
        </p:spPr>
        <p:txBody>
          <a:bodyPr wrap="square" lIns="0" tIns="0" rIns="0" bIns="0" rtlCol="0" anchor="ctr"/>
          <a:lstStyle/>
          <a:p>
            <a:pPr>
              <a:lnSpc>
                <a:spcPct val="100000"/>
              </a:lnSpc>
            </a:pPr>
            <a:r>
              <a:rPr lang="en-US" sz="1050" dirty="0">
                <a:solidFill>
                  <a:srgbClr val="E8EAED">
                    <a:alpha val="90000"/>
                  </a:srgbClr>
                </a:solidFill>
                <a:latin typeface="MiSans" pitchFamily="34" charset="0"/>
                <a:ea typeface="MiSans" pitchFamily="34" charset="-122"/>
                <a:cs typeface="MiSans" pitchFamily="34" charset="-120"/>
              </a:rPr>
              <a:t>aws ec2 authorize-security-group-ingress \</a:t>
            </a:r>
            <a:endParaRPr lang="en-US" sz="1600" dirty="0"/>
          </a:p>
          <a:p>
            <a:pPr>
              <a:lnSpc>
                <a:spcPct val="100000"/>
              </a:lnSpc>
            </a:pPr>
            <a:r>
              <a:rPr lang="en-US" sz="1050" dirty="0">
                <a:solidFill>
                  <a:srgbClr val="E8EAED">
                    <a:alpha val="90000"/>
                  </a:srgbClr>
                </a:solidFill>
                <a:latin typeface="MiSans" pitchFamily="34" charset="0"/>
                <a:ea typeface="MiSans" pitchFamily="34" charset="-122"/>
                <a:cs typeface="MiSans" pitchFamily="34" charset="-120"/>
              </a:rPr>
              <a:t>  --group-id sg-xxxxxxxxxxxxxxxxx \</a:t>
            </a:r>
            <a:endParaRPr lang="en-US" sz="1600" dirty="0"/>
          </a:p>
          <a:p>
            <a:pPr>
              <a:lnSpc>
                <a:spcPct val="100000"/>
              </a:lnSpc>
            </a:pPr>
            <a:r>
              <a:rPr lang="en-US" sz="1050" dirty="0">
                <a:solidFill>
                  <a:srgbClr val="E8EAED">
                    <a:alpha val="90000"/>
                  </a:srgbClr>
                </a:solidFill>
                <a:latin typeface="MiSans" pitchFamily="34" charset="0"/>
                <a:ea typeface="MiSans" pitchFamily="34" charset="-122"/>
                <a:cs typeface="MiSans" pitchFamily="34" charset="-120"/>
              </a:rPr>
              <a:t>  --protocol tcp \</a:t>
            </a:r>
            <a:endParaRPr lang="en-US" sz="1600" dirty="0"/>
          </a:p>
          <a:p>
            <a:pPr>
              <a:lnSpc>
                <a:spcPct val="100000"/>
              </a:lnSpc>
            </a:pPr>
            <a:r>
              <a:rPr lang="en-US" sz="1050" dirty="0">
                <a:solidFill>
                  <a:srgbClr val="E8EAED">
                    <a:alpha val="90000"/>
                  </a:srgbClr>
                </a:solidFill>
                <a:latin typeface="MiSans" pitchFamily="34" charset="0"/>
                <a:ea typeface="MiSans" pitchFamily="34" charset="-122"/>
                <a:cs typeface="MiSans" pitchFamily="34" charset="-120"/>
              </a:rPr>
              <a:t>  --port 443 \</a:t>
            </a:r>
            <a:endParaRPr lang="en-US" sz="1600" dirty="0"/>
          </a:p>
          <a:p>
            <a:pPr>
              <a:lnSpc>
                <a:spcPct val="100000"/>
              </a:lnSpc>
            </a:pPr>
            <a:r>
              <a:rPr lang="en-US" sz="1050" dirty="0">
                <a:solidFill>
                  <a:srgbClr val="E8EAED">
                    <a:alpha val="90000"/>
                  </a:srgbClr>
                </a:solidFill>
                <a:latin typeface="MiSans" pitchFamily="34" charset="0"/>
                <a:ea typeface="MiSans" pitchFamily="34" charset="-122"/>
                <a:cs typeface="MiSans" pitchFamily="34" charset="-120"/>
              </a:rPr>
              <a:t>  --cidr 104.28.0.85/32</a:t>
            </a:r>
            <a:endParaRPr lang="en-US" sz="1600" dirty="0"/>
          </a:p>
        </p:txBody>
      </p:sp>
      <p:sp>
        <p:nvSpPr>
          <p:cNvPr id="32" name="Shape 30"/>
          <p:cNvSpPr/>
          <p:nvPr/>
        </p:nvSpPr>
        <p:spPr>
          <a:xfrm>
            <a:off x="6286500" y="3322318"/>
            <a:ext cx="5402580" cy="1257300"/>
          </a:xfrm>
          <a:custGeom>
            <a:avLst/>
            <a:gdLst/>
            <a:ahLst/>
            <a:cxnLst/>
            <a:rect l="l" t="t" r="r" b="b"/>
            <a:pathLst>
              <a:path w="5402580" h="1257300">
                <a:moveTo>
                  <a:pt x="22860" y="0"/>
                </a:moveTo>
                <a:lnTo>
                  <a:pt x="5326375" y="0"/>
                </a:lnTo>
                <a:cubicBezTo>
                  <a:pt x="5368462" y="0"/>
                  <a:pt x="5402580" y="34118"/>
                  <a:pt x="5402580" y="76205"/>
                </a:cubicBezTo>
                <a:lnTo>
                  <a:pt x="5402580" y="1181095"/>
                </a:lnTo>
                <a:cubicBezTo>
                  <a:pt x="5402580" y="1223182"/>
                  <a:pt x="5368462" y="1257300"/>
                  <a:pt x="5326375" y="1257300"/>
                </a:cubicBezTo>
                <a:lnTo>
                  <a:pt x="22860" y="1257300"/>
                </a:lnTo>
                <a:cubicBezTo>
                  <a:pt x="10235" y="1257300"/>
                  <a:pt x="0" y="1247065"/>
                  <a:pt x="0" y="1234440"/>
                </a:cubicBezTo>
                <a:lnTo>
                  <a:pt x="0" y="22860"/>
                </a:lnTo>
                <a:cubicBezTo>
                  <a:pt x="0" y="10235"/>
                  <a:pt x="10235" y="0"/>
                  <a:pt x="22860" y="0"/>
                </a:cubicBezTo>
                <a:close/>
              </a:path>
            </a:pathLst>
          </a:custGeom>
          <a:solidFill>
            <a:srgbClr val="1A1D21">
              <a:alpha val="90196"/>
            </a:srgbClr>
          </a:solidFill>
          <a:ln/>
        </p:spPr>
      </p:sp>
      <p:sp>
        <p:nvSpPr>
          <p:cNvPr id="33" name="Shape 31"/>
          <p:cNvSpPr/>
          <p:nvPr/>
        </p:nvSpPr>
        <p:spPr>
          <a:xfrm>
            <a:off x="6286500" y="3322318"/>
            <a:ext cx="22860" cy="1257300"/>
          </a:xfrm>
          <a:custGeom>
            <a:avLst/>
            <a:gdLst/>
            <a:ahLst/>
            <a:cxnLst/>
            <a:rect l="l" t="t" r="r" b="b"/>
            <a:pathLst>
              <a:path w="22860" h="1257300">
                <a:moveTo>
                  <a:pt x="22860" y="0"/>
                </a:moveTo>
                <a:lnTo>
                  <a:pt x="22860" y="0"/>
                </a:lnTo>
                <a:lnTo>
                  <a:pt x="22860" y="1257300"/>
                </a:lnTo>
                <a:lnTo>
                  <a:pt x="22860" y="1257300"/>
                </a:lnTo>
                <a:cubicBezTo>
                  <a:pt x="10235" y="1257300"/>
                  <a:pt x="0" y="1247065"/>
                  <a:pt x="0" y="1234440"/>
                </a:cubicBezTo>
                <a:lnTo>
                  <a:pt x="0" y="22860"/>
                </a:lnTo>
                <a:cubicBezTo>
                  <a:pt x="0" y="10243"/>
                  <a:pt x="10243" y="0"/>
                  <a:pt x="22860" y="0"/>
                </a:cubicBezTo>
                <a:close/>
              </a:path>
            </a:pathLst>
          </a:custGeom>
          <a:solidFill>
            <a:srgbClr val="F47C20"/>
          </a:solidFill>
          <a:ln/>
        </p:spPr>
      </p:sp>
      <p:sp>
        <p:nvSpPr>
          <p:cNvPr id="34" name="Text 32"/>
          <p:cNvSpPr/>
          <p:nvPr/>
        </p:nvSpPr>
        <p:spPr>
          <a:xfrm>
            <a:off x="6412230" y="3436618"/>
            <a:ext cx="5229225" cy="190500"/>
          </a:xfrm>
          <a:prstGeom prst="rect">
            <a:avLst/>
          </a:prstGeom>
          <a:noFill/>
          <a:ln/>
        </p:spPr>
        <p:txBody>
          <a:bodyPr wrap="square" lIns="0" tIns="0" rIns="0" bIns="0" rtlCol="0" anchor="ctr"/>
          <a:lstStyle/>
          <a:p>
            <a:pPr>
              <a:lnSpc>
                <a:spcPct val="120000"/>
              </a:lnSpc>
            </a:pPr>
            <a:r>
              <a:rPr lang="en-US" sz="1050" b="1" dirty="0">
                <a:solidFill>
                  <a:srgbClr val="00A4E0"/>
                </a:solidFill>
                <a:latin typeface="MiSans" pitchFamily="34" charset="0"/>
                <a:ea typeface="MiSans" pitchFamily="34" charset="-122"/>
                <a:cs typeface="MiSans" pitchFamily="34" charset="-120"/>
              </a:rPr>
              <a:t># Add IPv6 Inbound Rule</a:t>
            </a:r>
            <a:endParaRPr lang="en-US" sz="1600" dirty="0"/>
          </a:p>
        </p:txBody>
      </p:sp>
      <p:sp>
        <p:nvSpPr>
          <p:cNvPr id="35" name="Text 33"/>
          <p:cNvSpPr/>
          <p:nvPr/>
        </p:nvSpPr>
        <p:spPr>
          <a:xfrm>
            <a:off x="6412230" y="3703318"/>
            <a:ext cx="5229225" cy="762000"/>
          </a:xfrm>
          <a:prstGeom prst="rect">
            <a:avLst/>
          </a:prstGeom>
          <a:noFill/>
          <a:ln/>
        </p:spPr>
        <p:txBody>
          <a:bodyPr wrap="square" lIns="0" tIns="0" rIns="0" bIns="0" rtlCol="0" anchor="ctr"/>
          <a:lstStyle/>
          <a:p>
            <a:pPr>
              <a:lnSpc>
                <a:spcPct val="100000"/>
              </a:lnSpc>
            </a:pPr>
            <a:r>
              <a:rPr lang="en-US" sz="1050" dirty="0">
                <a:solidFill>
                  <a:srgbClr val="E8EAED">
                    <a:alpha val="90000"/>
                  </a:srgbClr>
                </a:solidFill>
                <a:latin typeface="MiSans" pitchFamily="34" charset="0"/>
                <a:ea typeface="MiSans" pitchFamily="34" charset="-122"/>
                <a:cs typeface="MiSans" pitchFamily="34" charset="-120"/>
              </a:rPr>
              <a:t>aws ec2 authorize-security-group-ingress \</a:t>
            </a:r>
            <a:endParaRPr lang="en-US" sz="1600" dirty="0"/>
          </a:p>
          <a:p>
            <a:pPr>
              <a:lnSpc>
                <a:spcPct val="100000"/>
              </a:lnSpc>
            </a:pPr>
            <a:r>
              <a:rPr lang="en-US" sz="1050" dirty="0">
                <a:solidFill>
                  <a:srgbClr val="E8EAED">
                    <a:alpha val="90000"/>
                  </a:srgbClr>
                </a:solidFill>
                <a:latin typeface="MiSans" pitchFamily="34" charset="0"/>
                <a:ea typeface="MiSans" pitchFamily="34" charset="-122"/>
                <a:cs typeface="MiSans" pitchFamily="34" charset="-120"/>
              </a:rPr>
              <a:t>  --group-id sg-xxxxxxxxxxxxxxxxx \</a:t>
            </a:r>
            <a:endParaRPr lang="en-US" sz="1600" dirty="0"/>
          </a:p>
          <a:p>
            <a:pPr>
              <a:lnSpc>
                <a:spcPct val="100000"/>
              </a:lnSpc>
            </a:pPr>
            <a:r>
              <a:rPr lang="en-US" sz="1050" dirty="0">
                <a:solidFill>
                  <a:srgbClr val="E8EAED">
                    <a:alpha val="90000"/>
                  </a:srgbClr>
                </a:solidFill>
                <a:latin typeface="MiSans" pitchFamily="34" charset="0"/>
                <a:ea typeface="MiSans" pitchFamily="34" charset="-122"/>
                <a:cs typeface="MiSans" pitchFamily="34" charset="-120"/>
              </a:rPr>
              <a:t>  --ip-permissions \</a:t>
            </a:r>
            <a:endParaRPr lang="en-US" sz="1600" dirty="0"/>
          </a:p>
          <a:p>
            <a:pPr>
              <a:lnSpc>
                <a:spcPct val="100000"/>
              </a:lnSpc>
            </a:pPr>
            <a:r>
              <a:rPr lang="en-US" sz="1050" dirty="0">
                <a:solidFill>
                  <a:srgbClr val="E8EAED">
                    <a:alpha val="90000"/>
                  </a:srgbClr>
                </a:solidFill>
                <a:latin typeface="MiSans" pitchFamily="34" charset="0"/>
                <a:ea typeface="MiSans" pitchFamily="34" charset="-122"/>
                <a:cs typeface="MiSans" pitchFamily="34" charset="-120"/>
              </a:rPr>
              <a:t>  'IpProtocol=tcp,FromPort=443,ToPort=443,Ipv6Ranges=[{CidrIpv6=2a09:bac5:fff0::24::/64]'</a:t>
            </a:r>
            <a:endParaRPr lang="en-US" sz="1600" dirty="0"/>
          </a:p>
        </p:txBody>
      </p:sp>
      <p:sp>
        <p:nvSpPr>
          <p:cNvPr id="36" name="Shape 34"/>
          <p:cNvSpPr/>
          <p:nvPr/>
        </p:nvSpPr>
        <p:spPr>
          <a:xfrm>
            <a:off x="6156960" y="4819656"/>
            <a:ext cx="5646420" cy="1760220"/>
          </a:xfrm>
          <a:custGeom>
            <a:avLst/>
            <a:gdLst/>
            <a:ahLst/>
            <a:cxnLst/>
            <a:rect l="l" t="t" r="r" b="b"/>
            <a:pathLst>
              <a:path w="5646420" h="1760220">
                <a:moveTo>
                  <a:pt x="114309" y="0"/>
                </a:moveTo>
                <a:lnTo>
                  <a:pt x="5532111" y="0"/>
                </a:lnTo>
                <a:cubicBezTo>
                  <a:pt x="5595242" y="0"/>
                  <a:pt x="5646420" y="51178"/>
                  <a:pt x="5646420" y="114309"/>
                </a:cubicBezTo>
                <a:lnTo>
                  <a:pt x="5646420" y="1645911"/>
                </a:lnTo>
                <a:cubicBezTo>
                  <a:pt x="5646420" y="1709042"/>
                  <a:pt x="5595242" y="1760220"/>
                  <a:pt x="5532111" y="1760220"/>
                </a:cubicBezTo>
                <a:lnTo>
                  <a:pt x="114309" y="1760220"/>
                </a:lnTo>
                <a:cubicBezTo>
                  <a:pt x="51178" y="1760220"/>
                  <a:pt x="0" y="1709042"/>
                  <a:pt x="0" y="1645911"/>
                </a:cubicBezTo>
                <a:lnTo>
                  <a:pt x="0" y="114309"/>
                </a:lnTo>
                <a:cubicBezTo>
                  <a:pt x="0" y="51220"/>
                  <a:pt x="51220" y="0"/>
                  <a:pt x="114309" y="0"/>
                </a:cubicBezTo>
                <a:close/>
              </a:path>
            </a:pathLst>
          </a:custGeom>
          <a:solidFill>
            <a:srgbClr val="F47C20">
              <a:alpha val="10196"/>
            </a:srgbClr>
          </a:solidFill>
          <a:ln w="10160">
            <a:solidFill>
              <a:srgbClr val="F47C20">
                <a:alpha val="30196"/>
              </a:srgbClr>
            </a:solidFill>
            <a:prstDash val="solid"/>
          </a:ln>
        </p:spPr>
      </p:sp>
      <p:sp>
        <p:nvSpPr>
          <p:cNvPr id="37" name="Shape 35"/>
          <p:cNvSpPr/>
          <p:nvPr/>
        </p:nvSpPr>
        <p:spPr>
          <a:xfrm>
            <a:off x="6298882" y="4975864"/>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F47C20"/>
          </a:solidFill>
          <a:ln/>
        </p:spPr>
      </p:sp>
      <p:sp>
        <p:nvSpPr>
          <p:cNvPr id="38" name="Text 36"/>
          <p:cNvSpPr/>
          <p:nvPr/>
        </p:nvSpPr>
        <p:spPr>
          <a:xfrm>
            <a:off x="6627495" y="4937764"/>
            <a:ext cx="1314450" cy="266700"/>
          </a:xfrm>
          <a:prstGeom prst="rect">
            <a:avLst/>
          </a:prstGeom>
          <a:noFill/>
          <a:ln/>
        </p:spPr>
        <p:txBody>
          <a:bodyPr wrap="square" lIns="0" tIns="0" rIns="0" bIns="0" rtlCol="0" anchor="ctr"/>
          <a:lstStyle/>
          <a:p>
            <a:pPr>
              <a:lnSpc>
                <a:spcPct val="130000"/>
              </a:lnSpc>
            </a:pPr>
            <a:r>
              <a:rPr lang="en-US" sz="1350" b="1" dirty="0">
                <a:solidFill>
                  <a:srgbClr val="E8EAED"/>
                </a:solidFill>
                <a:latin typeface="Liter" pitchFamily="34" charset="0"/>
                <a:ea typeface="Liter" pitchFamily="34" charset="-122"/>
                <a:cs typeface="Liter" pitchFamily="34" charset="-120"/>
              </a:rPr>
              <a:t>Important Notes</a:t>
            </a:r>
            <a:endParaRPr lang="en-US" sz="1600" dirty="0"/>
          </a:p>
        </p:txBody>
      </p:sp>
      <p:sp>
        <p:nvSpPr>
          <p:cNvPr id="39" name="Shape 37"/>
          <p:cNvSpPr/>
          <p:nvPr/>
        </p:nvSpPr>
        <p:spPr>
          <a:xfrm>
            <a:off x="6332220" y="5356864"/>
            <a:ext cx="76200" cy="152400"/>
          </a:xfrm>
          <a:custGeom>
            <a:avLst/>
            <a:gdLst/>
            <a:ahLst/>
            <a:cxnLst/>
            <a:rect l="l" t="t" r="r" b="b"/>
            <a:pathLst>
              <a:path w="76200" h="152400">
                <a:moveTo>
                  <a:pt x="73551" y="69473"/>
                </a:moveTo>
                <a:cubicBezTo>
                  <a:pt x="77272" y="73194"/>
                  <a:pt x="77272" y="79236"/>
                  <a:pt x="73551" y="82957"/>
                </a:cubicBezTo>
                <a:lnTo>
                  <a:pt x="25926" y="130582"/>
                </a:lnTo>
                <a:cubicBezTo>
                  <a:pt x="22205" y="134303"/>
                  <a:pt x="16163" y="134303"/>
                  <a:pt x="12442" y="130582"/>
                </a:cubicBezTo>
                <a:cubicBezTo>
                  <a:pt x="8721" y="126861"/>
                  <a:pt x="8721" y="120819"/>
                  <a:pt x="12442" y="117098"/>
                </a:cubicBezTo>
                <a:lnTo>
                  <a:pt x="53340" y="76200"/>
                </a:lnTo>
                <a:lnTo>
                  <a:pt x="12472" y="35302"/>
                </a:lnTo>
                <a:cubicBezTo>
                  <a:pt x="8751" y="31581"/>
                  <a:pt x="8751" y="25539"/>
                  <a:pt x="12472" y="21818"/>
                </a:cubicBezTo>
                <a:cubicBezTo>
                  <a:pt x="16193" y="18098"/>
                  <a:pt x="22235" y="18098"/>
                  <a:pt x="25956" y="21818"/>
                </a:cubicBezTo>
                <a:lnTo>
                  <a:pt x="73581" y="69443"/>
                </a:lnTo>
                <a:close/>
              </a:path>
            </a:pathLst>
          </a:custGeom>
          <a:solidFill>
            <a:srgbClr val="F47C20"/>
          </a:solidFill>
          <a:ln/>
        </p:spPr>
      </p:sp>
      <p:sp>
        <p:nvSpPr>
          <p:cNvPr id="40" name="Text 38"/>
          <p:cNvSpPr/>
          <p:nvPr/>
        </p:nvSpPr>
        <p:spPr>
          <a:xfrm>
            <a:off x="6541770" y="5318764"/>
            <a:ext cx="2695575" cy="2286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Replace default rule:</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Remove 0.0.0.0/0</a:t>
            </a:r>
            <a:endParaRPr lang="en-US" sz="1600" dirty="0"/>
          </a:p>
        </p:txBody>
      </p:sp>
      <p:sp>
        <p:nvSpPr>
          <p:cNvPr id="41" name="Shape 39"/>
          <p:cNvSpPr/>
          <p:nvPr/>
        </p:nvSpPr>
        <p:spPr>
          <a:xfrm>
            <a:off x="6332220" y="5661664"/>
            <a:ext cx="76200" cy="152400"/>
          </a:xfrm>
          <a:custGeom>
            <a:avLst/>
            <a:gdLst/>
            <a:ahLst/>
            <a:cxnLst/>
            <a:rect l="l" t="t" r="r" b="b"/>
            <a:pathLst>
              <a:path w="76200" h="152400">
                <a:moveTo>
                  <a:pt x="73551" y="69473"/>
                </a:moveTo>
                <a:cubicBezTo>
                  <a:pt x="77272" y="73194"/>
                  <a:pt x="77272" y="79236"/>
                  <a:pt x="73551" y="82957"/>
                </a:cubicBezTo>
                <a:lnTo>
                  <a:pt x="25926" y="130582"/>
                </a:lnTo>
                <a:cubicBezTo>
                  <a:pt x="22205" y="134303"/>
                  <a:pt x="16163" y="134303"/>
                  <a:pt x="12442" y="130582"/>
                </a:cubicBezTo>
                <a:cubicBezTo>
                  <a:pt x="8721" y="126861"/>
                  <a:pt x="8721" y="120819"/>
                  <a:pt x="12442" y="117098"/>
                </a:cubicBezTo>
                <a:lnTo>
                  <a:pt x="53340" y="76200"/>
                </a:lnTo>
                <a:lnTo>
                  <a:pt x="12472" y="35302"/>
                </a:lnTo>
                <a:cubicBezTo>
                  <a:pt x="8751" y="31581"/>
                  <a:pt x="8751" y="25539"/>
                  <a:pt x="12472" y="21818"/>
                </a:cubicBezTo>
                <a:cubicBezTo>
                  <a:pt x="16193" y="18098"/>
                  <a:pt x="22235" y="18098"/>
                  <a:pt x="25956" y="21818"/>
                </a:cubicBezTo>
                <a:lnTo>
                  <a:pt x="73581" y="69443"/>
                </a:lnTo>
                <a:close/>
              </a:path>
            </a:pathLst>
          </a:custGeom>
          <a:solidFill>
            <a:srgbClr val="F47C20"/>
          </a:solidFill>
          <a:ln/>
        </p:spPr>
      </p:sp>
      <p:sp>
        <p:nvSpPr>
          <p:cNvPr id="42" name="Text 40"/>
          <p:cNvSpPr/>
          <p:nvPr/>
        </p:nvSpPr>
        <p:spPr>
          <a:xfrm>
            <a:off x="6541770" y="5623564"/>
            <a:ext cx="1914525" cy="2286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Add both ports:</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80 and 443</a:t>
            </a:r>
            <a:endParaRPr lang="en-US" sz="1600" dirty="0"/>
          </a:p>
        </p:txBody>
      </p:sp>
      <p:sp>
        <p:nvSpPr>
          <p:cNvPr id="43" name="Shape 41"/>
          <p:cNvSpPr/>
          <p:nvPr/>
        </p:nvSpPr>
        <p:spPr>
          <a:xfrm>
            <a:off x="6332220" y="5966464"/>
            <a:ext cx="76200" cy="152400"/>
          </a:xfrm>
          <a:custGeom>
            <a:avLst/>
            <a:gdLst/>
            <a:ahLst/>
            <a:cxnLst/>
            <a:rect l="l" t="t" r="r" b="b"/>
            <a:pathLst>
              <a:path w="76200" h="152400">
                <a:moveTo>
                  <a:pt x="73551" y="69473"/>
                </a:moveTo>
                <a:cubicBezTo>
                  <a:pt x="77272" y="73194"/>
                  <a:pt x="77272" y="79236"/>
                  <a:pt x="73551" y="82957"/>
                </a:cubicBezTo>
                <a:lnTo>
                  <a:pt x="25926" y="130582"/>
                </a:lnTo>
                <a:cubicBezTo>
                  <a:pt x="22205" y="134303"/>
                  <a:pt x="16163" y="134303"/>
                  <a:pt x="12442" y="130582"/>
                </a:cubicBezTo>
                <a:cubicBezTo>
                  <a:pt x="8721" y="126861"/>
                  <a:pt x="8721" y="120819"/>
                  <a:pt x="12442" y="117098"/>
                </a:cubicBezTo>
                <a:lnTo>
                  <a:pt x="53340" y="76200"/>
                </a:lnTo>
                <a:lnTo>
                  <a:pt x="12472" y="35302"/>
                </a:lnTo>
                <a:cubicBezTo>
                  <a:pt x="8751" y="31581"/>
                  <a:pt x="8751" y="25539"/>
                  <a:pt x="12472" y="21818"/>
                </a:cubicBezTo>
                <a:cubicBezTo>
                  <a:pt x="16193" y="18098"/>
                  <a:pt x="22235" y="18098"/>
                  <a:pt x="25956" y="21818"/>
                </a:cubicBezTo>
                <a:lnTo>
                  <a:pt x="73581" y="69443"/>
                </a:lnTo>
                <a:close/>
              </a:path>
            </a:pathLst>
          </a:custGeom>
          <a:solidFill>
            <a:srgbClr val="F47C20"/>
          </a:solidFill>
          <a:ln/>
        </p:spPr>
      </p:sp>
      <p:sp>
        <p:nvSpPr>
          <p:cNvPr id="44" name="Text 42"/>
          <p:cNvSpPr/>
          <p:nvPr/>
        </p:nvSpPr>
        <p:spPr>
          <a:xfrm>
            <a:off x="6541770" y="5928364"/>
            <a:ext cx="2790825" cy="2286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IPv6 support:</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Add IPv6 CIDRs separately</a:t>
            </a:r>
            <a:endParaRPr lang="en-US" sz="1600" dirty="0"/>
          </a:p>
        </p:txBody>
      </p:sp>
      <p:sp>
        <p:nvSpPr>
          <p:cNvPr id="45" name="Shape 43"/>
          <p:cNvSpPr/>
          <p:nvPr/>
        </p:nvSpPr>
        <p:spPr>
          <a:xfrm>
            <a:off x="6332220" y="6271264"/>
            <a:ext cx="76200" cy="152400"/>
          </a:xfrm>
          <a:custGeom>
            <a:avLst/>
            <a:gdLst/>
            <a:ahLst/>
            <a:cxnLst/>
            <a:rect l="l" t="t" r="r" b="b"/>
            <a:pathLst>
              <a:path w="76200" h="152400">
                <a:moveTo>
                  <a:pt x="73551" y="69473"/>
                </a:moveTo>
                <a:cubicBezTo>
                  <a:pt x="77272" y="73194"/>
                  <a:pt x="77272" y="79236"/>
                  <a:pt x="73551" y="82957"/>
                </a:cubicBezTo>
                <a:lnTo>
                  <a:pt x="25926" y="130582"/>
                </a:lnTo>
                <a:cubicBezTo>
                  <a:pt x="22205" y="134303"/>
                  <a:pt x="16163" y="134303"/>
                  <a:pt x="12442" y="130582"/>
                </a:cubicBezTo>
                <a:cubicBezTo>
                  <a:pt x="8721" y="126861"/>
                  <a:pt x="8721" y="120819"/>
                  <a:pt x="12442" y="117098"/>
                </a:cubicBezTo>
                <a:lnTo>
                  <a:pt x="53340" y="76200"/>
                </a:lnTo>
                <a:lnTo>
                  <a:pt x="12472" y="35302"/>
                </a:lnTo>
                <a:cubicBezTo>
                  <a:pt x="8751" y="31581"/>
                  <a:pt x="8751" y="25539"/>
                  <a:pt x="12472" y="21818"/>
                </a:cubicBezTo>
                <a:cubicBezTo>
                  <a:pt x="16193" y="18098"/>
                  <a:pt x="22235" y="18098"/>
                  <a:pt x="25956" y="21818"/>
                </a:cubicBezTo>
                <a:lnTo>
                  <a:pt x="73581" y="69443"/>
                </a:lnTo>
                <a:close/>
              </a:path>
            </a:pathLst>
          </a:custGeom>
          <a:solidFill>
            <a:srgbClr val="F47C20"/>
          </a:solidFill>
          <a:ln/>
        </p:spPr>
      </p:sp>
      <p:sp>
        <p:nvSpPr>
          <p:cNvPr id="46" name="Text 44"/>
          <p:cNvSpPr/>
          <p:nvPr/>
        </p:nvSpPr>
        <p:spPr>
          <a:xfrm>
            <a:off x="6541770" y="6233164"/>
            <a:ext cx="3448050" cy="228600"/>
          </a:xfrm>
          <a:prstGeom prst="rect">
            <a:avLst/>
          </a:prstGeom>
          <a:noFill/>
          <a:ln/>
        </p:spPr>
        <p:txBody>
          <a:bodyPr wrap="square" lIns="0" tIns="0" rIns="0" bIns="0" rtlCol="0" anchor="ctr"/>
          <a:lstStyle/>
          <a:p>
            <a:pPr>
              <a:lnSpc>
                <a:spcPct val="130000"/>
              </a:lnSpc>
            </a:pPr>
            <a:r>
              <a:rPr lang="en-US" sz="1200" b="1" dirty="0">
                <a:solidFill>
                  <a:srgbClr val="E8EAED">
                    <a:alpha val="80000"/>
                  </a:srgbClr>
                </a:solidFill>
                <a:latin typeface="Liter" pitchFamily="34" charset="0"/>
                <a:ea typeface="Liter" pitchFamily="34" charset="-122"/>
                <a:cs typeface="Liter" pitchFamily="34" charset="-120"/>
              </a:rPr>
              <a:t>Health checks:</a:t>
            </a:r>
            <a:pPr>
              <a:lnSpc>
                <a:spcPct val="130000"/>
              </a:lnSpc>
            </a:pPr>
            <a:r>
              <a:rPr lang="en-US" sz="1200" dirty="0">
                <a:solidFill>
                  <a:srgbClr val="E8EAED">
                    <a:alpha val="80000"/>
                  </a:srgbClr>
                </a:solidFill>
                <a:latin typeface="Liter" pitchFamily="34" charset="0"/>
                <a:ea typeface="Liter" pitchFamily="34" charset="-122"/>
                <a:cs typeface="Liter" pitchFamily="34" charset="-120"/>
              </a:rPr>
              <a:t> Consider ALB health check sources</a:t>
            </a:r>
            <a:endParaRPr lang="en-US" sz="16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70578" y="370578"/>
            <a:ext cx="11524960" cy="222347"/>
          </a:xfrm>
          <a:prstGeom prst="rect">
            <a:avLst/>
          </a:prstGeom>
          <a:noFill/>
          <a:ln/>
        </p:spPr>
        <p:txBody>
          <a:bodyPr wrap="square" lIns="0" tIns="0" rIns="0" bIns="0" rtlCol="0" anchor="ctr"/>
          <a:lstStyle/>
          <a:p>
            <a:pPr>
              <a:lnSpc>
                <a:spcPct val="130000"/>
              </a:lnSpc>
            </a:pPr>
            <a:r>
              <a:rPr lang="en-US" sz="1167" b="1" spc="58" kern="0" dirty="0">
                <a:solidFill>
                  <a:srgbClr val="00A4E0"/>
                </a:solidFill>
                <a:latin typeface="Liter" pitchFamily="34" charset="0"/>
                <a:ea typeface="Liter" pitchFamily="34" charset="-122"/>
                <a:cs typeface="Liter" pitchFamily="34" charset="-120"/>
              </a:rPr>
              <a:t>AWS APPLICATION LOAD BALANCER</a:t>
            </a:r>
            <a:endParaRPr lang="en-US" sz="1600" dirty="0"/>
          </a:p>
        </p:txBody>
      </p:sp>
      <p:sp>
        <p:nvSpPr>
          <p:cNvPr id="3" name="Text 1"/>
          <p:cNvSpPr/>
          <p:nvPr/>
        </p:nvSpPr>
        <p:spPr>
          <a:xfrm>
            <a:off x="370578" y="667040"/>
            <a:ext cx="11617605" cy="370578"/>
          </a:xfrm>
          <a:prstGeom prst="rect">
            <a:avLst/>
          </a:prstGeom>
          <a:noFill/>
          <a:ln/>
        </p:spPr>
        <p:txBody>
          <a:bodyPr wrap="square" lIns="0" tIns="0" rIns="0" bIns="0" rtlCol="0" anchor="ctr"/>
          <a:lstStyle/>
          <a:p>
            <a:pPr>
              <a:lnSpc>
                <a:spcPct val="90000"/>
              </a:lnSpc>
            </a:pPr>
            <a:r>
              <a:rPr lang="en-US" sz="2626" b="1" dirty="0">
                <a:solidFill>
                  <a:srgbClr val="E8EAED"/>
                </a:solidFill>
                <a:latin typeface="Liter" pitchFamily="34" charset="0"/>
                <a:ea typeface="Liter" pitchFamily="34" charset="-122"/>
                <a:cs typeface="Liter" pitchFamily="34" charset="-120"/>
              </a:rPr>
              <a:t>Complete Configuration Example</a:t>
            </a:r>
            <a:endParaRPr lang="en-US" sz="1600" dirty="0"/>
          </a:p>
        </p:txBody>
      </p:sp>
      <p:sp>
        <p:nvSpPr>
          <p:cNvPr id="4" name="Shape 2"/>
          <p:cNvSpPr/>
          <p:nvPr/>
        </p:nvSpPr>
        <p:spPr>
          <a:xfrm>
            <a:off x="374283" y="1115438"/>
            <a:ext cx="11439728" cy="2758950"/>
          </a:xfrm>
          <a:custGeom>
            <a:avLst/>
            <a:gdLst/>
            <a:ahLst/>
            <a:cxnLst/>
            <a:rect l="l" t="t" r="r" b="b"/>
            <a:pathLst>
              <a:path w="11439728" h="2758950">
                <a:moveTo>
                  <a:pt x="111186" y="0"/>
                </a:moveTo>
                <a:lnTo>
                  <a:pt x="11328542" y="0"/>
                </a:lnTo>
                <a:cubicBezTo>
                  <a:pt x="11389948" y="0"/>
                  <a:pt x="11439728" y="49780"/>
                  <a:pt x="11439728" y="111186"/>
                </a:cubicBezTo>
                <a:lnTo>
                  <a:pt x="11439728" y="2647764"/>
                </a:lnTo>
                <a:cubicBezTo>
                  <a:pt x="11439728" y="2709170"/>
                  <a:pt x="11389948" y="2758950"/>
                  <a:pt x="11328542" y="2758950"/>
                </a:cubicBezTo>
                <a:lnTo>
                  <a:pt x="111186" y="2758950"/>
                </a:lnTo>
                <a:cubicBezTo>
                  <a:pt x="49780" y="2758950"/>
                  <a:pt x="0" y="2709170"/>
                  <a:pt x="0" y="2647764"/>
                </a:cubicBezTo>
                <a:lnTo>
                  <a:pt x="0" y="111186"/>
                </a:lnTo>
                <a:cubicBezTo>
                  <a:pt x="0" y="49821"/>
                  <a:pt x="49821" y="0"/>
                  <a:pt x="111186" y="0"/>
                </a:cubicBezTo>
                <a:close/>
              </a:path>
            </a:pathLst>
          </a:custGeom>
          <a:solidFill>
            <a:srgbClr val="48515E">
              <a:alpha val="20000"/>
            </a:srgbClr>
          </a:solidFill>
          <a:ln w="10160">
            <a:solidFill>
              <a:srgbClr val="48515E">
                <a:alpha val="40000"/>
              </a:srgbClr>
            </a:solidFill>
            <a:prstDash val="solid"/>
          </a:ln>
        </p:spPr>
      </p:sp>
      <p:sp>
        <p:nvSpPr>
          <p:cNvPr id="5" name="Shape 3"/>
          <p:cNvSpPr/>
          <p:nvPr/>
        </p:nvSpPr>
        <p:spPr>
          <a:xfrm>
            <a:off x="489162" y="1230316"/>
            <a:ext cx="370578" cy="370578"/>
          </a:xfrm>
          <a:custGeom>
            <a:avLst/>
            <a:gdLst/>
            <a:ahLst/>
            <a:cxnLst/>
            <a:rect l="l" t="t" r="r" b="b"/>
            <a:pathLst>
              <a:path w="370578" h="370578">
                <a:moveTo>
                  <a:pt x="74116" y="0"/>
                </a:moveTo>
                <a:lnTo>
                  <a:pt x="296462" y="0"/>
                </a:lnTo>
                <a:cubicBezTo>
                  <a:pt x="337395" y="0"/>
                  <a:pt x="370578" y="33183"/>
                  <a:pt x="370578" y="74116"/>
                </a:cubicBezTo>
                <a:lnTo>
                  <a:pt x="370578" y="296462"/>
                </a:lnTo>
                <a:cubicBezTo>
                  <a:pt x="370578" y="337395"/>
                  <a:pt x="337395" y="370578"/>
                  <a:pt x="296462" y="370578"/>
                </a:cubicBezTo>
                <a:lnTo>
                  <a:pt x="74116" y="370578"/>
                </a:lnTo>
                <a:cubicBezTo>
                  <a:pt x="33183" y="370578"/>
                  <a:pt x="0" y="337395"/>
                  <a:pt x="0" y="296462"/>
                </a:cubicBezTo>
                <a:lnTo>
                  <a:pt x="0" y="74116"/>
                </a:lnTo>
                <a:cubicBezTo>
                  <a:pt x="0" y="33183"/>
                  <a:pt x="33183" y="0"/>
                  <a:pt x="74116" y="0"/>
                </a:cubicBezTo>
                <a:close/>
              </a:path>
            </a:pathLst>
          </a:custGeom>
          <a:solidFill>
            <a:srgbClr val="F47C20">
              <a:alpha val="20000"/>
            </a:srgbClr>
          </a:solidFill>
          <a:ln/>
        </p:spPr>
      </p:sp>
      <p:sp>
        <p:nvSpPr>
          <p:cNvPr id="6" name="Shape 4"/>
          <p:cNvSpPr/>
          <p:nvPr/>
        </p:nvSpPr>
        <p:spPr>
          <a:xfrm>
            <a:off x="603810" y="1332224"/>
            <a:ext cx="145915" cy="166760"/>
          </a:xfrm>
          <a:custGeom>
            <a:avLst/>
            <a:gdLst/>
            <a:ahLst/>
            <a:cxnLst/>
            <a:rect l="l" t="t" r="r" b="b"/>
            <a:pathLst>
              <a:path w="145915" h="166760">
                <a:moveTo>
                  <a:pt x="0" y="31267"/>
                </a:moveTo>
                <a:cubicBezTo>
                  <a:pt x="0" y="19770"/>
                  <a:pt x="9348" y="10422"/>
                  <a:pt x="20845" y="10422"/>
                </a:cubicBezTo>
                <a:lnTo>
                  <a:pt x="125070" y="10422"/>
                </a:lnTo>
                <a:cubicBezTo>
                  <a:pt x="136567" y="10422"/>
                  <a:pt x="145915" y="19770"/>
                  <a:pt x="145915" y="31267"/>
                </a:cubicBezTo>
                <a:lnTo>
                  <a:pt x="145915" y="135492"/>
                </a:lnTo>
                <a:cubicBezTo>
                  <a:pt x="145915" y="146990"/>
                  <a:pt x="136567" y="156337"/>
                  <a:pt x="125070" y="156337"/>
                </a:cubicBezTo>
                <a:lnTo>
                  <a:pt x="20845" y="156337"/>
                </a:lnTo>
                <a:cubicBezTo>
                  <a:pt x="9348" y="156337"/>
                  <a:pt x="0" y="146990"/>
                  <a:pt x="0" y="135492"/>
                </a:cubicBezTo>
                <a:lnTo>
                  <a:pt x="0" y="31267"/>
                </a:lnTo>
                <a:close/>
                <a:moveTo>
                  <a:pt x="20845" y="31267"/>
                </a:moveTo>
                <a:lnTo>
                  <a:pt x="20845" y="52112"/>
                </a:lnTo>
                <a:lnTo>
                  <a:pt x="41690" y="52112"/>
                </a:lnTo>
                <a:lnTo>
                  <a:pt x="41690" y="31267"/>
                </a:lnTo>
                <a:lnTo>
                  <a:pt x="20845" y="31267"/>
                </a:lnTo>
                <a:close/>
                <a:moveTo>
                  <a:pt x="125070" y="31267"/>
                </a:moveTo>
                <a:lnTo>
                  <a:pt x="62535" y="31267"/>
                </a:lnTo>
                <a:lnTo>
                  <a:pt x="62535" y="52112"/>
                </a:lnTo>
                <a:lnTo>
                  <a:pt x="125070" y="52112"/>
                </a:lnTo>
                <a:lnTo>
                  <a:pt x="125070" y="31267"/>
                </a:lnTo>
                <a:close/>
                <a:moveTo>
                  <a:pt x="20845" y="72957"/>
                </a:moveTo>
                <a:lnTo>
                  <a:pt x="20845" y="93802"/>
                </a:lnTo>
                <a:lnTo>
                  <a:pt x="41690" y="93802"/>
                </a:lnTo>
                <a:lnTo>
                  <a:pt x="41690" y="72957"/>
                </a:lnTo>
                <a:lnTo>
                  <a:pt x="20845" y="72957"/>
                </a:lnTo>
                <a:close/>
                <a:moveTo>
                  <a:pt x="125070" y="72957"/>
                </a:moveTo>
                <a:lnTo>
                  <a:pt x="62535" y="72957"/>
                </a:lnTo>
                <a:lnTo>
                  <a:pt x="62535" y="93802"/>
                </a:lnTo>
                <a:lnTo>
                  <a:pt x="125070" y="93802"/>
                </a:lnTo>
                <a:lnTo>
                  <a:pt x="125070" y="72957"/>
                </a:lnTo>
                <a:close/>
                <a:moveTo>
                  <a:pt x="20845" y="114647"/>
                </a:moveTo>
                <a:lnTo>
                  <a:pt x="20845" y="135492"/>
                </a:lnTo>
                <a:lnTo>
                  <a:pt x="41690" y="135492"/>
                </a:lnTo>
                <a:lnTo>
                  <a:pt x="41690" y="114647"/>
                </a:lnTo>
                <a:lnTo>
                  <a:pt x="20845" y="114647"/>
                </a:lnTo>
                <a:close/>
                <a:moveTo>
                  <a:pt x="125070" y="114647"/>
                </a:moveTo>
                <a:lnTo>
                  <a:pt x="62535" y="114647"/>
                </a:lnTo>
                <a:lnTo>
                  <a:pt x="62535" y="135492"/>
                </a:lnTo>
                <a:lnTo>
                  <a:pt x="125070" y="135492"/>
                </a:lnTo>
                <a:lnTo>
                  <a:pt x="125070" y="114647"/>
                </a:lnTo>
                <a:close/>
              </a:path>
            </a:pathLst>
          </a:custGeom>
          <a:solidFill>
            <a:srgbClr val="F47C20"/>
          </a:solidFill>
          <a:ln/>
        </p:spPr>
      </p:sp>
      <p:sp>
        <p:nvSpPr>
          <p:cNvPr id="7" name="Text 5"/>
          <p:cNvSpPr/>
          <p:nvPr/>
        </p:nvSpPr>
        <p:spPr>
          <a:xfrm>
            <a:off x="970913" y="1285902"/>
            <a:ext cx="2621836" cy="259404"/>
          </a:xfrm>
          <a:prstGeom prst="rect">
            <a:avLst/>
          </a:prstGeom>
          <a:noFill/>
          <a:ln/>
        </p:spPr>
        <p:txBody>
          <a:bodyPr wrap="square" lIns="0" tIns="0" rIns="0" bIns="0" rtlCol="0" anchor="ctr"/>
          <a:lstStyle/>
          <a:p>
            <a:pPr>
              <a:lnSpc>
                <a:spcPct val="120000"/>
              </a:lnSpc>
            </a:pPr>
            <a:r>
              <a:rPr lang="en-US" sz="1459" b="1" dirty="0">
                <a:solidFill>
                  <a:srgbClr val="E8EAED"/>
                </a:solidFill>
                <a:latin typeface="Liter" pitchFamily="34" charset="0"/>
                <a:ea typeface="Liter" pitchFamily="34" charset="-122"/>
                <a:cs typeface="Liter" pitchFamily="34" charset="-120"/>
              </a:rPr>
              <a:t>Security Group Rules Summary</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89162" y="1712066"/>
          <a:ext cx="11209970" cy="2047441"/>
        </p:xfrm>
        <a:graphic>
          <a:graphicData uri="http://schemas.openxmlformats.org/drawingml/2006/table">
            <a:tbl>
              <a:tblPr/>
              <a:tblGrid>
                <a:gridCol w="667591"/>
                <a:gridCol w="1344455"/>
                <a:gridCol w="1502080"/>
                <a:gridCol w="982843"/>
                <a:gridCol w="4126085"/>
                <a:gridCol w="2586916"/>
              </a:tblGrid>
              <a:tr h="341240">
                <a:tc>
                  <a:txBody>
                    <a:bodyPr/>
                    <a:lstStyle/>
                    <a:p>
                      <a:pPr algn="l"/>
                      <a:r>
                        <a:rPr lang="en-US" sz="1000" b="1" u="none" dirty="0">
                          <a:solidFill>
                            <a:srgbClr val="E8EAED"/>
                          </a:solidFill>
                          <a:latin typeface="微软雅黑" pitchFamily="34" charset="0"/>
                          <a:ea typeface="微软雅黑" pitchFamily="34" charset="-122"/>
                          <a:cs typeface="微软雅黑" pitchFamily="34" charset="-120"/>
                        </a:rPr>
                        <a:t>#</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E8EAED"/>
                          </a:solidFill>
                          <a:latin typeface="微软雅黑" pitchFamily="34" charset="0"/>
                          <a:ea typeface="微软雅黑" pitchFamily="34" charset="-122"/>
                          <a:cs typeface="微软雅黑" pitchFamily="34" charset="-120"/>
                        </a:rPr>
                        <a:t>Type</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E8EAED"/>
                          </a:solidFill>
                          <a:latin typeface="微软雅黑" pitchFamily="34" charset="0"/>
                          <a:ea typeface="微软雅黑" pitchFamily="34" charset="-122"/>
                          <a:cs typeface="微软雅黑" pitchFamily="34" charset="-120"/>
                        </a:rPr>
                        <a:t>Protocol</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E8EAED"/>
                          </a:solidFill>
                          <a:latin typeface="微软雅黑" pitchFamily="34" charset="0"/>
                          <a:ea typeface="微软雅黑" pitchFamily="34" charset="-122"/>
                          <a:cs typeface="微软雅黑" pitchFamily="34" charset="-120"/>
                        </a:rPr>
                        <a:t>Port</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E8EAED"/>
                          </a:solidFill>
                          <a:latin typeface="微软雅黑" pitchFamily="34" charset="0"/>
                          <a:ea typeface="微软雅黑" pitchFamily="34" charset="-122"/>
                          <a:cs typeface="微软雅黑" pitchFamily="34" charset="-120"/>
                        </a:rPr>
                        <a:t>Source</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E8EAED"/>
                          </a:solidFill>
                          <a:latin typeface="微软雅黑" pitchFamily="34" charset="0"/>
                          <a:ea typeface="微软雅黑" pitchFamily="34" charset="-122"/>
                          <a:cs typeface="微软雅黑" pitchFamily="34" charset="-120"/>
                        </a:rPr>
                        <a:t>Description</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20320" cap="flat" cmpd="sng" algn="ctr">
                      <a:solidFill>
                        <a:srgbClr val="F47C20"/>
                      </a:solidFill>
                      <a:prstDash val="solid"/>
                      <a:round/>
                      <a:headEnd type="none" w="med" len="med"/>
                      <a:tailEnd type="none" w="med" len="med"/>
                    </a:lnB>
                    <a:solidFill>
                      <a:srgbClr val="FFFFFF">
                        <a:alpha val="0"/>
                      </a:srgbClr>
                    </a:solidFill>
                  </a:tcPr>
                </a:tc>
              </a:tr>
              <a:tr h="341240">
                <a:tc>
                  <a:txBody>
                    <a:bodyPr/>
                    <a:lstStyle/>
                    <a:p>
                      <a:r>
                        <a:rPr lang="en-US" sz="1000" u="none" dirty="0">
                          <a:solidFill>
                            <a:srgbClr val="E8EAED"/>
                          </a:solidFill>
                          <a:latin typeface="微软雅黑" pitchFamily="34" charset="0"/>
                          <a:ea typeface="微软雅黑" pitchFamily="34" charset="-122"/>
                          <a:cs typeface="微软雅黑" pitchFamily="34" charset="-120"/>
                        </a:rPr>
                        <a:t>1</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HTTPS</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TCP</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443</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47C20"/>
                          </a:solidFill>
                          <a:latin typeface="微软雅黑" pitchFamily="34" charset="0"/>
                          <a:ea typeface="微软雅黑" pitchFamily="34" charset="-122"/>
                          <a:cs typeface="微软雅黑" pitchFamily="34" charset="-120"/>
                        </a:rPr>
                        <a:t>104.28.0.85/32</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CF Aegis IPv4 #1</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341240">
                <a:tc>
                  <a:txBody>
                    <a:bodyPr/>
                    <a:lstStyle/>
                    <a:p>
                      <a:r>
                        <a:rPr lang="en-US" sz="1000" u="none" dirty="0">
                          <a:solidFill>
                            <a:srgbClr val="E8EAED"/>
                          </a:solidFill>
                          <a:latin typeface="微软雅黑" pitchFamily="34" charset="0"/>
                          <a:ea typeface="微软雅黑" pitchFamily="34" charset="-122"/>
                          <a:cs typeface="微软雅黑" pitchFamily="34" charset="-120"/>
                        </a:rPr>
                        <a:t>2</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HTTPS</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TCP</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443</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47C20"/>
                          </a:solidFill>
                          <a:latin typeface="微软雅黑" pitchFamily="34" charset="0"/>
                          <a:ea typeface="微软雅黑" pitchFamily="34" charset="-122"/>
                          <a:cs typeface="微软雅黑" pitchFamily="34" charset="-120"/>
                        </a:rPr>
                        <a:t>104.28.0.86/32</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CF Aegis IPv4 #2</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341240">
                <a:tc>
                  <a:txBody>
                    <a:bodyPr/>
                    <a:lstStyle/>
                    <a:p>
                      <a:r>
                        <a:rPr lang="en-US" sz="1000" u="none" dirty="0">
                          <a:solidFill>
                            <a:srgbClr val="E8EAED"/>
                          </a:solidFill>
                          <a:latin typeface="微软雅黑" pitchFamily="34" charset="0"/>
                          <a:ea typeface="微软雅黑" pitchFamily="34" charset="-122"/>
                          <a:cs typeface="微软雅黑" pitchFamily="34" charset="-120"/>
                        </a:rPr>
                        <a:t>3</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HTTPS</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TCP</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443</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00A4E0"/>
                          </a:solidFill>
                          <a:latin typeface="微软雅黑" pitchFamily="34" charset="0"/>
                          <a:ea typeface="微软雅黑" pitchFamily="34" charset="-122"/>
                          <a:cs typeface="微软雅黑" pitchFamily="34" charset="-120"/>
                        </a:rPr>
                        <a:t>2a09:bac5:fff0::24::/64</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CF Aegis IPv6 #1</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341240">
                <a:tc>
                  <a:txBody>
                    <a:bodyPr/>
                    <a:lstStyle/>
                    <a:p>
                      <a:r>
                        <a:rPr lang="en-US" sz="1000" u="none" dirty="0">
                          <a:solidFill>
                            <a:srgbClr val="E8EAED"/>
                          </a:solidFill>
                          <a:latin typeface="微软雅黑" pitchFamily="34" charset="0"/>
                          <a:ea typeface="微软雅黑" pitchFamily="34" charset="-122"/>
                          <a:cs typeface="微软雅黑" pitchFamily="34" charset="-120"/>
                        </a:rPr>
                        <a:t>4</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HTTPS</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TCP</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443</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00A4E0"/>
                          </a:solidFill>
                          <a:latin typeface="微软雅黑" pitchFamily="34" charset="0"/>
                          <a:ea typeface="微软雅黑" pitchFamily="34" charset="-122"/>
                          <a:cs typeface="微软雅黑" pitchFamily="34" charset="-120"/>
                        </a:rPr>
                        <a:t>2a09:bac6:fff0::24::/64</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8EAED"/>
                          </a:solidFill>
                          <a:latin typeface="微软雅黑" pitchFamily="34" charset="0"/>
                          <a:ea typeface="微软雅黑" pitchFamily="34" charset="-122"/>
                          <a:cs typeface="微软雅黑" pitchFamily="34" charset="-120"/>
                        </a:rPr>
                        <a:t>CF Aegis IPv6 #2</a:t>
                      </a:r>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341240">
                <a:tc>
                  <a:txBody>
                    <a:bodyPr/>
                    <a:lstStyle/>
                    <a:p>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endParaRPr lang="en-US" sz="1000" dirty="0">
                        <a:latin typeface="微软雅黑" charset="0"/>
                        <a:ea typeface="微软雅黑" charset="0"/>
                        <a:cs typeface="微软雅黑" charset="0"/>
                      </a:endParaRPr>
                    </a:p>
                  </a:txBody>
                  <a:tcPr marL="111173" marR="111173" marT="74116" marB="74116"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9" name="Shape 6"/>
          <p:cNvSpPr/>
          <p:nvPr/>
        </p:nvSpPr>
        <p:spPr>
          <a:xfrm>
            <a:off x="374283" y="3991123"/>
            <a:ext cx="5658719" cy="2860858"/>
          </a:xfrm>
          <a:custGeom>
            <a:avLst/>
            <a:gdLst/>
            <a:ahLst/>
            <a:cxnLst/>
            <a:rect l="l" t="t" r="r" b="b"/>
            <a:pathLst>
              <a:path w="5658719" h="2860858">
                <a:moveTo>
                  <a:pt x="111173" y="0"/>
                </a:moveTo>
                <a:lnTo>
                  <a:pt x="5547546" y="0"/>
                </a:lnTo>
                <a:cubicBezTo>
                  <a:pt x="5608945" y="0"/>
                  <a:pt x="5658719" y="49774"/>
                  <a:pt x="5658719" y="111173"/>
                </a:cubicBezTo>
                <a:lnTo>
                  <a:pt x="5658719" y="2749685"/>
                </a:lnTo>
                <a:cubicBezTo>
                  <a:pt x="5658719" y="2811085"/>
                  <a:pt x="5608945" y="2860858"/>
                  <a:pt x="5547546" y="2860858"/>
                </a:cubicBezTo>
                <a:lnTo>
                  <a:pt x="111173" y="2860858"/>
                </a:lnTo>
                <a:cubicBezTo>
                  <a:pt x="49774" y="2860858"/>
                  <a:pt x="0" y="2811085"/>
                  <a:pt x="0" y="2749685"/>
                </a:cubicBezTo>
                <a:lnTo>
                  <a:pt x="0" y="111173"/>
                </a:lnTo>
                <a:cubicBezTo>
                  <a:pt x="0" y="49815"/>
                  <a:pt x="49815" y="0"/>
                  <a:pt x="111173" y="0"/>
                </a:cubicBezTo>
                <a:close/>
              </a:path>
            </a:pathLst>
          </a:custGeom>
          <a:solidFill>
            <a:srgbClr val="48515E">
              <a:alpha val="20000"/>
            </a:srgbClr>
          </a:solidFill>
          <a:ln w="10160">
            <a:solidFill>
              <a:srgbClr val="48515E">
                <a:alpha val="40000"/>
              </a:srgbClr>
            </a:solidFill>
            <a:prstDash val="solid"/>
          </a:ln>
        </p:spPr>
      </p:sp>
      <p:sp>
        <p:nvSpPr>
          <p:cNvPr id="10" name="Shape 7"/>
          <p:cNvSpPr/>
          <p:nvPr/>
        </p:nvSpPr>
        <p:spPr>
          <a:xfrm>
            <a:off x="489162" y="4106001"/>
            <a:ext cx="370578" cy="370578"/>
          </a:xfrm>
          <a:custGeom>
            <a:avLst/>
            <a:gdLst/>
            <a:ahLst/>
            <a:cxnLst/>
            <a:rect l="l" t="t" r="r" b="b"/>
            <a:pathLst>
              <a:path w="370578" h="370578">
                <a:moveTo>
                  <a:pt x="74116" y="0"/>
                </a:moveTo>
                <a:lnTo>
                  <a:pt x="296462" y="0"/>
                </a:lnTo>
                <a:cubicBezTo>
                  <a:pt x="337395" y="0"/>
                  <a:pt x="370578" y="33183"/>
                  <a:pt x="370578" y="74116"/>
                </a:cubicBezTo>
                <a:lnTo>
                  <a:pt x="370578" y="296462"/>
                </a:lnTo>
                <a:cubicBezTo>
                  <a:pt x="370578" y="337395"/>
                  <a:pt x="337395" y="370578"/>
                  <a:pt x="296462" y="370578"/>
                </a:cubicBezTo>
                <a:lnTo>
                  <a:pt x="74116" y="370578"/>
                </a:lnTo>
                <a:cubicBezTo>
                  <a:pt x="33183" y="370578"/>
                  <a:pt x="0" y="337395"/>
                  <a:pt x="0" y="296462"/>
                </a:cubicBezTo>
                <a:lnTo>
                  <a:pt x="0" y="74116"/>
                </a:lnTo>
                <a:cubicBezTo>
                  <a:pt x="0" y="33183"/>
                  <a:pt x="33183" y="0"/>
                  <a:pt x="74116" y="0"/>
                </a:cubicBezTo>
                <a:close/>
              </a:path>
            </a:pathLst>
          </a:custGeom>
          <a:solidFill>
            <a:srgbClr val="00A4E0">
              <a:alpha val="20000"/>
            </a:srgbClr>
          </a:solidFill>
          <a:ln/>
        </p:spPr>
      </p:sp>
      <p:sp>
        <p:nvSpPr>
          <p:cNvPr id="11" name="Shape 8"/>
          <p:cNvSpPr/>
          <p:nvPr/>
        </p:nvSpPr>
        <p:spPr>
          <a:xfrm>
            <a:off x="582965" y="4207909"/>
            <a:ext cx="187605" cy="166760"/>
          </a:xfrm>
          <a:custGeom>
            <a:avLst/>
            <a:gdLst/>
            <a:ahLst/>
            <a:cxnLst/>
            <a:rect l="l" t="t" r="r" b="b"/>
            <a:pathLst>
              <a:path w="187605" h="166760">
                <a:moveTo>
                  <a:pt x="117514" y="391"/>
                </a:moveTo>
                <a:cubicBezTo>
                  <a:pt x="111977" y="-1205"/>
                  <a:pt x="106212" y="2019"/>
                  <a:pt x="104616" y="7556"/>
                </a:cubicBezTo>
                <a:lnTo>
                  <a:pt x="62926" y="153471"/>
                </a:lnTo>
                <a:cubicBezTo>
                  <a:pt x="61330" y="159008"/>
                  <a:pt x="64554" y="164773"/>
                  <a:pt x="70091" y="166369"/>
                </a:cubicBezTo>
                <a:cubicBezTo>
                  <a:pt x="75628" y="167965"/>
                  <a:pt x="81393" y="164741"/>
                  <a:pt x="82989" y="159204"/>
                </a:cubicBezTo>
                <a:lnTo>
                  <a:pt x="124679" y="13289"/>
                </a:lnTo>
                <a:cubicBezTo>
                  <a:pt x="126275" y="7752"/>
                  <a:pt x="123051" y="1987"/>
                  <a:pt x="117514" y="391"/>
                </a:cubicBezTo>
                <a:close/>
                <a:moveTo>
                  <a:pt x="138554" y="44719"/>
                </a:moveTo>
                <a:cubicBezTo>
                  <a:pt x="134483" y="48790"/>
                  <a:pt x="134483" y="55402"/>
                  <a:pt x="138554" y="59473"/>
                </a:cubicBezTo>
                <a:lnTo>
                  <a:pt x="162461" y="83380"/>
                </a:lnTo>
                <a:lnTo>
                  <a:pt x="138554" y="107287"/>
                </a:lnTo>
                <a:cubicBezTo>
                  <a:pt x="134483" y="111358"/>
                  <a:pt x="134483" y="117970"/>
                  <a:pt x="138554" y="122041"/>
                </a:cubicBezTo>
                <a:cubicBezTo>
                  <a:pt x="142625" y="126112"/>
                  <a:pt x="149237" y="126112"/>
                  <a:pt x="153308" y="122041"/>
                </a:cubicBezTo>
                <a:lnTo>
                  <a:pt x="184576" y="90773"/>
                </a:lnTo>
                <a:cubicBezTo>
                  <a:pt x="188647" y="86702"/>
                  <a:pt x="188647" y="80090"/>
                  <a:pt x="184576" y="76019"/>
                </a:cubicBezTo>
                <a:lnTo>
                  <a:pt x="153308" y="44752"/>
                </a:lnTo>
                <a:cubicBezTo>
                  <a:pt x="149237" y="40680"/>
                  <a:pt x="142625" y="40680"/>
                  <a:pt x="138554" y="44752"/>
                </a:cubicBezTo>
                <a:close/>
                <a:moveTo>
                  <a:pt x="49083" y="44719"/>
                </a:moveTo>
                <a:cubicBezTo>
                  <a:pt x="45012" y="40648"/>
                  <a:pt x="38400" y="40648"/>
                  <a:pt x="34329" y="44719"/>
                </a:cubicBezTo>
                <a:lnTo>
                  <a:pt x="3062" y="75986"/>
                </a:lnTo>
                <a:cubicBezTo>
                  <a:pt x="-1010" y="80058"/>
                  <a:pt x="-1010" y="86670"/>
                  <a:pt x="3062" y="90741"/>
                </a:cubicBezTo>
                <a:lnTo>
                  <a:pt x="34329" y="122008"/>
                </a:lnTo>
                <a:cubicBezTo>
                  <a:pt x="38400" y="126080"/>
                  <a:pt x="45012" y="126080"/>
                  <a:pt x="49083" y="122008"/>
                </a:cubicBezTo>
                <a:cubicBezTo>
                  <a:pt x="53155" y="117937"/>
                  <a:pt x="53155" y="111325"/>
                  <a:pt x="49083" y="107254"/>
                </a:cubicBezTo>
                <a:lnTo>
                  <a:pt x="25177" y="83380"/>
                </a:lnTo>
                <a:lnTo>
                  <a:pt x="49051" y="59473"/>
                </a:lnTo>
                <a:cubicBezTo>
                  <a:pt x="53122" y="55402"/>
                  <a:pt x="53122" y="48790"/>
                  <a:pt x="49051" y="44719"/>
                </a:cubicBezTo>
                <a:close/>
              </a:path>
            </a:pathLst>
          </a:custGeom>
          <a:solidFill>
            <a:srgbClr val="00A4E0"/>
          </a:solidFill>
          <a:ln/>
        </p:spPr>
      </p:sp>
      <p:sp>
        <p:nvSpPr>
          <p:cNvPr id="12" name="Text 9"/>
          <p:cNvSpPr/>
          <p:nvPr/>
        </p:nvSpPr>
        <p:spPr>
          <a:xfrm>
            <a:off x="970913" y="4161587"/>
            <a:ext cx="1658334" cy="259404"/>
          </a:xfrm>
          <a:prstGeom prst="rect">
            <a:avLst/>
          </a:prstGeom>
          <a:noFill/>
          <a:ln/>
        </p:spPr>
        <p:txBody>
          <a:bodyPr wrap="square" lIns="0" tIns="0" rIns="0" bIns="0" rtlCol="0" anchor="ctr"/>
          <a:lstStyle/>
          <a:p>
            <a:pPr>
              <a:lnSpc>
                <a:spcPct val="120000"/>
              </a:lnSpc>
            </a:pPr>
            <a:r>
              <a:rPr lang="en-US" sz="1459" b="1" dirty="0">
                <a:solidFill>
                  <a:srgbClr val="E8EAED"/>
                </a:solidFill>
                <a:latin typeface="Liter" pitchFamily="34" charset="0"/>
                <a:ea typeface="Liter" pitchFamily="34" charset="-122"/>
                <a:cs typeface="Liter" pitchFamily="34" charset="-120"/>
              </a:rPr>
              <a:t>Terraform Example</a:t>
            </a:r>
            <a:endParaRPr lang="en-US" sz="1600" dirty="0"/>
          </a:p>
        </p:txBody>
      </p:sp>
      <p:sp>
        <p:nvSpPr>
          <p:cNvPr id="13" name="Shape 10"/>
          <p:cNvSpPr/>
          <p:nvPr/>
        </p:nvSpPr>
        <p:spPr>
          <a:xfrm>
            <a:off x="500280" y="4587751"/>
            <a:ext cx="5421549" cy="1889945"/>
          </a:xfrm>
          <a:custGeom>
            <a:avLst/>
            <a:gdLst/>
            <a:ahLst/>
            <a:cxnLst/>
            <a:rect l="l" t="t" r="r" b="b"/>
            <a:pathLst>
              <a:path w="5421549" h="1889945">
                <a:moveTo>
                  <a:pt x="22235" y="0"/>
                </a:moveTo>
                <a:lnTo>
                  <a:pt x="5347425" y="0"/>
                </a:lnTo>
                <a:cubicBezTo>
                  <a:pt x="5388363" y="0"/>
                  <a:pt x="5421549" y="33186"/>
                  <a:pt x="5421549" y="74124"/>
                </a:cubicBezTo>
                <a:lnTo>
                  <a:pt x="5421549" y="1815822"/>
                </a:lnTo>
                <a:cubicBezTo>
                  <a:pt x="5421549" y="1856759"/>
                  <a:pt x="5388363" y="1889945"/>
                  <a:pt x="5347425" y="1889945"/>
                </a:cubicBezTo>
                <a:lnTo>
                  <a:pt x="22235" y="1889945"/>
                </a:lnTo>
                <a:cubicBezTo>
                  <a:pt x="9955" y="1889945"/>
                  <a:pt x="0" y="1879990"/>
                  <a:pt x="0" y="1867711"/>
                </a:cubicBezTo>
                <a:lnTo>
                  <a:pt x="0" y="22235"/>
                </a:lnTo>
                <a:cubicBezTo>
                  <a:pt x="0" y="9955"/>
                  <a:pt x="9955" y="0"/>
                  <a:pt x="22235" y="0"/>
                </a:cubicBezTo>
                <a:close/>
              </a:path>
            </a:pathLst>
          </a:custGeom>
          <a:solidFill>
            <a:srgbClr val="1A1D21">
              <a:alpha val="90196"/>
            </a:srgbClr>
          </a:solidFill>
          <a:ln/>
        </p:spPr>
      </p:sp>
      <p:sp>
        <p:nvSpPr>
          <p:cNvPr id="14" name="Shape 11"/>
          <p:cNvSpPr/>
          <p:nvPr/>
        </p:nvSpPr>
        <p:spPr>
          <a:xfrm>
            <a:off x="500280" y="4587751"/>
            <a:ext cx="22235" cy="1889945"/>
          </a:xfrm>
          <a:custGeom>
            <a:avLst/>
            <a:gdLst/>
            <a:ahLst/>
            <a:cxnLst/>
            <a:rect l="l" t="t" r="r" b="b"/>
            <a:pathLst>
              <a:path w="22235" h="1889945">
                <a:moveTo>
                  <a:pt x="22235" y="0"/>
                </a:moveTo>
                <a:lnTo>
                  <a:pt x="22235" y="0"/>
                </a:lnTo>
                <a:lnTo>
                  <a:pt x="22235" y="1889945"/>
                </a:lnTo>
                <a:lnTo>
                  <a:pt x="22235" y="1889945"/>
                </a:lnTo>
                <a:cubicBezTo>
                  <a:pt x="9955" y="1889945"/>
                  <a:pt x="0" y="1879990"/>
                  <a:pt x="0" y="1867711"/>
                </a:cubicBezTo>
                <a:lnTo>
                  <a:pt x="0" y="22235"/>
                </a:lnTo>
                <a:cubicBezTo>
                  <a:pt x="0" y="9955"/>
                  <a:pt x="9955" y="0"/>
                  <a:pt x="22235" y="0"/>
                </a:cubicBezTo>
                <a:close/>
              </a:path>
            </a:pathLst>
          </a:custGeom>
          <a:solidFill>
            <a:srgbClr val="F47C20"/>
          </a:solidFill>
          <a:ln/>
        </p:spPr>
      </p:sp>
      <p:sp>
        <p:nvSpPr>
          <p:cNvPr id="15" name="Text 12"/>
          <p:cNvSpPr/>
          <p:nvPr/>
        </p:nvSpPr>
        <p:spPr>
          <a:xfrm>
            <a:off x="622570" y="4698925"/>
            <a:ext cx="5252936" cy="1667599"/>
          </a:xfrm>
          <a:prstGeom prst="rect">
            <a:avLst/>
          </a:prstGeom>
          <a:noFill/>
          <a:ln/>
        </p:spPr>
        <p:txBody>
          <a:bodyPr wrap="square" lIns="0" tIns="0" rIns="0" bIns="0" rtlCol="0" anchor="ctr"/>
          <a:lstStyle/>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resource "aws_security_group_rule" "cf_aegis_01" {</a:t>
            </a:r>
            <a:endParaRPr lang="en-US" sz="1600" dirty="0"/>
          </a:p>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  type              = "ingress"</a:t>
            </a:r>
            <a:endParaRPr lang="en-US" sz="1600" dirty="0"/>
          </a:p>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  from_port         = 443</a:t>
            </a:r>
            <a:endParaRPr lang="en-US" sz="1600" dirty="0"/>
          </a:p>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  to_port           = 443</a:t>
            </a:r>
            <a:endParaRPr lang="en-US" sz="1600" dirty="0"/>
          </a:p>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  protocol          = "tcp"</a:t>
            </a:r>
            <a:endParaRPr lang="en-US" sz="1600" dirty="0"/>
          </a:p>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  cidr_blocks       = ["104.28.0.85/32"]</a:t>
            </a:r>
            <a:endParaRPr lang="en-US" sz="1600" dirty="0"/>
          </a:p>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  security_group_id = aws_security_group.alb.id</a:t>
            </a:r>
            <a:endParaRPr lang="en-US" sz="1600" dirty="0"/>
          </a:p>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  description       = "Cloudflare Aegis IPv4 #1"</a:t>
            </a:r>
            <a:endParaRPr lang="en-US" sz="1600" dirty="0"/>
          </a:p>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a:t>
            </a:r>
            <a:endParaRPr lang="en-US" sz="1600" dirty="0"/>
          </a:p>
        </p:txBody>
      </p:sp>
      <p:sp>
        <p:nvSpPr>
          <p:cNvPr id="16" name="Shape 13"/>
          <p:cNvSpPr/>
          <p:nvPr/>
        </p:nvSpPr>
        <p:spPr>
          <a:xfrm>
            <a:off x="6153208" y="3991123"/>
            <a:ext cx="5658719" cy="2860858"/>
          </a:xfrm>
          <a:custGeom>
            <a:avLst/>
            <a:gdLst/>
            <a:ahLst/>
            <a:cxnLst/>
            <a:rect l="l" t="t" r="r" b="b"/>
            <a:pathLst>
              <a:path w="5658719" h="2860858">
                <a:moveTo>
                  <a:pt x="111173" y="0"/>
                </a:moveTo>
                <a:lnTo>
                  <a:pt x="5547546" y="0"/>
                </a:lnTo>
                <a:cubicBezTo>
                  <a:pt x="5608945" y="0"/>
                  <a:pt x="5658719" y="49774"/>
                  <a:pt x="5658719" y="111173"/>
                </a:cubicBezTo>
                <a:lnTo>
                  <a:pt x="5658719" y="2749685"/>
                </a:lnTo>
                <a:cubicBezTo>
                  <a:pt x="5658719" y="2811085"/>
                  <a:pt x="5608945" y="2860858"/>
                  <a:pt x="5547546" y="2860858"/>
                </a:cubicBezTo>
                <a:lnTo>
                  <a:pt x="111173" y="2860858"/>
                </a:lnTo>
                <a:cubicBezTo>
                  <a:pt x="49774" y="2860858"/>
                  <a:pt x="0" y="2811085"/>
                  <a:pt x="0" y="2749685"/>
                </a:cubicBezTo>
                <a:lnTo>
                  <a:pt x="0" y="111173"/>
                </a:lnTo>
                <a:cubicBezTo>
                  <a:pt x="0" y="49815"/>
                  <a:pt x="49815" y="0"/>
                  <a:pt x="111173" y="0"/>
                </a:cubicBezTo>
                <a:close/>
              </a:path>
            </a:pathLst>
          </a:custGeom>
          <a:solidFill>
            <a:srgbClr val="48515E">
              <a:alpha val="20000"/>
            </a:srgbClr>
          </a:solidFill>
          <a:ln w="10160">
            <a:solidFill>
              <a:srgbClr val="48515E">
                <a:alpha val="40000"/>
              </a:srgbClr>
            </a:solidFill>
            <a:prstDash val="solid"/>
          </a:ln>
        </p:spPr>
      </p:sp>
      <p:sp>
        <p:nvSpPr>
          <p:cNvPr id="17" name="Shape 14"/>
          <p:cNvSpPr/>
          <p:nvPr/>
        </p:nvSpPr>
        <p:spPr>
          <a:xfrm>
            <a:off x="6268087" y="4106001"/>
            <a:ext cx="370578" cy="370578"/>
          </a:xfrm>
          <a:custGeom>
            <a:avLst/>
            <a:gdLst/>
            <a:ahLst/>
            <a:cxnLst/>
            <a:rect l="l" t="t" r="r" b="b"/>
            <a:pathLst>
              <a:path w="370578" h="370578">
                <a:moveTo>
                  <a:pt x="74116" y="0"/>
                </a:moveTo>
                <a:lnTo>
                  <a:pt x="296462" y="0"/>
                </a:lnTo>
                <a:cubicBezTo>
                  <a:pt x="337395" y="0"/>
                  <a:pt x="370578" y="33183"/>
                  <a:pt x="370578" y="74116"/>
                </a:cubicBezTo>
                <a:lnTo>
                  <a:pt x="370578" y="296462"/>
                </a:lnTo>
                <a:cubicBezTo>
                  <a:pt x="370578" y="337395"/>
                  <a:pt x="337395" y="370578"/>
                  <a:pt x="296462" y="370578"/>
                </a:cubicBezTo>
                <a:lnTo>
                  <a:pt x="74116" y="370578"/>
                </a:lnTo>
                <a:cubicBezTo>
                  <a:pt x="33183" y="370578"/>
                  <a:pt x="0" y="337395"/>
                  <a:pt x="0" y="296462"/>
                </a:cubicBezTo>
                <a:lnTo>
                  <a:pt x="0" y="74116"/>
                </a:lnTo>
                <a:cubicBezTo>
                  <a:pt x="0" y="33183"/>
                  <a:pt x="33183" y="0"/>
                  <a:pt x="74116" y="0"/>
                </a:cubicBezTo>
                <a:close/>
              </a:path>
            </a:pathLst>
          </a:custGeom>
          <a:solidFill>
            <a:srgbClr val="F47C20">
              <a:alpha val="20000"/>
            </a:srgbClr>
          </a:solidFill>
          <a:ln/>
        </p:spPr>
      </p:sp>
      <p:sp>
        <p:nvSpPr>
          <p:cNvPr id="18" name="Shape 15"/>
          <p:cNvSpPr/>
          <p:nvPr/>
        </p:nvSpPr>
        <p:spPr>
          <a:xfrm>
            <a:off x="6372312" y="4207909"/>
            <a:ext cx="166760" cy="166760"/>
          </a:xfrm>
          <a:custGeom>
            <a:avLst/>
            <a:gdLst/>
            <a:ahLst/>
            <a:cxnLst/>
            <a:rect l="l" t="t" r="r" b="b"/>
            <a:pathLst>
              <a:path w="166760" h="166760">
                <a:moveTo>
                  <a:pt x="111586" y="3062"/>
                </a:moveTo>
                <a:cubicBezTo>
                  <a:pt x="107515" y="-1010"/>
                  <a:pt x="100903" y="-1010"/>
                  <a:pt x="96831" y="3062"/>
                </a:cubicBezTo>
                <a:cubicBezTo>
                  <a:pt x="92760" y="7133"/>
                  <a:pt x="92760" y="13745"/>
                  <a:pt x="96831" y="17816"/>
                </a:cubicBezTo>
                <a:lnTo>
                  <a:pt x="99893" y="20845"/>
                </a:lnTo>
                <a:lnTo>
                  <a:pt x="9152" y="111586"/>
                </a:lnTo>
                <a:cubicBezTo>
                  <a:pt x="3290" y="117448"/>
                  <a:pt x="0" y="125396"/>
                  <a:pt x="0" y="133701"/>
                </a:cubicBezTo>
                <a:lnTo>
                  <a:pt x="0" y="135492"/>
                </a:lnTo>
                <a:cubicBezTo>
                  <a:pt x="0" y="152755"/>
                  <a:pt x="14005" y="166760"/>
                  <a:pt x="31267" y="166760"/>
                </a:cubicBezTo>
                <a:lnTo>
                  <a:pt x="33059" y="166760"/>
                </a:lnTo>
                <a:cubicBezTo>
                  <a:pt x="41364" y="166760"/>
                  <a:pt x="49311" y="163470"/>
                  <a:pt x="55174" y="157608"/>
                </a:cubicBezTo>
                <a:lnTo>
                  <a:pt x="145915" y="66867"/>
                </a:lnTo>
                <a:lnTo>
                  <a:pt x="148977" y="69928"/>
                </a:lnTo>
                <a:cubicBezTo>
                  <a:pt x="153048" y="74000"/>
                  <a:pt x="159660" y="74000"/>
                  <a:pt x="163731" y="69928"/>
                </a:cubicBezTo>
                <a:cubicBezTo>
                  <a:pt x="167802" y="65857"/>
                  <a:pt x="167802" y="59245"/>
                  <a:pt x="163731" y="55174"/>
                </a:cubicBezTo>
                <a:lnTo>
                  <a:pt x="111618" y="3062"/>
                </a:lnTo>
                <a:close/>
                <a:moveTo>
                  <a:pt x="66867" y="83380"/>
                </a:moveTo>
                <a:lnTo>
                  <a:pt x="114647" y="35599"/>
                </a:lnTo>
                <a:lnTo>
                  <a:pt x="131161" y="52112"/>
                </a:lnTo>
                <a:lnTo>
                  <a:pt x="99893" y="83380"/>
                </a:lnTo>
                <a:lnTo>
                  <a:pt x="66834" y="83380"/>
                </a:lnTo>
                <a:close/>
              </a:path>
            </a:pathLst>
          </a:custGeom>
          <a:solidFill>
            <a:srgbClr val="F47C20"/>
          </a:solidFill>
          <a:ln/>
        </p:spPr>
      </p:sp>
      <p:sp>
        <p:nvSpPr>
          <p:cNvPr id="19" name="Text 16"/>
          <p:cNvSpPr/>
          <p:nvPr/>
        </p:nvSpPr>
        <p:spPr>
          <a:xfrm>
            <a:off x="6749838" y="4161587"/>
            <a:ext cx="1547161" cy="259404"/>
          </a:xfrm>
          <a:prstGeom prst="rect">
            <a:avLst/>
          </a:prstGeom>
          <a:noFill/>
          <a:ln/>
        </p:spPr>
        <p:txBody>
          <a:bodyPr wrap="square" lIns="0" tIns="0" rIns="0" bIns="0" rtlCol="0" anchor="ctr"/>
          <a:lstStyle/>
          <a:p>
            <a:pPr>
              <a:lnSpc>
                <a:spcPct val="120000"/>
              </a:lnSpc>
            </a:pPr>
            <a:r>
              <a:rPr lang="en-US" sz="1459" b="1" dirty="0">
                <a:solidFill>
                  <a:srgbClr val="E8EAED"/>
                </a:solidFill>
                <a:latin typeface="Liter" pitchFamily="34" charset="0"/>
                <a:ea typeface="Liter" pitchFamily="34" charset="-122"/>
                <a:cs typeface="Liter" pitchFamily="34" charset="-120"/>
              </a:rPr>
              <a:t>Verification Steps</a:t>
            </a:r>
            <a:endParaRPr lang="en-US" sz="1600" dirty="0"/>
          </a:p>
        </p:txBody>
      </p:sp>
      <p:sp>
        <p:nvSpPr>
          <p:cNvPr id="20" name="Shape 17"/>
          <p:cNvSpPr/>
          <p:nvPr/>
        </p:nvSpPr>
        <p:spPr>
          <a:xfrm>
            <a:off x="6268087" y="4587751"/>
            <a:ext cx="5428960" cy="1037617"/>
          </a:xfrm>
          <a:custGeom>
            <a:avLst/>
            <a:gdLst/>
            <a:ahLst/>
            <a:cxnLst/>
            <a:rect l="l" t="t" r="r" b="b"/>
            <a:pathLst>
              <a:path w="5428960" h="1037617">
                <a:moveTo>
                  <a:pt x="74117" y="0"/>
                </a:moveTo>
                <a:lnTo>
                  <a:pt x="5354844" y="0"/>
                </a:lnTo>
                <a:cubicBezTo>
                  <a:pt x="5395777" y="0"/>
                  <a:pt x="5428960" y="33183"/>
                  <a:pt x="5428960" y="74117"/>
                </a:cubicBezTo>
                <a:lnTo>
                  <a:pt x="5428960" y="963500"/>
                </a:lnTo>
                <a:cubicBezTo>
                  <a:pt x="5428960" y="1004434"/>
                  <a:pt x="5395777" y="1037617"/>
                  <a:pt x="5354844" y="1037617"/>
                </a:cubicBezTo>
                <a:lnTo>
                  <a:pt x="74117" y="1037617"/>
                </a:lnTo>
                <a:cubicBezTo>
                  <a:pt x="33183" y="1037617"/>
                  <a:pt x="0" y="1004434"/>
                  <a:pt x="0" y="963500"/>
                </a:cubicBezTo>
                <a:lnTo>
                  <a:pt x="0" y="74117"/>
                </a:lnTo>
                <a:cubicBezTo>
                  <a:pt x="0" y="33211"/>
                  <a:pt x="33211" y="0"/>
                  <a:pt x="74117" y="0"/>
                </a:cubicBezTo>
                <a:close/>
              </a:path>
            </a:pathLst>
          </a:custGeom>
          <a:solidFill>
            <a:srgbClr val="1A1D21">
              <a:alpha val="50196"/>
            </a:srgbClr>
          </a:solidFill>
          <a:ln/>
        </p:spPr>
      </p:sp>
      <p:sp>
        <p:nvSpPr>
          <p:cNvPr id="21" name="Text 18"/>
          <p:cNvSpPr/>
          <p:nvPr/>
        </p:nvSpPr>
        <p:spPr>
          <a:xfrm>
            <a:off x="6379260" y="4698925"/>
            <a:ext cx="5280729" cy="222347"/>
          </a:xfrm>
          <a:prstGeom prst="rect">
            <a:avLst/>
          </a:prstGeom>
          <a:noFill/>
          <a:ln/>
        </p:spPr>
        <p:txBody>
          <a:bodyPr wrap="square" lIns="0" tIns="0" rIns="0" bIns="0" rtlCol="0" anchor="ctr"/>
          <a:lstStyle/>
          <a:p>
            <a:pPr>
              <a:lnSpc>
                <a:spcPct val="130000"/>
              </a:lnSpc>
            </a:pPr>
            <a:r>
              <a:rPr lang="en-US" sz="1167" b="1" dirty="0">
                <a:solidFill>
                  <a:srgbClr val="E8EAED"/>
                </a:solidFill>
                <a:latin typeface="Liter" pitchFamily="34" charset="0"/>
                <a:ea typeface="Liter" pitchFamily="34" charset="-122"/>
                <a:cs typeface="Liter" pitchFamily="34" charset="-120"/>
              </a:rPr>
              <a:t>1. Verify Security Group</a:t>
            </a:r>
            <a:endParaRPr lang="en-US" sz="1600" dirty="0"/>
          </a:p>
        </p:txBody>
      </p:sp>
      <p:sp>
        <p:nvSpPr>
          <p:cNvPr id="22" name="Shape 19"/>
          <p:cNvSpPr/>
          <p:nvPr/>
        </p:nvSpPr>
        <p:spPr>
          <a:xfrm>
            <a:off x="6390378" y="4995387"/>
            <a:ext cx="5199202" cy="518809"/>
          </a:xfrm>
          <a:custGeom>
            <a:avLst/>
            <a:gdLst/>
            <a:ahLst/>
            <a:cxnLst/>
            <a:rect l="l" t="t" r="r" b="b"/>
            <a:pathLst>
              <a:path w="5199202" h="518809">
                <a:moveTo>
                  <a:pt x="22235" y="0"/>
                </a:moveTo>
                <a:lnTo>
                  <a:pt x="5162144" y="0"/>
                </a:lnTo>
                <a:cubicBezTo>
                  <a:pt x="5182611" y="0"/>
                  <a:pt x="5199202" y="16592"/>
                  <a:pt x="5199202" y="37058"/>
                </a:cubicBezTo>
                <a:lnTo>
                  <a:pt x="5199202" y="481750"/>
                </a:lnTo>
                <a:cubicBezTo>
                  <a:pt x="5199202" y="502217"/>
                  <a:pt x="5182611" y="518809"/>
                  <a:pt x="5162144" y="518809"/>
                </a:cubicBezTo>
                <a:lnTo>
                  <a:pt x="22235" y="518809"/>
                </a:lnTo>
                <a:cubicBezTo>
                  <a:pt x="9955" y="518809"/>
                  <a:pt x="0" y="508854"/>
                  <a:pt x="0" y="496574"/>
                </a:cubicBezTo>
                <a:lnTo>
                  <a:pt x="0" y="22235"/>
                </a:lnTo>
                <a:cubicBezTo>
                  <a:pt x="0" y="9955"/>
                  <a:pt x="9955" y="0"/>
                  <a:pt x="22235" y="0"/>
                </a:cubicBezTo>
                <a:close/>
              </a:path>
            </a:pathLst>
          </a:custGeom>
          <a:solidFill>
            <a:srgbClr val="1A1D21">
              <a:alpha val="90196"/>
            </a:srgbClr>
          </a:solidFill>
          <a:ln/>
        </p:spPr>
      </p:sp>
      <p:sp>
        <p:nvSpPr>
          <p:cNvPr id="23" name="Shape 20"/>
          <p:cNvSpPr/>
          <p:nvPr/>
        </p:nvSpPr>
        <p:spPr>
          <a:xfrm>
            <a:off x="6390378" y="4995387"/>
            <a:ext cx="22235" cy="518809"/>
          </a:xfrm>
          <a:custGeom>
            <a:avLst/>
            <a:gdLst/>
            <a:ahLst/>
            <a:cxnLst/>
            <a:rect l="l" t="t" r="r" b="b"/>
            <a:pathLst>
              <a:path w="22235" h="518809">
                <a:moveTo>
                  <a:pt x="22235" y="0"/>
                </a:moveTo>
                <a:lnTo>
                  <a:pt x="22235" y="0"/>
                </a:lnTo>
                <a:lnTo>
                  <a:pt x="22235" y="518809"/>
                </a:lnTo>
                <a:lnTo>
                  <a:pt x="22235" y="518809"/>
                </a:lnTo>
                <a:cubicBezTo>
                  <a:pt x="9955" y="518809"/>
                  <a:pt x="0" y="508854"/>
                  <a:pt x="0" y="496574"/>
                </a:cubicBezTo>
                <a:lnTo>
                  <a:pt x="0" y="22235"/>
                </a:lnTo>
                <a:cubicBezTo>
                  <a:pt x="0" y="9955"/>
                  <a:pt x="9955" y="0"/>
                  <a:pt x="22235" y="0"/>
                </a:cubicBezTo>
                <a:close/>
              </a:path>
            </a:pathLst>
          </a:custGeom>
          <a:solidFill>
            <a:srgbClr val="F47C20"/>
          </a:solidFill>
          <a:ln/>
        </p:spPr>
      </p:sp>
      <p:sp>
        <p:nvSpPr>
          <p:cNvPr id="24" name="Text 21"/>
          <p:cNvSpPr/>
          <p:nvPr/>
        </p:nvSpPr>
        <p:spPr>
          <a:xfrm>
            <a:off x="6475611" y="5069502"/>
            <a:ext cx="5104705" cy="370578"/>
          </a:xfrm>
          <a:prstGeom prst="rect">
            <a:avLst/>
          </a:prstGeom>
          <a:noFill/>
          <a:ln/>
        </p:spPr>
        <p:txBody>
          <a:bodyPr wrap="square" lIns="0" tIns="0" rIns="0" bIns="0" rtlCol="0" anchor="ctr"/>
          <a:lstStyle/>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aws ec2 describe-security-groups \</a:t>
            </a:r>
            <a:endParaRPr lang="en-US" sz="1600" dirty="0"/>
          </a:p>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  --group-ids sg-xxxxxxxxxxxxxxxxx</a:t>
            </a:r>
            <a:endParaRPr lang="en-US" sz="1600" dirty="0"/>
          </a:p>
        </p:txBody>
      </p:sp>
      <p:sp>
        <p:nvSpPr>
          <p:cNvPr id="25" name="Shape 22"/>
          <p:cNvSpPr/>
          <p:nvPr/>
        </p:nvSpPr>
        <p:spPr>
          <a:xfrm>
            <a:off x="6268087" y="5699484"/>
            <a:ext cx="5428960" cy="1037617"/>
          </a:xfrm>
          <a:custGeom>
            <a:avLst/>
            <a:gdLst/>
            <a:ahLst/>
            <a:cxnLst/>
            <a:rect l="l" t="t" r="r" b="b"/>
            <a:pathLst>
              <a:path w="5428960" h="1037617">
                <a:moveTo>
                  <a:pt x="74117" y="0"/>
                </a:moveTo>
                <a:lnTo>
                  <a:pt x="5354844" y="0"/>
                </a:lnTo>
                <a:cubicBezTo>
                  <a:pt x="5395777" y="0"/>
                  <a:pt x="5428960" y="33183"/>
                  <a:pt x="5428960" y="74117"/>
                </a:cubicBezTo>
                <a:lnTo>
                  <a:pt x="5428960" y="963500"/>
                </a:lnTo>
                <a:cubicBezTo>
                  <a:pt x="5428960" y="1004434"/>
                  <a:pt x="5395777" y="1037617"/>
                  <a:pt x="5354844" y="1037617"/>
                </a:cubicBezTo>
                <a:lnTo>
                  <a:pt x="74117" y="1037617"/>
                </a:lnTo>
                <a:cubicBezTo>
                  <a:pt x="33183" y="1037617"/>
                  <a:pt x="0" y="1004434"/>
                  <a:pt x="0" y="963500"/>
                </a:cubicBezTo>
                <a:lnTo>
                  <a:pt x="0" y="74117"/>
                </a:lnTo>
                <a:cubicBezTo>
                  <a:pt x="0" y="33211"/>
                  <a:pt x="33211" y="0"/>
                  <a:pt x="74117" y="0"/>
                </a:cubicBezTo>
                <a:close/>
              </a:path>
            </a:pathLst>
          </a:custGeom>
          <a:solidFill>
            <a:srgbClr val="1A1D21">
              <a:alpha val="50196"/>
            </a:srgbClr>
          </a:solidFill>
          <a:ln/>
        </p:spPr>
      </p:sp>
      <p:sp>
        <p:nvSpPr>
          <p:cNvPr id="26" name="Text 23"/>
          <p:cNvSpPr/>
          <p:nvPr/>
        </p:nvSpPr>
        <p:spPr>
          <a:xfrm>
            <a:off x="6379260" y="5810657"/>
            <a:ext cx="5280729" cy="222347"/>
          </a:xfrm>
          <a:prstGeom prst="rect">
            <a:avLst/>
          </a:prstGeom>
          <a:noFill/>
          <a:ln/>
        </p:spPr>
        <p:txBody>
          <a:bodyPr wrap="square" lIns="0" tIns="0" rIns="0" bIns="0" rtlCol="0" anchor="ctr"/>
          <a:lstStyle/>
          <a:p>
            <a:pPr>
              <a:lnSpc>
                <a:spcPct val="130000"/>
              </a:lnSpc>
            </a:pPr>
            <a:r>
              <a:rPr lang="en-US" sz="1167" b="1" dirty="0">
                <a:solidFill>
                  <a:srgbClr val="E8EAED"/>
                </a:solidFill>
                <a:latin typeface="Liter" pitchFamily="34" charset="0"/>
                <a:ea typeface="Liter" pitchFamily="34" charset="-122"/>
                <a:cs typeface="Liter" pitchFamily="34" charset="-120"/>
              </a:rPr>
              <a:t>2. Test Connectivity</a:t>
            </a:r>
            <a:endParaRPr lang="en-US" sz="1600" dirty="0"/>
          </a:p>
        </p:txBody>
      </p:sp>
      <p:sp>
        <p:nvSpPr>
          <p:cNvPr id="27" name="Shape 24"/>
          <p:cNvSpPr/>
          <p:nvPr/>
        </p:nvSpPr>
        <p:spPr>
          <a:xfrm>
            <a:off x="6390378" y="6107119"/>
            <a:ext cx="5199202" cy="518809"/>
          </a:xfrm>
          <a:custGeom>
            <a:avLst/>
            <a:gdLst/>
            <a:ahLst/>
            <a:cxnLst/>
            <a:rect l="l" t="t" r="r" b="b"/>
            <a:pathLst>
              <a:path w="5199202" h="518809">
                <a:moveTo>
                  <a:pt x="22235" y="0"/>
                </a:moveTo>
                <a:lnTo>
                  <a:pt x="5162144" y="0"/>
                </a:lnTo>
                <a:cubicBezTo>
                  <a:pt x="5182611" y="0"/>
                  <a:pt x="5199202" y="16592"/>
                  <a:pt x="5199202" y="37058"/>
                </a:cubicBezTo>
                <a:lnTo>
                  <a:pt x="5199202" y="481750"/>
                </a:lnTo>
                <a:cubicBezTo>
                  <a:pt x="5199202" y="502217"/>
                  <a:pt x="5182611" y="518809"/>
                  <a:pt x="5162144" y="518809"/>
                </a:cubicBezTo>
                <a:lnTo>
                  <a:pt x="22235" y="518809"/>
                </a:lnTo>
                <a:cubicBezTo>
                  <a:pt x="9955" y="518809"/>
                  <a:pt x="0" y="508854"/>
                  <a:pt x="0" y="496574"/>
                </a:cubicBezTo>
                <a:lnTo>
                  <a:pt x="0" y="22235"/>
                </a:lnTo>
                <a:cubicBezTo>
                  <a:pt x="0" y="9955"/>
                  <a:pt x="9955" y="0"/>
                  <a:pt x="22235" y="0"/>
                </a:cubicBezTo>
                <a:close/>
              </a:path>
            </a:pathLst>
          </a:custGeom>
          <a:solidFill>
            <a:srgbClr val="1A1D21">
              <a:alpha val="90196"/>
            </a:srgbClr>
          </a:solidFill>
          <a:ln/>
        </p:spPr>
      </p:sp>
      <p:sp>
        <p:nvSpPr>
          <p:cNvPr id="28" name="Shape 25"/>
          <p:cNvSpPr/>
          <p:nvPr/>
        </p:nvSpPr>
        <p:spPr>
          <a:xfrm>
            <a:off x="6390378" y="6107119"/>
            <a:ext cx="22235" cy="518809"/>
          </a:xfrm>
          <a:custGeom>
            <a:avLst/>
            <a:gdLst/>
            <a:ahLst/>
            <a:cxnLst/>
            <a:rect l="l" t="t" r="r" b="b"/>
            <a:pathLst>
              <a:path w="22235" h="518809">
                <a:moveTo>
                  <a:pt x="22235" y="0"/>
                </a:moveTo>
                <a:lnTo>
                  <a:pt x="22235" y="0"/>
                </a:lnTo>
                <a:lnTo>
                  <a:pt x="22235" y="518809"/>
                </a:lnTo>
                <a:lnTo>
                  <a:pt x="22235" y="518809"/>
                </a:lnTo>
                <a:cubicBezTo>
                  <a:pt x="9955" y="518809"/>
                  <a:pt x="0" y="508854"/>
                  <a:pt x="0" y="496574"/>
                </a:cubicBezTo>
                <a:lnTo>
                  <a:pt x="0" y="22235"/>
                </a:lnTo>
                <a:cubicBezTo>
                  <a:pt x="0" y="9955"/>
                  <a:pt x="9955" y="0"/>
                  <a:pt x="22235" y="0"/>
                </a:cubicBezTo>
                <a:close/>
              </a:path>
            </a:pathLst>
          </a:custGeom>
          <a:solidFill>
            <a:srgbClr val="F47C20"/>
          </a:solidFill>
          <a:ln/>
        </p:spPr>
      </p:sp>
      <p:sp>
        <p:nvSpPr>
          <p:cNvPr id="29" name="Text 26"/>
          <p:cNvSpPr/>
          <p:nvPr/>
        </p:nvSpPr>
        <p:spPr>
          <a:xfrm>
            <a:off x="6475611" y="6181235"/>
            <a:ext cx="5104705" cy="370578"/>
          </a:xfrm>
          <a:prstGeom prst="rect">
            <a:avLst/>
          </a:prstGeom>
          <a:noFill/>
          <a:ln/>
        </p:spPr>
        <p:txBody>
          <a:bodyPr wrap="square" lIns="0" tIns="0" rIns="0" bIns="0" rtlCol="0" anchor="ctr"/>
          <a:lstStyle/>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curl -I https://your-alb-dns.com</a:t>
            </a:r>
            <a:endParaRPr lang="en-US" sz="1600" dirty="0"/>
          </a:p>
          <a:p>
            <a:pPr>
              <a:lnSpc>
                <a:spcPct val="100000"/>
              </a:lnSpc>
            </a:pPr>
            <a:r>
              <a:rPr lang="en-US" sz="1021" dirty="0">
                <a:solidFill>
                  <a:srgbClr val="E8EAED">
                    <a:alpha val="90000"/>
                  </a:srgbClr>
                </a:solidFill>
                <a:latin typeface="MiSans" pitchFamily="34" charset="0"/>
                <a:ea typeface="MiSans" pitchFamily="34" charset="-122"/>
                <a:cs typeface="MiSans" pitchFamily="34" charset="-120"/>
              </a:rPr>
              <a:t># Should return 200 OK from CF</a:t>
            </a:r>
            <a:endParaRPr lang="en-US" sz="16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D21"/>
        </a:solidFill>
      </p:bgPr>
    </p:bg>
    <p:spTree>
      <p:nvGrpSpPr>
        <p:cNvPr id="1" name=""/>
        <p:cNvGrpSpPr/>
        <p:nvPr/>
      </p:nvGrpSpPr>
      <p:grpSpPr>
        <a:xfrm>
          <a:off x="0" y="0"/>
          <a:ext cx="0" cy="0"/>
          <a:chOff x="0" y="0"/>
          <a:chExt cx="0" cy="0"/>
        </a:xfrm>
      </p:grpSpPr>
      <p:pic>
        <p:nvPicPr>
          <p:cNvPr id="2" name="Image 0" descr="https://kimi-web-img.moonshot.cn/img/www.shutterstock.com/6d3405ea215456237985f1e9af61f042804f7559.jpg">    </p:cNvPr>
          <p:cNvPicPr>
            <a:picLocks noChangeAspect="1"/>
          </p:cNvPicPr>
          <p:nvPr/>
        </p:nvPicPr>
        <p:blipFill>
          <a:blip r:embed="rId1">
            <a:alphaModFix amt="30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1D21">
                  <a:alpha val="95000"/>
                </a:srgbClr>
              </a:gs>
              <a:gs pos="50000">
                <a:srgbClr val="1A1D21">
                  <a:alpha val="90000"/>
                </a:srgbClr>
              </a:gs>
              <a:gs pos="100000">
                <a:srgbClr val="F47C20">
                  <a:alpha val="30000"/>
                </a:srgbClr>
              </a:gs>
            </a:gsLst>
            <a:lin ang="2700000" scaled="1"/>
          </a:gradFill>
          <a:ln/>
        </p:spPr>
      </p:sp>
      <p:sp>
        <p:nvSpPr>
          <p:cNvPr id="4" name="Shape 1"/>
          <p:cNvSpPr/>
          <p:nvPr/>
        </p:nvSpPr>
        <p:spPr>
          <a:xfrm>
            <a:off x="5690116" y="1658304"/>
            <a:ext cx="807720" cy="579120"/>
          </a:xfrm>
          <a:custGeom>
            <a:avLst/>
            <a:gdLst/>
            <a:ahLst/>
            <a:cxnLst/>
            <a:rect l="l" t="t" r="r" b="b"/>
            <a:pathLst>
              <a:path w="807720" h="579120">
                <a:moveTo>
                  <a:pt x="289560" y="0"/>
                </a:moveTo>
                <a:lnTo>
                  <a:pt x="518160" y="0"/>
                </a:lnTo>
                <a:cubicBezTo>
                  <a:pt x="677973" y="0"/>
                  <a:pt x="807720" y="129747"/>
                  <a:pt x="807720" y="289560"/>
                </a:cubicBezTo>
                <a:lnTo>
                  <a:pt x="807720" y="289560"/>
                </a:lnTo>
                <a:cubicBezTo>
                  <a:pt x="807720" y="449373"/>
                  <a:pt x="677973" y="579120"/>
                  <a:pt x="518160" y="579120"/>
                </a:cubicBezTo>
                <a:lnTo>
                  <a:pt x="289560" y="579120"/>
                </a:lnTo>
                <a:cubicBezTo>
                  <a:pt x="129747" y="579120"/>
                  <a:pt x="0" y="449373"/>
                  <a:pt x="0" y="289560"/>
                </a:cubicBezTo>
                <a:lnTo>
                  <a:pt x="0" y="289560"/>
                </a:lnTo>
                <a:cubicBezTo>
                  <a:pt x="0" y="129747"/>
                  <a:pt x="129747" y="0"/>
                  <a:pt x="289560" y="0"/>
                </a:cubicBezTo>
                <a:close/>
              </a:path>
            </a:pathLst>
          </a:custGeom>
          <a:solidFill>
            <a:srgbClr val="F47C20">
              <a:alpha val="20000"/>
            </a:srgbClr>
          </a:solidFill>
          <a:ln w="10160">
            <a:solidFill>
              <a:srgbClr val="F47C20">
                <a:alpha val="40000"/>
              </a:srgbClr>
            </a:solidFill>
            <a:prstDash val="solid"/>
          </a:ln>
        </p:spPr>
      </p:sp>
      <p:sp>
        <p:nvSpPr>
          <p:cNvPr id="5" name="Text 2"/>
          <p:cNvSpPr/>
          <p:nvPr/>
        </p:nvSpPr>
        <p:spPr>
          <a:xfrm>
            <a:off x="5851089" y="1776413"/>
            <a:ext cx="485775" cy="342900"/>
          </a:xfrm>
          <a:prstGeom prst="rect">
            <a:avLst/>
          </a:prstGeom>
          <a:noFill/>
          <a:ln/>
        </p:spPr>
        <p:txBody>
          <a:bodyPr wrap="square" lIns="0" tIns="0" rIns="0" bIns="0" rtlCol="0" anchor="ctr"/>
          <a:lstStyle/>
          <a:p>
            <a:pPr algn="ctr">
              <a:lnSpc>
                <a:spcPct val="100000"/>
              </a:lnSpc>
            </a:pPr>
            <a:r>
              <a:rPr lang="en-US" sz="2250" b="1" dirty="0">
                <a:solidFill>
                  <a:srgbClr val="F47C20"/>
                </a:solidFill>
                <a:latin typeface="Liter" pitchFamily="34" charset="0"/>
                <a:ea typeface="Liter" pitchFamily="34" charset="-122"/>
                <a:cs typeface="Liter" pitchFamily="34" charset="-120"/>
              </a:rPr>
              <a:t>05</a:t>
            </a:r>
            <a:endParaRPr lang="en-US" sz="1600" dirty="0"/>
          </a:p>
        </p:txBody>
      </p:sp>
      <p:sp>
        <p:nvSpPr>
          <p:cNvPr id="6" name="Text 3"/>
          <p:cNvSpPr/>
          <p:nvPr/>
        </p:nvSpPr>
        <p:spPr>
          <a:xfrm>
            <a:off x="2489359" y="2546040"/>
            <a:ext cx="7210425" cy="1371600"/>
          </a:xfrm>
          <a:prstGeom prst="rect">
            <a:avLst/>
          </a:prstGeom>
          <a:noFill/>
          <a:ln/>
        </p:spPr>
        <p:txBody>
          <a:bodyPr wrap="square" lIns="0" tIns="0" rIns="0" bIns="0" rtlCol="0" anchor="ctr"/>
          <a:lstStyle/>
          <a:p>
            <a:pPr algn="ctr">
              <a:lnSpc>
                <a:spcPct val="80000"/>
              </a:lnSpc>
            </a:pPr>
            <a:r>
              <a:rPr lang="en-US" sz="5400" b="1" dirty="0">
                <a:solidFill>
                  <a:srgbClr val="E8EAED"/>
                </a:solidFill>
                <a:latin typeface="Liter" pitchFamily="34" charset="0"/>
                <a:ea typeface="Liter" pitchFamily="34" charset="-122"/>
                <a:cs typeface="Liter" pitchFamily="34" charset="-120"/>
              </a:rPr>
              <a:t>mTLS &amp; Authenticated</a:t>
            </a:r>
            <a:endParaRPr lang="en-US" sz="1600" dirty="0"/>
          </a:p>
          <a:p>
            <a:pPr algn="ctr">
              <a:lnSpc>
                <a:spcPct val="80000"/>
              </a:lnSpc>
            </a:pPr>
            <a:r>
              <a:rPr lang="en-US" sz="5400" b="1" dirty="0">
                <a:solidFill>
                  <a:srgbClr val="E8EAED"/>
                </a:solidFill>
                <a:latin typeface="Liter" pitchFamily="34" charset="0"/>
                <a:ea typeface="Liter" pitchFamily="34" charset="-122"/>
                <a:cs typeface="Liter" pitchFamily="34" charset="-120"/>
              </a:rPr>
              <a:t>Origin Pulls</a:t>
            </a:r>
            <a:endParaRPr lang="en-US" sz="1600" dirty="0"/>
          </a:p>
        </p:txBody>
      </p:sp>
      <p:sp>
        <p:nvSpPr>
          <p:cNvPr id="7" name="Text 4"/>
          <p:cNvSpPr/>
          <p:nvPr/>
        </p:nvSpPr>
        <p:spPr>
          <a:xfrm>
            <a:off x="2603659" y="4146240"/>
            <a:ext cx="6981825" cy="371475"/>
          </a:xfrm>
          <a:prstGeom prst="rect">
            <a:avLst/>
          </a:prstGeom>
          <a:noFill/>
          <a:ln/>
        </p:spPr>
        <p:txBody>
          <a:bodyPr wrap="square" lIns="0" tIns="0" rIns="0" bIns="0" rtlCol="0" anchor="ctr"/>
          <a:lstStyle/>
          <a:p>
            <a:pPr algn="ctr">
              <a:lnSpc>
                <a:spcPct val="140000"/>
              </a:lnSpc>
            </a:pPr>
            <a:r>
              <a:rPr lang="en-US" sz="1800" dirty="0">
                <a:solidFill>
                  <a:srgbClr val="E8EAED">
                    <a:alpha val="80000"/>
                  </a:srgbClr>
                </a:solidFill>
                <a:latin typeface="Liter" pitchFamily="34" charset="0"/>
                <a:ea typeface="Liter" pitchFamily="34" charset="-122"/>
                <a:cs typeface="Liter" pitchFamily="34" charset="-120"/>
              </a:rPr>
              <a:t>Certificate-Based Origin Authentication with Cloudflare</a:t>
            </a:r>
            <a:endParaRPr lang="en-US" sz="1600" dirty="0"/>
          </a:p>
        </p:txBody>
      </p:sp>
      <p:sp>
        <p:nvSpPr>
          <p:cNvPr id="8" name="Shape 5"/>
          <p:cNvSpPr/>
          <p:nvPr/>
        </p:nvSpPr>
        <p:spPr>
          <a:xfrm>
            <a:off x="4886325" y="5070165"/>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F47C20"/>
          </a:solidFill>
          <a:ln/>
        </p:spPr>
      </p:sp>
      <p:sp>
        <p:nvSpPr>
          <p:cNvPr id="9" name="Shape 6"/>
          <p:cNvSpPr/>
          <p:nvPr/>
        </p:nvSpPr>
        <p:spPr>
          <a:xfrm>
            <a:off x="5967413" y="4974915"/>
            <a:ext cx="257175" cy="228600"/>
          </a:xfrm>
          <a:custGeom>
            <a:avLst/>
            <a:gdLst/>
            <a:ahLst/>
            <a:cxnLst/>
            <a:rect l="l" t="t" r="r" b="b"/>
            <a:pathLst>
              <a:path w="257175" h="228600">
                <a:moveTo>
                  <a:pt x="106799" y="-3572"/>
                </a:moveTo>
                <a:cubicBezTo>
                  <a:pt x="104076" y="-6340"/>
                  <a:pt x="100102" y="-7456"/>
                  <a:pt x="96351" y="-6429"/>
                </a:cubicBezTo>
                <a:cubicBezTo>
                  <a:pt x="92601" y="-5402"/>
                  <a:pt x="89699" y="-2500"/>
                  <a:pt x="88761" y="1250"/>
                </a:cubicBezTo>
                <a:lnTo>
                  <a:pt x="81930" y="28129"/>
                </a:lnTo>
                <a:cubicBezTo>
                  <a:pt x="81439" y="30093"/>
                  <a:pt x="79430" y="31254"/>
                  <a:pt x="77510" y="30673"/>
                </a:cubicBezTo>
                <a:lnTo>
                  <a:pt x="50810" y="23173"/>
                </a:lnTo>
                <a:cubicBezTo>
                  <a:pt x="47059" y="22101"/>
                  <a:pt x="43041" y="23173"/>
                  <a:pt x="40318" y="25896"/>
                </a:cubicBezTo>
                <a:cubicBezTo>
                  <a:pt x="37594" y="28620"/>
                  <a:pt x="36522" y="32638"/>
                  <a:pt x="37594" y="36388"/>
                </a:cubicBezTo>
                <a:lnTo>
                  <a:pt x="45140" y="63088"/>
                </a:lnTo>
                <a:cubicBezTo>
                  <a:pt x="45675" y="65008"/>
                  <a:pt x="44514" y="67017"/>
                  <a:pt x="42595" y="67508"/>
                </a:cubicBezTo>
                <a:lnTo>
                  <a:pt x="15672" y="74340"/>
                </a:lnTo>
                <a:cubicBezTo>
                  <a:pt x="11921" y="75277"/>
                  <a:pt x="8974" y="78224"/>
                  <a:pt x="7947" y="81975"/>
                </a:cubicBezTo>
                <a:cubicBezTo>
                  <a:pt x="6921" y="85725"/>
                  <a:pt x="8037" y="89699"/>
                  <a:pt x="10805" y="92422"/>
                </a:cubicBezTo>
                <a:lnTo>
                  <a:pt x="30673" y="111755"/>
                </a:lnTo>
                <a:cubicBezTo>
                  <a:pt x="32102" y="113139"/>
                  <a:pt x="32102" y="115461"/>
                  <a:pt x="30673" y="116890"/>
                </a:cubicBezTo>
                <a:lnTo>
                  <a:pt x="10850" y="136222"/>
                </a:lnTo>
                <a:cubicBezTo>
                  <a:pt x="8081" y="138946"/>
                  <a:pt x="6965" y="142920"/>
                  <a:pt x="7992" y="146670"/>
                </a:cubicBezTo>
                <a:cubicBezTo>
                  <a:pt x="9019" y="150421"/>
                  <a:pt x="11966" y="153323"/>
                  <a:pt x="15716" y="154305"/>
                </a:cubicBezTo>
                <a:lnTo>
                  <a:pt x="42595" y="161136"/>
                </a:lnTo>
                <a:cubicBezTo>
                  <a:pt x="44559" y="161627"/>
                  <a:pt x="45720" y="163637"/>
                  <a:pt x="45140" y="165556"/>
                </a:cubicBezTo>
                <a:lnTo>
                  <a:pt x="37594" y="192212"/>
                </a:lnTo>
                <a:cubicBezTo>
                  <a:pt x="36522" y="195962"/>
                  <a:pt x="37594" y="199980"/>
                  <a:pt x="40318" y="202704"/>
                </a:cubicBezTo>
                <a:cubicBezTo>
                  <a:pt x="43041" y="205427"/>
                  <a:pt x="47059" y="206499"/>
                  <a:pt x="50810" y="205427"/>
                </a:cubicBezTo>
                <a:lnTo>
                  <a:pt x="77510" y="197882"/>
                </a:lnTo>
                <a:cubicBezTo>
                  <a:pt x="79430" y="197346"/>
                  <a:pt x="81439" y="198507"/>
                  <a:pt x="81930" y="200427"/>
                </a:cubicBezTo>
                <a:lnTo>
                  <a:pt x="88761" y="227305"/>
                </a:lnTo>
                <a:cubicBezTo>
                  <a:pt x="89699" y="231056"/>
                  <a:pt x="92646" y="234002"/>
                  <a:pt x="96396" y="235029"/>
                </a:cubicBezTo>
                <a:cubicBezTo>
                  <a:pt x="100146" y="236056"/>
                  <a:pt x="104120" y="234940"/>
                  <a:pt x="106844" y="232172"/>
                </a:cubicBezTo>
                <a:lnTo>
                  <a:pt x="126176" y="212303"/>
                </a:lnTo>
                <a:cubicBezTo>
                  <a:pt x="127561" y="210875"/>
                  <a:pt x="129882" y="210875"/>
                  <a:pt x="131311" y="212303"/>
                </a:cubicBezTo>
                <a:lnTo>
                  <a:pt x="150599" y="232172"/>
                </a:lnTo>
                <a:cubicBezTo>
                  <a:pt x="153323" y="234940"/>
                  <a:pt x="157296" y="236056"/>
                  <a:pt x="161047" y="235029"/>
                </a:cubicBezTo>
                <a:cubicBezTo>
                  <a:pt x="164797" y="234002"/>
                  <a:pt x="167700" y="231056"/>
                  <a:pt x="168682" y="227305"/>
                </a:cubicBezTo>
                <a:lnTo>
                  <a:pt x="175513" y="200471"/>
                </a:lnTo>
                <a:cubicBezTo>
                  <a:pt x="176004" y="198507"/>
                  <a:pt x="178013" y="197346"/>
                  <a:pt x="179933" y="197927"/>
                </a:cubicBezTo>
                <a:lnTo>
                  <a:pt x="206633" y="205472"/>
                </a:lnTo>
                <a:cubicBezTo>
                  <a:pt x="210383" y="206544"/>
                  <a:pt x="214402" y="205472"/>
                  <a:pt x="217125" y="202749"/>
                </a:cubicBezTo>
                <a:cubicBezTo>
                  <a:pt x="219849" y="200025"/>
                  <a:pt x="220920" y="196007"/>
                  <a:pt x="219849" y="192256"/>
                </a:cubicBezTo>
                <a:lnTo>
                  <a:pt x="212303" y="165556"/>
                </a:lnTo>
                <a:cubicBezTo>
                  <a:pt x="211768" y="163637"/>
                  <a:pt x="212928" y="161627"/>
                  <a:pt x="214848" y="161136"/>
                </a:cubicBezTo>
                <a:lnTo>
                  <a:pt x="241727" y="154305"/>
                </a:lnTo>
                <a:cubicBezTo>
                  <a:pt x="245477" y="153367"/>
                  <a:pt x="248424" y="150421"/>
                  <a:pt x="249451" y="146670"/>
                </a:cubicBezTo>
                <a:cubicBezTo>
                  <a:pt x="250478" y="142920"/>
                  <a:pt x="249362" y="138901"/>
                  <a:pt x="246593" y="136222"/>
                </a:cubicBezTo>
                <a:lnTo>
                  <a:pt x="226725" y="116890"/>
                </a:lnTo>
                <a:cubicBezTo>
                  <a:pt x="225296" y="115506"/>
                  <a:pt x="225296" y="113184"/>
                  <a:pt x="226725" y="111755"/>
                </a:cubicBezTo>
                <a:lnTo>
                  <a:pt x="246593" y="92422"/>
                </a:lnTo>
                <a:cubicBezTo>
                  <a:pt x="249362" y="89699"/>
                  <a:pt x="250478" y="85725"/>
                  <a:pt x="249451" y="81975"/>
                </a:cubicBezTo>
                <a:cubicBezTo>
                  <a:pt x="248424" y="78224"/>
                  <a:pt x="245477" y="75322"/>
                  <a:pt x="241727" y="74340"/>
                </a:cubicBezTo>
                <a:lnTo>
                  <a:pt x="214848" y="67508"/>
                </a:lnTo>
                <a:cubicBezTo>
                  <a:pt x="212884" y="67017"/>
                  <a:pt x="211723" y="65008"/>
                  <a:pt x="212303" y="63088"/>
                </a:cubicBezTo>
                <a:lnTo>
                  <a:pt x="219849" y="36388"/>
                </a:lnTo>
                <a:cubicBezTo>
                  <a:pt x="220920" y="32638"/>
                  <a:pt x="219849" y="28620"/>
                  <a:pt x="217125" y="25896"/>
                </a:cubicBezTo>
                <a:cubicBezTo>
                  <a:pt x="214402" y="23173"/>
                  <a:pt x="210383" y="22101"/>
                  <a:pt x="206633" y="23173"/>
                </a:cubicBezTo>
                <a:lnTo>
                  <a:pt x="179933" y="30718"/>
                </a:lnTo>
                <a:cubicBezTo>
                  <a:pt x="178013" y="31254"/>
                  <a:pt x="176004" y="30093"/>
                  <a:pt x="175513" y="28173"/>
                </a:cubicBezTo>
                <a:lnTo>
                  <a:pt x="168682" y="1250"/>
                </a:lnTo>
                <a:cubicBezTo>
                  <a:pt x="167744" y="-2500"/>
                  <a:pt x="164797" y="-5447"/>
                  <a:pt x="161047" y="-6474"/>
                </a:cubicBezTo>
                <a:cubicBezTo>
                  <a:pt x="157296" y="-7501"/>
                  <a:pt x="153323" y="-6385"/>
                  <a:pt x="150599" y="-3617"/>
                </a:cubicBezTo>
                <a:lnTo>
                  <a:pt x="131266" y="16297"/>
                </a:lnTo>
                <a:cubicBezTo>
                  <a:pt x="129882" y="17725"/>
                  <a:pt x="127561" y="17725"/>
                  <a:pt x="126132" y="16297"/>
                </a:cubicBezTo>
                <a:lnTo>
                  <a:pt x="106799" y="-3572"/>
                </a:lnTo>
                <a:close/>
              </a:path>
            </a:pathLst>
          </a:custGeom>
          <a:solidFill>
            <a:srgbClr val="F47C20"/>
          </a:solidFill>
          <a:ln/>
        </p:spPr>
      </p:sp>
      <p:sp>
        <p:nvSpPr>
          <p:cNvPr id="10" name="Shape 7"/>
          <p:cNvSpPr/>
          <p:nvPr/>
        </p:nvSpPr>
        <p:spPr>
          <a:xfrm>
            <a:off x="6391275" y="5070165"/>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F47C20"/>
          </a:solidFill>
          <a:ln/>
        </p:spPr>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65303" y="365303"/>
            <a:ext cx="11534454" cy="219182"/>
          </a:xfrm>
          <a:prstGeom prst="rect">
            <a:avLst/>
          </a:prstGeom>
          <a:noFill/>
          <a:ln/>
        </p:spPr>
        <p:txBody>
          <a:bodyPr wrap="square" lIns="0" tIns="0" rIns="0" bIns="0" rtlCol="0" anchor="ctr"/>
          <a:lstStyle/>
          <a:p>
            <a:pPr>
              <a:lnSpc>
                <a:spcPct val="130000"/>
              </a:lnSpc>
            </a:pPr>
            <a:r>
              <a:rPr lang="en-US" sz="1151" b="1" spc="58" kern="0" dirty="0">
                <a:solidFill>
                  <a:srgbClr val="F47C20"/>
                </a:solidFill>
                <a:latin typeface="Liter" pitchFamily="34" charset="0"/>
                <a:ea typeface="Liter" pitchFamily="34" charset="-122"/>
                <a:cs typeface="Liter" pitchFamily="34" charset="-120"/>
              </a:rPr>
              <a:t>MUTUAL TLS AUTHENTICATION</a:t>
            </a:r>
            <a:endParaRPr lang="en-US" sz="1600" dirty="0"/>
          </a:p>
        </p:txBody>
      </p:sp>
      <p:sp>
        <p:nvSpPr>
          <p:cNvPr id="3" name="Text 1"/>
          <p:cNvSpPr/>
          <p:nvPr/>
        </p:nvSpPr>
        <p:spPr>
          <a:xfrm>
            <a:off x="365303" y="657546"/>
            <a:ext cx="11625780" cy="365303"/>
          </a:xfrm>
          <a:prstGeom prst="rect">
            <a:avLst/>
          </a:prstGeom>
          <a:noFill/>
          <a:ln/>
        </p:spPr>
        <p:txBody>
          <a:bodyPr wrap="square" lIns="0" tIns="0" rIns="0" bIns="0" rtlCol="0" anchor="ctr"/>
          <a:lstStyle/>
          <a:p>
            <a:pPr>
              <a:lnSpc>
                <a:spcPct val="90000"/>
              </a:lnSpc>
            </a:pPr>
            <a:r>
              <a:rPr lang="en-US" sz="2589" b="1" dirty="0">
                <a:solidFill>
                  <a:srgbClr val="E8EAED"/>
                </a:solidFill>
                <a:latin typeface="Liter" pitchFamily="34" charset="0"/>
                <a:ea typeface="Liter" pitchFamily="34" charset="-122"/>
                <a:cs typeface="Liter" pitchFamily="34" charset="-120"/>
              </a:rPr>
              <a:t>Cloudflare mTLS Overview</a:t>
            </a:r>
            <a:endParaRPr lang="en-US" sz="1600" dirty="0"/>
          </a:p>
        </p:txBody>
      </p:sp>
      <p:sp>
        <p:nvSpPr>
          <p:cNvPr id="4" name="Shape 2"/>
          <p:cNvSpPr/>
          <p:nvPr/>
        </p:nvSpPr>
        <p:spPr>
          <a:xfrm>
            <a:off x="368956" y="1172624"/>
            <a:ext cx="5651243" cy="3203711"/>
          </a:xfrm>
          <a:custGeom>
            <a:avLst/>
            <a:gdLst/>
            <a:ahLst/>
            <a:cxnLst/>
            <a:rect l="l" t="t" r="r" b="b"/>
            <a:pathLst>
              <a:path w="5651243" h="3203711">
                <a:moveTo>
                  <a:pt x="109599" y="0"/>
                </a:moveTo>
                <a:lnTo>
                  <a:pt x="5541644" y="0"/>
                </a:lnTo>
                <a:cubicBezTo>
                  <a:pt x="5602174" y="0"/>
                  <a:pt x="5651243" y="49069"/>
                  <a:pt x="5651243" y="109599"/>
                </a:cubicBezTo>
                <a:lnTo>
                  <a:pt x="5651243" y="3094112"/>
                </a:lnTo>
                <a:cubicBezTo>
                  <a:pt x="5651243" y="3154641"/>
                  <a:pt x="5602174" y="3203711"/>
                  <a:pt x="5541644" y="3203711"/>
                </a:cubicBezTo>
                <a:lnTo>
                  <a:pt x="109599" y="3203711"/>
                </a:lnTo>
                <a:cubicBezTo>
                  <a:pt x="49110" y="3203711"/>
                  <a:pt x="0" y="3154601"/>
                  <a:pt x="0" y="3094112"/>
                </a:cubicBezTo>
                <a:lnTo>
                  <a:pt x="0" y="109599"/>
                </a:lnTo>
                <a:cubicBezTo>
                  <a:pt x="0" y="49110"/>
                  <a:pt x="49110" y="0"/>
                  <a:pt x="109599" y="0"/>
                </a:cubicBezTo>
                <a:close/>
              </a:path>
            </a:pathLst>
          </a:custGeom>
          <a:solidFill>
            <a:srgbClr val="48515E">
              <a:alpha val="20000"/>
            </a:srgbClr>
          </a:solidFill>
          <a:ln w="10160">
            <a:solidFill>
              <a:srgbClr val="48515E">
                <a:alpha val="40000"/>
              </a:srgbClr>
            </a:solidFill>
            <a:prstDash val="solid"/>
          </a:ln>
        </p:spPr>
      </p:sp>
      <p:sp>
        <p:nvSpPr>
          <p:cNvPr id="5" name="Shape 3"/>
          <p:cNvSpPr/>
          <p:nvPr/>
        </p:nvSpPr>
        <p:spPr>
          <a:xfrm>
            <a:off x="555261" y="1358936"/>
            <a:ext cx="365303" cy="365303"/>
          </a:xfrm>
          <a:custGeom>
            <a:avLst/>
            <a:gdLst/>
            <a:ahLst/>
            <a:cxnLst/>
            <a:rect l="l" t="t" r="r" b="b"/>
            <a:pathLst>
              <a:path w="365303" h="365303">
                <a:moveTo>
                  <a:pt x="73061" y="0"/>
                </a:moveTo>
                <a:lnTo>
                  <a:pt x="292243" y="0"/>
                </a:lnTo>
                <a:cubicBezTo>
                  <a:pt x="332566" y="0"/>
                  <a:pt x="365303" y="32737"/>
                  <a:pt x="365303" y="73061"/>
                </a:cubicBezTo>
                <a:lnTo>
                  <a:pt x="365303" y="292243"/>
                </a:lnTo>
                <a:cubicBezTo>
                  <a:pt x="365303" y="332566"/>
                  <a:pt x="332566" y="365303"/>
                  <a:pt x="292243" y="365303"/>
                </a:cubicBezTo>
                <a:lnTo>
                  <a:pt x="73061" y="365303"/>
                </a:lnTo>
                <a:cubicBezTo>
                  <a:pt x="32737" y="365303"/>
                  <a:pt x="0" y="332566"/>
                  <a:pt x="0" y="292243"/>
                </a:cubicBezTo>
                <a:lnTo>
                  <a:pt x="0" y="73061"/>
                </a:lnTo>
                <a:cubicBezTo>
                  <a:pt x="0" y="32737"/>
                  <a:pt x="32737" y="0"/>
                  <a:pt x="73061" y="0"/>
                </a:cubicBezTo>
                <a:close/>
              </a:path>
            </a:pathLst>
          </a:custGeom>
          <a:solidFill>
            <a:srgbClr val="F47C20">
              <a:alpha val="20000"/>
            </a:srgbClr>
          </a:solidFill>
          <a:ln/>
        </p:spPr>
      </p:sp>
      <p:sp>
        <p:nvSpPr>
          <p:cNvPr id="6" name="Shape 4"/>
          <p:cNvSpPr/>
          <p:nvPr/>
        </p:nvSpPr>
        <p:spPr>
          <a:xfrm>
            <a:off x="658003" y="1459394"/>
            <a:ext cx="164387" cy="164387"/>
          </a:xfrm>
          <a:custGeom>
            <a:avLst/>
            <a:gdLst/>
            <a:ahLst/>
            <a:cxnLst/>
            <a:rect l="l" t="t" r="r" b="b"/>
            <a:pathLst>
              <a:path w="164387" h="164387">
                <a:moveTo>
                  <a:pt x="161368" y="48353"/>
                </a:moveTo>
                <a:lnTo>
                  <a:pt x="130546" y="79175"/>
                </a:lnTo>
                <a:cubicBezTo>
                  <a:pt x="127592" y="82129"/>
                  <a:pt x="123194" y="82996"/>
                  <a:pt x="119341" y="81391"/>
                </a:cubicBezTo>
                <a:cubicBezTo>
                  <a:pt x="115488" y="79785"/>
                  <a:pt x="113016" y="76061"/>
                  <a:pt x="113016" y="71919"/>
                </a:cubicBezTo>
                <a:lnTo>
                  <a:pt x="113016" y="51371"/>
                </a:lnTo>
                <a:lnTo>
                  <a:pt x="10274" y="51371"/>
                </a:lnTo>
                <a:cubicBezTo>
                  <a:pt x="4591" y="51371"/>
                  <a:pt x="0" y="46780"/>
                  <a:pt x="0" y="41097"/>
                </a:cubicBezTo>
                <a:cubicBezTo>
                  <a:pt x="0" y="35414"/>
                  <a:pt x="4591" y="30822"/>
                  <a:pt x="10274" y="30822"/>
                </a:cubicBezTo>
                <a:lnTo>
                  <a:pt x="113016" y="30822"/>
                </a:lnTo>
                <a:lnTo>
                  <a:pt x="113016" y="10274"/>
                </a:lnTo>
                <a:cubicBezTo>
                  <a:pt x="113016" y="6132"/>
                  <a:pt x="115520" y="2376"/>
                  <a:pt x="119373" y="771"/>
                </a:cubicBezTo>
                <a:cubicBezTo>
                  <a:pt x="123226" y="-835"/>
                  <a:pt x="127624" y="64"/>
                  <a:pt x="130578" y="2986"/>
                </a:cubicBezTo>
                <a:lnTo>
                  <a:pt x="161401" y="33808"/>
                </a:lnTo>
                <a:cubicBezTo>
                  <a:pt x="165414" y="37822"/>
                  <a:pt x="165414" y="44339"/>
                  <a:pt x="161401" y="48353"/>
                </a:cubicBezTo>
                <a:close/>
                <a:moveTo>
                  <a:pt x="33808" y="161368"/>
                </a:moveTo>
                <a:lnTo>
                  <a:pt x="2986" y="130546"/>
                </a:lnTo>
                <a:cubicBezTo>
                  <a:pt x="-1027" y="126533"/>
                  <a:pt x="-1027" y="120015"/>
                  <a:pt x="2986" y="116002"/>
                </a:cubicBezTo>
                <a:lnTo>
                  <a:pt x="33808" y="85179"/>
                </a:lnTo>
                <a:cubicBezTo>
                  <a:pt x="36762" y="82225"/>
                  <a:pt x="41161" y="81358"/>
                  <a:pt x="45014" y="82964"/>
                </a:cubicBezTo>
                <a:cubicBezTo>
                  <a:pt x="48866" y="84569"/>
                  <a:pt x="51371" y="88326"/>
                  <a:pt x="51371" y="92467"/>
                </a:cubicBezTo>
                <a:lnTo>
                  <a:pt x="51371" y="113016"/>
                </a:lnTo>
                <a:lnTo>
                  <a:pt x="154112" y="113016"/>
                </a:lnTo>
                <a:cubicBezTo>
                  <a:pt x="159795" y="113016"/>
                  <a:pt x="164387" y="117607"/>
                  <a:pt x="164387" y="123290"/>
                </a:cubicBezTo>
                <a:cubicBezTo>
                  <a:pt x="164387" y="128973"/>
                  <a:pt x="159795" y="133564"/>
                  <a:pt x="154112" y="133564"/>
                </a:cubicBezTo>
                <a:lnTo>
                  <a:pt x="51371" y="133564"/>
                </a:lnTo>
                <a:lnTo>
                  <a:pt x="51371" y="154112"/>
                </a:lnTo>
                <a:cubicBezTo>
                  <a:pt x="51371" y="158254"/>
                  <a:pt x="48866" y="162011"/>
                  <a:pt x="45014" y="163616"/>
                </a:cubicBezTo>
                <a:cubicBezTo>
                  <a:pt x="41161" y="165221"/>
                  <a:pt x="36762" y="164322"/>
                  <a:pt x="33808" y="161401"/>
                </a:cubicBezTo>
                <a:close/>
              </a:path>
            </a:pathLst>
          </a:custGeom>
          <a:solidFill>
            <a:srgbClr val="F47C20"/>
          </a:solidFill>
          <a:ln/>
        </p:spPr>
      </p:sp>
      <p:sp>
        <p:nvSpPr>
          <p:cNvPr id="7" name="Text 5"/>
          <p:cNvSpPr/>
          <p:nvPr/>
        </p:nvSpPr>
        <p:spPr>
          <a:xfrm>
            <a:off x="1030156" y="1413731"/>
            <a:ext cx="1305960" cy="255712"/>
          </a:xfrm>
          <a:prstGeom prst="rect">
            <a:avLst/>
          </a:prstGeom>
          <a:noFill/>
          <a:ln/>
        </p:spPr>
        <p:txBody>
          <a:bodyPr wrap="square" lIns="0" tIns="0" rIns="0" bIns="0" rtlCol="0" anchor="ctr"/>
          <a:lstStyle/>
          <a:p>
            <a:pPr>
              <a:lnSpc>
                <a:spcPct val="120000"/>
              </a:lnSpc>
            </a:pPr>
            <a:r>
              <a:rPr lang="en-US" sz="1438" b="1" dirty="0">
                <a:solidFill>
                  <a:srgbClr val="E8EAED"/>
                </a:solidFill>
                <a:latin typeface="Liter" pitchFamily="34" charset="0"/>
                <a:ea typeface="Liter" pitchFamily="34" charset="-122"/>
                <a:cs typeface="Liter" pitchFamily="34" charset="-120"/>
              </a:rPr>
              <a:t>What is mTLS?</a:t>
            </a:r>
            <a:endParaRPr lang="en-US" sz="1600" dirty="0"/>
          </a:p>
        </p:txBody>
      </p:sp>
      <p:sp>
        <p:nvSpPr>
          <p:cNvPr id="8" name="Text 6"/>
          <p:cNvSpPr/>
          <p:nvPr/>
        </p:nvSpPr>
        <p:spPr>
          <a:xfrm>
            <a:off x="555261" y="1870360"/>
            <a:ext cx="5351694" cy="712342"/>
          </a:xfrm>
          <a:prstGeom prst="rect">
            <a:avLst/>
          </a:prstGeom>
          <a:noFill/>
          <a:ln/>
        </p:spPr>
        <p:txBody>
          <a:bodyPr wrap="square" lIns="0" tIns="0" rIns="0" bIns="0" rtlCol="0" anchor="ctr"/>
          <a:lstStyle/>
          <a:p>
            <a:pPr>
              <a:lnSpc>
                <a:spcPct val="140000"/>
              </a:lnSpc>
            </a:pPr>
            <a:r>
              <a:rPr lang="en-US" sz="1151" b="1" dirty="0">
                <a:solidFill>
                  <a:srgbClr val="F47C20"/>
                </a:solidFill>
                <a:latin typeface="Liter" pitchFamily="34" charset="0"/>
                <a:ea typeface="Liter" pitchFamily="34" charset="-122"/>
                <a:cs typeface="Liter" pitchFamily="34" charset="-120"/>
              </a:rPr>
              <a:t>Mutual TLS (mTLS)</a:t>
            </a:r>
            <a:pPr>
              <a:lnSpc>
                <a:spcPct val="140000"/>
              </a:lnSpc>
            </a:pPr>
            <a:r>
              <a:rPr lang="en-US" sz="1151" dirty="0">
                <a:solidFill>
                  <a:srgbClr val="E8EAED">
                    <a:alpha val="80000"/>
                  </a:srgbClr>
                </a:solidFill>
                <a:latin typeface="Liter" pitchFamily="34" charset="0"/>
                <a:ea typeface="Liter" pitchFamily="34" charset="-122"/>
                <a:cs typeface="Liter" pitchFamily="34" charset="-120"/>
              </a:rPr>
              <a:t> is a method of authentication where both the client and server present and verify certificates. Unlike standard TLS (HTTPS), where only the server proves its identity, mTLS requires the client to also prove its identity.</a:t>
            </a:r>
            <a:endParaRPr lang="en-US" sz="1600" dirty="0"/>
          </a:p>
        </p:txBody>
      </p:sp>
      <p:sp>
        <p:nvSpPr>
          <p:cNvPr id="9" name="Shape 7"/>
          <p:cNvSpPr/>
          <p:nvPr/>
        </p:nvSpPr>
        <p:spPr>
          <a:xfrm>
            <a:off x="555261" y="2692293"/>
            <a:ext cx="5278634" cy="1497744"/>
          </a:xfrm>
          <a:custGeom>
            <a:avLst/>
            <a:gdLst/>
            <a:ahLst/>
            <a:cxnLst/>
            <a:rect l="l" t="t" r="r" b="b"/>
            <a:pathLst>
              <a:path w="5278634" h="1497744">
                <a:moveTo>
                  <a:pt x="73060" y="0"/>
                </a:moveTo>
                <a:lnTo>
                  <a:pt x="5205574" y="0"/>
                </a:lnTo>
                <a:cubicBezTo>
                  <a:pt x="5245924" y="0"/>
                  <a:pt x="5278634" y="32710"/>
                  <a:pt x="5278634" y="73060"/>
                </a:cubicBezTo>
                <a:lnTo>
                  <a:pt x="5278634" y="1424684"/>
                </a:lnTo>
                <a:cubicBezTo>
                  <a:pt x="5278634" y="1465034"/>
                  <a:pt x="5245924" y="1497744"/>
                  <a:pt x="5205574" y="1497744"/>
                </a:cubicBezTo>
                <a:lnTo>
                  <a:pt x="73060" y="1497744"/>
                </a:lnTo>
                <a:cubicBezTo>
                  <a:pt x="32710" y="1497744"/>
                  <a:pt x="0" y="1465034"/>
                  <a:pt x="0" y="1424684"/>
                </a:cubicBezTo>
                <a:lnTo>
                  <a:pt x="0" y="73060"/>
                </a:lnTo>
                <a:cubicBezTo>
                  <a:pt x="0" y="32737"/>
                  <a:pt x="32737" y="0"/>
                  <a:pt x="73060" y="0"/>
                </a:cubicBezTo>
                <a:close/>
              </a:path>
            </a:pathLst>
          </a:custGeom>
          <a:solidFill>
            <a:srgbClr val="1A1D21">
              <a:alpha val="50196"/>
            </a:srgbClr>
          </a:solidFill>
          <a:ln/>
        </p:spPr>
      </p:sp>
      <p:sp>
        <p:nvSpPr>
          <p:cNvPr id="10" name="Text 8"/>
          <p:cNvSpPr/>
          <p:nvPr/>
        </p:nvSpPr>
        <p:spPr>
          <a:xfrm>
            <a:off x="664852" y="2801884"/>
            <a:ext cx="5132512" cy="219182"/>
          </a:xfrm>
          <a:prstGeom prst="rect">
            <a:avLst/>
          </a:prstGeom>
          <a:noFill/>
          <a:ln/>
        </p:spPr>
        <p:txBody>
          <a:bodyPr wrap="square" lIns="0" tIns="0" rIns="0" bIns="0" rtlCol="0" anchor="ctr"/>
          <a:lstStyle/>
          <a:p>
            <a:pPr>
              <a:lnSpc>
                <a:spcPct val="130000"/>
              </a:lnSpc>
            </a:pPr>
            <a:r>
              <a:rPr lang="en-US" sz="1151" b="1" dirty="0">
                <a:solidFill>
                  <a:srgbClr val="E8EAED"/>
                </a:solidFill>
                <a:latin typeface="Liter" pitchFamily="34" charset="0"/>
                <a:ea typeface="Liter" pitchFamily="34" charset="-122"/>
                <a:cs typeface="Liter" pitchFamily="34" charset="-120"/>
              </a:rPr>
              <a:t>How It Works with Cloudflare:</a:t>
            </a:r>
            <a:endParaRPr lang="en-US" sz="1600" dirty="0"/>
          </a:p>
        </p:txBody>
      </p:sp>
      <p:sp>
        <p:nvSpPr>
          <p:cNvPr id="11" name="Text 9"/>
          <p:cNvSpPr/>
          <p:nvPr/>
        </p:nvSpPr>
        <p:spPr>
          <a:xfrm>
            <a:off x="664852" y="3094127"/>
            <a:ext cx="5132512" cy="986319"/>
          </a:xfrm>
          <a:prstGeom prst="rect">
            <a:avLst/>
          </a:prstGeom>
          <a:noFill/>
          <a:ln/>
        </p:spPr>
        <p:txBody>
          <a:bodyPr wrap="square" lIns="0" tIns="0" rIns="0" bIns="0" rtlCol="0" anchor="ctr"/>
          <a:lstStyle/>
          <a:p>
            <a:pPr marL="254000" indent="-254000">
              <a:lnSpc>
                <a:spcPct val="130000"/>
              </a:lnSpc>
              <a:spcBef>
                <a:spcPts val="10"/>
              </a:spcBef>
              <a:buSzPct val="100000"/>
              <a:buFont typeface="+mj-lt"/>
              <a:buAutoNum type="arabicPeriod" startAt="1"/>
            </a:pPr>
            <a:r>
              <a:rPr lang="en-US" sz="1151" dirty="0">
                <a:solidFill>
                  <a:srgbClr val="E8EAED">
                    <a:alpha val="80000"/>
                  </a:srgbClr>
                </a:solidFill>
                <a:latin typeface="Liter" pitchFamily="34" charset="0"/>
                <a:ea typeface="Liter" pitchFamily="34" charset="-122"/>
                <a:cs typeface="Liter" pitchFamily="34" charset="-120"/>
              </a:rPr>
              <a:t>Cloudflare presents a client certificate to your origin</a:t>
            </a:r>
            <a:endParaRPr lang="en-US" sz="1600" dirty="0"/>
          </a:p>
          <a:p>
            <a:pPr marL="254000" indent="-254000">
              <a:lnSpc>
                <a:spcPct val="130000"/>
              </a:lnSpc>
              <a:spcBef>
                <a:spcPts val="10"/>
              </a:spcBef>
              <a:buSzPct val="100000"/>
              <a:buFont typeface="+mj-lt"/>
              <a:buAutoNum type="arabicPeriod" startAt="1"/>
            </a:pPr>
            <a:r>
              <a:rPr lang="en-US" sz="1151" dirty="0">
                <a:solidFill>
                  <a:srgbClr val="E8EAED">
                    <a:alpha val="80000"/>
                  </a:srgbClr>
                </a:solidFill>
                <a:latin typeface="Liter" pitchFamily="34" charset="0"/>
                <a:ea typeface="Liter" pitchFamily="34" charset="-122"/>
                <a:cs typeface="Liter" pitchFamily="34" charset="-120"/>
              </a:rPr>
              <a:t>Your origin verifies the certificate against a trusted CA</a:t>
            </a:r>
            <a:endParaRPr lang="en-US" sz="1600" dirty="0"/>
          </a:p>
          <a:p>
            <a:pPr marL="254000" indent="-254000">
              <a:lnSpc>
                <a:spcPct val="130000"/>
              </a:lnSpc>
              <a:spcBef>
                <a:spcPts val="10"/>
              </a:spcBef>
              <a:buSzPct val="100000"/>
              <a:buFont typeface="+mj-lt"/>
              <a:buAutoNum type="arabicPeriod" startAt="1"/>
            </a:pPr>
            <a:r>
              <a:rPr lang="en-US" sz="1151" dirty="0">
                <a:solidFill>
                  <a:srgbClr val="E8EAED">
                    <a:alpha val="80000"/>
                  </a:srgbClr>
                </a:solidFill>
                <a:latin typeface="Liter" pitchFamily="34" charset="0"/>
                <a:ea typeface="Liter" pitchFamily="34" charset="-122"/>
                <a:cs typeface="Liter" pitchFamily="34" charset="-120"/>
              </a:rPr>
              <a:t>If valid, the connection is established</a:t>
            </a:r>
            <a:endParaRPr lang="en-US" sz="1600" dirty="0"/>
          </a:p>
          <a:p>
            <a:pPr marL="254000" indent="-254000">
              <a:lnSpc>
                <a:spcPct val="130000"/>
              </a:lnSpc>
              <a:spcBef>
                <a:spcPts val="10"/>
              </a:spcBef>
              <a:buSzPct val="100000"/>
              <a:buFont typeface="+mj-lt"/>
              <a:buAutoNum type="arabicPeriod" startAt="1"/>
            </a:pPr>
            <a:r>
              <a:rPr lang="en-US" sz="1151" dirty="0">
                <a:solidFill>
                  <a:srgbClr val="E8EAED">
                    <a:alpha val="80000"/>
                  </a:srgbClr>
                </a:solidFill>
                <a:latin typeface="Liter" pitchFamily="34" charset="0"/>
                <a:ea typeface="Liter" pitchFamily="34" charset="-122"/>
                <a:cs typeface="Liter" pitchFamily="34" charset="-120"/>
              </a:rPr>
              <a:t>If invalid, the connection is rejected (400 Bad Request)</a:t>
            </a:r>
            <a:endParaRPr lang="en-US" sz="1600" dirty="0"/>
          </a:p>
        </p:txBody>
      </p:sp>
      <p:sp>
        <p:nvSpPr>
          <p:cNvPr id="12" name="Shape 10"/>
          <p:cNvSpPr/>
          <p:nvPr/>
        </p:nvSpPr>
        <p:spPr>
          <a:xfrm>
            <a:off x="368956" y="4529767"/>
            <a:ext cx="5651243" cy="1541580"/>
          </a:xfrm>
          <a:custGeom>
            <a:avLst/>
            <a:gdLst/>
            <a:ahLst/>
            <a:cxnLst/>
            <a:rect l="l" t="t" r="r" b="b"/>
            <a:pathLst>
              <a:path w="5651243" h="1541580">
                <a:moveTo>
                  <a:pt x="109591" y="0"/>
                </a:moveTo>
                <a:lnTo>
                  <a:pt x="5541652" y="0"/>
                </a:lnTo>
                <a:cubicBezTo>
                  <a:pt x="5602178" y="0"/>
                  <a:pt x="5651243" y="49066"/>
                  <a:pt x="5651243" y="109591"/>
                </a:cubicBezTo>
                <a:lnTo>
                  <a:pt x="5651243" y="1431989"/>
                </a:lnTo>
                <a:cubicBezTo>
                  <a:pt x="5651243" y="1492515"/>
                  <a:pt x="5602178" y="1541580"/>
                  <a:pt x="5541652" y="1541580"/>
                </a:cubicBezTo>
                <a:lnTo>
                  <a:pt x="109591" y="1541580"/>
                </a:lnTo>
                <a:cubicBezTo>
                  <a:pt x="49066" y="1541580"/>
                  <a:pt x="0" y="1492515"/>
                  <a:pt x="0" y="1431989"/>
                </a:cubicBezTo>
                <a:lnTo>
                  <a:pt x="0" y="109591"/>
                </a:lnTo>
                <a:cubicBezTo>
                  <a:pt x="0" y="49106"/>
                  <a:pt x="49106" y="0"/>
                  <a:pt x="109591" y="0"/>
                </a:cubicBezTo>
                <a:close/>
              </a:path>
            </a:pathLst>
          </a:custGeom>
          <a:solidFill>
            <a:srgbClr val="F47C20">
              <a:alpha val="10196"/>
            </a:srgbClr>
          </a:solidFill>
          <a:ln w="10160">
            <a:solidFill>
              <a:srgbClr val="F47C20">
                <a:alpha val="30196"/>
              </a:srgbClr>
            </a:solidFill>
            <a:prstDash val="solid"/>
          </a:ln>
        </p:spPr>
      </p:sp>
      <p:sp>
        <p:nvSpPr>
          <p:cNvPr id="13" name="Shape 11"/>
          <p:cNvSpPr/>
          <p:nvPr/>
        </p:nvSpPr>
        <p:spPr>
          <a:xfrm>
            <a:off x="578093" y="4752600"/>
            <a:ext cx="182652" cy="182652"/>
          </a:xfrm>
          <a:custGeom>
            <a:avLst/>
            <a:gdLst/>
            <a:ahLst/>
            <a:cxnLst/>
            <a:rect l="l" t="t" r="r" b="b"/>
            <a:pathLst>
              <a:path w="182652" h="182652">
                <a:moveTo>
                  <a:pt x="91326" y="182652"/>
                </a:moveTo>
                <a:cubicBezTo>
                  <a:pt x="141730" y="182652"/>
                  <a:pt x="182652" y="141730"/>
                  <a:pt x="182652" y="91326"/>
                </a:cubicBezTo>
                <a:cubicBezTo>
                  <a:pt x="182652" y="40922"/>
                  <a:pt x="141730" y="0"/>
                  <a:pt x="91326" y="0"/>
                </a:cubicBezTo>
                <a:cubicBezTo>
                  <a:pt x="40922" y="0"/>
                  <a:pt x="0" y="40922"/>
                  <a:pt x="0" y="91326"/>
                </a:cubicBezTo>
                <a:cubicBezTo>
                  <a:pt x="0" y="141730"/>
                  <a:pt x="40922" y="182652"/>
                  <a:pt x="91326" y="182652"/>
                </a:cubicBezTo>
                <a:close/>
                <a:moveTo>
                  <a:pt x="82764" y="122719"/>
                </a:moveTo>
                <a:lnTo>
                  <a:pt x="82764" y="99888"/>
                </a:lnTo>
                <a:lnTo>
                  <a:pt x="59933" y="99888"/>
                </a:lnTo>
                <a:cubicBezTo>
                  <a:pt x="55188" y="99888"/>
                  <a:pt x="51371" y="96071"/>
                  <a:pt x="51371" y="91326"/>
                </a:cubicBezTo>
                <a:cubicBezTo>
                  <a:pt x="51371" y="86581"/>
                  <a:pt x="55188" y="82764"/>
                  <a:pt x="59933" y="82764"/>
                </a:cubicBezTo>
                <a:lnTo>
                  <a:pt x="82764" y="82764"/>
                </a:lnTo>
                <a:lnTo>
                  <a:pt x="82764" y="59933"/>
                </a:lnTo>
                <a:cubicBezTo>
                  <a:pt x="82764" y="55188"/>
                  <a:pt x="86581" y="51371"/>
                  <a:pt x="91326" y="51371"/>
                </a:cubicBezTo>
                <a:cubicBezTo>
                  <a:pt x="96071" y="51371"/>
                  <a:pt x="99888" y="55188"/>
                  <a:pt x="99888" y="59933"/>
                </a:cubicBezTo>
                <a:lnTo>
                  <a:pt x="99888" y="82764"/>
                </a:lnTo>
                <a:lnTo>
                  <a:pt x="122719" y="82764"/>
                </a:lnTo>
                <a:cubicBezTo>
                  <a:pt x="127464" y="82764"/>
                  <a:pt x="131281" y="86581"/>
                  <a:pt x="131281" y="91326"/>
                </a:cubicBezTo>
                <a:cubicBezTo>
                  <a:pt x="131281" y="96071"/>
                  <a:pt x="127464" y="99888"/>
                  <a:pt x="122719" y="99888"/>
                </a:cubicBezTo>
                <a:lnTo>
                  <a:pt x="99888" y="99888"/>
                </a:lnTo>
                <a:lnTo>
                  <a:pt x="99888" y="122719"/>
                </a:lnTo>
                <a:cubicBezTo>
                  <a:pt x="99888" y="127464"/>
                  <a:pt x="96071" y="131281"/>
                  <a:pt x="91326" y="131281"/>
                </a:cubicBezTo>
                <a:cubicBezTo>
                  <a:pt x="86581" y="131281"/>
                  <a:pt x="82764" y="127464"/>
                  <a:pt x="82764" y="122719"/>
                </a:cubicBezTo>
                <a:close/>
              </a:path>
            </a:pathLst>
          </a:custGeom>
          <a:solidFill>
            <a:srgbClr val="F47C20"/>
          </a:solidFill>
          <a:ln/>
        </p:spPr>
      </p:sp>
      <p:sp>
        <p:nvSpPr>
          <p:cNvPr id="14" name="Text 12"/>
          <p:cNvSpPr/>
          <p:nvPr/>
        </p:nvSpPr>
        <p:spPr>
          <a:xfrm>
            <a:off x="893167" y="4716070"/>
            <a:ext cx="2703245" cy="255712"/>
          </a:xfrm>
          <a:prstGeom prst="rect">
            <a:avLst/>
          </a:prstGeom>
          <a:noFill/>
          <a:ln/>
        </p:spPr>
        <p:txBody>
          <a:bodyPr wrap="square" lIns="0" tIns="0" rIns="0" bIns="0" rtlCol="0" anchor="ctr"/>
          <a:lstStyle/>
          <a:p>
            <a:pPr>
              <a:lnSpc>
                <a:spcPct val="130000"/>
              </a:lnSpc>
            </a:pPr>
            <a:r>
              <a:rPr lang="en-US" sz="1294" b="1" dirty="0">
                <a:solidFill>
                  <a:srgbClr val="E8EAED"/>
                </a:solidFill>
                <a:latin typeface="Liter" pitchFamily="34" charset="0"/>
                <a:ea typeface="Liter" pitchFamily="34" charset="-122"/>
                <a:cs typeface="Liter" pitchFamily="34" charset="-120"/>
              </a:rPr>
              <a:t>Why Use mTLS with IP Restrictions?</a:t>
            </a:r>
            <a:endParaRPr lang="en-US" sz="1600" dirty="0"/>
          </a:p>
        </p:txBody>
      </p:sp>
      <p:sp>
        <p:nvSpPr>
          <p:cNvPr id="15" name="Shape 13"/>
          <p:cNvSpPr/>
          <p:nvPr/>
        </p:nvSpPr>
        <p:spPr>
          <a:xfrm>
            <a:off x="582659" y="5117904"/>
            <a:ext cx="127856" cy="146121"/>
          </a:xfrm>
          <a:custGeom>
            <a:avLst/>
            <a:gdLst/>
            <a:ahLst/>
            <a:cxnLst/>
            <a:rect l="l" t="t" r="r" b="b"/>
            <a:pathLst>
              <a:path w="127856" h="146121">
                <a:moveTo>
                  <a:pt x="124089" y="20006"/>
                </a:moveTo>
                <a:cubicBezTo>
                  <a:pt x="128170" y="22974"/>
                  <a:pt x="129083" y="28682"/>
                  <a:pt x="126115" y="32763"/>
                </a:cubicBezTo>
                <a:lnTo>
                  <a:pt x="53055" y="133222"/>
                </a:lnTo>
                <a:cubicBezTo>
                  <a:pt x="51485" y="135391"/>
                  <a:pt x="49059" y="136732"/>
                  <a:pt x="46376" y="136960"/>
                </a:cubicBezTo>
                <a:cubicBezTo>
                  <a:pt x="43694" y="137189"/>
                  <a:pt x="41097" y="136190"/>
                  <a:pt x="39213" y="134306"/>
                </a:cubicBezTo>
                <a:lnTo>
                  <a:pt x="2683" y="97776"/>
                </a:lnTo>
                <a:cubicBezTo>
                  <a:pt x="-885" y="94208"/>
                  <a:pt x="-885" y="88415"/>
                  <a:pt x="2683" y="84847"/>
                </a:cubicBezTo>
                <a:cubicBezTo>
                  <a:pt x="6250" y="81280"/>
                  <a:pt x="12044" y="81280"/>
                  <a:pt x="15611" y="84847"/>
                </a:cubicBezTo>
                <a:lnTo>
                  <a:pt x="44578" y="113815"/>
                </a:lnTo>
                <a:lnTo>
                  <a:pt x="111360" y="22004"/>
                </a:lnTo>
                <a:cubicBezTo>
                  <a:pt x="114329" y="17923"/>
                  <a:pt x="120036" y="17009"/>
                  <a:pt x="124118" y="19978"/>
                </a:cubicBezTo>
                <a:close/>
              </a:path>
            </a:pathLst>
          </a:custGeom>
          <a:solidFill>
            <a:srgbClr val="F47C20"/>
          </a:solidFill>
          <a:ln/>
        </p:spPr>
      </p:sp>
      <p:sp>
        <p:nvSpPr>
          <p:cNvPr id="16" name="Text 14"/>
          <p:cNvSpPr/>
          <p:nvPr/>
        </p:nvSpPr>
        <p:spPr>
          <a:xfrm>
            <a:off x="810974" y="5081373"/>
            <a:ext cx="3123344" cy="219182"/>
          </a:xfrm>
          <a:prstGeom prst="rect">
            <a:avLst/>
          </a:prstGeom>
          <a:noFill/>
          <a:ln/>
        </p:spPr>
        <p:txBody>
          <a:bodyPr wrap="square" lIns="0" tIns="0" rIns="0" bIns="0" rtlCol="0" anchor="ctr"/>
          <a:lstStyle/>
          <a:p>
            <a:pPr>
              <a:lnSpc>
                <a:spcPct val="130000"/>
              </a:lnSpc>
            </a:pPr>
            <a:r>
              <a:rPr lang="en-US" sz="1151" b="1" dirty="0">
                <a:solidFill>
                  <a:srgbClr val="E8EAED">
                    <a:alpha val="80000"/>
                  </a:srgbClr>
                </a:solidFill>
                <a:latin typeface="Liter" pitchFamily="34" charset="0"/>
                <a:ea typeface="Liter" pitchFamily="34" charset="-122"/>
                <a:cs typeface="Liter" pitchFamily="34" charset="-120"/>
              </a:rPr>
              <a:t>Defense in Depth:</a:t>
            </a:r>
            <a:pPr>
              <a:lnSpc>
                <a:spcPct val="130000"/>
              </a:lnSpc>
            </a:pPr>
            <a:r>
              <a:rPr lang="en-US" sz="1151" dirty="0">
                <a:solidFill>
                  <a:srgbClr val="E8EAED">
                    <a:alpha val="80000"/>
                  </a:srgbClr>
                </a:solidFill>
                <a:latin typeface="Liter" pitchFamily="34" charset="0"/>
                <a:ea typeface="Liter" pitchFamily="34" charset="-122"/>
                <a:cs typeface="Liter" pitchFamily="34" charset="-120"/>
              </a:rPr>
              <a:t> IP + certificate authentication</a:t>
            </a:r>
            <a:endParaRPr lang="en-US" sz="1600" dirty="0"/>
          </a:p>
        </p:txBody>
      </p:sp>
      <p:sp>
        <p:nvSpPr>
          <p:cNvPr id="17" name="Shape 15"/>
          <p:cNvSpPr/>
          <p:nvPr/>
        </p:nvSpPr>
        <p:spPr>
          <a:xfrm>
            <a:off x="582659" y="5410146"/>
            <a:ext cx="127856" cy="146121"/>
          </a:xfrm>
          <a:custGeom>
            <a:avLst/>
            <a:gdLst/>
            <a:ahLst/>
            <a:cxnLst/>
            <a:rect l="l" t="t" r="r" b="b"/>
            <a:pathLst>
              <a:path w="127856" h="146121">
                <a:moveTo>
                  <a:pt x="124089" y="20006"/>
                </a:moveTo>
                <a:cubicBezTo>
                  <a:pt x="128170" y="22974"/>
                  <a:pt x="129083" y="28682"/>
                  <a:pt x="126115" y="32763"/>
                </a:cubicBezTo>
                <a:lnTo>
                  <a:pt x="53055" y="133222"/>
                </a:lnTo>
                <a:cubicBezTo>
                  <a:pt x="51485" y="135391"/>
                  <a:pt x="49059" y="136732"/>
                  <a:pt x="46376" y="136960"/>
                </a:cubicBezTo>
                <a:cubicBezTo>
                  <a:pt x="43694" y="137189"/>
                  <a:pt x="41097" y="136190"/>
                  <a:pt x="39213" y="134306"/>
                </a:cubicBezTo>
                <a:lnTo>
                  <a:pt x="2683" y="97776"/>
                </a:lnTo>
                <a:cubicBezTo>
                  <a:pt x="-885" y="94208"/>
                  <a:pt x="-885" y="88415"/>
                  <a:pt x="2683" y="84847"/>
                </a:cubicBezTo>
                <a:cubicBezTo>
                  <a:pt x="6250" y="81280"/>
                  <a:pt x="12044" y="81280"/>
                  <a:pt x="15611" y="84847"/>
                </a:cubicBezTo>
                <a:lnTo>
                  <a:pt x="44578" y="113815"/>
                </a:lnTo>
                <a:lnTo>
                  <a:pt x="111360" y="22004"/>
                </a:lnTo>
                <a:cubicBezTo>
                  <a:pt x="114329" y="17923"/>
                  <a:pt x="120036" y="17009"/>
                  <a:pt x="124118" y="19978"/>
                </a:cubicBezTo>
                <a:close/>
              </a:path>
            </a:pathLst>
          </a:custGeom>
          <a:solidFill>
            <a:srgbClr val="F47C20"/>
          </a:solidFill>
          <a:ln/>
        </p:spPr>
      </p:sp>
      <p:sp>
        <p:nvSpPr>
          <p:cNvPr id="18" name="Text 16"/>
          <p:cNvSpPr/>
          <p:nvPr/>
        </p:nvSpPr>
        <p:spPr>
          <a:xfrm>
            <a:off x="810974" y="5373616"/>
            <a:ext cx="3315128" cy="219182"/>
          </a:xfrm>
          <a:prstGeom prst="rect">
            <a:avLst/>
          </a:prstGeom>
          <a:noFill/>
          <a:ln/>
        </p:spPr>
        <p:txBody>
          <a:bodyPr wrap="square" lIns="0" tIns="0" rIns="0" bIns="0" rtlCol="0" anchor="ctr"/>
          <a:lstStyle/>
          <a:p>
            <a:pPr>
              <a:lnSpc>
                <a:spcPct val="130000"/>
              </a:lnSpc>
            </a:pPr>
            <a:r>
              <a:rPr lang="en-US" sz="1151" b="1" dirty="0">
                <a:solidFill>
                  <a:srgbClr val="E8EAED">
                    <a:alpha val="80000"/>
                  </a:srgbClr>
                </a:solidFill>
                <a:latin typeface="Liter" pitchFamily="34" charset="0"/>
                <a:ea typeface="Liter" pitchFamily="34" charset="-122"/>
                <a:cs typeface="Liter" pitchFamily="34" charset="-120"/>
              </a:rPr>
              <a:t>IP Spoofing Protection:</a:t>
            </a:r>
            <a:pPr>
              <a:lnSpc>
                <a:spcPct val="130000"/>
              </a:lnSpc>
            </a:pPr>
            <a:r>
              <a:rPr lang="en-US" sz="1151" dirty="0">
                <a:solidFill>
                  <a:srgbClr val="E8EAED">
                    <a:alpha val="80000"/>
                  </a:srgbClr>
                </a:solidFill>
                <a:latin typeface="Liter" pitchFamily="34" charset="0"/>
                <a:ea typeface="Liter" pitchFamily="34" charset="-122"/>
                <a:cs typeface="Liter" pitchFamily="34" charset="-120"/>
              </a:rPr>
              <a:t> Certificates harder to forge</a:t>
            </a:r>
            <a:endParaRPr lang="en-US" sz="1600" dirty="0"/>
          </a:p>
        </p:txBody>
      </p:sp>
      <p:sp>
        <p:nvSpPr>
          <p:cNvPr id="19" name="Shape 17"/>
          <p:cNvSpPr/>
          <p:nvPr/>
        </p:nvSpPr>
        <p:spPr>
          <a:xfrm>
            <a:off x="582659" y="5702389"/>
            <a:ext cx="127856" cy="146121"/>
          </a:xfrm>
          <a:custGeom>
            <a:avLst/>
            <a:gdLst/>
            <a:ahLst/>
            <a:cxnLst/>
            <a:rect l="l" t="t" r="r" b="b"/>
            <a:pathLst>
              <a:path w="127856" h="146121">
                <a:moveTo>
                  <a:pt x="124089" y="20006"/>
                </a:moveTo>
                <a:cubicBezTo>
                  <a:pt x="128170" y="22974"/>
                  <a:pt x="129083" y="28682"/>
                  <a:pt x="126115" y="32763"/>
                </a:cubicBezTo>
                <a:lnTo>
                  <a:pt x="53055" y="133222"/>
                </a:lnTo>
                <a:cubicBezTo>
                  <a:pt x="51485" y="135391"/>
                  <a:pt x="49059" y="136732"/>
                  <a:pt x="46376" y="136960"/>
                </a:cubicBezTo>
                <a:cubicBezTo>
                  <a:pt x="43694" y="137189"/>
                  <a:pt x="41097" y="136190"/>
                  <a:pt x="39213" y="134306"/>
                </a:cubicBezTo>
                <a:lnTo>
                  <a:pt x="2683" y="97776"/>
                </a:lnTo>
                <a:cubicBezTo>
                  <a:pt x="-885" y="94208"/>
                  <a:pt x="-885" y="88415"/>
                  <a:pt x="2683" y="84847"/>
                </a:cubicBezTo>
                <a:cubicBezTo>
                  <a:pt x="6250" y="81280"/>
                  <a:pt x="12044" y="81280"/>
                  <a:pt x="15611" y="84847"/>
                </a:cubicBezTo>
                <a:lnTo>
                  <a:pt x="44578" y="113815"/>
                </a:lnTo>
                <a:lnTo>
                  <a:pt x="111360" y="22004"/>
                </a:lnTo>
                <a:cubicBezTo>
                  <a:pt x="114329" y="17923"/>
                  <a:pt x="120036" y="17009"/>
                  <a:pt x="124118" y="19978"/>
                </a:cubicBezTo>
                <a:close/>
              </a:path>
            </a:pathLst>
          </a:custGeom>
          <a:solidFill>
            <a:srgbClr val="F47C20"/>
          </a:solidFill>
          <a:ln/>
        </p:spPr>
      </p:sp>
      <p:sp>
        <p:nvSpPr>
          <p:cNvPr id="20" name="Text 18"/>
          <p:cNvSpPr/>
          <p:nvPr/>
        </p:nvSpPr>
        <p:spPr>
          <a:xfrm>
            <a:off x="810974" y="5665859"/>
            <a:ext cx="3242067" cy="219182"/>
          </a:xfrm>
          <a:prstGeom prst="rect">
            <a:avLst/>
          </a:prstGeom>
          <a:noFill/>
          <a:ln/>
        </p:spPr>
        <p:txBody>
          <a:bodyPr wrap="square" lIns="0" tIns="0" rIns="0" bIns="0" rtlCol="0" anchor="ctr"/>
          <a:lstStyle/>
          <a:p>
            <a:pPr>
              <a:lnSpc>
                <a:spcPct val="130000"/>
              </a:lnSpc>
            </a:pPr>
            <a:r>
              <a:rPr lang="en-US" sz="1151" b="1" dirty="0">
                <a:solidFill>
                  <a:srgbClr val="E8EAED">
                    <a:alpha val="80000"/>
                  </a:srgbClr>
                </a:solidFill>
                <a:latin typeface="Liter" pitchFamily="34" charset="0"/>
                <a:ea typeface="Liter" pitchFamily="34" charset="-122"/>
                <a:cs typeface="Liter" pitchFamily="34" charset="-120"/>
              </a:rPr>
              <a:t>Compliance:</a:t>
            </a:r>
            <a:pPr>
              <a:lnSpc>
                <a:spcPct val="130000"/>
              </a:lnSpc>
            </a:pPr>
            <a:r>
              <a:rPr lang="en-US" sz="1151" dirty="0">
                <a:solidFill>
                  <a:srgbClr val="E8EAED">
                    <a:alpha val="80000"/>
                  </a:srgbClr>
                </a:solidFill>
                <a:latin typeface="Liter" pitchFamily="34" charset="0"/>
                <a:ea typeface="Liter" pitchFamily="34" charset="-122"/>
                <a:cs typeface="Liter" pitchFamily="34" charset="-120"/>
              </a:rPr>
              <a:t> Meets stricter security requirements</a:t>
            </a:r>
            <a:endParaRPr lang="en-US" sz="1600" dirty="0"/>
          </a:p>
        </p:txBody>
      </p:sp>
      <p:sp>
        <p:nvSpPr>
          <p:cNvPr id="21" name="Shape 19"/>
          <p:cNvSpPr/>
          <p:nvPr/>
        </p:nvSpPr>
        <p:spPr>
          <a:xfrm>
            <a:off x="6173170" y="1172624"/>
            <a:ext cx="5651243" cy="3623809"/>
          </a:xfrm>
          <a:custGeom>
            <a:avLst/>
            <a:gdLst/>
            <a:ahLst/>
            <a:cxnLst/>
            <a:rect l="l" t="t" r="r" b="b"/>
            <a:pathLst>
              <a:path w="5651243" h="3623809">
                <a:moveTo>
                  <a:pt x="109584" y="0"/>
                </a:moveTo>
                <a:lnTo>
                  <a:pt x="5541659" y="0"/>
                </a:lnTo>
                <a:cubicBezTo>
                  <a:pt x="5602181" y="0"/>
                  <a:pt x="5651243" y="49062"/>
                  <a:pt x="5651243" y="109584"/>
                </a:cubicBezTo>
                <a:lnTo>
                  <a:pt x="5651243" y="3514225"/>
                </a:lnTo>
                <a:cubicBezTo>
                  <a:pt x="5651243" y="3574747"/>
                  <a:pt x="5602181" y="3623809"/>
                  <a:pt x="5541659" y="3623809"/>
                </a:cubicBezTo>
                <a:lnTo>
                  <a:pt x="109584" y="3623809"/>
                </a:lnTo>
                <a:cubicBezTo>
                  <a:pt x="49062" y="3623809"/>
                  <a:pt x="0" y="3574747"/>
                  <a:pt x="0" y="3514225"/>
                </a:cubicBezTo>
                <a:lnTo>
                  <a:pt x="0" y="109584"/>
                </a:lnTo>
                <a:cubicBezTo>
                  <a:pt x="0" y="49103"/>
                  <a:pt x="49103" y="0"/>
                  <a:pt x="109584" y="0"/>
                </a:cubicBezTo>
                <a:close/>
              </a:path>
            </a:pathLst>
          </a:custGeom>
          <a:solidFill>
            <a:srgbClr val="48515E">
              <a:alpha val="20000"/>
            </a:srgbClr>
          </a:solidFill>
          <a:ln w="10160">
            <a:solidFill>
              <a:srgbClr val="48515E">
                <a:alpha val="40000"/>
              </a:srgbClr>
            </a:solidFill>
            <a:prstDash val="solid"/>
          </a:ln>
        </p:spPr>
      </p:sp>
      <p:sp>
        <p:nvSpPr>
          <p:cNvPr id="22" name="Shape 20"/>
          <p:cNvSpPr/>
          <p:nvPr/>
        </p:nvSpPr>
        <p:spPr>
          <a:xfrm>
            <a:off x="6359475" y="1358936"/>
            <a:ext cx="365303" cy="365303"/>
          </a:xfrm>
          <a:custGeom>
            <a:avLst/>
            <a:gdLst/>
            <a:ahLst/>
            <a:cxnLst/>
            <a:rect l="l" t="t" r="r" b="b"/>
            <a:pathLst>
              <a:path w="365303" h="365303">
                <a:moveTo>
                  <a:pt x="73061" y="0"/>
                </a:moveTo>
                <a:lnTo>
                  <a:pt x="292243" y="0"/>
                </a:lnTo>
                <a:cubicBezTo>
                  <a:pt x="332566" y="0"/>
                  <a:pt x="365303" y="32737"/>
                  <a:pt x="365303" y="73061"/>
                </a:cubicBezTo>
                <a:lnTo>
                  <a:pt x="365303" y="292243"/>
                </a:lnTo>
                <a:cubicBezTo>
                  <a:pt x="365303" y="332566"/>
                  <a:pt x="332566" y="365303"/>
                  <a:pt x="292243" y="365303"/>
                </a:cubicBezTo>
                <a:lnTo>
                  <a:pt x="73061" y="365303"/>
                </a:lnTo>
                <a:cubicBezTo>
                  <a:pt x="32737" y="365303"/>
                  <a:pt x="0" y="332566"/>
                  <a:pt x="0" y="292243"/>
                </a:cubicBezTo>
                <a:lnTo>
                  <a:pt x="0" y="73061"/>
                </a:lnTo>
                <a:cubicBezTo>
                  <a:pt x="0" y="32737"/>
                  <a:pt x="32737" y="0"/>
                  <a:pt x="73061" y="0"/>
                </a:cubicBezTo>
                <a:close/>
              </a:path>
            </a:pathLst>
          </a:custGeom>
          <a:solidFill>
            <a:srgbClr val="00A4E0">
              <a:alpha val="20000"/>
            </a:srgbClr>
          </a:solidFill>
          <a:ln/>
        </p:spPr>
      </p:sp>
      <p:sp>
        <p:nvSpPr>
          <p:cNvPr id="23" name="Shape 21"/>
          <p:cNvSpPr/>
          <p:nvPr/>
        </p:nvSpPr>
        <p:spPr>
          <a:xfrm>
            <a:off x="6462217" y="1459394"/>
            <a:ext cx="164387" cy="164387"/>
          </a:xfrm>
          <a:custGeom>
            <a:avLst/>
            <a:gdLst/>
            <a:ahLst/>
            <a:cxnLst/>
            <a:rect l="l" t="t" r="r" b="b"/>
            <a:pathLst>
              <a:path w="164387" h="164387">
                <a:moveTo>
                  <a:pt x="42959" y="11655"/>
                </a:moveTo>
                <a:cubicBezTo>
                  <a:pt x="46458" y="14095"/>
                  <a:pt x="47293" y="18911"/>
                  <a:pt x="44853" y="22378"/>
                </a:cubicBezTo>
                <a:lnTo>
                  <a:pt x="26873" y="48064"/>
                </a:lnTo>
                <a:cubicBezTo>
                  <a:pt x="25557" y="49926"/>
                  <a:pt x="23502" y="51114"/>
                  <a:pt x="21223" y="51307"/>
                </a:cubicBezTo>
                <a:cubicBezTo>
                  <a:pt x="18943" y="51499"/>
                  <a:pt x="16696" y="50729"/>
                  <a:pt x="15090" y="49123"/>
                </a:cubicBezTo>
                <a:lnTo>
                  <a:pt x="2247" y="36281"/>
                </a:lnTo>
                <a:cubicBezTo>
                  <a:pt x="-738" y="33263"/>
                  <a:pt x="-738" y="28382"/>
                  <a:pt x="2247" y="25364"/>
                </a:cubicBezTo>
                <a:cubicBezTo>
                  <a:pt x="5233" y="22346"/>
                  <a:pt x="10146" y="22378"/>
                  <a:pt x="13164" y="25364"/>
                </a:cubicBezTo>
                <a:lnTo>
                  <a:pt x="19521" y="31721"/>
                </a:lnTo>
                <a:lnTo>
                  <a:pt x="32235" y="13549"/>
                </a:lnTo>
                <a:cubicBezTo>
                  <a:pt x="34675" y="10049"/>
                  <a:pt x="39491" y="9215"/>
                  <a:pt x="42959" y="11655"/>
                </a:cubicBezTo>
                <a:close/>
                <a:moveTo>
                  <a:pt x="42959" y="63026"/>
                </a:moveTo>
                <a:cubicBezTo>
                  <a:pt x="46458" y="65466"/>
                  <a:pt x="47293" y="70282"/>
                  <a:pt x="44853" y="73749"/>
                </a:cubicBezTo>
                <a:lnTo>
                  <a:pt x="26873" y="99435"/>
                </a:lnTo>
                <a:cubicBezTo>
                  <a:pt x="25557" y="101297"/>
                  <a:pt x="23502" y="102485"/>
                  <a:pt x="21223" y="102677"/>
                </a:cubicBezTo>
                <a:cubicBezTo>
                  <a:pt x="18943" y="102870"/>
                  <a:pt x="16696" y="102099"/>
                  <a:pt x="15090" y="100494"/>
                </a:cubicBezTo>
                <a:lnTo>
                  <a:pt x="2247" y="87651"/>
                </a:lnTo>
                <a:cubicBezTo>
                  <a:pt x="-771" y="84633"/>
                  <a:pt x="-771" y="79753"/>
                  <a:pt x="2247" y="76767"/>
                </a:cubicBezTo>
                <a:cubicBezTo>
                  <a:pt x="5266" y="73781"/>
                  <a:pt x="10146" y="73749"/>
                  <a:pt x="13132" y="76767"/>
                </a:cubicBezTo>
                <a:lnTo>
                  <a:pt x="19489" y="83124"/>
                </a:lnTo>
                <a:lnTo>
                  <a:pt x="32203" y="64952"/>
                </a:lnTo>
                <a:cubicBezTo>
                  <a:pt x="34643" y="61452"/>
                  <a:pt x="39459" y="60618"/>
                  <a:pt x="42927" y="63058"/>
                </a:cubicBezTo>
                <a:close/>
                <a:moveTo>
                  <a:pt x="71919" y="30822"/>
                </a:moveTo>
                <a:cubicBezTo>
                  <a:pt x="71919" y="25140"/>
                  <a:pt x="76510" y="20548"/>
                  <a:pt x="82193" y="20548"/>
                </a:cubicBezTo>
                <a:lnTo>
                  <a:pt x="154112" y="20548"/>
                </a:lnTo>
                <a:cubicBezTo>
                  <a:pt x="159795" y="20548"/>
                  <a:pt x="164387" y="25140"/>
                  <a:pt x="164387" y="30822"/>
                </a:cubicBezTo>
                <a:cubicBezTo>
                  <a:pt x="164387" y="36505"/>
                  <a:pt x="159795" y="41097"/>
                  <a:pt x="154112" y="41097"/>
                </a:cubicBezTo>
                <a:lnTo>
                  <a:pt x="82193" y="41097"/>
                </a:lnTo>
                <a:cubicBezTo>
                  <a:pt x="76510" y="41097"/>
                  <a:pt x="71919" y="36505"/>
                  <a:pt x="71919" y="30822"/>
                </a:cubicBezTo>
                <a:close/>
                <a:moveTo>
                  <a:pt x="71919" y="82193"/>
                </a:moveTo>
                <a:cubicBezTo>
                  <a:pt x="71919" y="76510"/>
                  <a:pt x="76510" y="71919"/>
                  <a:pt x="82193" y="71919"/>
                </a:cubicBezTo>
                <a:lnTo>
                  <a:pt x="154112" y="71919"/>
                </a:lnTo>
                <a:cubicBezTo>
                  <a:pt x="159795" y="71919"/>
                  <a:pt x="164387" y="76510"/>
                  <a:pt x="164387" y="82193"/>
                </a:cubicBezTo>
                <a:cubicBezTo>
                  <a:pt x="164387" y="87876"/>
                  <a:pt x="159795" y="92467"/>
                  <a:pt x="154112" y="92467"/>
                </a:cubicBezTo>
                <a:lnTo>
                  <a:pt x="82193" y="92467"/>
                </a:lnTo>
                <a:cubicBezTo>
                  <a:pt x="76510" y="92467"/>
                  <a:pt x="71919" y="87876"/>
                  <a:pt x="71919" y="82193"/>
                </a:cubicBezTo>
                <a:close/>
                <a:moveTo>
                  <a:pt x="51371" y="133564"/>
                </a:moveTo>
                <a:cubicBezTo>
                  <a:pt x="51371" y="127881"/>
                  <a:pt x="55962" y="123290"/>
                  <a:pt x="61645" y="123290"/>
                </a:cubicBezTo>
                <a:lnTo>
                  <a:pt x="154112" y="123290"/>
                </a:lnTo>
                <a:cubicBezTo>
                  <a:pt x="159795" y="123290"/>
                  <a:pt x="164387" y="127881"/>
                  <a:pt x="164387" y="133564"/>
                </a:cubicBezTo>
                <a:cubicBezTo>
                  <a:pt x="164387" y="139247"/>
                  <a:pt x="159795" y="143838"/>
                  <a:pt x="154112" y="143838"/>
                </a:cubicBezTo>
                <a:lnTo>
                  <a:pt x="61645" y="143838"/>
                </a:lnTo>
                <a:cubicBezTo>
                  <a:pt x="55962" y="143838"/>
                  <a:pt x="51371" y="139247"/>
                  <a:pt x="51371" y="133564"/>
                </a:cubicBezTo>
                <a:close/>
                <a:moveTo>
                  <a:pt x="20548" y="120721"/>
                </a:moveTo>
                <a:cubicBezTo>
                  <a:pt x="27636" y="120721"/>
                  <a:pt x="33391" y="126476"/>
                  <a:pt x="33391" y="133564"/>
                </a:cubicBezTo>
                <a:cubicBezTo>
                  <a:pt x="33391" y="140652"/>
                  <a:pt x="27636" y="146407"/>
                  <a:pt x="20548" y="146407"/>
                </a:cubicBezTo>
                <a:cubicBezTo>
                  <a:pt x="13460" y="146407"/>
                  <a:pt x="7706" y="140652"/>
                  <a:pt x="7706" y="133564"/>
                </a:cubicBezTo>
                <a:cubicBezTo>
                  <a:pt x="7706" y="126476"/>
                  <a:pt x="13460" y="120721"/>
                  <a:pt x="20548" y="120721"/>
                </a:cubicBezTo>
                <a:close/>
              </a:path>
            </a:pathLst>
          </a:custGeom>
          <a:solidFill>
            <a:srgbClr val="00A4E0"/>
          </a:solidFill>
          <a:ln/>
        </p:spPr>
      </p:sp>
      <p:sp>
        <p:nvSpPr>
          <p:cNvPr id="24" name="Text 22"/>
          <p:cNvSpPr/>
          <p:nvPr/>
        </p:nvSpPr>
        <p:spPr>
          <a:xfrm>
            <a:off x="6834370" y="1413731"/>
            <a:ext cx="1150706" cy="255712"/>
          </a:xfrm>
          <a:prstGeom prst="rect">
            <a:avLst/>
          </a:prstGeom>
          <a:noFill/>
          <a:ln/>
        </p:spPr>
        <p:txBody>
          <a:bodyPr wrap="square" lIns="0" tIns="0" rIns="0" bIns="0" rtlCol="0" anchor="ctr"/>
          <a:lstStyle/>
          <a:p>
            <a:pPr>
              <a:lnSpc>
                <a:spcPct val="120000"/>
              </a:lnSpc>
            </a:pPr>
            <a:r>
              <a:rPr lang="en-US" sz="1438" b="1" dirty="0">
                <a:solidFill>
                  <a:srgbClr val="E8EAED"/>
                </a:solidFill>
                <a:latin typeface="Liter" pitchFamily="34" charset="0"/>
                <a:ea typeface="Liter" pitchFamily="34" charset="-122"/>
                <a:cs typeface="Liter" pitchFamily="34" charset="-120"/>
              </a:rPr>
              <a:t>Prerequisites</a:t>
            </a:r>
            <a:endParaRPr lang="en-US" sz="1600" dirty="0"/>
          </a:p>
        </p:txBody>
      </p:sp>
      <p:sp>
        <p:nvSpPr>
          <p:cNvPr id="25" name="Shape 23"/>
          <p:cNvSpPr/>
          <p:nvPr/>
        </p:nvSpPr>
        <p:spPr>
          <a:xfrm>
            <a:off x="6359475" y="1870360"/>
            <a:ext cx="5278634" cy="913258"/>
          </a:xfrm>
          <a:custGeom>
            <a:avLst/>
            <a:gdLst/>
            <a:ahLst/>
            <a:cxnLst/>
            <a:rect l="l" t="t" r="r" b="b"/>
            <a:pathLst>
              <a:path w="5278634" h="913258">
                <a:moveTo>
                  <a:pt x="73061" y="0"/>
                </a:moveTo>
                <a:lnTo>
                  <a:pt x="5205573" y="0"/>
                </a:lnTo>
                <a:cubicBezTo>
                  <a:pt x="5245923" y="0"/>
                  <a:pt x="5278634" y="32710"/>
                  <a:pt x="5278634" y="73061"/>
                </a:cubicBezTo>
                <a:lnTo>
                  <a:pt x="5278634" y="840198"/>
                </a:lnTo>
                <a:cubicBezTo>
                  <a:pt x="5278634" y="880548"/>
                  <a:pt x="5245923" y="913258"/>
                  <a:pt x="5205573" y="913258"/>
                </a:cubicBezTo>
                <a:lnTo>
                  <a:pt x="73061" y="913258"/>
                </a:lnTo>
                <a:cubicBezTo>
                  <a:pt x="32737" y="913258"/>
                  <a:pt x="0" y="880521"/>
                  <a:pt x="0" y="840198"/>
                </a:cubicBezTo>
                <a:lnTo>
                  <a:pt x="0" y="73061"/>
                </a:lnTo>
                <a:cubicBezTo>
                  <a:pt x="0" y="32737"/>
                  <a:pt x="32737" y="0"/>
                  <a:pt x="73061" y="0"/>
                </a:cubicBezTo>
                <a:close/>
              </a:path>
            </a:pathLst>
          </a:custGeom>
          <a:solidFill>
            <a:srgbClr val="1A1D21">
              <a:alpha val="50196"/>
            </a:srgbClr>
          </a:solidFill>
          <a:ln/>
        </p:spPr>
      </p:sp>
      <p:sp>
        <p:nvSpPr>
          <p:cNvPr id="26" name="Shape 24"/>
          <p:cNvSpPr/>
          <p:nvPr/>
        </p:nvSpPr>
        <p:spPr>
          <a:xfrm>
            <a:off x="6469066" y="1998217"/>
            <a:ext cx="255712" cy="255712"/>
          </a:xfrm>
          <a:custGeom>
            <a:avLst/>
            <a:gdLst/>
            <a:ahLst/>
            <a:cxnLst/>
            <a:rect l="l" t="t" r="r" b="b"/>
            <a:pathLst>
              <a:path w="255712" h="255712">
                <a:moveTo>
                  <a:pt x="127856" y="0"/>
                </a:moveTo>
                <a:lnTo>
                  <a:pt x="127856" y="0"/>
                </a:lnTo>
                <a:cubicBezTo>
                  <a:pt x="198422" y="0"/>
                  <a:pt x="255712" y="57290"/>
                  <a:pt x="255712" y="127856"/>
                </a:cubicBezTo>
                <a:lnTo>
                  <a:pt x="255712" y="127856"/>
                </a:lnTo>
                <a:cubicBezTo>
                  <a:pt x="255712" y="198422"/>
                  <a:pt x="198422" y="255712"/>
                  <a:pt x="127856" y="255712"/>
                </a:cubicBezTo>
                <a:lnTo>
                  <a:pt x="127856" y="255712"/>
                </a:lnTo>
                <a:cubicBezTo>
                  <a:pt x="57290" y="255712"/>
                  <a:pt x="0" y="198422"/>
                  <a:pt x="0" y="127856"/>
                </a:cubicBezTo>
                <a:lnTo>
                  <a:pt x="0" y="127856"/>
                </a:lnTo>
                <a:cubicBezTo>
                  <a:pt x="0" y="57290"/>
                  <a:pt x="57290" y="0"/>
                  <a:pt x="127856" y="0"/>
                </a:cubicBezTo>
                <a:close/>
              </a:path>
            </a:pathLst>
          </a:custGeom>
          <a:solidFill>
            <a:srgbClr val="00A4E0">
              <a:alpha val="20000"/>
            </a:srgbClr>
          </a:solidFill>
          <a:ln/>
        </p:spPr>
      </p:sp>
      <p:sp>
        <p:nvSpPr>
          <p:cNvPr id="27" name="Text 25"/>
          <p:cNvSpPr/>
          <p:nvPr/>
        </p:nvSpPr>
        <p:spPr>
          <a:xfrm>
            <a:off x="6571351" y="2034747"/>
            <a:ext cx="118724" cy="182652"/>
          </a:xfrm>
          <a:prstGeom prst="rect">
            <a:avLst/>
          </a:prstGeom>
          <a:noFill/>
          <a:ln/>
        </p:spPr>
        <p:txBody>
          <a:bodyPr wrap="square" lIns="0" tIns="0" rIns="0" bIns="0" rtlCol="0" anchor="ctr"/>
          <a:lstStyle/>
          <a:p>
            <a:pPr>
              <a:lnSpc>
                <a:spcPct val="120000"/>
              </a:lnSpc>
            </a:pPr>
            <a:r>
              <a:rPr lang="en-US" sz="1007" b="1" dirty="0">
                <a:solidFill>
                  <a:srgbClr val="00A4E0"/>
                </a:solidFill>
                <a:latin typeface="Liter" pitchFamily="34" charset="0"/>
                <a:ea typeface="Liter" pitchFamily="34" charset="-122"/>
                <a:cs typeface="Liter" pitchFamily="34" charset="-120"/>
              </a:rPr>
              <a:t>1</a:t>
            </a:r>
            <a:endParaRPr lang="en-US" sz="1600" dirty="0"/>
          </a:p>
        </p:txBody>
      </p:sp>
      <p:sp>
        <p:nvSpPr>
          <p:cNvPr id="28" name="Text 26"/>
          <p:cNvSpPr/>
          <p:nvPr/>
        </p:nvSpPr>
        <p:spPr>
          <a:xfrm>
            <a:off x="6834370" y="1979951"/>
            <a:ext cx="4767209" cy="219182"/>
          </a:xfrm>
          <a:prstGeom prst="rect">
            <a:avLst/>
          </a:prstGeom>
          <a:noFill/>
          <a:ln/>
        </p:spPr>
        <p:txBody>
          <a:bodyPr wrap="square" lIns="0" tIns="0" rIns="0" bIns="0" rtlCol="0" anchor="ctr"/>
          <a:lstStyle/>
          <a:p>
            <a:pPr>
              <a:lnSpc>
                <a:spcPct val="130000"/>
              </a:lnSpc>
            </a:pPr>
            <a:r>
              <a:rPr lang="en-US" sz="1151" b="1" dirty="0">
                <a:solidFill>
                  <a:srgbClr val="E8EAED"/>
                </a:solidFill>
                <a:latin typeface="Liter" pitchFamily="34" charset="0"/>
                <a:ea typeface="Liter" pitchFamily="34" charset="-122"/>
                <a:cs typeface="Liter" pitchFamily="34" charset="-120"/>
              </a:rPr>
              <a:t>Origin Certificate</a:t>
            </a:r>
            <a:endParaRPr lang="en-US" sz="1600" dirty="0"/>
          </a:p>
        </p:txBody>
      </p:sp>
      <p:sp>
        <p:nvSpPr>
          <p:cNvPr id="29" name="Text 27"/>
          <p:cNvSpPr/>
          <p:nvPr/>
        </p:nvSpPr>
        <p:spPr>
          <a:xfrm>
            <a:off x="6834370" y="2235664"/>
            <a:ext cx="4767209" cy="438364"/>
          </a:xfrm>
          <a:prstGeom prst="rect">
            <a:avLst/>
          </a:prstGeom>
          <a:noFill/>
          <a:ln/>
        </p:spPr>
        <p:txBody>
          <a:bodyPr wrap="square" lIns="0" tIns="0" rIns="0" bIns="0" rtlCol="0" anchor="ctr"/>
          <a:lstStyle/>
          <a:p>
            <a:pPr>
              <a:lnSpc>
                <a:spcPct val="130000"/>
              </a:lnSpc>
            </a:pPr>
            <a:r>
              <a:rPr lang="en-US" sz="1151" dirty="0">
                <a:solidFill>
                  <a:srgbClr val="E8EAED">
                    <a:alpha val="70000"/>
                  </a:srgbClr>
                </a:solidFill>
                <a:latin typeface="Liter" pitchFamily="34" charset="0"/>
                <a:ea typeface="Liter" pitchFamily="34" charset="-122"/>
                <a:cs typeface="Liter" pitchFamily="34" charset="-120"/>
              </a:rPr>
              <a:t>Must match hostname (e.g., api.example.com). Wildcards like *.example.com are NOT supported for mTLS.</a:t>
            </a:r>
            <a:endParaRPr lang="en-US" sz="1600" dirty="0"/>
          </a:p>
        </p:txBody>
      </p:sp>
      <p:sp>
        <p:nvSpPr>
          <p:cNvPr id="30" name="Shape 28"/>
          <p:cNvSpPr/>
          <p:nvPr/>
        </p:nvSpPr>
        <p:spPr>
          <a:xfrm>
            <a:off x="6359475" y="2893210"/>
            <a:ext cx="5278634" cy="913258"/>
          </a:xfrm>
          <a:custGeom>
            <a:avLst/>
            <a:gdLst/>
            <a:ahLst/>
            <a:cxnLst/>
            <a:rect l="l" t="t" r="r" b="b"/>
            <a:pathLst>
              <a:path w="5278634" h="913258">
                <a:moveTo>
                  <a:pt x="73061" y="0"/>
                </a:moveTo>
                <a:lnTo>
                  <a:pt x="5205573" y="0"/>
                </a:lnTo>
                <a:cubicBezTo>
                  <a:pt x="5245923" y="0"/>
                  <a:pt x="5278634" y="32710"/>
                  <a:pt x="5278634" y="73061"/>
                </a:cubicBezTo>
                <a:lnTo>
                  <a:pt x="5278634" y="840198"/>
                </a:lnTo>
                <a:cubicBezTo>
                  <a:pt x="5278634" y="880548"/>
                  <a:pt x="5245923" y="913258"/>
                  <a:pt x="5205573" y="913258"/>
                </a:cubicBezTo>
                <a:lnTo>
                  <a:pt x="73061" y="913258"/>
                </a:lnTo>
                <a:cubicBezTo>
                  <a:pt x="32737" y="913258"/>
                  <a:pt x="0" y="880521"/>
                  <a:pt x="0" y="840198"/>
                </a:cubicBezTo>
                <a:lnTo>
                  <a:pt x="0" y="73061"/>
                </a:lnTo>
                <a:cubicBezTo>
                  <a:pt x="0" y="32737"/>
                  <a:pt x="32737" y="0"/>
                  <a:pt x="73061" y="0"/>
                </a:cubicBezTo>
                <a:close/>
              </a:path>
            </a:pathLst>
          </a:custGeom>
          <a:solidFill>
            <a:srgbClr val="1A1D21">
              <a:alpha val="50196"/>
            </a:srgbClr>
          </a:solidFill>
          <a:ln/>
        </p:spPr>
      </p:sp>
      <p:sp>
        <p:nvSpPr>
          <p:cNvPr id="31" name="Shape 29"/>
          <p:cNvSpPr/>
          <p:nvPr/>
        </p:nvSpPr>
        <p:spPr>
          <a:xfrm>
            <a:off x="6469066" y="3021066"/>
            <a:ext cx="255712" cy="255712"/>
          </a:xfrm>
          <a:custGeom>
            <a:avLst/>
            <a:gdLst/>
            <a:ahLst/>
            <a:cxnLst/>
            <a:rect l="l" t="t" r="r" b="b"/>
            <a:pathLst>
              <a:path w="255712" h="255712">
                <a:moveTo>
                  <a:pt x="127856" y="0"/>
                </a:moveTo>
                <a:lnTo>
                  <a:pt x="127856" y="0"/>
                </a:lnTo>
                <a:cubicBezTo>
                  <a:pt x="198422" y="0"/>
                  <a:pt x="255712" y="57290"/>
                  <a:pt x="255712" y="127856"/>
                </a:cubicBezTo>
                <a:lnTo>
                  <a:pt x="255712" y="127856"/>
                </a:lnTo>
                <a:cubicBezTo>
                  <a:pt x="255712" y="198422"/>
                  <a:pt x="198422" y="255712"/>
                  <a:pt x="127856" y="255712"/>
                </a:cubicBezTo>
                <a:lnTo>
                  <a:pt x="127856" y="255712"/>
                </a:lnTo>
                <a:cubicBezTo>
                  <a:pt x="57290" y="255712"/>
                  <a:pt x="0" y="198422"/>
                  <a:pt x="0" y="127856"/>
                </a:cubicBezTo>
                <a:lnTo>
                  <a:pt x="0" y="127856"/>
                </a:lnTo>
                <a:cubicBezTo>
                  <a:pt x="0" y="57290"/>
                  <a:pt x="57290" y="0"/>
                  <a:pt x="127856" y="0"/>
                </a:cubicBezTo>
                <a:close/>
              </a:path>
            </a:pathLst>
          </a:custGeom>
          <a:solidFill>
            <a:srgbClr val="00A4E0">
              <a:alpha val="20000"/>
            </a:srgbClr>
          </a:solidFill>
          <a:ln/>
        </p:spPr>
      </p:sp>
      <p:sp>
        <p:nvSpPr>
          <p:cNvPr id="32" name="Text 30"/>
          <p:cNvSpPr/>
          <p:nvPr/>
        </p:nvSpPr>
        <p:spPr>
          <a:xfrm>
            <a:off x="6559707" y="3057596"/>
            <a:ext cx="136989" cy="182652"/>
          </a:xfrm>
          <a:prstGeom prst="rect">
            <a:avLst/>
          </a:prstGeom>
          <a:noFill/>
          <a:ln/>
        </p:spPr>
        <p:txBody>
          <a:bodyPr wrap="square" lIns="0" tIns="0" rIns="0" bIns="0" rtlCol="0" anchor="ctr"/>
          <a:lstStyle/>
          <a:p>
            <a:pPr>
              <a:lnSpc>
                <a:spcPct val="120000"/>
              </a:lnSpc>
            </a:pPr>
            <a:r>
              <a:rPr lang="en-US" sz="1007" b="1" dirty="0">
                <a:solidFill>
                  <a:srgbClr val="00A4E0"/>
                </a:solidFill>
                <a:latin typeface="Liter" pitchFamily="34" charset="0"/>
                <a:ea typeface="Liter" pitchFamily="34" charset="-122"/>
                <a:cs typeface="Liter" pitchFamily="34" charset="-120"/>
              </a:rPr>
              <a:t>2</a:t>
            </a:r>
            <a:endParaRPr lang="en-US" sz="1600" dirty="0"/>
          </a:p>
        </p:txBody>
      </p:sp>
      <p:sp>
        <p:nvSpPr>
          <p:cNvPr id="33" name="Text 31"/>
          <p:cNvSpPr/>
          <p:nvPr/>
        </p:nvSpPr>
        <p:spPr>
          <a:xfrm>
            <a:off x="6834370" y="3002801"/>
            <a:ext cx="4767209" cy="219182"/>
          </a:xfrm>
          <a:prstGeom prst="rect">
            <a:avLst/>
          </a:prstGeom>
          <a:noFill/>
          <a:ln/>
        </p:spPr>
        <p:txBody>
          <a:bodyPr wrap="square" lIns="0" tIns="0" rIns="0" bIns="0" rtlCol="0" anchor="ctr"/>
          <a:lstStyle/>
          <a:p>
            <a:pPr>
              <a:lnSpc>
                <a:spcPct val="130000"/>
              </a:lnSpc>
            </a:pPr>
            <a:r>
              <a:rPr lang="en-US" sz="1151" b="1" dirty="0">
                <a:solidFill>
                  <a:srgbClr val="E8EAED"/>
                </a:solidFill>
                <a:latin typeface="Liter" pitchFamily="34" charset="0"/>
                <a:ea typeface="Liter" pitchFamily="34" charset="-122"/>
                <a:cs typeface="Liter" pitchFamily="34" charset="-120"/>
              </a:rPr>
              <a:t>Cloudflare Client Certificate</a:t>
            </a:r>
            <a:endParaRPr lang="en-US" sz="1600" dirty="0"/>
          </a:p>
        </p:txBody>
      </p:sp>
      <p:sp>
        <p:nvSpPr>
          <p:cNvPr id="34" name="Text 32"/>
          <p:cNvSpPr/>
          <p:nvPr/>
        </p:nvSpPr>
        <p:spPr>
          <a:xfrm>
            <a:off x="6834370" y="3258513"/>
            <a:ext cx="4767209" cy="438364"/>
          </a:xfrm>
          <a:prstGeom prst="rect">
            <a:avLst/>
          </a:prstGeom>
          <a:noFill/>
          <a:ln/>
        </p:spPr>
        <p:txBody>
          <a:bodyPr wrap="square" lIns="0" tIns="0" rIns="0" bIns="0" rtlCol="0" anchor="ctr"/>
          <a:lstStyle/>
          <a:p>
            <a:pPr>
              <a:lnSpc>
                <a:spcPct val="130000"/>
              </a:lnSpc>
            </a:pPr>
            <a:r>
              <a:rPr lang="en-US" sz="1151" dirty="0">
                <a:solidFill>
                  <a:srgbClr val="E8EAED">
                    <a:alpha val="70000"/>
                  </a:srgbClr>
                </a:solidFill>
                <a:latin typeface="Liter" pitchFamily="34" charset="0"/>
                <a:ea typeface="Liter" pitchFamily="34" charset="-122"/>
                <a:cs typeface="Liter" pitchFamily="34" charset="-120"/>
              </a:rPr>
              <a:t>Download from Cloudflare dashboard or use API Shield to create custom certificates.</a:t>
            </a:r>
            <a:endParaRPr lang="en-US" sz="1600" dirty="0"/>
          </a:p>
        </p:txBody>
      </p:sp>
      <p:sp>
        <p:nvSpPr>
          <p:cNvPr id="35" name="Shape 33"/>
          <p:cNvSpPr/>
          <p:nvPr/>
        </p:nvSpPr>
        <p:spPr>
          <a:xfrm>
            <a:off x="6359475" y="3916059"/>
            <a:ext cx="5278634" cy="694076"/>
          </a:xfrm>
          <a:custGeom>
            <a:avLst/>
            <a:gdLst/>
            <a:ahLst/>
            <a:cxnLst/>
            <a:rect l="l" t="t" r="r" b="b"/>
            <a:pathLst>
              <a:path w="5278634" h="694076">
                <a:moveTo>
                  <a:pt x="73058" y="0"/>
                </a:moveTo>
                <a:lnTo>
                  <a:pt x="5205575" y="0"/>
                </a:lnTo>
                <a:cubicBezTo>
                  <a:pt x="5245924" y="0"/>
                  <a:pt x="5278634" y="32709"/>
                  <a:pt x="5278634" y="73058"/>
                </a:cubicBezTo>
                <a:lnTo>
                  <a:pt x="5278634" y="621018"/>
                </a:lnTo>
                <a:cubicBezTo>
                  <a:pt x="5278634" y="661367"/>
                  <a:pt x="5245924" y="694076"/>
                  <a:pt x="5205575" y="694076"/>
                </a:cubicBezTo>
                <a:lnTo>
                  <a:pt x="73058" y="694076"/>
                </a:lnTo>
                <a:cubicBezTo>
                  <a:pt x="32736" y="694076"/>
                  <a:pt x="0" y="661340"/>
                  <a:pt x="0" y="621018"/>
                </a:cubicBezTo>
                <a:lnTo>
                  <a:pt x="0" y="73058"/>
                </a:lnTo>
                <a:cubicBezTo>
                  <a:pt x="0" y="32709"/>
                  <a:pt x="32709" y="0"/>
                  <a:pt x="73058" y="0"/>
                </a:cubicBezTo>
                <a:close/>
              </a:path>
            </a:pathLst>
          </a:custGeom>
          <a:solidFill>
            <a:srgbClr val="1A1D21">
              <a:alpha val="50196"/>
            </a:srgbClr>
          </a:solidFill>
          <a:ln/>
        </p:spPr>
      </p:sp>
      <p:sp>
        <p:nvSpPr>
          <p:cNvPr id="36" name="Shape 34"/>
          <p:cNvSpPr/>
          <p:nvPr/>
        </p:nvSpPr>
        <p:spPr>
          <a:xfrm>
            <a:off x="6469066" y="4043915"/>
            <a:ext cx="255712" cy="255712"/>
          </a:xfrm>
          <a:custGeom>
            <a:avLst/>
            <a:gdLst/>
            <a:ahLst/>
            <a:cxnLst/>
            <a:rect l="l" t="t" r="r" b="b"/>
            <a:pathLst>
              <a:path w="255712" h="255712">
                <a:moveTo>
                  <a:pt x="127856" y="0"/>
                </a:moveTo>
                <a:lnTo>
                  <a:pt x="127856" y="0"/>
                </a:lnTo>
                <a:cubicBezTo>
                  <a:pt x="198422" y="0"/>
                  <a:pt x="255712" y="57290"/>
                  <a:pt x="255712" y="127856"/>
                </a:cubicBezTo>
                <a:lnTo>
                  <a:pt x="255712" y="127856"/>
                </a:lnTo>
                <a:cubicBezTo>
                  <a:pt x="255712" y="198422"/>
                  <a:pt x="198422" y="255712"/>
                  <a:pt x="127856" y="255712"/>
                </a:cubicBezTo>
                <a:lnTo>
                  <a:pt x="127856" y="255712"/>
                </a:lnTo>
                <a:cubicBezTo>
                  <a:pt x="57290" y="255712"/>
                  <a:pt x="0" y="198422"/>
                  <a:pt x="0" y="127856"/>
                </a:cubicBezTo>
                <a:lnTo>
                  <a:pt x="0" y="127856"/>
                </a:lnTo>
                <a:cubicBezTo>
                  <a:pt x="0" y="57290"/>
                  <a:pt x="57290" y="0"/>
                  <a:pt x="127856" y="0"/>
                </a:cubicBezTo>
                <a:close/>
              </a:path>
            </a:pathLst>
          </a:custGeom>
          <a:solidFill>
            <a:srgbClr val="00A4E0">
              <a:alpha val="20000"/>
            </a:srgbClr>
          </a:solidFill>
          <a:ln/>
        </p:spPr>
      </p:sp>
      <p:sp>
        <p:nvSpPr>
          <p:cNvPr id="37" name="Text 35"/>
          <p:cNvSpPr/>
          <p:nvPr/>
        </p:nvSpPr>
        <p:spPr>
          <a:xfrm>
            <a:off x="6559136" y="4080446"/>
            <a:ext cx="136989" cy="182652"/>
          </a:xfrm>
          <a:prstGeom prst="rect">
            <a:avLst/>
          </a:prstGeom>
          <a:noFill/>
          <a:ln/>
        </p:spPr>
        <p:txBody>
          <a:bodyPr wrap="square" lIns="0" tIns="0" rIns="0" bIns="0" rtlCol="0" anchor="ctr"/>
          <a:lstStyle/>
          <a:p>
            <a:pPr>
              <a:lnSpc>
                <a:spcPct val="120000"/>
              </a:lnSpc>
            </a:pPr>
            <a:r>
              <a:rPr lang="en-US" sz="1007" b="1" dirty="0">
                <a:solidFill>
                  <a:srgbClr val="00A4E0"/>
                </a:solidFill>
                <a:latin typeface="Liter" pitchFamily="34" charset="0"/>
                <a:ea typeface="Liter" pitchFamily="34" charset="-122"/>
                <a:cs typeface="Liter" pitchFamily="34" charset="-120"/>
              </a:rPr>
              <a:t>3</a:t>
            </a:r>
            <a:endParaRPr lang="en-US" sz="1600" dirty="0"/>
          </a:p>
        </p:txBody>
      </p:sp>
      <p:sp>
        <p:nvSpPr>
          <p:cNvPr id="38" name="Text 36"/>
          <p:cNvSpPr/>
          <p:nvPr/>
        </p:nvSpPr>
        <p:spPr>
          <a:xfrm>
            <a:off x="6834370" y="4025650"/>
            <a:ext cx="4566292" cy="219182"/>
          </a:xfrm>
          <a:prstGeom prst="rect">
            <a:avLst/>
          </a:prstGeom>
          <a:noFill/>
          <a:ln/>
        </p:spPr>
        <p:txBody>
          <a:bodyPr wrap="square" lIns="0" tIns="0" rIns="0" bIns="0" rtlCol="0" anchor="ctr"/>
          <a:lstStyle/>
          <a:p>
            <a:pPr>
              <a:lnSpc>
                <a:spcPct val="130000"/>
              </a:lnSpc>
            </a:pPr>
            <a:r>
              <a:rPr lang="en-US" sz="1151" b="1" dirty="0">
                <a:solidFill>
                  <a:srgbClr val="E8EAED"/>
                </a:solidFill>
                <a:latin typeface="Liter" pitchFamily="34" charset="0"/>
                <a:ea typeface="Liter" pitchFamily="34" charset="-122"/>
                <a:cs typeface="Liter" pitchFamily="34" charset="-120"/>
              </a:rPr>
              <a:t>Web Server Configuration</a:t>
            </a:r>
            <a:endParaRPr lang="en-US" sz="1600" dirty="0"/>
          </a:p>
        </p:txBody>
      </p:sp>
      <p:sp>
        <p:nvSpPr>
          <p:cNvPr id="39" name="Text 37"/>
          <p:cNvSpPr/>
          <p:nvPr/>
        </p:nvSpPr>
        <p:spPr>
          <a:xfrm>
            <a:off x="6834370" y="4281363"/>
            <a:ext cx="4566292" cy="219182"/>
          </a:xfrm>
          <a:prstGeom prst="rect">
            <a:avLst/>
          </a:prstGeom>
          <a:noFill/>
          <a:ln/>
        </p:spPr>
        <p:txBody>
          <a:bodyPr wrap="square" lIns="0" tIns="0" rIns="0" bIns="0" rtlCol="0" anchor="ctr"/>
          <a:lstStyle/>
          <a:p>
            <a:pPr>
              <a:lnSpc>
                <a:spcPct val="130000"/>
              </a:lnSpc>
            </a:pPr>
            <a:r>
              <a:rPr lang="en-US" sz="1151" dirty="0">
                <a:solidFill>
                  <a:srgbClr val="E8EAED">
                    <a:alpha val="70000"/>
                  </a:srgbClr>
                </a:solidFill>
                <a:latin typeface="Liter" pitchFamily="34" charset="0"/>
                <a:ea typeface="Liter" pitchFamily="34" charset="-122"/>
                <a:cs typeface="Liter" pitchFamily="34" charset="-120"/>
              </a:rPr>
              <a:t>Configure your web server (Nginx, Apache) to verify client certificates.</a:t>
            </a:r>
            <a:endParaRPr lang="en-US" sz="1600" dirty="0"/>
          </a:p>
        </p:txBody>
      </p:sp>
      <p:sp>
        <p:nvSpPr>
          <p:cNvPr id="40" name="Shape 38"/>
          <p:cNvSpPr/>
          <p:nvPr/>
        </p:nvSpPr>
        <p:spPr>
          <a:xfrm>
            <a:off x="6173170" y="4949866"/>
            <a:ext cx="5651243" cy="1687702"/>
          </a:xfrm>
          <a:custGeom>
            <a:avLst/>
            <a:gdLst/>
            <a:ahLst/>
            <a:cxnLst/>
            <a:rect l="l" t="t" r="r" b="b"/>
            <a:pathLst>
              <a:path w="5651243" h="1687702">
                <a:moveTo>
                  <a:pt x="109599" y="0"/>
                </a:moveTo>
                <a:lnTo>
                  <a:pt x="5541644" y="0"/>
                </a:lnTo>
                <a:cubicBezTo>
                  <a:pt x="5602174" y="0"/>
                  <a:pt x="5651243" y="49069"/>
                  <a:pt x="5651243" y="109599"/>
                </a:cubicBezTo>
                <a:lnTo>
                  <a:pt x="5651243" y="1578102"/>
                </a:lnTo>
                <a:cubicBezTo>
                  <a:pt x="5651243" y="1638632"/>
                  <a:pt x="5602174" y="1687702"/>
                  <a:pt x="5541644" y="1687702"/>
                </a:cubicBezTo>
                <a:lnTo>
                  <a:pt x="109599" y="1687702"/>
                </a:lnTo>
                <a:cubicBezTo>
                  <a:pt x="49069" y="1687702"/>
                  <a:pt x="0" y="1638632"/>
                  <a:pt x="0" y="1578102"/>
                </a:cubicBezTo>
                <a:lnTo>
                  <a:pt x="0" y="109599"/>
                </a:lnTo>
                <a:cubicBezTo>
                  <a:pt x="0" y="49110"/>
                  <a:pt x="49110" y="0"/>
                  <a:pt x="109599" y="0"/>
                </a:cubicBezTo>
                <a:close/>
              </a:path>
            </a:pathLst>
          </a:custGeom>
          <a:solidFill>
            <a:srgbClr val="00A4E0">
              <a:alpha val="10196"/>
            </a:srgbClr>
          </a:solidFill>
          <a:ln w="10160">
            <a:solidFill>
              <a:srgbClr val="00A4E0">
                <a:alpha val="30196"/>
              </a:srgbClr>
            </a:solidFill>
            <a:prstDash val="solid"/>
          </a:ln>
        </p:spPr>
      </p:sp>
      <p:sp>
        <p:nvSpPr>
          <p:cNvPr id="41" name="Shape 39"/>
          <p:cNvSpPr/>
          <p:nvPr/>
        </p:nvSpPr>
        <p:spPr>
          <a:xfrm>
            <a:off x="6382307" y="5172699"/>
            <a:ext cx="182652" cy="182652"/>
          </a:xfrm>
          <a:custGeom>
            <a:avLst/>
            <a:gdLst/>
            <a:ahLst/>
            <a:cxnLst/>
            <a:rect l="l" t="t" r="r" b="b"/>
            <a:pathLst>
              <a:path w="182652" h="182652">
                <a:moveTo>
                  <a:pt x="91326" y="0"/>
                </a:moveTo>
                <a:cubicBezTo>
                  <a:pt x="92967" y="0"/>
                  <a:pt x="94608" y="357"/>
                  <a:pt x="96106" y="1035"/>
                </a:cubicBezTo>
                <a:lnTo>
                  <a:pt x="163316" y="29538"/>
                </a:lnTo>
                <a:cubicBezTo>
                  <a:pt x="171165" y="32856"/>
                  <a:pt x="177015" y="40597"/>
                  <a:pt x="176979" y="49944"/>
                </a:cubicBezTo>
                <a:cubicBezTo>
                  <a:pt x="176801" y="85333"/>
                  <a:pt x="162246" y="150081"/>
                  <a:pt x="100779" y="179512"/>
                </a:cubicBezTo>
                <a:cubicBezTo>
                  <a:pt x="94822" y="182366"/>
                  <a:pt x="87901" y="182366"/>
                  <a:pt x="81944" y="179512"/>
                </a:cubicBezTo>
                <a:cubicBezTo>
                  <a:pt x="20441" y="150081"/>
                  <a:pt x="5922" y="85333"/>
                  <a:pt x="5744" y="49944"/>
                </a:cubicBezTo>
                <a:cubicBezTo>
                  <a:pt x="5708" y="40597"/>
                  <a:pt x="11558" y="32856"/>
                  <a:pt x="19407" y="29538"/>
                </a:cubicBezTo>
                <a:lnTo>
                  <a:pt x="86581" y="1035"/>
                </a:lnTo>
                <a:cubicBezTo>
                  <a:pt x="88079" y="357"/>
                  <a:pt x="89685" y="0"/>
                  <a:pt x="91326" y="0"/>
                </a:cubicBezTo>
                <a:close/>
                <a:moveTo>
                  <a:pt x="91326" y="23830"/>
                </a:moveTo>
                <a:lnTo>
                  <a:pt x="91326" y="158714"/>
                </a:lnTo>
                <a:cubicBezTo>
                  <a:pt x="140556" y="134884"/>
                  <a:pt x="153791" y="82086"/>
                  <a:pt x="154112" y="50479"/>
                </a:cubicBezTo>
                <a:lnTo>
                  <a:pt x="91326" y="23866"/>
                </a:lnTo>
                <a:lnTo>
                  <a:pt x="91326" y="23866"/>
                </a:lnTo>
                <a:close/>
              </a:path>
            </a:pathLst>
          </a:custGeom>
          <a:solidFill>
            <a:srgbClr val="00A4E0"/>
          </a:solidFill>
          <a:ln/>
        </p:spPr>
      </p:sp>
      <p:sp>
        <p:nvSpPr>
          <p:cNvPr id="42" name="Text 40"/>
          <p:cNvSpPr/>
          <p:nvPr/>
        </p:nvSpPr>
        <p:spPr>
          <a:xfrm>
            <a:off x="6697381" y="5136169"/>
            <a:ext cx="1305960" cy="255712"/>
          </a:xfrm>
          <a:prstGeom prst="rect">
            <a:avLst/>
          </a:prstGeom>
          <a:noFill/>
          <a:ln/>
        </p:spPr>
        <p:txBody>
          <a:bodyPr wrap="square" lIns="0" tIns="0" rIns="0" bIns="0" rtlCol="0" anchor="ctr"/>
          <a:lstStyle/>
          <a:p>
            <a:pPr>
              <a:lnSpc>
                <a:spcPct val="130000"/>
              </a:lnSpc>
            </a:pPr>
            <a:r>
              <a:rPr lang="en-US" sz="1294" b="1" dirty="0">
                <a:solidFill>
                  <a:srgbClr val="E8EAED"/>
                </a:solidFill>
                <a:latin typeface="Liter" pitchFamily="34" charset="0"/>
                <a:ea typeface="Liter" pitchFamily="34" charset="-122"/>
                <a:cs typeface="Liter" pitchFamily="34" charset="-120"/>
              </a:rPr>
              <a:t>Two Approaches</a:t>
            </a:r>
            <a:endParaRPr lang="en-US" sz="1600" dirty="0"/>
          </a:p>
        </p:txBody>
      </p:sp>
      <p:sp>
        <p:nvSpPr>
          <p:cNvPr id="43" name="Shape 41"/>
          <p:cNvSpPr/>
          <p:nvPr/>
        </p:nvSpPr>
        <p:spPr>
          <a:xfrm>
            <a:off x="6359475" y="5574533"/>
            <a:ext cx="109591" cy="109591"/>
          </a:xfrm>
          <a:custGeom>
            <a:avLst/>
            <a:gdLst/>
            <a:ahLst/>
            <a:cxnLst/>
            <a:rect l="l" t="t" r="r" b="b"/>
            <a:pathLst>
              <a:path w="109591" h="109591">
                <a:moveTo>
                  <a:pt x="54796" y="0"/>
                </a:moveTo>
                <a:lnTo>
                  <a:pt x="54796" y="0"/>
                </a:lnTo>
                <a:cubicBezTo>
                  <a:pt x="85038" y="0"/>
                  <a:pt x="109591" y="24553"/>
                  <a:pt x="109591" y="54796"/>
                </a:cubicBezTo>
                <a:lnTo>
                  <a:pt x="109591" y="54796"/>
                </a:lnTo>
                <a:cubicBezTo>
                  <a:pt x="109591" y="85038"/>
                  <a:pt x="85038" y="109591"/>
                  <a:pt x="54796" y="109591"/>
                </a:cubicBezTo>
                <a:lnTo>
                  <a:pt x="54796" y="109591"/>
                </a:lnTo>
                <a:cubicBezTo>
                  <a:pt x="24553" y="109591"/>
                  <a:pt x="0" y="85038"/>
                  <a:pt x="0" y="54796"/>
                </a:cubicBezTo>
                <a:lnTo>
                  <a:pt x="0" y="54796"/>
                </a:lnTo>
                <a:cubicBezTo>
                  <a:pt x="0" y="24553"/>
                  <a:pt x="24553" y="0"/>
                  <a:pt x="54796" y="0"/>
                </a:cubicBezTo>
                <a:close/>
              </a:path>
            </a:pathLst>
          </a:custGeom>
          <a:solidFill>
            <a:srgbClr val="F47C20"/>
          </a:solidFill>
          <a:ln/>
        </p:spPr>
      </p:sp>
      <p:sp>
        <p:nvSpPr>
          <p:cNvPr id="44" name="Text 42"/>
          <p:cNvSpPr/>
          <p:nvPr/>
        </p:nvSpPr>
        <p:spPr>
          <a:xfrm>
            <a:off x="6578657" y="5501472"/>
            <a:ext cx="3662166" cy="219182"/>
          </a:xfrm>
          <a:prstGeom prst="rect">
            <a:avLst/>
          </a:prstGeom>
          <a:noFill/>
          <a:ln/>
        </p:spPr>
        <p:txBody>
          <a:bodyPr wrap="square" lIns="0" tIns="0" rIns="0" bIns="0" rtlCol="0" anchor="ctr"/>
          <a:lstStyle/>
          <a:p>
            <a:pPr>
              <a:lnSpc>
                <a:spcPct val="130000"/>
              </a:lnSpc>
            </a:pPr>
            <a:r>
              <a:rPr lang="en-US" sz="1151" b="1" dirty="0">
                <a:solidFill>
                  <a:srgbClr val="E8EAED"/>
                </a:solidFill>
                <a:latin typeface="Liter" pitchFamily="34" charset="0"/>
                <a:ea typeface="Liter" pitchFamily="34" charset="-122"/>
                <a:cs typeface="Liter" pitchFamily="34" charset="-120"/>
              </a:rPr>
              <a:t>Authenticated Origin Pulls</a:t>
            </a:r>
            <a:endParaRPr lang="en-US" sz="1600" dirty="0"/>
          </a:p>
        </p:txBody>
      </p:sp>
      <p:sp>
        <p:nvSpPr>
          <p:cNvPr id="45" name="Text 43"/>
          <p:cNvSpPr/>
          <p:nvPr/>
        </p:nvSpPr>
        <p:spPr>
          <a:xfrm>
            <a:off x="6578657" y="5720654"/>
            <a:ext cx="3662166" cy="219182"/>
          </a:xfrm>
          <a:prstGeom prst="rect">
            <a:avLst/>
          </a:prstGeom>
          <a:noFill/>
          <a:ln/>
        </p:spPr>
        <p:txBody>
          <a:bodyPr wrap="square" lIns="0" tIns="0" rIns="0" bIns="0" rtlCol="0" anchor="ctr"/>
          <a:lstStyle/>
          <a:p>
            <a:pPr>
              <a:lnSpc>
                <a:spcPct val="130000"/>
              </a:lnSpc>
            </a:pPr>
            <a:r>
              <a:rPr lang="en-US" sz="1151" dirty="0">
                <a:solidFill>
                  <a:srgbClr val="E8EAED">
                    <a:alpha val="70000"/>
                  </a:srgbClr>
                </a:solidFill>
                <a:latin typeface="Liter" pitchFamily="34" charset="0"/>
                <a:ea typeface="Liter" pitchFamily="34" charset="-122"/>
                <a:cs typeface="Liter" pitchFamily="34" charset="-120"/>
              </a:rPr>
              <a:t>Uses Cloudflare's global CA certificate. Simple to set up.</a:t>
            </a:r>
            <a:endParaRPr lang="en-US" sz="1600" dirty="0"/>
          </a:p>
        </p:txBody>
      </p:sp>
      <p:sp>
        <p:nvSpPr>
          <p:cNvPr id="46" name="Shape 44"/>
          <p:cNvSpPr/>
          <p:nvPr/>
        </p:nvSpPr>
        <p:spPr>
          <a:xfrm>
            <a:off x="6359475" y="6085958"/>
            <a:ext cx="109591" cy="109591"/>
          </a:xfrm>
          <a:custGeom>
            <a:avLst/>
            <a:gdLst/>
            <a:ahLst/>
            <a:cxnLst/>
            <a:rect l="l" t="t" r="r" b="b"/>
            <a:pathLst>
              <a:path w="109591" h="109591">
                <a:moveTo>
                  <a:pt x="54796" y="0"/>
                </a:moveTo>
                <a:lnTo>
                  <a:pt x="54796" y="0"/>
                </a:lnTo>
                <a:cubicBezTo>
                  <a:pt x="85038" y="0"/>
                  <a:pt x="109591" y="24553"/>
                  <a:pt x="109591" y="54796"/>
                </a:cubicBezTo>
                <a:lnTo>
                  <a:pt x="109591" y="54796"/>
                </a:lnTo>
                <a:cubicBezTo>
                  <a:pt x="109591" y="85038"/>
                  <a:pt x="85038" y="109591"/>
                  <a:pt x="54796" y="109591"/>
                </a:cubicBezTo>
                <a:lnTo>
                  <a:pt x="54796" y="109591"/>
                </a:lnTo>
                <a:cubicBezTo>
                  <a:pt x="24553" y="109591"/>
                  <a:pt x="0" y="85038"/>
                  <a:pt x="0" y="54796"/>
                </a:cubicBezTo>
                <a:lnTo>
                  <a:pt x="0" y="54796"/>
                </a:lnTo>
                <a:cubicBezTo>
                  <a:pt x="0" y="24553"/>
                  <a:pt x="24553" y="0"/>
                  <a:pt x="54796" y="0"/>
                </a:cubicBezTo>
                <a:close/>
              </a:path>
            </a:pathLst>
          </a:custGeom>
          <a:solidFill>
            <a:srgbClr val="00A4E0"/>
          </a:solidFill>
          <a:ln/>
        </p:spPr>
      </p:sp>
      <p:sp>
        <p:nvSpPr>
          <p:cNvPr id="47" name="Text 45"/>
          <p:cNvSpPr/>
          <p:nvPr/>
        </p:nvSpPr>
        <p:spPr>
          <a:xfrm>
            <a:off x="6578657" y="6012897"/>
            <a:ext cx="3105079" cy="219182"/>
          </a:xfrm>
          <a:prstGeom prst="rect">
            <a:avLst/>
          </a:prstGeom>
          <a:noFill/>
          <a:ln/>
        </p:spPr>
        <p:txBody>
          <a:bodyPr wrap="square" lIns="0" tIns="0" rIns="0" bIns="0" rtlCol="0" anchor="ctr"/>
          <a:lstStyle/>
          <a:p>
            <a:pPr>
              <a:lnSpc>
                <a:spcPct val="130000"/>
              </a:lnSpc>
            </a:pPr>
            <a:r>
              <a:rPr lang="en-US" sz="1151" b="1" dirty="0">
                <a:solidFill>
                  <a:srgbClr val="E8EAED"/>
                </a:solidFill>
                <a:latin typeface="Liter" pitchFamily="34" charset="0"/>
                <a:ea typeface="Liter" pitchFamily="34" charset="-122"/>
                <a:cs typeface="Liter" pitchFamily="34" charset="-120"/>
              </a:rPr>
              <a:t>API Shield mTLS</a:t>
            </a:r>
            <a:endParaRPr lang="en-US" sz="1600" dirty="0"/>
          </a:p>
        </p:txBody>
      </p:sp>
      <p:sp>
        <p:nvSpPr>
          <p:cNvPr id="48" name="Text 46"/>
          <p:cNvSpPr/>
          <p:nvPr/>
        </p:nvSpPr>
        <p:spPr>
          <a:xfrm>
            <a:off x="6578657" y="6232079"/>
            <a:ext cx="3105079" cy="219182"/>
          </a:xfrm>
          <a:prstGeom prst="rect">
            <a:avLst/>
          </a:prstGeom>
          <a:noFill/>
          <a:ln/>
        </p:spPr>
        <p:txBody>
          <a:bodyPr wrap="square" lIns="0" tIns="0" rIns="0" bIns="0" rtlCol="0" anchor="ctr"/>
          <a:lstStyle/>
          <a:p>
            <a:pPr>
              <a:lnSpc>
                <a:spcPct val="130000"/>
              </a:lnSpc>
            </a:pPr>
            <a:r>
              <a:rPr lang="en-US" sz="1151" dirty="0">
                <a:solidFill>
                  <a:srgbClr val="E8EAED">
                    <a:alpha val="70000"/>
                  </a:srgbClr>
                </a:solidFill>
                <a:latin typeface="Liter" pitchFamily="34" charset="0"/>
                <a:ea typeface="Liter" pitchFamily="34" charset="-122"/>
                <a:cs typeface="Liter" pitchFamily="34" charset="-120"/>
              </a:rPr>
              <a:t>Custom client certificates with granular control.</a:t>
            </a:r>
            <a:endParaRPr lang="en-US" sz="16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50" kern="0" dirty="0">
                <a:solidFill>
                  <a:srgbClr val="F47C20"/>
                </a:solidFill>
                <a:latin typeface="Liter" pitchFamily="34" charset="0"/>
                <a:ea typeface="Liter" pitchFamily="34" charset="-122"/>
                <a:cs typeface="Liter" pitchFamily="34" charset="-120"/>
              </a:rPr>
              <a:t>AUTHENTICATED ORIGIN PULLS</a:t>
            </a:r>
            <a:endParaRPr lang="en-US" sz="1600" dirty="0"/>
          </a:p>
        </p:txBody>
      </p:sp>
      <p:sp>
        <p:nvSpPr>
          <p:cNvPr id="3" name="Text 1"/>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E8EAED"/>
                </a:solidFill>
                <a:latin typeface="Liter" pitchFamily="34" charset="0"/>
                <a:ea typeface="Liter" pitchFamily="34" charset="-122"/>
                <a:cs typeface="Liter" pitchFamily="34" charset="-120"/>
              </a:rPr>
              <a:t>Nginx Configuration</a:t>
            </a:r>
            <a:endParaRPr lang="en-US" sz="1600" dirty="0"/>
          </a:p>
        </p:txBody>
      </p:sp>
      <p:sp>
        <p:nvSpPr>
          <p:cNvPr id="4" name="Shape 2"/>
          <p:cNvSpPr/>
          <p:nvPr/>
        </p:nvSpPr>
        <p:spPr>
          <a:xfrm>
            <a:off x="320675" y="955675"/>
            <a:ext cx="5721350" cy="2562225"/>
          </a:xfrm>
          <a:custGeom>
            <a:avLst/>
            <a:gdLst/>
            <a:ahLst/>
            <a:cxnLst/>
            <a:rect l="l" t="t" r="r" b="b"/>
            <a:pathLst>
              <a:path w="5721350" h="2562225">
                <a:moveTo>
                  <a:pt x="95238" y="0"/>
                </a:moveTo>
                <a:lnTo>
                  <a:pt x="5626112" y="0"/>
                </a:lnTo>
                <a:cubicBezTo>
                  <a:pt x="5678711" y="0"/>
                  <a:pt x="5721350" y="42639"/>
                  <a:pt x="5721350" y="95238"/>
                </a:cubicBezTo>
                <a:lnTo>
                  <a:pt x="5721350" y="2466987"/>
                </a:lnTo>
                <a:cubicBezTo>
                  <a:pt x="5721350" y="2519586"/>
                  <a:pt x="5678711" y="2562225"/>
                  <a:pt x="5626112" y="2562225"/>
                </a:cubicBezTo>
                <a:lnTo>
                  <a:pt x="95238" y="2562225"/>
                </a:lnTo>
                <a:cubicBezTo>
                  <a:pt x="42639" y="2562225"/>
                  <a:pt x="0" y="2519586"/>
                  <a:pt x="0" y="2466987"/>
                </a:cubicBezTo>
                <a:lnTo>
                  <a:pt x="0" y="95238"/>
                </a:lnTo>
                <a:cubicBezTo>
                  <a:pt x="0" y="42675"/>
                  <a:pt x="42675" y="0"/>
                  <a:pt x="95238" y="0"/>
                </a:cubicBezTo>
                <a:close/>
              </a:path>
            </a:pathLst>
          </a:custGeom>
          <a:solidFill>
            <a:srgbClr val="48515E">
              <a:alpha val="20000"/>
            </a:srgbClr>
          </a:solidFill>
          <a:ln w="10160">
            <a:solidFill>
              <a:srgbClr val="48515E">
                <a:alpha val="40000"/>
              </a:srgbClr>
            </a:solidFill>
            <a:prstDash val="solid"/>
          </a:ln>
        </p:spPr>
      </p:sp>
      <p:sp>
        <p:nvSpPr>
          <p:cNvPr id="5" name="Shape 3"/>
          <p:cNvSpPr/>
          <p:nvPr/>
        </p:nvSpPr>
        <p:spPr>
          <a:xfrm>
            <a:off x="419100" y="1054098"/>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F47C20">
              <a:alpha val="20000"/>
            </a:srgbClr>
          </a:solidFill>
          <a:ln/>
        </p:spPr>
      </p:sp>
      <p:sp>
        <p:nvSpPr>
          <p:cNvPr id="6" name="Shape 4"/>
          <p:cNvSpPr/>
          <p:nvPr/>
        </p:nvSpPr>
        <p:spPr>
          <a:xfrm>
            <a:off x="517327" y="1141411"/>
            <a:ext cx="125016" cy="142875"/>
          </a:xfrm>
          <a:custGeom>
            <a:avLst/>
            <a:gdLst/>
            <a:ahLst/>
            <a:cxnLst/>
            <a:rect l="l" t="t" r="r" b="b"/>
            <a:pathLst>
              <a:path w="125016" h="142875">
                <a:moveTo>
                  <a:pt x="71438" y="8930"/>
                </a:moveTo>
                <a:cubicBezTo>
                  <a:pt x="71438" y="3990"/>
                  <a:pt x="67447" y="0"/>
                  <a:pt x="62508" y="0"/>
                </a:cubicBezTo>
                <a:cubicBezTo>
                  <a:pt x="57569" y="0"/>
                  <a:pt x="53578" y="3990"/>
                  <a:pt x="53578" y="8930"/>
                </a:cubicBezTo>
                <a:lnTo>
                  <a:pt x="53578" y="67726"/>
                </a:lnTo>
                <a:lnTo>
                  <a:pt x="42025" y="56173"/>
                </a:lnTo>
                <a:cubicBezTo>
                  <a:pt x="38537" y="52685"/>
                  <a:pt x="32872" y="52685"/>
                  <a:pt x="29384" y="56173"/>
                </a:cubicBezTo>
                <a:cubicBezTo>
                  <a:pt x="25896" y="59661"/>
                  <a:pt x="25896" y="65326"/>
                  <a:pt x="29384" y="68814"/>
                </a:cubicBezTo>
                <a:lnTo>
                  <a:pt x="56173" y="95603"/>
                </a:lnTo>
                <a:cubicBezTo>
                  <a:pt x="59661" y="99092"/>
                  <a:pt x="65326" y="99092"/>
                  <a:pt x="68814" y="95603"/>
                </a:cubicBezTo>
                <a:lnTo>
                  <a:pt x="95603" y="68814"/>
                </a:lnTo>
                <a:cubicBezTo>
                  <a:pt x="99092" y="65326"/>
                  <a:pt x="99092" y="59661"/>
                  <a:pt x="95603" y="56173"/>
                </a:cubicBezTo>
                <a:cubicBezTo>
                  <a:pt x="92115" y="52685"/>
                  <a:pt x="86451" y="52685"/>
                  <a:pt x="82962" y="56173"/>
                </a:cubicBezTo>
                <a:lnTo>
                  <a:pt x="71438" y="67726"/>
                </a:lnTo>
                <a:lnTo>
                  <a:pt x="71438" y="8930"/>
                </a:lnTo>
                <a:close/>
                <a:moveTo>
                  <a:pt x="17859" y="89297"/>
                </a:moveTo>
                <a:cubicBezTo>
                  <a:pt x="8009" y="89297"/>
                  <a:pt x="0" y="97306"/>
                  <a:pt x="0" y="107156"/>
                </a:cubicBezTo>
                <a:lnTo>
                  <a:pt x="0" y="116086"/>
                </a:lnTo>
                <a:cubicBezTo>
                  <a:pt x="0" y="125936"/>
                  <a:pt x="8009" y="133945"/>
                  <a:pt x="17859" y="133945"/>
                </a:cubicBezTo>
                <a:lnTo>
                  <a:pt x="107156" y="133945"/>
                </a:lnTo>
                <a:cubicBezTo>
                  <a:pt x="117007" y="133945"/>
                  <a:pt x="125016" y="125936"/>
                  <a:pt x="125016" y="116086"/>
                </a:cubicBezTo>
                <a:lnTo>
                  <a:pt x="125016" y="107156"/>
                </a:lnTo>
                <a:cubicBezTo>
                  <a:pt x="125016" y="97306"/>
                  <a:pt x="117007" y="89297"/>
                  <a:pt x="107156" y="89297"/>
                </a:cubicBezTo>
                <a:lnTo>
                  <a:pt x="94069" y="89297"/>
                </a:lnTo>
                <a:lnTo>
                  <a:pt x="78274" y="105091"/>
                </a:lnTo>
                <a:cubicBezTo>
                  <a:pt x="69568" y="113798"/>
                  <a:pt x="55420" y="113798"/>
                  <a:pt x="46713" y="105091"/>
                </a:cubicBezTo>
                <a:lnTo>
                  <a:pt x="30947" y="89297"/>
                </a:lnTo>
                <a:lnTo>
                  <a:pt x="17859" y="89297"/>
                </a:lnTo>
                <a:close/>
                <a:moveTo>
                  <a:pt x="102691" y="104924"/>
                </a:moveTo>
                <a:cubicBezTo>
                  <a:pt x="106388" y="104924"/>
                  <a:pt x="109389" y="107925"/>
                  <a:pt x="109389" y="111621"/>
                </a:cubicBezTo>
                <a:cubicBezTo>
                  <a:pt x="109389" y="115317"/>
                  <a:pt x="106388" y="118318"/>
                  <a:pt x="102691" y="118318"/>
                </a:cubicBezTo>
                <a:cubicBezTo>
                  <a:pt x="98995" y="118318"/>
                  <a:pt x="95994" y="115317"/>
                  <a:pt x="95994" y="111621"/>
                </a:cubicBezTo>
                <a:cubicBezTo>
                  <a:pt x="95994" y="107925"/>
                  <a:pt x="98995" y="104924"/>
                  <a:pt x="102691" y="104924"/>
                </a:cubicBezTo>
                <a:close/>
              </a:path>
            </a:pathLst>
          </a:custGeom>
          <a:solidFill>
            <a:srgbClr val="F47C20"/>
          </a:solidFill>
          <a:ln/>
        </p:spPr>
      </p:sp>
      <p:sp>
        <p:nvSpPr>
          <p:cNvPr id="7" name="Text 5"/>
          <p:cNvSpPr/>
          <p:nvPr/>
        </p:nvSpPr>
        <p:spPr>
          <a:xfrm>
            <a:off x="831850" y="1101723"/>
            <a:ext cx="2047875" cy="222250"/>
          </a:xfrm>
          <a:prstGeom prst="rect">
            <a:avLst/>
          </a:prstGeom>
          <a:noFill/>
          <a:ln/>
        </p:spPr>
        <p:txBody>
          <a:bodyPr wrap="square" lIns="0" tIns="0" rIns="0" bIns="0" rtlCol="0" anchor="ctr"/>
          <a:lstStyle/>
          <a:p>
            <a:pPr>
              <a:lnSpc>
                <a:spcPct val="120000"/>
              </a:lnSpc>
            </a:pPr>
            <a:r>
              <a:rPr lang="en-US" sz="1250" b="1" dirty="0">
                <a:solidFill>
                  <a:srgbClr val="E8EAED"/>
                </a:solidFill>
                <a:latin typeface="Liter" pitchFamily="34" charset="0"/>
                <a:ea typeface="Liter" pitchFamily="34" charset="-122"/>
                <a:cs typeface="Liter" pitchFamily="34" charset="-120"/>
              </a:rPr>
              <a:t>Step 1: Download Certificate</a:t>
            </a:r>
            <a:endParaRPr lang="en-US" sz="1600" dirty="0"/>
          </a:p>
        </p:txBody>
      </p:sp>
      <p:sp>
        <p:nvSpPr>
          <p:cNvPr id="8" name="Shape 6"/>
          <p:cNvSpPr/>
          <p:nvPr/>
        </p:nvSpPr>
        <p:spPr>
          <a:xfrm>
            <a:off x="428625" y="1466848"/>
            <a:ext cx="5518150" cy="1206500"/>
          </a:xfrm>
          <a:custGeom>
            <a:avLst/>
            <a:gdLst/>
            <a:ahLst/>
            <a:cxnLst/>
            <a:rect l="l" t="t" r="r" b="b"/>
            <a:pathLst>
              <a:path w="5518150" h="1206500">
                <a:moveTo>
                  <a:pt x="19050" y="0"/>
                </a:moveTo>
                <a:lnTo>
                  <a:pt x="5454652" y="0"/>
                </a:lnTo>
                <a:cubicBezTo>
                  <a:pt x="5489721" y="0"/>
                  <a:pt x="5518150" y="28429"/>
                  <a:pt x="5518150" y="63498"/>
                </a:cubicBezTo>
                <a:lnTo>
                  <a:pt x="5518150" y="1143002"/>
                </a:lnTo>
                <a:cubicBezTo>
                  <a:pt x="5518150" y="1178071"/>
                  <a:pt x="5489721" y="1206500"/>
                  <a:pt x="5454652" y="1206500"/>
                </a:cubicBezTo>
                <a:lnTo>
                  <a:pt x="19050" y="1206500"/>
                </a:lnTo>
                <a:cubicBezTo>
                  <a:pt x="8536" y="1206500"/>
                  <a:pt x="0" y="1197964"/>
                  <a:pt x="0" y="1187450"/>
                </a:cubicBezTo>
                <a:lnTo>
                  <a:pt x="0" y="19050"/>
                </a:lnTo>
                <a:cubicBezTo>
                  <a:pt x="0" y="8536"/>
                  <a:pt x="8536" y="0"/>
                  <a:pt x="19050" y="0"/>
                </a:cubicBezTo>
                <a:close/>
              </a:path>
            </a:pathLst>
          </a:custGeom>
          <a:solidFill>
            <a:srgbClr val="1A1D21">
              <a:alpha val="90196"/>
            </a:srgbClr>
          </a:solidFill>
          <a:ln/>
        </p:spPr>
      </p:sp>
      <p:sp>
        <p:nvSpPr>
          <p:cNvPr id="9" name="Shape 7"/>
          <p:cNvSpPr/>
          <p:nvPr/>
        </p:nvSpPr>
        <p:spPr>
          <a:xfrm>
            <a:off x="428625" y="1466848"/>
            <a:ext cx="19050" cy="1206500"/>
          </a:xfrm>
          <a:custGeom>
            <a:avLst/>
            <a:gdLst/>
            <a:ahLst/>
            <a:cxnLst/>
            <a:rect l="l" t="t" r="r" b="b"/>
            <a:pathLst>
              <a:path w="19050" h="1206500">
                <a:moveTo>
                  <a:pt x="19050" y="0"/>
                </a:moveTo>
                <a:lnTo>
                  <a:pt x="19050" y="0"/>
                </a:lnTo>
                <a:lnTo>
                  <a:pt x="19050" y="1206500"/>
                </a:lnTo>
                <a:lnTo>
                  <a:pt x="19050" y="1206500"/>
                </a:lnTo>
                <a:cubicBezTo>
                  <a:pt x="8536" y="1206500"/>
                  <a:pt x="0" y="1197964"/>
                  <a:pt x="0" y="1187450"/>
                </a:cubicBezTo>
                <a:lnTo>
                  <a:pt x="0" y="19050"/>
                </a:lnTo>
                <a:cubicBezTo>
                  <a:pt x="0" y="8536"/>
                  <a:pt x="8536" y="0"/>
                  <a:pt x="19050" y="0"/>
                </a:cubicBezTo>
                <a:close/>
              </a:path>
            </a:pathLst>
          </a:custGeom>
          <a:solidFill>
            <a:srgbClr val="F47C20"/>
          </a:solidFill>
          <a:ln/>
        </p:spPr>
      </p:sp>
      <p:sp>
        <p:nvSpPr>
          <p:cNvPr id="10" name="Text 8"/>
          <p:cNvSpPr/>
          <p:nvPr/>
        </p:nvSpPr>
        <p:spPr>
          <a:xfrm>
            <a:off x="533400" y="1562098"/>
            <a:ext cx="5373688" cy="158750"/>
          </a:xfrm>
          <a:prstGeom prst="rect">
            <a:avLst/>
          </a:prstGeom>
          <a:noFill/>
          <a:ln/>
        </p:spPr>
        <p:txBody>
          <a:bodyPr wrap="square" lIns="0" tIns="0" rIns="0" bIns="0" rtlCol="0" anchor="ctr"/>
          <a:lstStyle/>
          <a:p>
            <a:pPr>
              <a:lnSpc>
                <a:spcPct val="120000"/>
              </a:lnSpc>
            </a:pPr>
            <a:r>
              <a:rPr lang="en-US" sz="875" b="1" dirty="0">
                <a:solidFill>
                  <a:srgbClr val="F47C20"/>
                </a:solidFill>
                <a:latin typeface="MiSans" pitchFamily="34" charset="0"/>
                <a:ea typeface="MiSans" pitchFamily="34" charset="-122"/>
                <a:cs typeface="MiSans" pitchFamily="34" charset="-120"/>
              </a:rPr>
              <a:t># Download Cloudflare Origin Pull CA</a:t>
            </a:r>
            <a:endParaRPr lang="en-US" sz="1600" dirty="0"/>
          </a:p>
        </p:txBody>
      </p:sp>
      <p:sp>
        <p:nvSpPr>
          <p:cNvPr id="11" name="Text 9"/>
          <p:cNvSpPr/>
          <p:nvPr/>
        </p:nvSpPr>
        <p:spPr>
          <a:xfrm>
            <a:off x="533400" y="1784348"/>
            <a:ext cx="5373688" cy="793750"/>
          </a:xfrm>
          <a:prstGeom prst="rect">
            <a:avLst/>
          </a:prstGeom>
          <a:noFill/>
          <a:ln/>
        </p:spPr>
        <p:txBody>
          <a:bodyPr wrap="square" lIns="0" tIns="0" rIns="0" bIns="0" rtlCol="0" anchor="ctr"/>
          <a:lstStyle/>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cd /etc/ssl/certs</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wget https://support.cloudflare.com/hc/en-us/\</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article_attachments/360044928032/\</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origin-pull-ca.pem</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mv origin-pull-ca.pem cloudflare.crt</a:t>
            </a:r>
            <a:endParaRPr lang="en-US" sz="1600" dirty="0"/>
          </a:p>
        </p:txBody>
      </p:sp>
      <p:sp>
        <p:nvSpPr>
          <p:cNvPr id="12" name="Shape 10"/>
          <p:cNvSpPr/>
          <p:nvPr/>
        </p:nvSpPr>
        <p:spPr>
          <a:xfrm>
            <a:off x="422275" y="2771773"/>
            <a:ext cx="5522913" cy="641350"/>
          </a:xfrm>
          <a:custGeom>
            <a:avLst/>
            <a:gdLst/>
            <a:ahLst/>
            <a:cxnLst/>
            <a:rect l="l" t="t" r="r" b="b"/>
            <a:pathLst>
              <a:path w="5522913" h="641350">
                <a:moveTo>
                  <a:pt x="63500" y="0"/>
                </a:moveTo>
                <a:lnTo>
                  <a:pt x="5459412" y="0"/>
                </a:lnTo>
                <a:cubicBezTo>
                  <a:pt x="5494483" y="0"/>
                  <a:pt x="5522913" y="28430"/>
                  <a:pt x="5522913" y="63500"/>
                </a:cubicBezTo>
                <a:lnTo>
                  <a:pt x="5522913" y="577850"/>
                </a:lnTo>
                <a:cubicBezTo>
                  <a:pt x="5522913" y="612920"/>
                  <a:pt x="5494483" y="641350"/>
                  <a:pt x="5459412" y="641350"/>
                </a:cubicBezTo>
                <a:lnTo>
                  <a:pt x="63500" y="641350"/>
                </a:lnTo>
                <a:cubicBezTo>
                  <a:pt x="28430" y="641350"/>
                  <a:pt x="0" y="612920"/>
                  <a:pt x="0" y="577850"/>
                </a:cubicBezTo>
                <a:lnTo>
                  <a:pt x="0" y="63500"/>
                </a:lnTo>
                <a:cubicBezTo>
                  <a:pt x="0" y="28430"/>
                  <a:pt x="28430" y="0"/>
                  <a:pt x="63500" y="0"/>
                </a:cubicBezTo>
                <a:close/>
              </a:path>
            </a:pathLst>
          </a:custGeom>
          <a:solidFill>
            <a:srgbClr val="00A4E0">
              <a:alpha val="10196"/>
            </a:srgbClr>
          </a:solidFill>
          <a:ln w="10160">
            <a:solidFill>
              <a:srgbClr val="00A4E0">
                <a:alpha val="30196"/>
              </a:srgbClr>
            </a:solidFill>
            <a:prstDash val="solid"/>
          </a:ln>
        </p:spPr>
      </p:sp>
      <p:sp>
        <p:nvSpPr>
          <p:cNvPr id="13" name="Shape 11"/>
          <p:cNvSpPr/>
          <p:nvPr/>
        </p:nvSpPr>
        <p:spPr>
          <a:xfrm>
            <a:off x="536575" y="2895598"/>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55563" y="39688"/>
                </a:moveTo>
                <a:cubicBezTo>
                  <a:pt x="55563" y="35307"/>
                  <a:pt x="59119" y="31750"/>
                  <a:pt x="63500" y="31750"/>
                </a:cubicBezTo>
                <a:cubicBezTo>
                  <a:pt x="67881" y="31750"/>
                  <a:pt x="71438" y="35307"/>
                  <a:pt x="71438" y="39688"/>
                </a:cubicBezTo>
                <a:cubicBezTo>
                  <a:pt x="71438" y="44068"/>
                  <a:pt x="67881" y="47625"/>
                  <a:pt x="63500" y="47625"/>
                </a:cubicBezTo>
                <a:cubicBezTo>
                  <a:pt x="59119" y="47625"/>
                  <a:pt x="55563" y="44068"/>
                  <a:pt x="55563" y="39688"/>
                </a:cubicBezTo>
                <a:close/>
                <a:moveTo>
                  <a:pt x="53578" y="55563"/>
                </a:moveTo>
                <a:lnTo>
                  <a:pt x="65484" y="55563"/>
                </a:lnTo>
                <a:cubicBezTo>
                  <a:pt x="68783" y="55563"/>
                  <a:pt x="71438" y="58217"/>
                  <a:pt x="71438" y="61516"/>
                </a:cubicBezTo>
                <a:lnTo>
                  <a:pt x="71438" y="83344"/>
                </a:lnTo>
                <a:lnTo>
                  <a:pt x="73422" y="83344"/>
                </a:lnTo>
                <a:cubicBezTo>
                  <a:pt x="76721" y="83344"/>
                  <a:pt x="79375" y="85998"/>
                  <a:pt x="79375" y="89297"/>
                </a:cubicBezTo>
                <a:cubicBezTo>
                  <a:pt x="79375" y="92596"/>
                  <a:pt x="76721" y="95250"/>
                  <a:pt x="73422" y="95250"/>
                </a:cubicBezTo>
                <a:lnTo>
                  <a:pt x="53578" y="95250"/>
                </a:lnTo>
                <a:cubicBezTo>
                  <a:pt x="50279" y="95250"/>
                  <a:pt x="47625" y="92596"/>
                  <a:pt x="47625" y="89297"/>
                </a:cubicBezTo>
                <a:cubicBezTo>
                  <a:pt x="47625" y="85998"/>
                  <a:pt x="50279" y="83344"/>
                  <a:pt x="53578" y="83344"/>
                </a:cubicBezTo>
                <a:lnTo>
                  <a:pt x="59531" y="83344"/>
                </a:lnTo>
                <a:lnTo>
                  <a:pt x="59531" y="67469"/>
                </a:lnTo>
                <a:lnTo>
                  <a:pt x="53578" y="67469"/>
                </a:lnTo>
                <a:cubicBezTo>
                  <a:pt x="50279" y="67469"/>
                  <a:pt x="47625" y="64815"/>
                  <a:pt x="47625" y="61516"/>
                </a:cubicBezTo>
                <a:cubicBezTo>
                  <a:pt x="47625" y="58217"/>
                  <a:pt x="50279" y="55563"/>
                  <a:pt x="53578" y="55563"/>
                </a:cubicBezTo>
                <a:close/>
              </a:path>
            </a:pathLst>
          </a:custGeom>
          <a:solidFill>
            <a:srgbClr val="00A4E0"/>
          </a:solidFill>
          <a:ln/>
        </p:spPr>
      </p:sp>
      <p:sp>
        <p:nvSpPr>
          <p:cNvPr id="14" name="Text 12"/>
          <p:cNvSpPr/>
          <p:nvPr/>
        </p:nvSpPr>
        <p:spPr>
          <a:xfrm>
            <a:off x="719137" y="2870197"/>
            <a:ext cx="5191125" cy="190500"/>
          </a:xfrm>
          <a:prstGeom prst="rect">
            <a:avLst/>
          </a:prstGeom>
          <a:noFill/>
          <a:ln/>
        </p:spPr>
        <p:txBody>
          <a:bodyPr wrap="square" lIns="0" tIns="0" rIns="0" bIns="0" rtlCol="0" anchor="ctr"/>
          <a:lstStyle/>
          <a:p>
            <a:pPr>
              <a:lnSpc>
                <a:spcPct val="130000"/>
              </a:lnSpc>
            </a:pPr>
            <a:r>
              <a:rPr lang="en-US" sz="1000" b="1" dirty="0">
                <a:solidFill>
                  <a:srgbClr val="E8EAED"/>
                </a:solidFill>
                <a:latin typeface="Liter" pitchFamily="34" charset="0"/>
                <a:ea typeface="Liter" pitchFamily="34" charset="-122"/>
                <a:cs typeface="Liter" pitchFamily="34" charset="-120"/>
              </a:rPr>
              <a:t>Certificate Location</a:t>
            </a:r>
            <a:endParaRPr lang="en-US" sz="1600" dirty="0"/>
          </a:p>
        </p:txBody>
      </p:sp>
      <p:sp>
        <p:nvSpPr>
          <p:cNvPr id="15" name="Text 13"/>
          <p:cNvSpPr/>
          <p:nvPr/>
        </p:nvSpPr>
        <p:spPr>
          <a:xfrm>
            <a:off x="520700" y="3124197"/>
            <a:ext cx="5389563" cy="190500"/>
          </a:xfrm>
          <a:prstGeom prst="rect">
            <a:avLst/>
          </a:prstGeom>
          <a:noFill/>
          <a:ln/>
        </p:spPr>
        <p:txBody>
          <a:bodyPr wrap="square" lIns="0" tIns="0" rIns="0" bIns="0" rtlCol="0" anchor="ctr"/>
          <a:lstStyle/>
          <a:p>
            <a:pPr>
              <a:lnSpc>
                <a:spcPct val="130000"/>
              </a:lnSpc>
            </a:pPr>
            <a:r>
              <a:rPr lang="en-US" sz="1000" dirty="0">
                <a:solidFill>
                  <a:srgbClr val="E8EAED">
                    <a:alpha val="80000"/>
                  </a:srgbClr>
                </a:solidFill>
                <a:latin typeface="Liter" pitchFamily="34" charset="0"/>
                <a:ea typeface="Liter" pitchFamily="34" charset="-122"/>
                <a:cs typeface="Liter" pitchFamily="34" charset="-120"/>
              </a:rPr>
              <a:t>Store in </a:t>
            </a:r>
            <a:pPr>
              <a:lnSpc>
                <a:spcPct val="130000"/>
              </a:lnSpc>
            </a:pPr>
            <a:r>
              <a:rPr lang="en-US" sz="1000" dirty="0">
                <a:solidFill>
                  <a:srgbClr val="00A4E0"/>
                </a:solidFill>
                <a:latin typeface="MiSans" pitchFamily="34" charset="0"/>
                <a:ea typeface="MiSans" pitchFamily="34" charset="-122"/>
                <a:cs typeface="MiSans" pitchFamily="34" charset="-120"/>
              </a:rPr>
              <a:t>/etc/ssl/certs/</a:t>
            </a:r>
            <a:pPr>
              <a:lnSpc>
                <a:spcPct val="130000"/>
              </a:lnSpc>
            </a:pPr>
            <a:r>
              <a:rPr lang="en-US" sz="1000" dirty="0">
                <a:solidFill>
                  <a:srgbClr val="E8EAED">
                    <a:alpha val="80000"/>
                  </a:srgbClr>
                </a:solidFill>
                <a:latin typeface="Liter" pitchFamily="34" charset="0"/>
                <a:ea typeface="Liter" pitchFamily="34" charset="-122"/>
                <a:cs typeface="Liter" pitchFamily="34" charset="-120"/>
              </a:rPr>
              <a:t> or your preferred SSL directory. Ensure proper permissions (644).</a:t>
            </a:r>
            <a:endParaRPr lang="en-US" sz="1600" dirty="0"/>
          </a:p>
        </p:txBody>
      </p:sp>
      <p:sp>
        <p:nvSpPr>
          <p:cNvPr id="16" name="Shape 14"/>
          <p:cNvSpPr/>
          <p:nvPr/>
        </p:nvSpPr>
        <p:spPr>
          <a:xfrm>
            <a:off x="320675" y="3616319"/>
            <a:ext cx="5721350" cy="2292350"/>
          </a:xfrm>
          <a:custGeom>
            <a:avLst/>
            <a:gdLst/>
            <a:ahLst/>
            <a:cxnLst/>
            <a:rect l="l" t="t" r="r" b="b"/>
            <a:pathLst>
              <a:path w="5721350" h="2292350">
                <a:moveTo>
                  <a:pt x="95247" y="0"/>
                </a:moveTo>
                <a:lnTo>
                  <a:pt x="5626103" y="0"/>
                </a:lnTo>
                <a:cubicBezTo>
                  <a:pt x="5678706" y="0"/>
                  <a:pt x="5721350" y="42644"/>
                  <a:pt x="5721350" y="95247"/>
                </a:cubicBezTo>
                <a:lnTo>
                  <a:pt x="5721350" y="2197103"/>
                </a:lnTo>
                <a:cubicBezTo>
                  <a:pt x="5721350" y="2249706"/>
                  <a:pt x="5678706" y="2292350"/>
                  <a:pt x="5626103" y="2292350"/>
                </a:cubicBezTo>
                <a:lnTo>
                  <a:pt x="95247" y="2292350"/>
                </a:lnTo>
                <a:cubicBezTo>
                  <a:pt x="42644" y="2292350"/>
                  <a:pt x="0" y="2249706"/>
                  <a:pt x="0" y="2197103"/>
                </a:cubicBezTo>
                <a:lnTo>
                  <a:pt x="0" y="95247"/>
                </a:lnTo>
                <a:cubicBezTo>
                  <a:pt x="0" y="42644"/>
                  <a:pt x="42644" y="0"/>
                  <a:pt x="95247" y="0"/>
                </a:cubicBezTo>
                <a:close/>
              </a:path>
            </a:pathLst>
          </a:custGeom>
          <a:solidFill>
            <a:srgbClr val="48515E">
              <a:alpha val="20000"/>
            </a:srgbClr>
          </a:solidFill>
          <a:ln w="10160">
            <a:solidFill>
              <a:srgbClr val="48515E">
                <a:alpha val="40000"/>
              </a:srgbClr>
            </a:solidFill>
            <a:prstDash val="solid"/>
          </a:ln>
        </p:spPr>
      </p:sp>
      <p:sp>
        <p:nvSpPr>
          <p:cNvPr id="17" name="Shape 15"/>
          <p:cNvSpPr/>
          <p:nvPr/>
        </p:nvSpPr>
        <p:spPr>
          <a:xfrm>
            <a:off x="419100" y="371475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00A4E0">
              <a:alpha val="20000"/>
            </a:srgbClr>
          </a:solidFill>
          <a:ln/>
        </p:spPr>
      </p:sp>
      <p:sp>
        <p:nvSpPr>
          <p:cNvPr id="18" name="Shape 16"/>
          <p:cNvSpPr/>
          <p:nvPr/>
        </p:nvSpPr>
        <p:spPr>
          <a:xfrm>
            <a:off x="499467" y="3802062"/>
            <a:ext cx="160734" cy="142875"/>
          </a:xfrm>
          <a:custGeom>
            <a:avLst/>
            <a:gdLst/>
            <a:ahLst/>
            <a:cxnLst/>
            <a:rect l="l" t="t" r="r" b="b"/>
            <a:pathLst>
              <a:path w="160734" h="142875">
                <a:moveTo>
                  <a:pt x="53578" y="17859"/>
                </a:moveTo>
                <a:cubicBezTo>
                  <a:pt x="23999" y="17859"/>
                  <a:pt x="0" y="41858"/>
                  <a:pt x="0" y="71438"/>
                </a:cubicBezTo>
                <a:cubicBezTo>
                  <a:pt x="0" y="101017"/>
                  <a:pt x="23999" y="125016"/>
                  <a:pt x="53578" y="125016"/>
                </a:cubicBezTo>
                <a:lnTo>
                  <a:pt x="107156" y="125016"/>
                </a:lnTo>
                <a:cubicBezTo>
                  <a:pt x="136736" y="125016"/>
                  <a:pt x="160734" y="101017"/>
                  <a:pt x="160734" y="71438"/>
                </a:cubicBezTo>
                <a:cubicBezTo>
                  <a:pt x="160734" y="41858"/>
                  <a:pt x="136736" y="17859"/>
                  <a:pt x="107156" y="17859"/>
                </a:cubicBezTo>
                <a:lnTo>
                  <a:pt x="53578" y="17859"/>
                </a:lnTo>
                <a:close/>
                <a:moveTo>
                  <a:pt x="107156" y="44648"/>
                </a:moveTo>
                <a:cubicBezTo>
                  <a:pt x="121942" y="44648"/>
                  <a:pt x="133945" y="56652"/>
                  <a:pt x="133945" y="71438"/>
                </a:cubicBezTo>
                <a:cubicBezTo>
                  <a:pt x="133945" y="86223"/>
                  <a:pt x="121942" y="98227"/>
                  <a:pt x="107156" y="98227"/>
                </a:cubicBezTo>
                <a:cubicBezTo>
                  <a:pt x="92371" y="98227"/>
                  <a:pt x="80367" y="86223"/>
                  <a:pt x="80367" y="71438"/>
                </a:cubicBezTo>
                <a:cubicBezTo>
                  <a:pt x="80367" y="56652"/>
                  <a:pt x="92371" y="44648"/>
                  <a:pt x="107156" y="44648"/>
                </a:cubicBezTo>
                <a:close/>
              </a:path>
            </a:pathLst>
          </a:custGeom>
          <a:solidFill>
            <a:srgbClr val="00A4E0"/>
          </a:solidFill>
          <a:ln/>
        </p:spPr>
      </p:sp>
      <p:sp>
        <p:nvSpPr>
          <p:cNvPr id="19" name="Text 17"/>
          <p:cNvSpPr/>
          <p:nvPr/>
        </p:nvSpPr>
        <p:spPr>
          <a:xfrm>
            <a:off x="831850" y="3762375"/>
            <a:ext cx="1992313" cy="222250"/>
          </a:xfrm>
          <a:prstGeom prst="rect">
            <a:avLst/>
          </a:prstGeom>
          <a:noFill/>
          <a:ln/>
        </p:spPr>
        <p:txBody>
          <a:bodyPr wrap="square" lIns="0" tIns="0" rIns="0" bIns="0" rtlCol="0" anchor="ctr"/>
          <a:lstStyle/>
          <a:p>
            <a:pPr>
              <a:lnSpc>
                <a:spcPct val="120000"/>
              </a:lnSpc>
            </a:pPr>
            <a:r>
              <a:rPr lang="en-US" sz="1250" b="1" dirty="0">
                <a:solidFill>
                  <a:srgbClr val="E8EAED"/>
                </a:solidFill>
                <a:latin typeface="Liter" pitchFamily="34" charset="0"/>
                <a:ea typeface="Liter" pitchFamily="34" charset="-122"/>
                <a:cs typeface="Liter" pitchFamily="34" charset="-120"/>
              </a:rPr>
              <a:t>Step 3: Enable in Cloudflare</a:t>
            </a:r>
            <a:endParaRPr lang="en-US" sz="1600" dirty="0"/>
          </a:p>
        </p:txBody>
      </p:sp>
      <p:sp>
        <p:nvSpPr>
          <p:cNvPr id="20" name="Text 18"/>
          <p:cNvSpPr/>
          <p:nvPr/>
        </p:nvSpPr>
        <p:spPr>
          <a:xfrm>
            <a:off x="419100" y="4127500"/>
            <a:ext cx="5588000" cy="952500"/>
          </a:xfrm>
          <a:prstGeom prst="rect">
            <a:avLst/>
          </a:prstGeom>
          <a:noFill/>
          <a:ln/>
        </p:spPr>
        <p:txBody>
          <a:bodyPr wrap="square" lIns="0" tIns="0" rIns="0" bIns="0" rtlCol="0" anchor="ctr"/>
          <a:lstStyle/>
          <a:p>
            <a:pPr marL="254000" indent="-254000">
              <a:lnSpc>
                <a:spcPct val="130000"/>
              </a:lnSpc>
              <a:spcBef>
                <a:spcPts val="10"/>
              </a:spcBef>
              <a:buSzPct val="100000"/>
              <a:buFont typeface="+mj-lt"/>
              <a:buAutoNum type="arabicPeriod" startAt="1"/>
            </a:pPr>
            <a:r>
              <a:rPr lang="en-US" sz="1000" dirty="0">
                <a:solidFill>
                  <a:srgbClr val="E8EAED">
                    <a:alpha val="80000"/>
                  </a:srgbClr>
                </a:solidFill>
                <a:latin typeface="Liter" pitchFamily="34" charset="0"/>
                <a:ea typeface="Liter" pitchFamily="34" charset="-122"/>
                <a:cs typeface="Liter" pitchFamily="34" charset="-120"/>
              </a:rPr>
              <a:t>Log in to Cloudflare Dashboard</a:t>
            </a:r>
            <a:endParaRPr lang="en-US" sz="1600" dirty="0"/>
          </a:p>
          <a:p>
            <a:pPr marL="254000" indent="-254000">
              <a:lnSpc>
                <a:spcPct val="130000"/>
              </a:lnSpc>
              <a:spcBef>
                <a:spcPts val="10"/>
              </a:spcBef>
              <a:buSzPct val="100000"/>
              <a:buFont typeface="+mj-lt"/>
              <a:buAutoNum type="arabicPeriod" startAt="1"/>
            </a:pPr>
            <a:r>
              <a:rPr lang="en-US" sz="1000" dirty="0">
                <a:solidFill>
                  <a:srgbClr val="E8EAED">
                    <a:alpha val="80000"/>
                  </a:srgbClr>
                </a:solidFill>
                <a:latin typeface="Liter" pitchFamily="34" charset="0"/>
                <a:ea typeface="Liter" pitchFamily="34" charset="-122"/>
                <a:cs typeface="Liter" pitchFamily="34" charset="-120"/>
              </a:rPr>
              <a:t>Select your domain</a:t>
            </a:r>
            <a:endParaRPr lang="en-US" sz="1600" dirty="0"/>
          </a:p>
          <a:p>
            <a:pPr marL="254000" indent="-254000">
              <a:lnSpc>
                <a:spcPct val="130000"/>
              </a:lnSpc>
              <a:spcBef>
                <a:spcPts val="10"/>
              </a:spcBef>
              <a:buSzPct val="100000"/>
              <a:buFont typeface="+mj-lt"/>
              <a:buAutoNum type="arabicPeriod" startAt="1"/>
            </a:pPr>
            <a:r>
              <a:rPr lang="en-US" sz="1000" dirty="0">
                <a:solidFill>
                  <a:srgbClr val="E8EAED">
                    <a:alpha val="80000"/>
                  </a:srgbClr>
                </a:solidFill>
                <a:latin typeface="Liter" pitchFamily="34" charset="0"/>
                <a:ea typeface="Liter" pitchFamily="34" charset="-122"/>
                <a:cs typeface="Liter" pitchFamily="34" charset="-120"/>
              </a:rPr>
              <a:t>Go to </a:t>
            </a:r>
            <a:pPr>
              <a:lnSpc>
                <a:spcPct val="130000"/>
              </a:lnSpc>
              <a:spcBef>
                <a:spcPts val="10"/>
              </a:spcBef>
            </a:pPr>
            <a:r>
              <a:rPr lang="en-US" sz="1000" b="1" dirty="0">
                <a:solidFill>
                  <a:srgbClr val="E8EAED">
                    <a:alpha val="80000"/>
                  </a:srgbClr>
                </a:solidFill>
                <a:latin typeface="Liter" pitchFamily="34" charset="0"/>
                <a:ea typeface="Liter" pitchFamily="34" charset="-122"/>
                <a:cs typeface="Liter" pitchFamily="34" charset="-120"/>
              </a:rPr>
              <a:t>SSL/TLS → Origin Server</a:t>
            </a:r>
            <a:endParaRPr lang="en-US" sz="1600" dirty="0"/>
          </a:p>
          <a:p>
            <a:pPr marL="254000" indent="-254000">
              <a:lnSpc>
                <a:spcPct val="130000"/>
              </a:lnSpc>
              <a:spcBef>
                <a:spcPts val="10"/>
              </a:spcBef>
              <a:buSzPct val="100000"/>
              <a:buFont typeface="+mj-lt"/>
              <a:buAutoNum type="arabicPeriod" startAt="1"/>
            </a:pPr>
            <a:r>
              <a:rPr lang="en-US" sz="1000" dirty="0">
                <a:solidFill>
                  <a:srgbClr val="E8EAED">
                    <a:alpha val="80000"/>
                  </a:srgbClr>
                </a:solidFill>
                <a:latin typeface="Liter" pitchFamily="34" charset="0"/>
                <a:ea typeface="Liter" pitchFamily="34" charset="-122"/>
                <a:cs typeface="Liter" pitchFamily="34" charset="-120"/>
              </a:rPr>
              <a:t>Toggle </a:t>
            </a:r>
            <a:pPr>
              <a:lnSpc>
                <a:spcPct val="130000"/>
              </a:lnSpc>
              <a:spcBef>
                <a:spcPts val="10"/>
              </a:spcBef>
            </a:pPr>
            <a:r>
              <a:rPr lang="en-US" sz="1000" b="1" dirty="0">
                <a:solidFill>
                  <a:srgbClr val="E8EAED">
                    <a:alpha val="80000"/>
                  </a:srgbClr>
                </a:solidFill>
                <a:latin typeface="Liter" pitchFamily="34" charset="0"/>
                <a:ea typeface="Liter" pitchFamily="34" charset="-122"/>
                <a:cs typeface="Liter" pitchFamily="34" charset="-120"/>
              </a:rPr>
              <a:t>Authenticated Origin Pulls</a:t>
            </a:r>
            <a:pPr>
              <a:lnSpc>
                <a:spcPct val="130000"/>
              </a:lnSpc>
              <a:spcBef>
                <a:spcPts val="10"/>
              </a:spcBef>
            </a:pPr>
            <a:r>
              <a:rPr lang="en-US" sz="1000" dirty="0">
                <a:solidFill>
                  <a:srgbClr val="E8EAED">
                    <a:alpha val="80000"/>
                  </a:srgbClr>
                </a:solidFill>
                <a:latin typeface="Liter" pitchFamily="34" charset="0"/>
                <a:ea typeface="Liter" pitchFamily="34" charset="-122"/>
                <a:cs typeface="Liter" pitchFamily="34" charset="-120"/>
              </a:rPr>
              <a:t> to ON</a:t>
            </a:r>
            <a:endParaRPr lang="en-US" sz="1600" dirty="0"/>
          </a:p>
        </p:txBody>
      </p:sp>
      <p:sp>
        <p:nvSpPr>
          <p:cNvPr id="21" name="Shape 19"/>
          <p:cNvSpPr/>
          <p:nvPr/>
        </p:nvSpPr>
        <p:spPr>
          <a:xfrm>
            <a:off x="419100" y="5175250"/>
            <a:ext cx="5524500" cy="635000"/>
          </a:xfrm>
          <a:custGeom>
            <a:avLst/>
            <a:gdLst/>
            <a:ahLst/>
            <a:cxnLst/>
            <a:rect l="l" t="t" r="r" b="b"/>
            <a:pathLst>
              <a:path w="5524500" h="635000">
                <a:moveTo>
                  <a:pt x="63500" y="0"/>
                </a:moveTo>
                <a:lnTo>
                  <a:pt x="5461000" y="0"/>
                </a:lnTo>
                <a:cubicBezTo>
                  <a:pt x="5496047" y="0"/>
                  <a:pt x="5524500" y="28453"/>
                  <a:pt x="5524500" y="63500"/>
                </a:cubicBezTo>
                <a:lnTo>
                  <a:pt x="5524500" y="571500"/>
                </a:lnTo>
                <a:cubicBezTo>
                  <a:pt x="5524500" y="606547"/>
                  <a:pt x="5496047" y="635000"/>
                  <a:pt x="5461000" y="635000"/>
                </a:cubicBezTo>
                <a:lnTo>
                  <a:pt x="63500" y="635000"/>
                </a:lnTo>
                <a:cubicBezTo>
                  <a:pt x="28453" y="635000"/>
                  <a:pt x="0" y="606547"/>
                  <a:pt x="0" y="571500"/>
                </a:cubicBezTo>
                <a:lnTo>
                  <a:pt x="0" y="63500"/>
                </a:lnTo>
                <a:cubicBezTo>
                  <a:pt x="0" y="28453"/>
                  <a:pt x="28453" y="0"/>
                  <a:pt x="63500" y="0"/>
                </a:cubicBezTo>
                <a:close/>
              </a:path>
            </a:pathLst>
          </a:custGeom>
          <a:solidFill>
            <a:srgbClr val="1A1D21">
              <a:alpha val="50196"/>
            </a:srgbClr>
          </a:solidFill>
          <a:ln/>
        </p:spPr>
      </p:sp>
      <p:sp>
        <p:nvSpPr>
          <p:cNvPr id="22" name="Shape 20"/>
          <p:cNvSpPr/>
          <p:nvPr/>
        </p:nvSpPr>
        <p:spPr>
          <a:xfrm>
            <a:off x="530225" y="5295894"/>
            <a:ext cx="127000" cy="127000"/>
          </a:xfrm>
          <a:custGeom>
            <a:avLst/>
            <a:gdLst/>
            <a:ahLst/>
            <a:cxnLst/>
            <a:rect l="l" t="t" r="r" b="b"/>
            <a:pathLst>
              <a:path w="127000" h="127000">
                <a:moveTo>
                  <a:pt x="63500" y="0"/>
                </a:moveTo>
                <a:cubicBezTo>
                  <a:pt x="67146" y="0"/>
                  <a:pt x="70495" y="2009"/>
                  <a:pt x="72231" y="5209"/>
                </a:cubicBezTo>
                <a:lnTo>
                  <a:pt x="125809" y="104428"/>
                </a:lnTo>
                <a:cubicBezTo>
                  <a:pt x="127471" y="107504"/>
                  <a:pt x="127397" y="111224"/>
                  <a:pt x="125611" y="114226"/>
                </a:cubicBezTo>
                <a:cubicBezTo>
                  <a:pt x="123825" y="117227"/>
                  <a:pt x="120576" y="119063"/>
                  <a:pt x="117078" y="119063"/>
                </a:cubicBezTo>
                <a:lnTo>
                  <a:pt x="9922" y="119063"/>
                </a:lnTo>
                <a:cubicBezTo>
                  <a:pt x="6424" y="119063"/>
                  <a:pt x="3200" y="117227"/>
                  <a:pt x="1389" y="114226"/>
                </a:cubicBezTo>
                <a:cubicBezTo>
                  <a:pt x="-422" y="111224"/>
                  <a:pt x="-471" y="107504"/>
                  <a:pt x="1191" y="104428"/>
                </a:cubicBezTo>
                <a:lnTo>
                  <a:pt x="54769" y="5209"/>
                </a:lnTo>
                <a:cubicBezTo>
                  <a:pt x="56505" y="2009"/>
                  <a:pt x="59854" y="0"/>
                  <a:pt x="63500" y="0"/>
                </a:cubicBezTo>
                <a:close/>
                <a:moveTo>
                  <a:pt x="63500" y="41672"/>
                </a:moveTo>
                <a:cubicBezTo>
                  <a:pt x="60201" y="41672"/>
                  <a:pt x="57547" y="44326"/>
                  <a:pt x="57547" y="47625"/>
                </a:cubicBezTo>
                <a:lnTo>
                  <a:pt x="57547" y="75406"/>
                </a:lnTo>
                <a:cubicBezTo>
                  <a:pt x="57547" y="78705"/>
                  <a:pt x="60201" y="81359"/>
                  <a:pt x="63500" y="81359"/>
                </a:cubicBezTo>
                <a:cubicBezTo>
                  <a:pt x="66799" y="81359"/>
                  <a:pt x="69453" y="78705"/>
                  <a:pt x="69453" y="75406"/>
                </a:cubicBezTo>
                <a:lnTo>
                  <a:pt x="69453" y="47625"/>
                </a:lnTo>
                <a:cubicBezTo>
                  <a:pt x="69453" y="44326"/>
                  <a:pt x="66799" y="41672"/>
                  <a:pt x="63500" y="41672"/>
                </a:cubicBezTo>
                <a:close/>
                <a:moveTo>
                  <a:pt x="70123" y="95250"/>
                </a:moveTo>
                <a:cubicBezTo>
                  <a:pt x="70274" y="92792"/>
                  <a:pt x="69048" y="90453"/>
                  <a:pt x="66940" y="89178"/>
                </a:cubicBezTo>
                <a:cubicBezTo>
                  <a:pt x="64833" y="87903"/>
                  <a:pt x="62192" y="87903"/>
                  <a:pt x="60085" y="89178"/>
                </a:cubicBezTo>
                <a:cubicBezTo>
                  <a:pt x="57977" y="90453"/>
                  <a:pt x="56751" y="92792"/>
                  <a:pt x="56902" y="95250"/>
                </a:cubicBezTo>
                <a:cubicBezTo>
                  <a:pt x="56751" y="97708"/>
                  <a:pt x="57977" y="100047"/>
                  <a:pt x="60085" y="101322"/>
                </a:cubicBezTo>
                <a:cubicBezTo>
                  <a:pt x="62192" y="102597"/>
                  <a:pt x="64833" y="102597"/>
                  <a:pt x="66940" y="101322"/>
                </a:cubicBezTo>
                <a:cubicBezTo>
                  <a:pt x="69048" y="100047"/>
                  <a:pt x="70274" y="97708"/>
                  <a:pt x="70123" y="95250"/>
                </a:cubicBezTo>
                <a:close/>
              </a:path>
            </a:pathLst>
          </a:custGeom>
          <a:solidFill>
            <a:srgbClr val="F47C20"/>
          </a:solidFill>
          <a:ln/>
        </p:spPr>
      </p:sp>
      <p:sp>
        <p:nvSpPr>
          <p:cNvPr id="23" name="Text 21"/>
          <p:cNvSpPr/>
          <p:nvPr/>
        </p:nvSpPr>
        <p:spPr>
          <a:xfrm>
            <a:off x="712788" y="5270500"/>
            <a:ext cx="5199063" cy="190500"/>
          </a:xfrm>
          <a:prstGeom prst="rect">
            <a:avLst/>
          </a:prstGeom>
          <a:noFill/>
          <a:ln/>
        </p:spPr>
        <p:txBody>
          <a:bodyPr wrap="square" lIns="0" tIns="0" rIns="0" bIns="0" rtlCol="0" anchor="ctr"/>
          <a:lstStyle/>
          <a:p>
            <a:pPr>
              <a:lnSpc>
                <a:spcPct val="130000"/>
              </a:lnSpc>
            </a:pPr>
            <a:r>
              <a:rPr lang="en-US" sz="1000" b="1" dirty="0">
                <a:solidFill>
                  <a:srgbClr val="F47C20"/>
                </a:solidFill>
                <a:latin typeface="Liter" pitchFamily="34" charset="0"/>
                <a:ea typeface="Liter" pitchFamily="34" charset="-122"/>
                <a:cs typeface="Liter" pitchFamily="34" charset="-120"/>
              </a:rPr>
              <a:t>Important</a:t>
            </a:r>
            <a:endParaRPr lang="en-US" sz="1600" dirty="0"/>
          </a:p>
        </p:txBody>
      </p:sp>
      <p:sp>
        <p:nvSpPr>
          <p:cNvPr id="24" name="Text 22"/>
          <p:cNvSpPr/>
          <p:nvPr/>
        </p:nvSpPr>
        <p:spPr>
          <a:xfrm>
            <a:off x="514350" y="5524500"/>
            <a:ext cx="5397500" cy="190500"/>
          </a:xfrm>
          <a:prstGeom prst="rect">
            <a:avLst/>
          </a:prstGeom>
          <a:noFill/>
          <a:ln/>
        </p:spPr>
        <p:txBody>
          <a:bodyPr wrap="square" lIns="0" tIns="0" rIns="0" bIns="0" rtlCol="0" anchor="ctr"/>
          <a:lstStyle/>
          <a:p>
            <a:pPr>
              <a:lnSpc>
                <a:spcPct val="130000"/>
              </a:lnSpc>
            </a:pPr>
            <a:r>
              <a:rPr lang="en-US" sz="1000" dirty="0">
                <a:solidFill>
                  <a:srgbClr val="E8EAED">
                    <a:alpha val="80000"/>
                  </a:srgbClr>
                </a:solidFill>
                <a:latin typeface="Liter" pitchFamily="34" charset="0"/>
                <a:ea typeface="Liter" pitchFamily="34" charset="-122"/>
                <a:cs typeface="Liter" pitchFamily="34" charset="-120"/>
              </a:rPr>
              <a:t>Enable in Cloudflare </a:t>
            </a:r>
            <a:pPr>
              <a:lnSpc>
                <a:spcPct val="130000"/>
              </a:lnSpc>
            </a:pPr>
            <a:r>
              <a:rPr lang="en-US" sz="1000" b="1" dirty="0">
                <a:solidFill>
                  <a:srgbClr val="E8EAED">
                    <a:alpha val="80000"/>
                  </a:srgbClr>
                </a:solidFill>
                <a:latin typeface="Liter" pitchFamily="34" charset="0"/>
                <a:ea typeface="Liter" pitchFamily="34" charset="-122"/>
                <a:cs typeface="Liter" pitchFamily="34" charset="-120"/>
              </a:rPr>
              <a:t>only after</a:t>
            </a:r>
            <a:pPr>
              <a:lnSpc>
                <a:spcPct val="130000"/>
              </a:lnSpc>
            </a:pPr>
            <a:r>
              <a:rPr lang="en-US" sz="1000" dirty="0">
                <a:solidFill>
                  <a:srgbClr val="E8EAED">
                    <a:alpha val="80000"/>
                  </a:srgbClr>
                </a:solidFill>
                <a:latin typeface="Liter" pitchFamily="34" charset="0"/>
                <a:ea typeface="Liter" pitchFamily="34" charset="-122"/>
                <a:cs typeface="Liter" pitchFamily="34" charset="-120"/>
              </a:rPr>
              <a:t> configuring your origin server, or traffic will be blocked.</a:t>
            </a:r>
            <a:endParaRPr lang="en-US" sz="1600" dirty="0"/>
          </a:p>
        </p:txBody>
      </p:sp>
      <p:sp>
        <p:nvSpPr>
          <p:cNvPr id="25" name="Shape 23"/>
          <p:cNvSpPr/>
          <p:nvPr/>
        </p:nvSpPr>
        <p:spPr>
          <a:xfrm>
            <a:off x="6146800" y="955675"/>
            <a:ext cx="5721350" cy="4451350"/>
          </a:xfrm>
          <a:custGeom>
            <a:avLst/>
            <a:gdLst/>
            <a:ahLst/>
            <a:cxnLst/>
            <a:rect l="l" t="t" r="r" b="b"/>
            <a:pathLst>
              <a:path w="5721350" h="4451350">
                <a:moveTo>
                  <a:pt x="95259" y="0"/>
                </a:moveTo>
                <a:lnTo>
                  <a:pt x="5626091" y="0"/>
                </a:lnTo>
                <a:cubicBezTo>
                  <a:pt x="5678701" y="0"/>
                  <a:pt x="5721350" y="42649"/>
                  <a:pt x="5721350" y="95259"/>
                </a:cubicBezTo>
                <a:lnTo>
                  <a:pt x="5721350" y="4356091"/>
                </a:lnTo>
                <a:cubicBezTo>
                  <a:pt x="5721350" y="4408701"/>
                  <a:pt x="5678701" y="4451350"/>
                  <a:pt x="5626091" y="4451350"/>
                </a:cubicBezTo>
                <a:lnTo>
                  <a:pt x="95259" y="4451350"/>
                </a:lnTo>
                <a:cubicBezTo>
                  <a:pt x="42649" y="4451350"/>
                  <a:pt x="0" y="4408701"/>
                  <a:pt x="0" y="4356091"/>
                </a:cubicBezTo>
                <a:lnTo>
                  <a:pt x="0" y="95259"/>
                </a:lnTo>
                <a:cubicBezTo>
                  <a:pt x="0" y="42684"/>
                  <a:pt x="42684" y="0"/>
                  <a:pt x="95259" y="0"/>
                </a:cubicBezTo>
                <a:close/>
              </a:path>
            </a:pathLst>
          </a:custGeom>
          <a:solidFill>
            <a:srgbClr val="48515E">
              <a:alpha val="20000"/>
            </a:srgbClr>
          </a:solidFill>
          <a:ln w="10160">
            <a:solidFill>
              <a:srgbClr val="48515E">
                <a:alpha val="40000"/>
              </a:srgbClr>
            </a:solidFill>
            <a:prstDash val="solid"/>
          </a:ln>
        </p:spPr>
      </p:sp>
      <p:sp>
        <p:nvSpPr>
          <p:cNvPr id="26" name="Shape 24"/>
          <p:cNvSpPr/>
          <p:nvPr/>
        </p:nvSpPr>
        <p:spPr>
          <a:xfrm>
            <a:off x="6245225" y="1054098"/>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00A4E0">
              <a:alpha val="20000"/>
            </a:srgbClr>
          </a:solidFill>
          <a:ln/>
        </p:spPr>
      </p:sp>
      <p:sp>
        <p:nvSpPr>
          <p:cNvPr id="27" name="Shape 25"/>
          <p:cNvSpPr/>
          <p:nvPr/>
        </p:nvSpPr>
        <p:spPr>
          <a:xfrm>
            <a:off x="6325592" y="1141411"/>
            <a:ext cx="160734" cy="142875"/>
          </a:xfrm>
          <a:custGeom>
            <a:avLst/>
            <a:gdLst/>
            <a:ahLst/>
            <a:cxnLst/>
            <a:rect l="l" t="t" r="r" b="b"/>
            <a:pathLst>
              <a:path w="160734" h="142875">
                <a:moveTo>
                  <a:pt x="100682" y="335"/>
                </a:moveTo>
                <a:cubicBezTo>
                  <a:pt x="95938" y="-1032"/>
                  <a:pt x="90999" y="1730"/>
                  <a:pt x="89632" y="6474"/>
                </a:cubicBezTo>
                <a:lnTo>
                  <a:pt x="53913" y="131490"/>
                </a:lnTo>
                <a:cubicBezTo>
                  <a:pt x="52546" y="136234"/>
                  <a:pt x="55308" y="141173"/>
                  <a:pt x="60052" y="142540"/>
                </a:cubicBezTo>
                <a:cubicBezTo>
                  <a:pt x="64796" y="143907"/>
                  <a:pt x="69735" y="141145"/>
                  <a:pt x="71103" y="136401"/>
                </a:cubicBezTo>
                <a:lnTo>
                  <a:pt x="106821" y="11385"/>
                </a:lnTo>
                <a:cubicBezTo>
                  <a:pt x="108189" y="6641"/>
                  <a:pt x="105426" y="1702"/>
                  <a:pt x="100682" y="335"/>
                </a:cubicBezTo>
                <a:close/>
                <a:moveTo>
                  <a:pt x="118709" y="38314"/>
                </a:moveTo>
                <a:cubicBezTo>
                  <a:pt x="115221" y="41802"/>
                  <a:pt x="115221" y="47467"/>
                  <a:pt x="118709" y="50955"/>
                </a:cubicBezTo>
                <a:lnTo>
                  <a:pt x="139192" y="71438"/>
                </a:lnTo>
                <a:lnTo>
                  <a:pt x="118709" y="91920"/>
                </a:lnTo>
                <a:cubicBezTo>
                  <a:pt x="115221" y="95408"/>
                  <a:pt x="115221" y="101073"/>
                  <a:pt x="118709" y="104561"/>
                </a:cubicBezTo>
                <a:cubicBezTo>
                  <a:pt x="122197" y="108049"/>
                  <a:pt x="127862" y="108049"/>
                  <a:pt x="131350" y="104561"/>
                </a:cubicBezTo>
                <a:lnTo>
                  <a:pt x="158139" y="77772"/>
                </a:lnTo>
                <a:cubicBezTo>
                  <a:pt x="161627" y="74284"/>
                  <a:pt x="161627" y="68619"/>
                  <a:pt x="158139" y="65131"/>
                </a:cubicBezTo>
                <a:lnTo>
                  <a:pt x="131350" y="38342"/>
                </a:lnTo>
                <a:cubicBezTo>
                  <a:pt x="127862" y="34854"/>
                  <a:pt x="122197" y="34854"/>
                  <a:pt x="118709" y="38342"/>
                </a:cubicBezTo>
                <a:close/>
                <a:moveTo>
                  <a:pt x="42053" y="38314"/>
                </a:moveTo>
                <a:cubicBezTo>
                  <a:pt x="38565" y="34826"/>
                  <a:pt x="32900" y="34826"/>
                  <a:pt x="29412" y="38314"/>
                </a:cubicBezTo>
                <a:lnTo>
                  <a:pt x="2623" y="65103"/>
                </a:lnTo>
                <a:cubicBezTo>
                  <a:pt x="-865" y="68591"/>
                  <a:pt x="-865" y="74256"/>
                  <a:pt x="2623" y="77744"/>
                </a:cubicBezTo>
                <a:lnTo>
                  <a:pt x="29412" y="104533"/>
                </a:lnTo>
                <a:cubicBezTo>
                  <a:pt x="32900" y="108021"/>
                  <a:pt x="38565" y="108021"/>
                  <a:pt x="42053" y="104533"/>
                </a:cubicBezTo>
                <a:cubicBezTo>
                  <a:pt x="45541" y="101045"/>
                  <a:pt x="45541" y="95380"/>
                  <a:pt x="42053" y="91892"/>
                </a:cubicBezTo>
                <a:lnTo>
                  <a:pt x="21571" y="71438"/>
                </a:lnTo>
                <a:lnTo>
                  <a:pt x="42025" y="50955"/>
                </a:lnTo>
                <a:cubicBezTo>
                  <a:pt x="45514" y="47467"/>
                  <a:pt x="45514" y="41802"/>
                  <a:pt x="42025" y="38314"/>
                </a:cubicBezTo>
                <a:close/>
              </a:path>
            </a:pathLst>
          </a:custGeom>
          <a:solidFill>
            <a:srgbClr val="00A4E0"/>
          </a:solidFill>
          <a:ln/>
        </p:spPr>
      </p:sp>
      <p:sp>
        <p:nvSpPr>
          <p:cNvPr id="28" name="Text 26"/>
          <p:cNvSpPr/>
          <p:nvPr/>
        </p:nvSpPr>
        <p:spPr>
          <a:xfrm>
            <a:off x="6657975" y="1101723"/>
            <a:ext cx="1738313" cy="222250"/>
          </a:xfrm>
          <a:prstGeom prst="rect">
            <a:avLst/>
          </a:prstGeom>
          <a:noFill/>
          <a:ln/>
        </p:spPr>
        <p:txBody>
          <a:bodyPr wrap="square" lIns="0" tIns="0" rIns="0" bIns="0" rtlCol="0" anchor="ctr"/>
          <a:lstStyle/>
          <a:p>
            <a:pPr>
              <a:lnSpc>
                <a:spcPct val="120000"/>
              </a:lnSpc>
            </a:pPr>
            <a:r>
              <a:rPr lang="en-US" sz="1250" b="1" dirty="0">
                <a:solidFill>
                  <a:srgbClr val="E8EAED"/>
                </a:solidFill>
                <a:latin typeface="Liter" pitchFamily="34" charset="0"/>
                <a:ea typeface="Liter" pitchFamily="34" charset="-122"/>
                <a:cs typeface="Liter" pitchFamily="34" charset="-120"/>
              </a:rPr>
              <a:t>Step 2: Configure Nginx</a:t>
            </a:r>
            <a:endParaRPr lang="en-US" sz="1600" dirty="0"/>
          </a:p>
        </p:txBody>
      </p:sp>
      <p:sp>
        <p:nvSpPr>
          <p:cNvPr id="29" name="Shape 27"/>
          <p:cNvSpPr/>
          <p:nvPr/>
        </p:nvSpPr>
        <p:spPr>
          <a:xfrm>
            <a:off x="6254750" y="1466848"/>
            <a:ext cx="5518150" cy="3841750"/>
          </a:xfrm>
          <a:custGeom>
            <a:avLst/>
            <a:gdLst/>
            <a:ahLst/>
            <a:cxnLst/>
            <a:rect l="l" t="t" r="r" b="b"/>
            <a:pathLst>
              <a:path w="5518150" h="3841750">
                <a:moveTo>
                  <a:pt x="19050" y="0"/>
                </a:moveTo>
                <a:lnTo>
                  <a:pt x="5454646" y="0"/>
                </a:lnTo>
                <a:cubicBezTo>
                  <a:pt x="5489718" y="0"/>
                  <a:pt x="5518150" y="28432"/>
                  <a:pt x="5518150" y="63504"/>
                </a:cubicBezTo>
                <a:lnTo>
                  <a:pt x="5518150" y="3778246"/>
                </a:lnTo>
                <a:cubicBezTo>
                  <a:pt x="5518150" y="3813318"/>
                  <a:pt x="5489718" y="3841750"/>
                  <a:pt x="5454646" y="3841750"/>
                </a:cubicBezTo>
                <a:lnTo>
                  <a:pt x="19050" y="3841750"/>
                </a:lnTo>
                <a:cubicBezTo>
                  <a:pt x="8529" y="3841750"/>
                  <a:pt x="0" y="3833221"/>
                  <a:pt x="0" y="3822700"/>
                </a:cubicBezTo>
                <a:lnTo>
                  <a:pt x="0" y="19050"/>
                </a:lnTo>
                <a:cubicBezTo>
                  <a:pt x="0" y="8536"/>
                  <a:pt x="8536" y="0"/>
                  <a:pt x="19050" y="0"/>
                </a:cubicBezTo>
                <a:close/>
              </a:path>
            </a:pathLst>
          </a:custGeom>
          <a:solidFill>
            <a:srgbClr val="1A1D21">
              <a:alpha val="90196"/>
            </a:srgbClr>
          </a:solidFill>
          <a:ln/>
        </p:spPr>
      </p:sp>
      <p:sp>
        <p:nvSpPr>
          <p:cNvPr id="30" name="Shape 28"/>
          <p:cNvSpPr/>
          <p:nvPr/>
        </p:nvSpPr>
        <p:spPr>
          <a:xfrm>
            <a:off x="6254750" y="1466848"/>
            <a:ext cx="19050" cy="3841750"/>
          </a:xfrm>
          <a:custGeom>
            <a:avLst/>
            <a:gdLst/>
            <a:ahLst/>
            <a:cxnLst/>
            <a:rect l="l" t="t" r="r" b="b"/>
            <a:pathLst>
              <a:path w="19050" h="3841750">
                <a:moveTo>
                  <a:pt x="19050" y="0"/>
                </a:moveTo>
                <a:lnTo>
                  <a:pt x="19050" y="0"/>
                </a:lnTo>
                <a:lnTo>
                  <a:pt x="19050" y="3841750"/>
                </a:lnTo>
                <a:lnTo>
                  <a:pt x="19050" y="3841750"/>
                </a:lnTo>
                <a:cubicBezTo>
                  <a:pt x="8536" y="3841750"/>
                  <a:pt x="0" y="3833214"/>
                  <a:pt x="0" y="3822700"/>
                </a:cubicBezTo>
                <a:lnTo>
                  <a:pt x="0" y="19050"/>
                </a:lnTo>
                <a:cubicBezTo>
                  <a:pt x="0" y="8536"/>
                  <a:pt x="8536" y="0"/>
                  <a:pt x="19050" y="0"/>
                </a:cubicBezTo>
                <a:close/>
              </a:path>
            </a:pathLst>
          </a:custGeom>
          <a:solidFill>
            <a:srgbClr val="F47C20"/>
          </a:solidFill>
          <a:ln/>
        </p:spPr>
      </p:sp>
      <p:sp>
        <p:nvSpPr>
          <p:cNvPr id="31" name="Text 29"/>
          <p:cNvSpPr/>
          <p:nvPr/>
        </p:nvSpPr>
        <p:spPr>
          <a:xfrm>
            <a:off x="6359525" y="1562098"/>
            <a:ext cx="5373688" cy="3651250"/>
          </a:xfrm>
          <a:prstGeom prst="rect">
            <a:avLst/>
          </a:prstGeom>
          <a:noFill/>
          <a:ln/>
        </p:spPr>
        <p:txBody>
          <a:bodyPr wrap="square" lIns="0" tIns="0" rIns="0" bIns="0" rtlCol="0" anchor="ctr"/>
          <a:lstStyle/>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server {</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listen 443 ssl http2;</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server_name example.com;</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 Your SSL certificate</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ssl_certificate /etc/ssl/certs/example.com.pem;</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ssl_certificate_key /etc/ssl/private/example.com.key;</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 Cloudflare Origin Pull CA</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ssl_client_certificate /etc/ssl/certs/cloudflare.crt;</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ssl_verify_client on;</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ssl_verify_depth 2;</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 Optional: Return 400 if no cert</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error_page 400 = @no_cert;</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location @no_cert {</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return 400 "Client certificate required";</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location / {</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proxy_pass http://backend;</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a:t>
            </a:r>
            <a:endParaRPr lang="en-US" sz="1600" dirty="0"/>
          </a:p>
        </p:txBody>
      </p:sp>
      <p:sp>
        <p:nvSpPr>
          <p:cNvPr id="32" name="Shape 30"/>
          <p:cNvSpPr/>
          <p:nvPr/>
        </p:nvSpPr>
        <p:spPr>
          <a:xfrm>
            <a:off x="6146800" y="5508622"/>
            <a:ext cx="5721350" cy="2800350"/>
          </a:xfrm>
          <a:custGeom>
            <a:avLst/>
            <a:gdLst/>
            <a:ahLst/>
            <a:cxnLst/>
            <a:rect l="l" t="t" r="r" b="b"/>
            <a:pathLst>
              <a:path w="5721350" h="2800350">
                <a:moveTo>
                  <a:pt x="95240" y="0"/>
                </a:moveTo>
                <a:lnTo>
                  <a:pt x="5626110" y="0"/>
                </a:lnTo>
                <a:cubicBezTo>
                  <a:pt x="5678710" y="0"/>
                  <a:pt x="5721350" y="42640"/>
                  <a:pt x="5721350" y="95240"/>
                </a:cubicBezTo>
                <a:lnTo>
                  <a:pt x="5721350" y="2705110"/>
                </a:lnTo>
                <a:cubicBezTo>
                  <a:pt x="5721350" y="2757710"/>
                  <a:pt x="5678710" y="2800350"/>
                  <a:pt x="5626110" y="2800350"/>
                </a:cubicBezTo>
                <a:lnTo>
                  <a:pt x="95240" y="2800350"/>
                </a:lnTo>
                <a:cubicBezTo>
                  <a:pt x="42640" y="2800350"/>
                  <a:pt x="0" y="2757710"/>
                  <a:pt x="0" y="2705110"/>
                </a:cubicBezTo>
                <a:lnTo>
                  <a:pt x="0" y="95240"/>
                </a:lnTo>
                <a:cubicBezTo>
                  <a:pt x="0" y="42676"/>
                  <a:pt x="42676" y="0"/>
                  <a:pt x="95240" y="0"/>
                </a:cubicBezTo>
                <a:close/>
              </a:path>
            </a:pathLst>
          </a:custGeom>
          <a:solidFill>
            <a:srgbClr val="48515E">
              <a:alpha val="20000"/>
            </a:srgbClr>
          </a:solidFill>
          <a:ln w="10160">
            <a:solidFill>
              <a:srgbClr val="48515E">
                <a:alpha val="40000"/>
              </a:srgbClr>
            </a:solidFill>
            <a:prstDash val="solid"/>
          </a:ln>
        </p:spPr>
      </p:sp>
      <p:sp>
        <p:nvSpPr>
          <p:cNvPr id="33" name="Shape 31"/>
          <p:cNvSpPr/>
          <p:nvPr/>
        </p:nvSpPr>
        <p:spPr>
          <a:xfrm>
            <a:off x="6245225" y="5607045"/>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F47C20">
              <a:alpha val="20000"/>
            </a:srgbClr>
          </a:solidFill>
          <a:ln/>
        </p:spPr>
      </p:sp>
      <p:sp>
        <p:nvSpPr>
          <p:cNvPr id="34" name="Shape 32"/>
          <p:cNvSpPr/>
          <p:nvPr/>
        </p:nvSpPr>
        <p:spPr>
          <a:xfrm>
            <a:off x="6334522" y="5694358"/>
            <a:ext cx="142875" cy="142875"/>
          </a:xfrm>
          <a:custGeom>
            <a:avLst/>
            <a:gdLst/>
            <a:ahLst/>
            <a:cxnLst/>
            <a:rect l="l" t="t" r="r" b="b"/>
            <a:pathLst>
              <a:path w="142875" h="142875">
                <a:moveTo>
                  <a:pt x="95603" y="2623"/>
                </a:moveTo>
                <a:cubicBezTo>
                  <a:pt x="92115" y="-865"/>
                  <a:pt x="86451" y="-865"/>
                  <a:pt x="82962" y="2623"/>
                </a:cubicBezTo>
                <a:cubicBezTo>
                  <a:pt x="79474" y="6111"/>
                  <a:pt x="79474" y="11776"/>
                  <a:pt x="82962" y="15264"/>
                </a:cubicBezTo>
                <a:lnTo>
                  <a:pt x="85585" y="17859"/>
                </a:lnTo>
                <a:lnTo>
                  <a:pt x="7841" y="95603"/>
                </a:lnTo>
                <a:cubicBezTo>
                  <a:pt x="2818" y="100626"/>
                  <a:pt x="0" y="107435"/>
                  <a:pt x="0" y="114551"/>
                </a:cubicBezTo>
                <a:lnTo>
                  <a:pt x="0" y="116086"/>
                </a:lnTo>
                <a:cubicBezTo>
                  <a:pt x="0" y="130876"/>
                  <a:pt x="11999" y="142875"/>
                  <a:pt x="26789" y="142875"/>
                </a:cubicBezTo>
                <a:lnTo>
                  <a:pt x="28324" y="142875"/>
                </a:lnTo>
                <a:cubicBezTo>
                  <a:pt x="35440" y="142875"/>
                  <a:pt x="42249" y="140057"/>
                  <a:pt x="47272" y="135034"/>
                </a:cubicBezTo>
                <a:lnTo>
                  <a:pt x="125016" y="57290"/>
                </a:lnTo>
                <a:lnTo>
                  <a:pt x="127639" y="59913"/>
                </a:lnTo>
                <a:cubicBezTo>
                  <a:pt x="131127" y="63401"/>
                  <a:pt x="136792" y="63401"/>
                  <a:pt x="140280" y="59913"/>
                </a:cubicBezTo>
                <a:cubicBezTo>
                  <a:pt x="143768" y="56424"/>
                  <a:pt x="143768" y="50760"/>
                  <a:pt x="140280" y="47272"/>
                </a:cubicBezTo>
                <a:lnTo>
                  <a:pt x="95631" y="2623"/>
                </a:lnTo>
                <a:close/>
                <a:moveTo>
                  <a:pt x="57290" y="71438"/>
                </a:moveTo>
                <a:lnTo>
                  <a:pt x="98227" y="30500"/>
                </a:lnTo>
                <a:lnTo>
                  <a:pt x="112375" y="44648"/>
                </a:lnTo>
                <a:lnTo>
                  <a:pt x="85585" y="71438"/>
                </a:lnTo>
                <a:lnTo>
                  <a:pt x="57262" y="71438"/>
                </a:lnTo>
                <a:close/>
              </a:path>
            </a:pathLst>
          </a:custGeom>
          <a:solidFill>
            <a:srgbClr val="F47C20"/>
          </a:solidFill>
          <a:ln/>
        </p:spPr>
      </p:sp>
      <p:sp>
        <p:nvSpPr>
          <p:cNvPr id="35" name="Text 33"/>
          <p:cNvSpPr/>
          <p:nvPr/>
        </p:nvSpPr>
        <p:spPr>
          <a:xfrm>
            <a:off x="6657975" y="5654670"/>
            <a:ext cx="1571625" cy="222250"/>
          </a:xfrm>
          <a:prstGeom prst="rect">
            <a:avLst/>
          </a:prstGeom>
          <a:noFill/>
          <a:ln/>
        </p:spPr>
        <p:txBody>
          <a:bodyPr wrap="square" lIns="0" tIns="0" rIns="0" bIns="0" rtlCol="0" anchor="ctr"/>
          <a:lstStyle/>
          <a:p>
            <a:pPr>
              <a:lnSpc>
                <a:spcPct val="120000"/>
              </a:lnSpc>
            </a:pPr>
            <a:r>
              <a:rPr lang="en-US" sz="1250" b="1" dirty="0">
                <a:solidFill>
                  <a:srgbClr val="E8EAED"/>
                </a:solidFill>
                <a:latin typeface="Liter" pitchFamily="34" charset="0"/>
                <a:ea typeface="Liter" pitchFamily="34" charset="-122"/>
                <a:cs typeface="Liter" pitchFamily="34" charset="-120"/>
              </a:rPr>
              <a:t>Step 4: Test &amp; Reload</a:t>
            </a:r>
            <a:endParaRPr lang="en-US" sz="1600" dirty="0"/>
          </a:p>
        </p:txBody>
      </p:sp>
      <p:sp>
        <p:nvSpPr>
          <p:cNvPr id="36" name="Shape 34"/>
          <p:cNvSpPr/>
          <p:nvPr/>
        </p:nvSpPr>
        <p:spPr>
          <a:xfrm>
            <a:off x="6254750" y="6019795"/>
            <a:ext cx="5518150" cy="571500"/>
          </a:xfrm>
          <a:custGeom>
            <a:avLst/>
            <a:gdLst/>
            <a:ahLst/>
            <a:cxnLst/>
            <a:rect l="l" t="t" r="r" b="b"/>
            <a:pathLst>
              <a:path w="5518150" h="571500">
                <a:moveTo>
                  <a:pt x="19050" y="0"/>
                </a:moveTo>
                <a:lnTo>
                  <a:pt x="5454651" y="0"/>
                </a:lnTo>
                <a:cubicBezTo>
                  <a:pt x="5489720" y="0"/>
                  <a:pt x="5518150" y="28430"/>
                  <a:pt x="5518150" y="63499"/>
                </a:cubicBezTo>
                <a:lnTo>
                  <a:pt x="5518150" y="508001"/>
                </a:lnTo>
                <a:cubicBezTo>
                  <a:pt x="5518150" y="543070"/>
                  <a:pt x="5489720" y="571500"/>
                  <a:pt x="5454651" y="571500"/>
                </a:cubicBezTo>
                <a:lnTo>
                  <a:pt x="19050" y="571500"/>
                </a:lnTo>
                <a:cubicBezTo>
                  <a:pt x="8536" y="571500"/>
                  <a:pt x="0" y="562964"/>
                  <a:pt x="0" y="552450"/>
                </a:cubicBezTo>
                <a:lnTo>
                  <a:pt x="0" y="19050"/>
                </a:lnTo>
                <a:cubicBezTo>
                  <a:pt x="0" y="8536"/>
                  <a:pt x="8536" y="0"/>
                  <a:pt x="19050" y="0"/>
                </a:cubicBezTo>
                <a:close/>
              </a:path>
            </a:pathLst>
          </a:custGeom>
          <a:solidFill>
            <a:srgbClr val="1A1D21">
              <a:alpha val="90196"/>
            </a:srgbClr>
          </a:solidFill>
          <a:ln/>
        </p:spPr>
      </p:sp>
      <p:sp>
        <p:nvSpPr>
          <p:cNvPr id="37" name="Shape 35"/>
          <p:cNvSpPr/>
          <p:nvPr/>
        </p:nvSpPr>
        <p:spPr>
          <a:xfrm>
            <a:off x="6254750" y="6019795"/>
            <a:ext cx="19050" cy="571500"/>
          </a:xfrm>
          <a:custGeom>
            <a:avLst/>
            <a:gdLst/>
            <a:ahLst/>
            <a:cxnLst/>
            <a:rect l="l" t="t" r="r" b="b"/>
            <a:pathLst>
              <a:path w="19050" h="571500">
                <a:moveTo>
                  <a:pt x="19050" y="0"/>
                </a:moveTo>
                <a:lnTo>
                  <a:pt x="19050" y="0"/>
                </a:lnTo>
                <a:lnTo>
                  <a:pt x="19050" y="571500"/>
                </a:lnTo>
                <a:lnTo>
                  <a:pt x="19050" y="571500"/>
                </a:lnTo>
                <a:cubicBezTo>
                  <a:pt x="8536" y="571500"/>
                  <a:pt x="0" y="562964"/>
                  <a:pt x="0" y="552450"/>
                </a:cubicBezTo>
                <a:lnTo>
                  <a:pt x="0" y="19050"/>
                </a:lnTo>
                <a:cubicBezTo>
                  <a:pt x="0" y="8536"/>
                  <a:pt x="8536" y="0"/>
                  <a:pt x="19050" y="0"/>
                </a:cubicBezTo>
                <a:close/>
              </a:path>
            </a:pathLst>
          </a:custGeom>
          <a:solidFill>
            <a:srgbClr val="F47C20"/>
          </a:solidFill>
          <a:ln/>
        </p:spPr>
      </p:sp>
      <p:sp>
        <p:nvSpPr>
          <p:cNvPr id="38" name="Text 36"/>
          <p:cNvSpPr/>
          <p:nvPr/>
        </p:nvSpPr>
        <p:spPr>
          <a:xfrm>
            <a:off x="6359525" y="6115045"/>
            <a:ext cx="5373688" cy="158750"/>
          </a:xfrm>
          <a:prstGeom prst="rect">
            <a:avLst/>
          </a:prstGeom>
          <a:noFill/>
          <a:ln/>
        </p:spPr>
        <p:txBody>
          <a:bodyPr wrap="square" lIns="0" tIns="0" rIns="0" bIns="0" rtlCol="0" anchor="ctr"/>
          <a:lstStyle/>
          <a:p>
            <a:pPr>
              <a:lnSpc>
                <a:spcPct val="120000"/>
              </a:lnSpc>
            </a:pPr>
            <a:r>
              <a:rPr lang="en-US" sz="875" b="1" dirty="0">
                <a:solidFill>
                  <a:srgbClr val="F47C20"/>
                </a:solidFill>
                <a:latin typeface="MiSans" pitchFamily="34" charset="0"/>
                <a:ea typeface="MiSans" pitchFamily="34" charset="-122"/>
                <a:cs typeface="MiSans" pitchFamily="34" charset="-120"/>
              </a:rPr>
              <a:t># Test configuration</a:t>
            </a:r>
            <a:endParaRPr lang="en-US" sz="1600" dirty="0"/>
          </a:p>
        </p:txBody>
      </p:sp>
      <p:sp>
        <p:nvSpPr>
          <p:cNvPr id="39" name="Text 37"/>
          <p:cNvSpPr/>
          <p:nvPr/>
        </p:nvSpPr>
        <p:spPr>
          <a:xfrm>
            <a:off x="6359525" y="6337295"/>
            <a:ext cx="5373688" cy="158750"/>
          </a:xfrm>
          <a:prstGeom prst="rect">
            <a:avLst/>
          </a:prstGeom>
          <a:noFill/>
          <a:ln/>
        </p:spPr>
        <p:txBody>
          <a:bodyPr wrap="square" lIns="0" tIns="0" rIns="0" bIns="0" rtlCol="0" anchor="ctr"/>
          <a:lstStyle/>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nginx -t</a:t>
            </a:r>
            <a:endParaRPr lang="en-US" sz="1600" dirty="0"/>
          </a:p>
        </p:txBody>
      </p:sp>
      <p:sp>
        <p:nvSpPr>
          <p:cNvPr id="40" name="Shape 38"/>
          <p:cNvSpPr/>
          <p:nvPr/>
        </p:nvSpPr>
        <p:spPr>
          <a:xfrm>
            <a:off x="6254750" y="6686545"/>
            <a:ext cx="5518150" cy="571500"/>
          </a:xfrm>
          <a:custGeom>
            <a:avLst/>
            <a:gdLst/>
            <a:ahLst/>
            <a:cxnLst/>
            <a:rect l="l" t="t" r="r" b="b"/>
            <a:pathLst>
              <a:path w="5518150" h="571500">
                <a:moveTo>
                  <a:pt x="19050" y="0"/>
                </a:moveTo>
                <a:lnTo>
                  <a:pt x="5454651" y="0"/>
                </a:lnTo>
                <a:cubicBezTo>
                  <a:pt x="5489720" y="0"/>
                  <a:pt x="5518150" y="28430"/>
                  <a:pt x="5518150" y="63499"/>
                </a:cubicBezTo>
                <a:lnTo>
                  <a:pt x="5518150" y="508001"/>
                </a:lnTo>
                <a:cubicBezTo>
                  <a:pt x="5518150" y="543070"/>
                  <a:pt x="5489720" y="571500"/>
                  <a:pt x="5454651" y="571500"/>
                </a:cubicBezTo>
                <a:lnTo>
                  <a:pt x="19050" y="571500"/>
                </a:lnTo>
                <a:cubicBezTo>
                  <a:pt x="8536" y="571500"/>
                  <a:pt x="0" y="562964"/>
                  <a:pt x="0" y="552450"/>
                </a:cubicBezTo>
                <a:lnTo>
                  <a:pt x="0" y="19050"/>
                </a:lnTo>
                <a:cubicBezTo>
                  <a:pt x="0" y="8536"/>
                  <a:pt x="8536" y="0"/>
                  <a:pt x="19050" y="0"/>
                </a:cubicBezTo>
                <a:close/>
              </a:path>
            </a:pathLst>
          </a:custGeom>
          <a:solidFill>
            <a:srgbClr val="1A1D21">
              <a:alpha val="90196"/>
            </a:srgbClr>
          </a:solidFill>
          <a:ln/>
        </p:spPr>
      </p:sp>
      <p:sp>
        <p:nvSpPr>
          <p:cNvPr id="41" name="Shape 39"/>
          <p:cNvSpPr/>
          <p:nvPr/>
        </p:nvSpPr>
        <p:spPr>
          <a:xfrm>
            <a:off x="6254750" y="6686545"/>
            <a:ext cx="19050" cy="571500"/>
          </a:xfrm>
          <a:custGeom>
            <a:avLst/>
            <a:gdLst/>
            <a:ahLst/>
            <a:cxnLst/>
            <a:rect l="l" t="t" r="r" b="b"/>
            <a:pathLst>
              <a:path w="19050" h="571500">
                <a:moveTo>
                  <a:pt x="19050" y="0"/>
                </a:moveTo>
                <a:lnTo>
                  <a:pt x="19050" y="0"/>
                </a:lnTo>
                <a:lnTo>
                  <a:pt x="19050" y="571500"/>
                </a:lnTo>
                <a:lnTo>
                  <a:pt x="19050" y="571500"/>
                </a:lnTo>
                <a:cubicBezTo>
                  <a:pt x="8536" y="571500"/>
                  <a:pt x="0" y="562964"/>
                  <a:pt x="0" y="552450"/>
                </a:cubicBezTo>
                <a:lnTo>
                  <a:pt x="0" y="19050"/>
                </a:lnTo>
                <a:cubicBezTo>
                  <a:pt x="0" y="8536"/>
                  <a:pt x="8536" y="0"/>
                  <a:pt x="19050" y="0"/>
                </a:cubicBezTo>
                <a:close/>
              </a:path>
            </a:pathLst>
          </a:custGeom>
          <a:solidFill>
            <a:srgbClr val="F47C20"/>
          </a:solidFill>
          <a:ln/>
        </p:spPr>
      </p:sp>
      <p:sp>
        <p:nvSpPr>
          <p:cNvPr id="42" name="Text 40"/>
          <p:cNvSpPr/>
          <p:nvPr/>
        </p:nvSpPr>
        <p:spPr>
          <a:xfrm>
            <a:off x="6359525" y="6781795"/>
            <a:ext cx="5373688" cy="158750"/>
          </a:xfrm>
          <a:prstGeom prst="rect">
            <a:avLst/>
          </a:prstGeom>
          <a:noFill/>
          <a:ln/>
        </p:spPr>
        <p:txBody>
          <a:bodyPr wrap="square" lIns="0" tIns="0" rIns="0" bIns="0" rtlCol="0" anchor="ctr"/>
          <a:lstStyle/>
          <a:p>
            <a:pPr>
              <a:lnSpc>
                <a:spcPct val="120000"/>
              </a:lnSpc>
            </a:pPr>
            <a:r>
              <a:rPr lang="en-US" sz="875" b="1" dirty="0">
                <a:solidFill>
                  <a:srgbClr val="00A4E0"/>
                </a:solidFill>
                <a:latin typeface="MiSans" pitchFamily="34" charset="0"/>
                <a:ea typeface="MiSans" pitchFamily="34" charset="-122"/>
                <a:cs typeface="MiSans" pitchFamily="34" charset="-120"/>
              </a:rPr>
              <a:t># Reload Nginx</a:t>
            </a:r>
            <a:endParaRPr lang="en-US" sz="1600" dirty="0"/>
          </a:p>
        </p:txBody>
      </p:sp>
      <p:sp>
        <p:nvSpPr>
          <p:cNvPr id="43" name="Text 41"/>
          <p:cNvSpPr/>
          <p:nvPr/>
        </p:nvSpPr>
        <p:spPr>
          <a:xfrm>
            <a:off x="6359525" y="7004045"/>
            <a:ext cx="5373688" cy="158750"/>
          </a:xfrm>
          <a:prstGeom prst="rect">
            <a:avLst/>
          </a:prstGeom>
          <a:noFill/>
          <a:ln/>
        </p:spPr>
        <p:txBody>
          <a:bodyPr wrap="square" lIns="0" tIns="0" rIns="0" bIns="0" rtlCol="0" anchor="ctr"/>
          <a:lstStyle/>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nginx -s reload</a:t>
            </a:r>
            <a:endParaRPr lang="en-US" sz="1600" dirty="0"/>
          </a:p>
        </p:txBody>
      </p:sp>
      <p:sp>
        <p:nvSpPr>
          <p:cNvPr id="44" name="Shape 42"/>
          <p:cNvSpPr/>
          <p:nvPr/>
        </p:nvSpPr>
        <p:spPr>
          <a:xfrm>
            <a:off x="6245225" y="7353295"/>
            <a:ext cx="5524500" cy="857250"/>
          </a:xfrm>
          <a:custGeom>
            <a:avLst/>
            <a:gdLst/>
            <a:ahLst/>
            <a:cxnLst/>
            <a:rect l="l" t="t" r="r" b="b"/>
            <a:pathLst>
              <a:path w="5524500" h="857250">
                <a:moveTo>
                  <a:pt x="63497" y="0"/>
                </a:moveTo>
                <a:lnTo>
                  <a:pt x="5461003" y="0"/>
                </a:lnTo>
                <a:cubicBezTo>
                  <a:pt x="5496072" y="0"/>
                  <a:pt x="5524500" y="28428"/>
                  <a:pt x="5524500" y="63497"/>
                </a:cubicBezTo>
                <a:lnTo>
                  <a:pt x="5524500" y="793753"/>
                </a:lnTo>
                <a:cubicBezTo>
                  <a:pt x="5524500" y="828822"/>
                  <a:pt x="5496072" y="857250"/>
                  <a:pt x="5461003" y="857250"/>
                </a:cubicBezTo>
                <a:lnTo>
                  <a:pt x="63497" y="857250"/>
                </a:lnTo>
                <a:cubicBezTo>
                  <a:pt x="28428" y="857250"/>
                  <a:pt x="0" y="828822"/>
                  <a:pt x="0" y="793753"/>
                </a:cubicBezTo>
                <a:lnTo>
                  <a:pt x="0" y="63497"/>
                </a:lnTo>
                <a:cubicBezTo>
                  <a:pt x="0" y="28428"/>
                  <a:pt x="28428" y="0"/>
                  <a:pt x="63497" y="0"/>
                </a:cubicBezTo>
                <a:close/>
              </a:path>
            </a:pathLst>
          </a:custGeom>
          <a:solidFill>
            <a:srgbClr val="1A1D21">
              <a:alpha val="50196"/>
            </a:srgbClr>
          </a:solidFill>
          <a:ln/>
        </p:spPr>
      </p:sp>
      <p:sp>
        <p:nvSpPr>
          <p:cNvPr id="45" name="Text 43"/>
          <p:cNvSpPr/>
          <p:nvPr/>
        </p:nvSpPr>
        <p:spPr>
          <a:xfrm>
            <a:off x="6340475" y="7448545"/>
            <a:ext cx="5397500" cy="190500"/>
          </a:xfrm>
          <a:prstGeom prst="rect">
            <a:avLst/>
          </a:prstGeom>
          <a:noFill/>
          <a:ln/>
        </p:spPr>
        <p:txBody>
          <a:bodyPr wrap="square" lIns="0" tIns="0" rIns="0" bIns="0" rtlCol="0" anchor="ctr"/>
          <a:lstStyle/>
          <a:p>
            <a:pPr>
              <a:lnSpc>
                <a:spcPct val="130000"/>
              </a:lnSpc>
            </a:pPr>
            <a:r>
              <a:rPr lang="en-US" sz="1000" b="1" dirty="0">
                <a:solidFill>
                  <a:srgbClr val="E8EAED"/>
                </a:solidFill>
                <a:latin typeface="Liter" pitchFamily="34" charset="0"/>
                <a:ea typeface="Liter" pitchFamily="34" charset="-122"/>
                <a:cs typeface="Liter" pitchFamily="34" charset="-120"/>
              </a:rPr>
              <a:t>Verification:</a:t>
            </a:r>
            <a:endParaRPr lang="en-US" sz="1600" dirty="0"/>
          </a:p>
        </p:txBody>
      </p:sp>
      <p:sp>
        <p:nvSpPr>
          <p:cNvPr id="46" name="Shape 44"/>
          <p:cNvSpPr/>
          <p:nvPr/>
        </p:nvSpPr>
        <p:spPr>
          <a:xfrm>
            <a:off x="6364287" y="7734295"/>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A4E0"/>
          </a:solidFill>
          <a:ln/>
        </p:spPr>
      </p:sp>
      <p:sp>
        <p:nvSpPr>
          <p:cNvPr id="47" name="Text 45"/>
          <p:cNvSpPr/>
          <p:nvPr/>
        </p:nvSpPr>
        <p:spPr>
          <a:xfrm>
            <a:off x="6562725" y="7702545"/>
            <a:ext cx="1849438" cy="190500"/>
          </a:xfrm>
          <a:prstGeom prst="rect">
            <a:avLst/>
          </a:prstGeom>
          <a:noFill/>
          <a:ln/>
        </p:spPr>
        <p:txBody>
          <a:bodyPr wrap="square" lIns="0" tIns="0" rIns="0" bIns="0" rtlCol="0" anchor="ctr"/>
          <a:lstStyle/>
          <a:p>
            <a:pPr>
              <a:lnSpc>
                <a:spcPct val="130000"/>
              </a:lnSpc>
            </a:pPr>
            <a:r>
              <a:rPr lang="en-US" sz="1000" dirty="0">
                <a:solidFill>
                  <a:srgbClr val="E8EAED">
                    <a:alpha val="80000"/>
                  </a:srgbClr>
                </a:solidFill>
                <a:latin typeface="Liter" pitchFamily="34" charset="0"/>
                <a:ea typeface="Liter" pitchFamily="34" charset="-122"/>
                <a:cs typeface="Liter" pitchFamily="34" charset="-120"/>
              </a:rPr>
              <a:t>Direct access should return 400</a:t>
            </a:r>
            <a:endParaRPr lang="en-US" sz="1600" dirty="0"/>
          </a:p>
        </p:txBody>
      </p:sp>
      <p:sp>
        <p:nvSpPr>
          <p:cNvPr id="48" name="Shape 46"/>
          <p:cNvSpPr/>
          <p:nvPr/>
        </p:nvSpPr>
        <p:spPr>
          <a:xfrm>
            <a:off x="6364287" y="7956545"/>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A4E0"/>
          </a:solidFill>
          <a:ln/>
        </p:spPr>
      </p:sp>
      <p:sp>
        <p:nvSpPr>
          <p:cNvPr id="49" name="Text 47"/>
          <p:cNvSpPr/>
          <p:nvPr/>
        </p:nvSpPr>
        <p:spPr>
          <a:xfrm>
            <a:off x="6562725" y="7924795"/>
            <a:ext cx="1849438" cy="190500"/>
          </a:xfrm>
          <a:prstGeom prst="rect">
            <a:avLst/>
          </a:prstGeom>
          <a:noFill/>
          <a:ln/>
        </p:spPr>
        <p:txBody>
          <a:bodyPr wrap="square" lIns="0" tIns="0" rIns="0" bIns="0" rtlCol="0" anchor="ctr"/>
          <a:lstStyle/>
          <a:p>
            <a:pPr>
              <a:lnSpc>
                <a:spcPct val="130000"/>
              </a:lnSpc>
            </a:pPr>
            <a:r>
              <a:rPr lang="en-US" sz="1000" dirty="0">
                <a:solidFill>
                  <a:srgbClr val="E8EAED">
                    <a:alpha val="80000"/>
                  </a:srgbClr>
                </a:solidFill>
                <a:latin typeface="Liter" pitchFamily="34" charset="0"/>
                <a:ea typeface="Liter" pitchFamily="34" charset="-122"/>
                <a:cs typeface="Liter" pitchFamily="34" charset="-120"/>
              </a:rPr>
              <a:t>Through Cloudflare should work</a:t>
            </a:r>
            <a:endParaRPr lang="en-US" sz="16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50" kern="0" dirty="0">
                <a:solidFill>
                  <a:srgbClr val="F47C20"/>
                </a:solidFill>
                <a:latin typeface="Liter" pitchFamily="34" charset="0"/>
                <a:ea typeface="Liter" pitchFamily="34" charset="-122"/>
                <a:cs typeface="Liter" pitchFamily="34" charset="-120"/>
              </a:rPr>
              <a:t>AUTHENTICATED ORIGIN PULLS</a:t>
            </a:r>
            <a:endParaRPr lang="en-US" sz="1600" dirty="0"/>
          </a:p>
        </p:txBody>
      </p:sp>
      <p:sp>
        <p:nvSpPr>
          <p:cNvPr id="3" name="Text 1"/>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E8EAED"/>
                </a:solidFill>
                <a:latin typeface="Liter" pitchFamily="34" charset="0"/>
                <a:ea typeface="Liter" pitchFamily="34" charset="-122"/>
                <a:cs typeface="Liter" pitchFamily="34" charset="-120"/>
              </a:rPr>
              <a:t>Apache Configuration</a:t>
            </a:r>
            <a:endParaRPr lang="en-US" sz="1600" dirty="0"/>
          </a:p>
        </p:txBody>
      </p:sp>
      <p:sp>
        <p:nvSpPr>
          <p:cNvPr id="4" name="Shape 2"/>
          <p:cNvSpPr/>
          <p:nvPr/>
        </p:nvSpPr>
        <p:spPr>
          <a:xfrm>
            <a:off x="320675" y="955675"/>
            <a:ext cx="5721350" cy="4451350"/>
          </a:xfrm>
          <a:custGeom>
            <a:avLst/>
            <a:gdLst/>
            <a:ahLst/>
            <a:cxnLst/>
            <a:rect l="l" t="t" r="r" b="b"/>
            <a:pathLst>
              <a:path w="5721350" h="4451350">
                <a:moveTo>
                  <a:pt x="95259" y="0"/>
                </a:moveTo>
                <a:lnTo>
                  <a:pt x="5626091" y="0"/>
                </a:lnTo>
                <a:cubicBezTo>
                  <a:pt x="5678701" y="0"/>
                  <a:pt x="5721350" y="42649"/>
                  <a:pt x="5721350" y="95259"/>
                </a:cubicBezTo>
                <a:lnTo>
                  <a:pt x="5721350" y="4356091"/>
                </a:lnTo>
                <a:cubicBezTo>
                  <a:pt x="5721350" y="4408701"/>
                  <a:pt x="5678701" y="4451350"/>
                  <a:pt x="5626091" y="4451350"/>
                </a:cubicBezTo>
                <a:lnTo>
                  <a:pt x="95259" y="4451350"/>
                </a:lnTo>
                <a:cubicBezTo>
                  <a:pt x="42649" y="4451350"/>
                  <a:pt x="0" y="4408701"/>
                  <a:pt x="0" y="4356091"/>
                </a:cubicBezTo>
                <a:lnTo>
                  <a:pt x="0" y="95259"/>
                </a:lnTo>
                <a:cubicBezTo>
                  <a:pt x="0" y="42684"/>
                  <a:pt x="42684" y="0"/>
                  <a:pt x="95259" y="0"/>
                </a:cubicBezTo>
                <a:close/>
              </a:path>
            </a:pathLst>
          </a:custGeom>
          <a:solidFill>
            <a:srgbClr val="48515E">
              <a:alpha val="20000"/>
            </a:srgbClr>
          </a:solidFill>
          <a:ln w="10160">
            <a:solidFill>
              <a:srgbClr val="48515E">
                <a:alpha val="40000"/>
              </a:srgbClr>
            </a:solidFill>
            <a:prstDash val="solid"/>
          </a:ln>
        </p:spPr>
      </p:sp>
      <p:sp>
        <p:nvSpPr>
          <p:cNvPr id="5" name="Shape 3"/>
          <p:cNvSpPr/>
          <p:nvPr/>
        </p:nvSpPr>
        <p:spPr>
          <a:xfrm>
            <a:off x="419100" y="1054098"/>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F47C20">
              <a:alpha val="20000"/>
            </a:srgbClr>
          </a:solidFill>
          <a:ln/>
        </p:spPr>
      </p:sp>
      <p:sp>
        <p:nvSpPr>
          <p:cNvPr id="6" name="Shape 4"/>
          <p:cNvSpPr/>
          <p:nvPr/>
        </p:nvSpPr>
        <p:spPr>
          <a:xfrm>
            <a:off x="490537" y="1141411"/>
            <a:ext cx="178594" cy="142875"/>
          </a:xfrm>
          <a:custGeom>
            <a:avLst/>
            <a:gdLst/>
            <a:ahLst/>
            <a:cxnLst/>
            <a:rect l="l" t="t" r="r" b="b"/>
            <a:pathLst>
              <a:path w="178594" h="142875">
                <a:moveTo>
                  <a:pt x="116058" y="58741"/>
                </a:moveTo>
                <a:cubicBezTo>
                  <a:pt x="119462" y="57820"/>
                  <a:pt x="123034" y="59438"/>
                  <a:pt x="124569" y="62592"/>
                </a:cubicBezTo>
                <a:lnTo>
                  <a:pt x="129760" y="73084"/>
                </a:lnTo>
                <a:cubicBezTo>
                  <a:pt x="132634" y="73475"/>
                  <a:pt x="135452" y="74256"/>
                  <a:pt x="138103" y="75344"/>
                </a:cubicBezTo>
                <a:lnTo>
                  <a:pt x="147870" y="68842"/>
                </a:lnTo>
                <a:cubicBezTo>
                  <a:pt x="150800" y="66889"/>
                  <a:pt x="154679" y="67280"/>
                  <a:pt x="157162" y="69763"/>
                </a:cubicBezTo>
                <a:lnTo>
                  <a:pt x="162520" y="75121"/>
                </a:lnTo>
                <a:cubicBezTo>
                  <a:pt x="165004" y="77605"/>
                  <a:pt x="165395" y="81511"/>
                  <a:pt x="163441" y="84413"/>
                </a:cubicBezTo>
                <a:lnTo>
                  <a:pt x="156939" y="94152"/>
                </a:lnTo>
                <a:cubicBezTo>
                  <a:pt x="157469" y="95464"/>
                  <a:pt x="157944" y="96831"/>
                  <a:pt x="158335" y="98254"/>
                </a:cubicBezTo>
                <a:cubicBezTo>
                  <a:pt x="158725" y="99678"/>
                  <a:pt x="158976" y="101073"/>
                  <a:pt x="159172" y="102496"/>
                </a:cubicBezTo>
                <a:lnTo>
                  <a:pt x="169692" y="107686"/>
                </a:lnTo>
                <a:cubicBezTo>
                  <a:pt x="172845" y="109249"/>
                  <a:pt x="174464" y="112821"/>
                  <a:pt x="173543" y="116198"/>
                </a:cubicBezTo>
                <a:lnTo>
                  <a:pt x="171590" y="123509"/>
                </a:lnTo>
                <a:cubicBezTo>
                  <a:pt x="170669" y="126885"/>
                  <a:pt x="167515" y="129174"/>
                  <a:pt x="163999" y="128950"/>
                </a:cubicBezTo>
                <a:lnTo>
                  <a:pt x="152279" y="128197"/>
                </a:lnTo>
                <a:cubicBezTo>
                  <a:pt x="150521" y="130457"/>
                  <a:pt x="148484" y="132550"/>
                  <a:pt x="146168" y="134336"/>
                </a:cubicBezTo>
                <a:lnTo>
                  <a:pt x="146921" y="146028"/>
                </a:lnTo>
                <a:cubicBezTo>
                  <a:pt x="147145" y="149544"/>
                  <a:pt x="144856" y="152726"/>
                  <a:pt x="141480" y="153619"/>
                </a:cubicBezTo>
                <a:lnTo>
                  <a:pt x="134169" y="155572"/>
                </a:lnTo>
                <a:cubicBezTo>
                  <a:pt x="130764" y="156493"/>
                  <a:pt x="127220" y="154874"/>
                  <a:pt x="125657" y="151721"/>
                </a:cubicBezTo>
                <a:lnTo>
                  <a:pt x="120467" y="141229"/>
                </a:lnTo>
                <a:cubicBezTo>
                  <a:pt x="117593" y="140838"/>
                  <a:pt x="114774" y="140057"/>
                  <a:pt x="112123" y="138968"/>
                </a:cubicBezTo>
                <a:lnTo>
                  <a:pt x="102357" y="145470"/>
                </a:lnTo>
                <a:cubicBezTo>
                  <a:pt x="99426" y="147424"/>
                  <a:pt x="95548" y="147033"/>
                  <a:pt x="93064" y="144549"/>
                </a:cubicBezTo>
                <a:lnTo>
                  <a:pt x="87706" y="139192"/>
                </a:lnTo>
                <a:cubicBezTo>
                  <a:pt x="85223" y="136708"/>
                  <a:pt x="84832" y="132829"/>
                  <a:pt x="86785" y="129899"/>
                </a:cubicBezTo>
                <a:lnTo>
                  <a:pt x="93287" y="120132"/>
                </a:lnTo>
                <a:cubicBezTo>
                  <a:pt x="92757" y="118821"/>
                  <a:pt x="92283" y="117453"/>
                  <a:pt x="91892" y="116030"/>
                </a:cubicBezTo>
                <a:cubicBezTo>
                  <a:pt x="91501" y="114607"/>
                  <a:pt x="91250" y="113184"/>
                  <a:pt x="91055" y="111789"/>
                </a:cubicBezTo>
                <a:lnTo>
                  <a:pt x="80535" y="106598"/>
                </a:lnTo>
                <a:cubicBezTo>
                  <a:pt x="77381" y="105035"/>
                  <a:pt x="75791" y="101464"/>
                  <a:pt x="76684" y="98087"/>
                </a:cubicBezTo>
                <a:lnTo>
                  <a:pt x="78637" y="90776"/>
                </a:lnTo>
                <a:cubicBezTo>
                  <a:pt x="79558" y="87399"/>
                  <a:pt x="82711" y="85111"/>
                  <a:pt x="86227" y="85334"/>
                </a:cubicBezTo>
                <a:lnTo>
                  <a:pt x="97920" y="86088"/>
                </a:lnTo>
                <a:cubicBezTo>
                  <a:pt x="99678" y="83827"/>
                  <a:pt x="101715" y="81735"/>
                  <a:pt x="104031" y="79949"/>
                </a:cubicBezTo>
                <a:lnTo>
                  <a:pt x="103277" y="68284"/>
                </a:lnTo>
                <a:cubicBezTo>
                  <a:pt x="103054" y="64768"/>
                  <a:pt x="105342" y="61587"/>
                  <a:pt x="108719" y="60694"/>
                </a:cubicBezTo>
                <a:lnTo>
                  <a:pt x="116030" y="58741"/>
                </a:lnTo>
                <a:close/>
                <a:moveTo>
                  <a:pt x="125127" y="94878"/>
                </a:moveTo>
                <a:cubicBezTo>
                  <a:pt x="118351" y="94886"/>
                  <a:pt x="112855" y="100394"/>
                  <a:pt x="112863" y="107170"/>
                </a:cubicBezTo>
                <a:cubicBezTo>
                  <a:pt x="112871" y="113947"/>
                  <a:pt x="118379" y="119442"/>
                  <a:pt x="125155" y="119435"/>
                </a:cubicBezTo>
                <a:cubicBezTo>
                  <a:pt x="131932" y="119427"/>
                  <a:pt x="137427" y="113919"/>
                  <a:pt x="137420" y="107142"/>
                </a:cubicBezTo>
                <a:cubicBezTo>
                  <a:pt x="137412" y="100366"/>
                  <a:pt x="131904" y="94870"/>
                  <a:pt x="125127" y="94878"/>
                </a:cubicBezTo>
                <a:close/>
                <a:moveTo>
                  <a:pt x="62759" y="-12697"/>
                </a:moveTo>
                <a:lnTo>
                  <a:pt x="70070" y="-10744"/>
                </a:lnTo>
                <a:cubicBezTo>
                  <a:pt x="73447" y="-9823"/>
                  <a:pt x="75735" y="-6641"/>
                  <a:pt x="75512" y="-3153"/>
                </a:cubicBezTo>
                <a:lnTo>
                  <a:pt x="74758" y="8511"/>
                </a:lnTo>
                <a:cubicBezTo>
                  <a:pt x="77074" y="10297"/>
                  <a:pt x="79111" y="12362"/>
                  <a:pt x="80869" y="14650"/>
                </a:cubicBezTo>
                <a:lnTo>
                  <a:pt x="92590" y="13897"/>
                </a:lnTo>
                <a:cubicBezTo>
                  <a:pt x="96078" y="13674"/>
                  <a:pt x="99259" y="15962"/>
                  <a:pt x="100180" y="19338"/>
                </a:cubicBezTo>
                <a:lnTo>
                  <a:pt x="102133" y="26650"/>
                </a:lnTo>
                <a:cubicBezTo>
                  <a:pt x="103026" y="30026"/>
                  <a:pt x="101436" y="33598"/>
                  <a:pt x="98282" y="35161"/>
                </a:cubicBezTo>
                <a:lnTo>
                  <a:pt x="87762" y="40351"/>
                </a:lnTo>
                <a:cubicBezTo>
                  <a:pt x="87567" y="41774"/>
                  <a:pt x="87288" y="43197"/>
                  <a:pt x="86925" y="44593"/>
                </a:cubicBezTo>
                <a:cubicBezTo>
                  <a:pt x="86562" y="45988"/>
                  <a:pt x="86060" y="47383"/>
                  <a:pt x="85530" y="48695"/>
                </a:cubicBezTo>
                <a:lnTo>
                  <a:pt x="92032" y="58462"/>
                </a:lnTo>
                <a:cubicBezTo>
                  <a:pt x="93985" y="61392"/>
                  <a:pt x="93594" y="65270"/>
                  <a:pt x="91111" y="67754"/>
                </a:cubicBezTo>
                <a:lnTo>
                  <a:pt x="85753" y="73112"/>
                </a:lnTo>
                <a:cubicBezTo>
                  <a:pt x="83269" y="75595"/>
                  <a:pt x="79391" y="75986"/>
                  <a:pt x="76460" y="74033"/>
                </a:cubicBezTo>
                <a:lnTo>
                  <a:pt x="66694" y="67531"/>
                </a:lnTo>
                <a:cubicBezTo>
                  <a:pt x="64043" y="68619"/>
                  <a:pt x="61224" y="69400"/>
                  <a:pt x="58350" y="69791"/>
                </a:cubicBezTo>
                <a:lnTo>
                  <a:pt x="53160" y="80283"/>
                </a:lnTo>
                <a:cubicBezTo>
                  <a:pt x="51597" y="83437"/>
                  <a:pt x="48025" y="85027"/>
                  <a:pt x="44648" y="84134"/>
                </a:cubicBezTo>
                <a:lnTo>
                  <a:pt x="37337" y="82181"/>
                </a:lnTo>
                <a:cubicBezTo>
                  <a:pt x="33933" y="81260"/>
                  <a:pt x="31672" y="78079"/>
                  <a:pt x="31896" y="74591"/>
                </a:cubicBezTo>
                <a:lnTo>
                  <a:pt x="32649" y="62898"/>
                </a:lnTo>
                <a:cubicBezTo>
                  <a:pt x="30333" y="61113"/>
                  <a:pt x="28296" y="59048"/>
                  <a:pt x="26538" y="56759"/>
                </a:cubicBezTo>
                <a:lnTo>
                  <a:pt x="14818" y="57513"/>
                </a:lnTo>
                <a:cubicBezTo>
                  <a:pt x="11330" y="57736"/>
                  <a:pt x="8148" y="55448"/>
                  <a:pt x="7227" y="52071"/>
                </a:cubicBezTo>
                <a:lnTo>
                  <a:pt x="5274" y="44760"/>
                </a:lnTo>
                <a:cubicBezTo>
                  <a:pt x="4381" y="41384"/>
                  <a:pt x="5972" y="37812"/>
                  <a:pt x="9125" y="36249"/>
                </a:cubicBezTo>
                <a:lnTo>
                  <a:pt x="19645" y="31059"/>
                </a:lnTo>
                <a:cubicBezTo>
                  <a:pt x="19841" y="29635"/>
                  <a:pt x="20120" y="28240"/>
                  <a:pt x="20482" y="26817"/>
                </a:cubicBezTo>
                <a:cubicBezTo>
                  <a:pt x="20873" y="25394"/>
                  <a:pt x="21320" y="24026"/>
                  <a:pt x="21878" y="22715"/>
                </a:cubicBezTo>
                <a:lnTo>
                  <a:pt x="15376" y="12976"/>
                </a:lnTo>
                <a:cubicBezTo>
                  <a:pt x="13422" y="10046"/>
                  <a:pt x="13813" y="6167"/>
                  <a:pt x="16297" y="3683"/>
                </a:cubicBezTo>
                <a:lnTo>
                  <a:pt x="21654" y="-1674"/>
                </a:lnTo>
                <a:cubicBezTo>
                  <a:pt x="24138" y="-4158"/>
                  <a:pt x="28017" y="-4549"/>
                  <a:pt x="30947" y="-2595"/>
                </a:cubicBezTo>
                <a:lnTo>
                  <a:pt x="40714" y="3907"/>
                </a:lnTo>
                <a:cubicBezTo>
                  <a:pt x="43365" y="2818"/>
                  <a:pt x="46183" y="2037"/>
                  <a:pt x="49057" y="1646"/>
                </a:cubicBezTo>
                <a:lnTo>
                  <a:pt x="54248" y="-8846"/>
                </a:lnTo>
                <a:cubicBezTo>
                  <a:pt x="55811" y="-11999"/>
                  <a:pt x="59355" y="-13590"/>
                  <a:pt x="62759" y="-12697"/>
                </a:cubicBezTo>
                <a:close/>
                <a:moveTo>
                  <a:pt x="53690" y="23440"/>
                </a:moveTo>
                <a:cubicBezTo>
                  <a:pt x="46913" y="23440"/>
                  <a:pt x="41411" y="28942"/>
                  <a:pt x="41411" y="35719"/>
                </a:cubicBezTo>
                <a:cubicBezTo>
                  <a:pt x="41411" y="42495"/>
                  <a:pt x="46913" y="47997"/>
                  <a:pt x="53690" y="47997"/>
                </a:cubicBezTo>
                <a:cubicBezTo>
                  <a:pt x="60466" y="47997"/>
                  <a:pt x="65968" y="42495"/>
                  <a:pt x="65968" y="35719"/>
                </a:cubicBezTo>
                <a:cubicBezTo>
                  <a:pt x="65968" y="28942"/>
                  <a:pt x="60466" y="23440"/>
                  <a:pt x="53690" y="23440"/>
                </a:cubicBezTo>
                <a:close/>
              </a:path>
            </a:pathLst>
          </a:custGeom>
          <a:solidFill>
            <a:srgbClr val="F47C20"/>
          </a:solidFill>
          <a:ln/>
        </p:spPr>
      </p:sp>
      <p:sp>
        <p:nvSpPr>
          <p:cNvPr id="7" name="Text 5"/>
          <p:cNvSpPr/>
          <p:nvPr/>
        </p:nvSpPr>
        <p:spPr>
          <a:xfrm>
            <a:off x="831850" y="1101723"/>
            <a:ext cx="2222500" cy="222250"/>
          </a:xfrm>
          <a:prstGeom prst="rect">
            <a:avLst/>
          </a:prstGeom>
          <a:noFill/>
          <a:ln/>
        </p:spPr>
        <p:txBody>
          <a:bodyPr wrap="square" lIns="0" tIns="0" rIns="0" bIns="0" rtlCol="0" anchor="ctr"/>
          <a:lstStyle/>
          <a:p>
            <a:pPr>
              <a:lnSpc>
                <a:spcPct val="120000"/>
              </a:lnSpc>
            </a:pPr>
            <a:r>
              <a:rPr lang="en-US" sz="1250" b="1" dirty="0">
                <a:solidFill>
                  <a:srgbClr val="E8EAED"/>
                </a:solidFill>
                <a:latin typeface="Liter" pitchFamily="34" charset="0"/>
                <a:ea typeface="Liter" pitchFamily="34" charset="-122"/>
                <a:cs typeface="Liter" pitchFamily="34" charset="-120"/>
              </a:rPr>
              <a:t>Apache mod_ssl Configuration</a:t>
            </a:r>
            <a:endParaRPr lang="en-US" sz="1600" dirty="0"/>
          </a:p>
        </p:txBody>
      </p:sp>
      <p:sp>
        <p:nvSpPr>
          <p:cNvPr id="8" name="Shape 6"/>
          <p:cNvSpPr/>
          <p:nvPr/>
        </p:nvSpPr>
        <p:spPr>
          <a:xfrm>
            <a:off x="428625" y="1466848"/>
            <a:ext cx="5518150" cy="3841750"/>
          </a:xfrm>
          <a:custGeom>
            <a:avLst/>
            <a:gdLst/>
            <a:ahLst/>
            <a:cxnLst/>
            <a:rect l="l" t="t" r="r" b="b"/>
            <a:pathLst>
              <a:path w="5518150" h="3841750">
                <a:moveTo>
                  <a:pt x="19050" y="0"/>
                </a:moveTo>
                <a:lnTo>
                  <a:pt x="5454646" y="0"/>
                </a:lnTo>
                <a:cubicBezTo>
                  <a:pt x="5489718" y="0"/>
                  <a:pt x="5518150" y="28432"/>
                  <a:pt x="5518150" y="63504"/>
                </a:cubicBezTo>
                <a:lnTo>
                  <a:pt x="5518150" y="3778246"/>
                </a:lnTo>
                <a:cubicBezTo>
                  <a:pt x="5518150" y="3813318"/>
                  <a:pt x="5489718" y="3841750"/>
                  <a:pt x="5454646" y="3841750"/>
                </a:cubicBezTo>
                <a:lnTo>
                  <a:pt x="19050" y="3841750"/>
                </a:lnTo>
                <a:cubicBezTo>
                  <a:pt x="8529" y="3841750"/>
                  <a:pt x="0" y="3833221"/>
                  <a:pt x="0" y="3822700"/>
                </a:cubicBezTo>
                <a:lnTo>
                  <a:pt x="0" y="19050"/>
                </a:lnTo>
                <a:cubicBezTo>
                  <a:pt x="0" y="8536"/>
                  <a:pt x="8536" y="0"/>
                  <a:pt x="19050" y="0"/>
                </a:cubicBezTo>
                <a:close/>
              </a:path>
            </a:pathLst>
          </a:custGeom>
          <a:solidFill>
            <a:srgbClr val="1A1D21">
              <a:alpha val="90196"/>
            </a:srgbClr>
          </a:solidFill>
          <a:ln/>
        </p:spPr>
      </p:sp>
      <p:sp>
        <p:nvSpPr>
          <p:cNvPr id="9" name="Shape 7"/>
          <p:cNvSpPr/>
          <p:nvPr/>
        </p:nvSpPr>
        <p:spPr>
          <a:xfrm>
            <a:off x="428625" y="1466848"/>
            <a:ext cx="19050" cy="3841750"/>
          </a:xfrm>
          <a:custGeom>
            <a:avLst/>
            <a:gdLst/>
            <a:ahLst/>
            <a:cxnLst/>
            <a:rect l="l" t="t" r="r" b="b"/>
            <a:pathLst>
              <a:path w="19050" h="3841750">
                <a:moveTo>
                  <a:pt x="19050" y="0"/>
                </a:moveTo>
                <a:lnTo>
                  <a:pt x="19050" y="0"/>
                </a:lnTo>
                <a:lnTo>
                  <a:pt x="19050" y="3841750"/>
                </a:lnTo>
                <a:lnTo>
                  <a:pt x="19050" y="3841750"/>
                </a:lnTo>
                <a:cubicBezTo>
                  <a:pt x="8536" y="3841750"/>
                  <a:pt x="0" y="3833214"/>
                  <a:pt x="0" y="3822700"/>
                </a:cubicBezTo>
                <a:lnTo>
                  <a:pt x="0" y="19050"/>
                </a:lnTo>
                <a:cubicBezTo>
                  <a:pt x="0" y="8536"/>
                  <a:pt x="8536" y="0"/>
                  <a:pt x="19050" y="0"/>
                </a:cubicBezTo>
                <a:close/>
              </a:path>
            </a:pathLst>
          </a:custGeom>
          <a:solidFill>
            <a:srgbClr val="F47C20"/>
          </a:solidFill>
          <a:ln/>
        </p:spPr>
      </p:sp>
      <p:sp>
        <p:nvSpPr>
          <p:cNvPr id="10" name="Text 8"/>
          <p:cNvSpPr/>
          <p:nvPr/>
        </p:nvSpPr>
        <p:spPr>
          <a:xfrm>
            <a:off x="533400" y="1562098"/>
            <a:ext cx="5373688" cy="3651250"/>
          </a:xfrm>
          <a:prstGeom prst="rect">
            <a:avLst/>
          </a:prstGeom>
          <a:noFill/>
          <a:ln/>
        </p:spPr>
        <p:txBody>
          <a:bodyPr wrap="square" lIns="0" tIns="0" rIns="0" bIns="0" rtlCol="0" anchor="ctr"/>
          <a:lstStyle/>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ServerName example.com</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 Your SSL certificate</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SSLCertificateFile /etc/ssl/certs/example.com.pem</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SSLCertificateKeyFile /etc/ssl/private/example.com.key</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 Enable SSL</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SSLEngine on</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 Client certificate verification</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SSLCACertificateFile /etc/ssl/certs/cloudflare.crt</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SSLVerifyClient require</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SSLVerifyDepth 2</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 Optional: Pass cert info to backend</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SSLOptions +ExportCertData</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ProxyPass http://backend/</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ProxyPassReverse http://backend/</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a:t>
            </a:r>
            <a:endParaRPr lang="en-US" sz="1600" dirty="0"/>
          </a:p>
        </p:txBody>
      </p:sp>
      <p:sp>
        <p:nvSpPr>
          <p:cNvPr id="11" name="Shape 9"/>
          <p:cNvSpPr/>
          <p:nvPr/>
        </p:nvSpPr>
        <p:spPr>
          <a:xfrm>
            <a:off x="320675" y="5508630"/>
            <a:ext cx="5721350" cy="1466850"/>
          </a:xfrm>
          <a:custGeom>
            <a:avLst/>
            <a:gdLst/>
            <a:ahLst/>
            <a:cxnLst/>
            <a:rect l="l" t="t" r="r" b="b"/>
            <a:pathLst>
              <a:path w="5721350" h="1466850">
                <a:moveTo>
                  <a:pt x="95257" y="0"/>
                </a:moveTo>
                <a:lnTo>
                  <a:pt x="5626093" y="0"/>
                </a:lnTo>
                <a:cubicBezTo>
                  <a:pt x="5678702" y="0"/>
                  <a:pt x="5721350" y="42648"/>
                  <a:pt x="5721350" y="95257"/>
                </a:cubicBezTo>
                <a:lnTo>
                  <a:pt x="5721350" y="1371593"/>
                </a:lnTo>
                <a:cubicBezTo>
                  <a:pt x="5721350" y="1424202"/>
                  <a:pt x="5678702" y="1466850"/>
                  <a:pt x="5626093" y="1466850"/>
                </a:cubicBezTo>
                <a:lnTo>
                  <a:pt x="95257" y="1466850"/>
                </a:lnTo>
                <a:cubicBezTo>
                  <a:pt x="42648" y="1466850"/>
                  <a:pt x="0" y="1424202"/>
                  <a:pt x="0" y="1371593"/>
                </a:cubicBezTo>
                <a:lnTo>
                  <a:pt x="0" y="95257"/>
                </a:lnTo>
                <a:cubicBezTo>
                  <a:pt x="0" y="42683"/>
                  <a:pt x="42683" y="0"/>
                  <a:pt x="95257" y="0"/>
                </a:cubicBezTo>
                <a:close/>
              </a:path>
            </a:pathLst>
          </a:custGeom>
          <a:solidFill>
            <a:srgbClr val="00A4E0">
              <a:alpha val="10196"/>
            </a:srgbClr>
          </a:solidFill>
          <a:ln w="10160">
            <a:solidFill>
              <a:srgbClr val="00A4E0">
                <a:alpha val="30196"/>
              </a:srgbClr>
            </a:solidFill>
            <a:prstDash val="solid"/>
          </a:ln>
        </p:spPr>
      </p:sp>
      <p:sp>
        <p:nvSpPr>
          <p:cNvPr id="12" name="Shape 10"/>
          <p:cNvSpPr/>
          <p:nvPr/>
        </p:nvSpPr>
        <p:spPr>
          <a:xfrm>
            <a:off x="458787" y="5638803"/>
            <a:ext cx="119063" cy="1587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rgbClr val="00A4E0"/>
          </a:solidFill>
          <a:ln/>
        </p:spPr>
      </p:sp>
      <p:sp>
        <p:nvSpPr>
          <p:cNvPr id="13" name="Text 11"/>
          <p:cNvSpPr/>
          <p:nvPr/>
        </p:nvSpPr>
        <p:spPr>
          <a:xfrm>
            <a:off x="712788" y="5607053"/>
            <a:ext cx="1619250" cy="222250"/>
          </a:xfrm>
          <a:prstGeom prst="rect">
            <a:avLst/>
          </a:prstGeom>
          <a:noFill/>
          <a:ln/>
        </p:spPr>
        <p:txBody>
          <a:bodyPr wrap="square" lIns="0" tIns="0" rIns="0" bIns="0" rtlCol="0" anchor="ctr"/>
          <a:lstStyle/>
          <a:p>
            <a:pPr>
              <a:lnSpc>
                <a:spcPct val="130000"/>
              </a:lnSpc>
            </a:pPr>
            <a:r>
              <a:rPr lang="en-US" sz="1125" b="1" dirty="0">
                <a:solidFill>
                  <a:srgbClr val="E8EAED"/>
                </a:solidFill>
                <a:latin typeface="Liter" pitchFamily="34" charset="0"/>
                <a:ea typeface="Liter" pitchFamily="34" charset="-122"/>
                <a:cs typeface="Liter" pitchFamily="34" charset="-120"/>
              </a:rPr>
              <a:t>Key Directives Explained</a:t>
            </a:r>
            <a:endParaRPr lang="en-US" sz="1600" dirty="0"/>
          </a:p>
        </p:txBody>
      </p:sp>
      <p:sp>
        <p:nvSpPr>
          <p:cNvPr id="14" name="Text 12"/>
          <p:cNvSpPr/>
          <p:nvPr/>
        </p:nvSpPr>
        <p:spPr>
          <a:xfrm>
            <a:off x="419100" y="5924553"/>
            <a:ext cx="1460500" cy="190500"/>
          </a:xfrm>
          <a:prstGeom prst="rect">
            <a:avLst/>
          </a:prstGeom>
          <a:noFill/>
          <a:ln/>
        </p:spPr>
        <p:txBody>
          <a:bodyPr wrap="square" lIns="0" tIns="0" rIns="0" bIns="0" rtlCol="0" anchor="ctr"/>
          <a:lstStyle/>
          <a:p>
            <a:pPr>
              <a:lnSpc>
                <a:spcPct val="130000"/>
              </a:lnSpc>
            </a:pPr>
            <a:r>
              <a:rPr lang="en-US" sz="1000" dirty="0">
                <a:solidFill>
                  <a:srgbClr val="00A4E0"/>
                </a:solidFill>
                <a:latin typeface="MiSans" pitchFamily="34" charset="0"/>
                <a:ea typeface="MiSans" pitchFamily="34" charset="-122"/>
                <a:cs typeface="MiSans" pitchFamily="34" charset="-120"/>
              </a:rPr>
              <a:t>SSLCACertificateFile</a:t>
            </a:r>
            <a:endParaRPr lang="en-US" sz="1600" dirty="0"/>
          </a:p>
        </p:txBody>
      </p:sp>
      <p:sp>
        <p:nvSpPr>
          <p:cNvPr id="15" name="Text 13"/>
          <p:cNvSpPr/>
          <p:nvPr/>
        </p:nvSpPr>
        <p:spPr>
          <a:xfrm>
            <a:off x="1879104" y="5924553"/>
            <a:ext cx="1508125" cy="190500"/>
          </a:xfrm>
          <a:prstGeom prst="rect">
            <a:avLst/>
          </a:prstGeom>
          <a:noFill/>
          <a:ln/>
        </p:spPr>
        <p:txBody>
          <a:bodyPr wrap="square" lIns="0" tIns="0" rIns="0" bIns="0" rtlCol="0" anchor="ctr"/>
          <a:lstStyle/>
          <a:p>
            <a:pPr>
              <a:lnSpc>
                <a:spcPct val="130000"/>
              </a:lnSpc>
            </a:pPr>
            <a:r>
              <a:rPr lang="en-US" sz="1000" dirty="0">
                <a:solidFill>
                  <a:srgbClr val="E8EAED">
                    <a:alpha val="80000"/>
                  </a:srgbClr>
                </a:solidFill>
                <a:latin typeface="Liter" pitchFamily="34" charset="0"/>
                <a:ea typeface="Liter" pitchFamily="34" charset="-122"/>
                <a:cs typeface="Liter" pitchFamily="34" charset="-120"/>
              </a:rPr>
              <a:t>Path to Cloudflare CA cert</a:t>
            </a:r>
            <a:endParaRPr lang="en-US" sz="1600" dirty="0"/>
          </a:p>
        </p:txBody>
      </p:sp>
      <p:sp>
        <p:nvSpPr>
          <p:cNvPr id="16" name="Text 14"/>
          <p:cNvSpPr/>
          <p:nvPr/>
        </p:nvSpPr>
        <p:spPr>
          <a:xfrm>
            <a:off x="419100" y="6178553"/>
            <a:ext cx="1666875" cy="190500"/>
          </a:xfrm>
          <a:prstGeom prst="rect">
            <a:avLst/>
          </a:prstGeom>
          <a:noFill/>
          <a:ln/>
        </p:spPr>
        <p:txBody>
          <a:bodyPr wrap="square" lIns="0" tIns="0" rIns="0" bIns="0" rtlCol="0" anchor="ctr"/>
          <a:lstStyle/>
          <a:p>
            <a:pPr>
              <a:lnSpc>
                <a:spcPct val="130000"/>
              </a:lnSpc>
            </a:pPr>
            <a:r>
              <a:rPr lang="en-US" sz="1000" dirty="0">
                <a:solidFill>
                  <a:srgbClr val="00A4E0"/>
                </a:solidFill>
                <a:latin typeface="MiSans" pitchFamily="34" charset="0"/>
                <a:ea typeface="MiSans" pitchFamily="34" charset="-122"/>
                <a:cs typeface="MiSans" pitchFamily="34" charset="-120"/>
              </a:rPr>
              <a:t>SSLVerifyClient require</a:t>
            </a:r>
            <a:endParaRPr lang="en-US" sz="1600" dirty="0"/>
          </a:p>
        </p:txBody>
      </p:sp>
      <p:sp>
        <p:nvSpPr>
          <p:cNvPr id="17" name="Text 15"/>
          <p:cNvSpPr/>
          <p:nvPr/>
        </p:nvSpPr>
        <p:spPr>
          <a:xfrm>
            <a:off x="2088654" y="6178553"/>
            <a:ext cx="1603375" cy="190500"/>
          </a:xfrm>
          <a:prstGeom prst="rect">
            <a:avLst/>
          </a:prstGeom>
          <a:noFill/>
          <a:ln/>
        </p:spPr>
        <p:txBody>
          <a:bodyPr wrap="square" lIns="0" tIns="0" rIns="0" bIns="0" rtlCol="0" anchor="ctr"/>
          <a:lstStyle/>
          <a:p>
            <a:pPr>
              <a:lnSpc>
                <a:spcPct val="130000"/>
              </a:lnSpc>
            </a:pPr>
            <a:r>
              <a:rPr lang="en-US" sz="1000" dirty="0">
                <a:solidFill>
                  <a:srgbClr val="E8EAED">
                    <a:alpha val="80000"/>
                  </a:srgbClr>
                </a:solidFill>
                <a:latin typeface="Liter" pitchFamily="34" charset="0"/>
                <a:ea typeface="Liter" pitchFamily="34" charset="-122"/>
                <a:cs typeface="Liter" pitchFamily="34" charset="-120"/>
              </a:rPr>
              <a:t>Mandatory client certificate</a:t>
            </a:r>
            <a:endParaRPr lang="en-US" sz="1600" dirty="0"/>
          </a:p>
        </p:txBody>
      </p:sp>
      <p:sp>
        <p:nvSpPr>
          <p:cNvPr id="18" name="Text 16"/>
          <p:cNvSpPr/>
          <p:nvPr/>
        </p:nvSpPr>
        <p:spPr>
          <a:xfrm>
            <a:off x="419100" y="6432553"/>
            <a:ext cx="1182688" cy="190500"/>
          </a:xfrm>
          <a:prstGeom prst="rect">
            <a:avLst/>
          </a:prstGeom>
          <a:noFill/>
          <a:ln/>
        </p:spPr>
        <p:txBody>
          <a:bodyPr wrap="square" lIns="0" tIns="0" rIns="0" bIns="0" rtlCol="0" anchor="ctr"/>
          <a:lstStyle/>
          <a:p>
            <a:pPr>
              <a:lnSpc>
                <a:spcPct val="130000"/>
              </a:lnSpc>
            </a:pPr>
            <a:r>
              <a:rPr lang="en-US" sz="1000" dirty="0">
                <a:solidFill>
                  <a:srgbClr val="00A4E0"/>
                </a:solidFill>
                <a:latin typeface="MiSans" pitchFamily="34" charset="0"/>
                <a:ea typeface="MiSans" pitchFamily="34" charset="-122"/>
                <a:cs typeface="MiSans" pitchFamily="34" charset="-120"/>
              </a:rPr>
              <a:t>SSLVerifyDepth 2</a:t>
            </a:r>
            <a:endParaRPr lang="en-US" sz="1600" dirty="0"/>
          </a:p>
        </p:txBody>
      </p:sp>
      <p:sp>
        <p:nvSpPr>
          <p:cNvPr id="19" name="Text 17"/>
          <p:cNvSpPr/>
          <p:nvPr/>
        </p:nvSpPr>
        <p:spPr>
          <a:xfrm>
            <a:off x="1599803" y="6432553"/>
            <a:ext cx="1404938" cy="190500"/>
          </a:xfrm>
          <a:prstGeom prst="rect">
            <a:avLst/>
          </a:prstGeom>
          <a:noFill/>
          <a:ln/>
        </p:spPr>
        <p:txBody>
          <a:bodyPr wrap="square" lIns="0" tIns="0" rIns="0" bIns="0" rtlCol="0" anchor="ctr"/>
          <a:lstStyle/>
          <a:p>
            <a:pPr>
              <a:lnSpc>
                <a:spcPct val="130000"/>
              </a:lnSpc>
            </a:pPr>
            <a:r>
              <a:rPr lang="en-US" sz="1000" dirty="0">
                <a:solidFill>
                  <a:srgbClr val="E8EAED">
                    <a:alpha val="80000"/>
                  </a:srgbClr>
                </a:solidFill>
                <a:latin typeface="Liter" pitchFamily="34" charset="0"/>
                <a:ea typeface="Liter" pitchFamily="34" charset="-122"/>
                <a:cs typeface="Liter" pitchFamily="34" charset="-120"/>
              </a:rPr>
              <a:t>Verify up to 2 cert levels</a:t>
            </a:r>
            <a:endParaRPr lang="en-US" sz="1600" dirty="0"/>
          </a:p>
        </p:txBody>
      </p:sp>
      <p:sp>
        <p:nvSpPr>
          <p:cNvPr id="20" name="Text 18"/>
          <p:cNvSpPr/>
          <p:nvPr/>
        </p:nvSpPr>
        <p:spPr>
          <a:xfrm>
            <a:off x="419100" y="6686553"/>
            <a:ext cx="1039812" cy="190500"/>
          </a:xfrm>
          <a:prstGeom prst="rect">
            <a:avLst/>
          </a:prstGeom>
          <a:noFill/>
          <a:ln/>
        </p:spPr>
        <p:txBody>
          <a:bodyPr wrap="square" lIns="0" tIns="0" rIns="0" bIns="0" rtlCol="0" anchor="ctr"/>
          <a:lstStyle/>
          <a:p>
            <a:pPr>
              <a:lnSpc>
                <a:spcPct val="130000"/>
              </a:lnSpc>
            </a:pPr>
            <a:r>
              <a:rPr lang="en-US" sz="1000" dirty="0">
                <a:solidFill>
                  <a:srgbClr val="00A4E0"/>
                </a:solidFill>
                <a:latin typeface="MiSans" pitchFamily="34" charset="0"/>
                <a:ea typeface="MiSans" pitchFamily="34" charset="-122"/>
                <a:cs typeface="MiSans" pitchFamily="34" charset="-120"/>
              </a:rPr>
              <a:t>ExportCertData</a:t>
            </a:r>
            <a:endParaRPr lang="en-US" sz="1600" dirty="0"/>
          </a:p>
        </p:txBody>
      </p:sp>
      <p:sp>
        <p:nvSpPr>
          <p:cNvPr id="21" name="Text 19"/>
          <p:cNvSpPr/>
          <p:nvPr/>
        </p:nvSpPr>
        <p:spPr>
          <a:xfrm>
            <a:off x="1460202" y="6686553"/>
            <a:ext cx="1460500" cy="190500"/>
          </a:xfrm>
          <a:prstGeom prst="rect">
            <a:avLst/>
          </a:prstGeom>
          <a:noFill/>
          <a:ln/>
        </p:spPr>
        <p:txBody>
          <a:bodyPr wrap="square" lIns="0" tIns="0" rIns="0" bIns="0" rtlCol="0" anchor="ctr"/>
          <a:lstStyle/>
          <a:p>
            <a:pPr>
              <a:lnSpc>
                <a:spcPct val="130000"/>
              </a:lnSpc>
            </a:pPr>
            <a:r>
              <a:rPr lang="en-US" sz="1000" dirty="0">
                <a:solidFill>
                  <a:srgbClr val="E8EAED">
                    <a:alpha val="80000"/>
                  </a:srgbClr>
                </a:solidFill>
                <a:latin typeface="Liter" pitchFamily="34" charset="0"/>
                <a:ea typeface="Liter" pitchFamily="34" charset="-122"/>
                <a:cs typeface="Liter" pitchFamily="34" charset="-120"/>
              </a:rPr>
              <a:t>Pass cert info to backend</a:t>
            </a:r>
            <a:endParaRPr lang="en-US" sz="1600" dirty="0"/>
          </a:p>
        </p:txBody>
      </p:sp>
      <p:sp>
        <p:nvSpPr>
          <p:cNvPr id="22" name="Shape 20"/>
          <p:cNvSpPr/>
          <p:nvPr/>
        </p:nvSpPr>
        <p:spPr>
          <a:xfrm>
            <a:off x="6146800" y="955675"/>
            <a:ext cx="5721350" cy="2292350"/>
          </a:xfrm>
          <a:custGeom>
            <a:avLst/>
            <a:gdLst/>
            <a:ahLst/>
            <a:cxnLst/>
            <a:rect l="l" t="t" r="r" b="b"/>
            <a:pathLst>
              <a:path w="5721350" h="2292350">
                <a:moveTo>
                  <a:pt x="95247" y="0"/>
                </a:moveTo>
                <a:lnTo>
                  <a:pt x="5626103" y="0"/>
                </a:lnTo>
                <a:cubicBezTo>
                  <a:pt x="5678706" y="0"/>
                  <a:pt x="5721350" y="42644"/>
                  <a:pt x="5721350" y="95247"/>
                </a:cubicBezTo>
                <a:lnTo>
                  <a:pt x="5721350" y="2197103"/>
                </a:lnTo>
                <a:cubicBezTo>
                  <a:pt x="5721350" y="2249706"/>
                  <a:pt x="5678706" y="2292350"/>
                  <a:pt x="5626103" y="2292350"/>
                </a:cubicBezTo>
                <a:lnTo>
                  <a:pt x="95247" y="2292350"/>
                </a:lnTo>
                <a:cubicBezTo>
                  <a:pt x="42644" y="2292350"/>
                  <a:pt x="0" y="2249706"/>
                  <a:pt x="0" y="2197103"/>
                </a:cubicBezTo>
                <a:lnTo>
                  <a:pt x="0" y="95247"/>
                </a:lnTo>
                <a:cubicBezTo>
                  <a:pt x="0" y="42644"/>
                  <a:pt x="42644" y="0"/>
                  <a:pt x="95247" y="0"/>
                </a:cubicBezTo>
                <a:close/>
              </a:path>
            </a:pathLst>
          </a:custGeom>
          <a:solidFill>
            <a:srgbClr val="48515E">
              <a:alpha val="20000"/>
            </a:srgbClr>
          </a:solidFill>
          <a:ln w="10160">
            <a:solidFill>
              <a:srgbClr val="48515E">
                <a:alpha val="40000"/>
              </a:srgbClr>
            </a:solidFill>
            <a:prstDash val="solid"/>
          </a:ln>
        </p:spPr>
      </p:sp>
      <p:sp>
        <p:nvSpPr>
          <p:cNvPr id="23" name="Shape 21"/>
          <p:cNvSpPr/>
          <p:nvPr/>
        </p:nvSpPr>
        <p:spPr>
          <a:xfrm>
            <a:off x="6245225" y="1054098"/>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00A4E0">
              <a:alpha val="20000"/>
            </a:srgbClr>
          </a:solidFill>
          <a:ln/>
        </p:spPr>
      </p:sp>
      <p:sp>
        <p:nvSpPr>
          <p:cNvPr id="24" name="Shape 22"/>
          <p:cNvSpPr/>
          <p:nvPr/>
        </p:nvSpPr>
        <p:spPr>
          <a:xfrm>
            <a:off x="6334522" y="1141411"/>
            <a:ext cx="142875" cy="142875"/>
          </a:xfrm>
          <a:custGeom>
            <a:avLst/>
            <a:gdLst/>
            <a:ahLst/>
            <a:cxnLst/>
            <a:rect l="l" t="t" r="r" b="b"/>
            <a:pathLst>
              <a:path w="142875" h="142875">
                <a:moveTo>
                  <a:pt x="2623" y="33096"/>
                </a:moveTo>
                <a:cubicBezTo>
                  <a:pt x="-865" y="29607"/>
                  <a:pt x="-865" y="23943"/>
                  <a:pt x="2623" y="20455"/>
                </a:cubicBezTo>
                <a:cubicBezTo>
                  <a:pt x="6111" y="16966"/>
                  <a:pt x="11776" y="16966"/>
                  <a:pt x="15264" y="20455"/>
                </a:cubicBezTo>
                <a:lnTo>
                  <a:pt x="59913" y="65103"/>
                </a:lnTo>
                <a:cubicBezTo>
                  <a:pt x="63401" y="68591"/>
                  <a:pt x="63401" y="74256"/>
                  <a:pt x="59913" y="77744"/>
                </a:cubicBezTo>
                <a:lnTo>
                  <a:pt x="15264" y="122393"/>
                </a:lnTo>
                <a:cubicBezTo>
                  <a:pt x="11776" y="125881"/>
                  <a:pt x="6111" y="125881"/>
                  <a:pt x="2623" y="122393"/>
                </a:cubicBezTo>
                <a:cubicBezTo>
                  <a:pt x="-865" y="118904"/>
                  <a:pt x="-865" y="113240"/>
                  <a:pt x="2623" y="109751"/>
                </a:cubicBezTo>
                <a:lnTo>
                  <a:pt x="40937" y="71438"/>
                </a:lnTo>
                <a:lnTo>
                  <a:pt x="2623" y="33096"/>
                </a:lnTo>
                <a:close/>
                <a:moveTo>
                  <a:pt x="62508" y="107156"/>
                </a:moveTo>
                <a:lnTo>
                  <a:pt x="133945" y="107156"/>
                </a:lnTo>
                <a:cubicBezTo>
                  <a:pt x="138885" y="107156"/>
                  <a:pt x="142875" y="111147"/>
                  <a:pt x="142875" y="116086"/>
                </a:cubicBezTo>
                <a:cubicBezTo>
                  <a:pt x="142875" y="121025"/>
                  <a:pt x="138885" y="125016"/>
                  <a:pt x="133945" y="125016"/>
                </a:cubicBezTo>
                <a:lnTo>
                  <a:pt x="62508" y="125016"/>
                </a:lnTo>
                <a:cubicBezTo>
                  <a:pt x="57569" y="125016"/>
                  <a:pt x="53578" y="121025"/>
                  <a:pt x="53578" y="116086"/>
                </a:cubicBezTo>
                <a:cubicBezTo>
                  <a:pt x="53578" y="111147"/>
                  <a:pt x="57569" y="107156"/>
                  <a:pt x="62508" y="107156"/>
                </a:cubicBezTo>
                <a:close/>
              </a:path>
            </a:pathLst>
          </a:custGeom>
          <a:solidFill>
            <a:srgbClr val="00A4E0"/>
          </a:solidFill>
          <a:ln/>
        </p:spPr>
      </p:sp>
      <p:sp>
        <p:nvSpPr>
          <p:cNvPr id="25" name="Text 23"/>
          <p:cNvSpPr/>
          <p:nvPr/>
        </p:nvSpPr>
        <p:spPr>
          <a:xfrm>
            <a:off x="6657975" y="1101723"/>
            <a:ext cx="1857375" cy="222250"/>
          </a:xfrm>
          <a:prstGeom prst="rect">
            <a:avLst/>
          </a:prstGeom>
          <a:noFill/>
          <a:ln/>
        </p:spPr>
        <p:txBody>
          <a:bodyPr wrap="square" lIns="0" tIns="0" rIns="0" bIns="0" rtlCol="0" anchor="ctr"/>
          <a:lstStyle/>
          <a:p>
            <a:pPr>
              <a:lnSpc>
                <a:spcPct val="120000"/>
              </a:lnSpc>
            </a:pPr>
            <a:r>
              <a:rPr lang="en-US" sz="1250" b="1" dirty="0">
                <a:solidFill>
                  <a:srgbClr val="E8EAED"/>
                </a:solidFill>
                <a:latin typeface="Liter" pitchFamily="34" charset="0"/>
                <a:ea typeface="Liter" pitchFamily="34" charset="-122"/>
                <a:cs typeface="Liter" pitchFamily="34" charset="-120"/>
              </a:rPr>
              <a:t>Enable Required Modules</a:t>
            </a:r>
            <a:endParaRPr lang="en-US" sz="1600" dirty="0"/>
          </a:p>
        </p:txBody>
      </p:sp>
      <p:sp>
        <p:nvSpPr>
          <p:cNvPr id="26" name="Shape 24"/>
          <p:cNvSpPr/>
          <p:nvPr/>
        </p:nvSpPr>
        <p:spPr>
          <a:xfrm>
            <a:off x="6254750" y="1466848"/>
            <a:ext cx="5518150" cy="1682750"/>
          </a:xfrm>
          <a:custGeom>
            <a:avLst/>
            <a:gdLst/>
            <a:ahLst/>
            <a:cxnLst/>
            <a:rect l="l" t="t" r="r" b="b"/>
            <a:pathLst>
              <a:path w="5518150" h="1682750">
                <a:moveTo>
                  <a:pt x="19050" y="0"/>
                </a:moveTo>
                <a:lnTo>
                  <a:pt x="5454643" y="0"/>
                </a:lnTo>
                <a:cubicBezTo>
                  <a:pt x="5489717" y="0"/>
                  <a:pt x="5518150" y="28433"/>
                  <a:pt x="5518150" y="63507"/>
                </a:cubicBezTo>
                <a:lnTo>
                  <a:pt x="5518150" y="1619243"/>
                </a:lnTo>
                <a:cubicBezTo>
                  <a:pt x="5518150" y="1654317"/>
                  <a:pt x="5489717" y="1682750"/>
                  <a:pt x="5454643" y="1682750"/>
                </a:cubicBezTo>
                <a:lnTo>
                  <a:pt x="19050" y="1682750"/>
                </a:lnTo>
                <a:cubicBezTo>
                  <a:pt x="8536" y="1682750"/>
                  <a:pt x="0" y="1674214"/>
                  <a:pt x="0" y="1663700"/>
                </a:cubicBezTo>
                <a:lnTo>
                  <a:pt x="0" y="19050"/>
                </a:lnTo>
                <a:cubicBezTo>
                  <a:pt x="0" y="8536"/>
                  <a:pt x="8536" y="0"/>
                  <a:pt x="19050" y="0"/>
                </a:cubicBezTo>
                <a:close/>
              </a:path>
            </a:pathLst>
          </a:custGeom>
          <a:solidFill>
            <a:srgbClr val="1A1D21">
              <a:alpha val="90196"/>
            </a:srgbClr>
          </a:solidFill>
          <a:ln/>
        </p:spPr>
      </p:sp>
      <p:sp>
        <p:nvSpPr>
          <p:cNvPr id="27" name="Shape 25"/>
          <p:cNvSpPr/>
          <p:nvPr/>
        </p:nvSpPr>
        <p:spPr>
          <a:xfrm>
            <a:off x="6254750" y="1466848"/>
            <a:ext cx="19050" cy="1682750"/>
          </a:xfrm>
          <a:custGeom>
            <a:avLst/>
            <a:gdLst/>
            <a:ahLst/>
            <a:cxnLst/>
            <a:rect l="l" t="t" r="r" b="b"/>
            <a:pathLst>
              <a:path w="19050" h="1682750">
                <a:moveTo>
                  <a:pt x="19050" y="0"/>
                </a:moveTo>
                <a:lnTo>
                  <a:pt x="19050" y="0"/>
                </a:lnTo>
                <a:lnTo>
                  <a:pt x="19050" y="1682750"/>
                </a:lnTo>
                <a:lnTo>
                  <a:pt x="19050" y="1682750"/>
                </a:lnTo>
                <a:cubicBezTo>
                  <a:pt x="8536" y="1682750"/>
                  <a:pt x="0" y="1674214"/>
                  <a:pt x="0" y="1663700"/>
                </a:cubicBezTo>
                <a:lnTo>
                  <a:pt x="0" y="19050"/>
                </a:lnTo>
                <a:cubicBezTo>
                  <a:pt x="0" y="8536"/>
                  <a:pt x="8536" y="0"/>
                  <a:pt x="19050" y="0"/>
                </a:cubicBezTo>
                <a:close/>
              </a:path>
            </a:pathLst>
          </a:custGeom>
          <a:solidFill>
            <a:srgbClr val="F47C20"/>
          </a:solidFill>
          <a:ln/>
        </p:spPr>
      </p:sp>
      <p:sp>
        <p:nvSpPr>
          <p:cNvPr id="28" name="Text 26"/>
          <p:cNvSpPr/>
          <p:nvPr/>
        </p:nvSpPr>
        <p:spPr>
          <a:xfrm>
            <a:off x="6359525" y="1562098"/>
            <a:ext cx="5373688" cy="158750"/>
          </a:xfrm>
          <a:prstGeom prst="rect">
            <a:avLst/>
          </a:prstGeom>
          <a:noFill/>
          <a:ln/>
        </p:spPr>
        <p:txBody>
          <a:bodyPr wrap="square" lIns="0" tIns="0" rIns="0" bIns="0" rtlCol="0" anchor="ctr"/>
          <a:lstStyle/>
          <a:p>
            <a:pPr>
              <a:lnSpc>
                <a:spcPct val="120000"/>
              </a:lnSpc>
            </a:pPr>
            <a:r>
              <a:rPr lang="en-US" sz="875" b="1" dirty="0">
                <a:solidFill>
                  <a:srgbClr val="F47C20"/>
                </a:solidFill>
                <a:latin typeface="MiSans" pitchFamily="34" charset="0"/>
                <a:ea typeface="MiSans" pitchFamily="34" charset="-122"/>
                <a:cs typeface="MiSans" pitchFamily="34" charset="-120"/>
              </a:rPr>
              <a:t># Enable mod_ssl and mod_proxy</a:t>
            </a:r>
            <a:endParaRPr lang="en-US" sz="1600" dirty="0"/>
          </a:p>
        </p:txBody>
      </p:sp>
      <p:sp>
        <p:nvSpPr>
          <p:cNvPr id="29" name="Text 27"/>
          <p:cNvSpPr/>
          <p:nvPr/>
        </p:nvSpPr>
        <p:spPr>
          <a:xfrm>
            <a:off x="6359525" y="1784348"/>
            <a:ext cx="5373688" cy="1270000"/>
          </a:xfrm>
          <a:prstGeom prst="rect">
            <a:avLst/>
          </a:prstGeom>
          <a:noFill/>
          <a:ln/>
        </p:spPr>
        <p:txBody>
          <a:bodyPr wrap="square" lIns="0" tIns="0" rIns="0" bIns="0" rtlCol="0" anchor="ctr"/>
          <a:lstStyle/>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Debian/Ubuntu</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a2enmod ssl</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a2enmod proxy</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a2enmod proxy_http</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RHEL/CentOS</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Modules usually enabled by default</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Verify in /etc/httpd/conf.d/ssl.conf</a:t>
            </a:r>
            <a:endParaRPr lang="en-US" sz="1600" dirty="0"/>
          </a:p>
        </p:txBody>
      </p:sp>
      <p:sp>
        <p:nvSpPr>
          <p:cNvPr id="30" name="Shape 28"/>
          <p:cNvSpPr/>
          <p:nvPr/>
        </p:nvSpPr>
        <p:spPr>
          <a:xfrm>
            <a:off x="6146800" y="3349630"/>
            <a:ext cx="5721350" cy="4387850"/>
          </a:xfrm>
          <a:custGeom>
            <a:avLst/>
            <a:gdLst/>
            <a:ahLst/>
            <a:cxnLst/>
            <a:rect l="l" t="t" r="r" b="b"/>
            <a:pathLst>
              <a:path w="5721350" h="4387850">
                <a:moveTo>
                  <a:pt x="95260" y="0"/>
                </a:moveTo>
                <a:lnTo>
                  <a:pt x="5626090" y="0"/>
                </a:lnTo>
                <a:cubicBezTo>
                  <a:pt x="5678701" y="0"/>
                  <a:pt x="5721350" y="42649"/>
                  <a:pt x="5721350" y="95260"/>
                </a:cubicBezTo>
                <a:lnTo>
                  <a:pt x="5721350" y="4292590"/>
                </a:lnTo>
                <a:cubicBezTo>
                  <a:pt x="5721350" y="4345201"/>
                  <a:pt x="5678701" y="4387850"/>
                  <a:pt x="5626090" y="4387850"/>
                </a:cubicBezTo>
                <a:lnTo>
                  <a:pt x="95260" y="4387850"/>
                </a:lnTo>
                <a:cubicBezTo>
                  <a:pt x="42649" y="4387850"/>
                  <a:pt x="0" y="4345201"/>
                  <a:pt x="0" y="4292590"/>
                </a:cubicBezTo>
                <a:lnTo>
                  <a:pt x="0" y="95260"/>
                </a:lnTo>
                <a:cubicBezTo>
                  <a:pt x="0" y="42685"/>
                  <a:pt x="42685" y="0"/>
                  <a:pt x="95260" y="0"/>
                </a:cubicBezTo>
                <a:close/>
              </a:path>
            </a:pathLst>
          </a:custGeom>
          <a:solidFill>
            <a:srgbClr val="48515E">
              <a:alpha val="20000"/>
            </a:srgbClr>
          </a:solidFill>
          <a:ln w="10160">
            <a:solidFill>
              <a:srgbClr val="48515E">
                <a:alpha val="40000"/>
              </a:srgbClr>
            </a:solidFill>
            <a:prstDash val="solid"/>
          </a:ln>
        </p:spPr>
      </p:sp>
      <p:sp>
        <p:nvSpPr>
          <p:cNvPr id="31" name="Shape 29"/>
          <p:cNvSpPr/>
          <p:nvPr/>
        </p:nvSpPr>
        <p:spPr>
          <a:xfrm>
            <a:off x="6245225" y="3448053"/>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F47C20">
              <a:alpha val="20000"/>
            </a:srgbClr>
          </a:solidFill>
          <a:ln/>
        </p:spPr>
      </p:sp>
      <p:sp>
        <p:nvSpPr>
          <p:cNvPr id="32" name="Shape 30"/>
          <p:cNvSpPr/>
          <p:nvPr/>
        </p:nvSpPr>
        <p:spPr>
          <a:xfrm>
            <a:off x="6334522" y="3535366"/>
            <a:ext cx="142875" cy="142875"/>
          </a:xfrm>
          <a:custGeom>
            <a:avLst/>
            <a:gdLst/>
            <a:ahLst/>
            <a:cxnLst/>
            <a:rect l="l" t="t" r="r" b="b"/>
            <a:pathLst>
              <a:path w="142875" h="142875">
                <a:moveTo>
                  <a:pt x="95603" y="2623"/>
                </a:moveTo>
                <a:cubicBezTo>
                  <a:pt x="92115" y="-865"/>
                  <a:pt x="86451" y="-865"/>
                  <a:pt x="82962" y="2623"/>
                </a:cubicBezTo>
                <a:cubicBezTo>
                  <a:pt x="79474" y="6111"/>
                  <a:pt x="79474" y="11776"/>
                  <a:pt x="82962" y="15264"/>
                </a:cubicBezTo>
                <a:lnTo>
                  <a:pt x="85585" y="17859"/>
                </a:lnTo>
                <a:lnTo>
                  <a:pt x="7841" y="95603"/>
                </a:lnTo>
                <a:cubicBezTo>
                  <a:pt x="2818" y="100626"/>
                  <a:pt x="0" y="107435"/>
                  <a:pt x="0" y="114551"/>
                </a:cubicBezTo>
                <a:lnTo>
                  <a:pt x="0" y="116086"/>
                </a:lnTo>
                <a:cubicBezTo>
                  <a:pt x="0" y="130876"/>
                  <a:pt x="11999" y="142875"/>
                  <a:pt x="26789" y="142875"/>
                </a:cubicBezTo>
                <a:lnTo>
                  <a:pt x="28324" y="142875"/>
                </a:lnTo>
                <a:cubicBezTo>
                  <a:pt x="35440" y="142875"/>
                  <a:pt x="42249" y="140057"/>
                  <a:pt x="47272" y="135034"/>
                </a:cubicBezTo>
                <a:lnTo>
                  <a:pt x="125016" y="57290"/>
                </a:lnTo>
                <a:lnTo>
                  <a:pt x="127639" y="59913"/>
                </a:lnTo>
                <a:cubicBezTo>
                  <a:pt x="131127" y="63401"/>
                  <a:pt x="136792" y="63401"/>
                  <a:pt x="140280" y="59913"/>
                </a:cubicBezTo>
                <a:cubicBezTo>
                  <a:pt x="143768" y="56424"/>
                  <a:pt x="143768" y="50760"/>
                  <a:pt x="140280" y="47272"/>
                </a:cubicBezTo>
                <a:lnTo>
                  <a:pt x="95631" y="2623"/>
                </a:lnTo>
                <a:close/>
                <a:moveTo>
                  <a:pt x="57290" y="71438"/>
                </a:moveTo>
                <a:lnTo>
                  <a:pt x="98227" y="30500"/>
                </a:lnTo>
                <a:lnTo>
                  <a:pt x="112375" y="44648"/>
                </a:lnTo>
                <a:lnTo>
                  <a:pt x="85585" y="71438"/>
                </a:lnTo>
                <a:lnTo>
                  <a:pt x="57262" y="71438"/>
                </a:lnTo>
                <a:close/>
              </a:path>
            </a:pathLst>
          </a:custGeom>
          <a:solidFill>
            <a:srgbClr val="F47C20"/>
          </a:solidFill>
          <a:ln/>
        </p:spPr>
      </p:sp>
      <p:sp>
        <p:nvSpPr>
          <p:cNvPr id="33" name="Text 31"/>
          <p:cNvSpPr/>
          <p:nvPr/>
        </p:nvSpPr>
        <p:spPr>
          <a:xfrm>
            <a:off x="6657975" y="3495678"/>
            <a:ext cx="1595438" cy="222250"/>
          </a:xfrm>
          <a:prstGeom prst="rect">
            <a:avLst/>
          </a:prstGeom>
          <a:noFill/>
          <a:ln/>
        </p:spPr>
        <p:txBody>
          <a:bodyPr wrap="square" lIns="0" tIns="0" rIns="0" bIns="0" rtlCol="0" anchor="ctr"/>
          <a:lstStyle/>
          <a:p>
            <a:pPr>
              <a:lnSpc>
                <a:spcPct val="120000"/>
              </a:lnSpc>
            </a:pPr>
            <a:r>
              <a:rPr lang="en-US" sz="1250" b="1" dirty="0">
                <a:solidFill>
                  <a:srgbClr val="E8EAED"/>
                </a:solidFill>
                <a:latin typeface="Liter" pitchFamily="34" charset="0"/>
                <a:ea typeface="Liter" pitchFamily="34" charset="-122"/>
                <a:cs typeface="Liter" pitchFamily="34" charset="-120"/>
              </a:rPr>
              <a:t>Testing &amp; Verification</a:t>
            </a:r>
            <a:endParaRPr lang="en-US" sz="1600" dirty="0"/>
          </a:p>
        </p:txBody>
      </p:sp>
      <p:sp>
        <p:nvSpPr>
          <p:cNvPr id="34" name="Shape 32"/>
          <p:cNvSpPr/>
          <p:nvPr/>
        </p:nvSpPr>
        <p:spPr>
          <a:xfrm>
            <a:off x="6245225" y="3860803"/>
            <a:ext cx="5524500" cy="1365250"/>
          </a:xfrm>
          <a:custGeom>
            <a:avLst/>
            <a:gdLst/>
            <a:ahLst/>
            <a:cxnLst/>
            <a:rect l="l" t="t" r="r" b="b"/>
            <a:pathLst>
              <a:path w="5524500" h="1365250">
                <a:moveTo>
                  <a:pt x="63498" y="0"/>
                </a:moveTo>
                <a:lnTo>
                  <a:pt x="5461002" y="0"/>
                </a:lnTo>
                <a:cubicBezTo>
                  <a:pt x="5496071" y="0"/>
                  <a:pt x="5524500" y="28429"/>
                  <a:pt x="5524500" y="63498"/>
                </a:cubicBezTo>
                <a:lnTo>
                  <a:pt x="5524500" y="1301752"/>
                </a:lnTo>
                <a:cubicBezTo>
                  <a:pt x="5524500" y="1336821"/>
                  <a:pt x="5496071" y="1365250"/>
                  <a:pt x="5461002" y="1365250"/>
                </a:cubicBezTo>
                <a:lnTo>
                  <a:pt x="63498" y="1365250"/>
                </a:lnTo>
                <a:cubicBezTo>
                  <a:pt x="28429" y="1365250"/>
                  <a:pt x="0" y="1336821"/>
                  <a:pt x="0" y="1301752"/>
                </a:cubicBezTo>
                <a:lnTo>
                  <a:pt x="0" y="63498"/>
                </a:lnTo>
                <a:cubicBezTo>
                  <a:pt x="0" y="28452"/>
                  <a:pt x="28452" y="0"/>
                  <a:pt x="63498" y="0"/>
                </a:cubicBezTo>
                <a:close/>
              </a:path>
            </a:pathLst>
          </a:custGeom>
          <a:solidFill>
            <a:srgbClr val="1A1D21">
              <a:alpha val="50196"/>
            </a:srgbClr>
          </a:solidFill>
          <a:ln/>
        </p:spPr>
      </p:sp>
      <p:sp>
        <p:nvSpPr>
          <p:cNvPr id="35" name="Text 33"/>
          <p:cNvSpPr/>
          <p:nvPr/>
        </p:nvSpPr>
        <p:spPr>
          <a:xfrm>
            <a:off x="6340475" y="3956053"/>
            <a:ext cx="5397500" cy="190500"/>
          </a:xfrm>
          <a:prstGeom prst="rect">
            <a:avLst/>
          </a:prstGeom>
          <a:noFill/>
          <a:ln/>
        </p:spPr>
        <p:txBody>
          <a:bodyPr wrap="square" lIns="0" tIns="0" rIns="0" bIns="0" rtlCol="0" anchor="ctr"/>
          <a:lstStyle/>
          <a:p>
            <a:pPr>
              <a:lnSpc>
                <a:spcPct val="130000"/>
              </a:lnSpc>
            </a:pPr>
            <a:r>
              <a:rPr lang="en-US" sz="1000" b="1" dirty="0">
                <a:solidFill>
                  <a:srgbClr val="E8EAED"/>
                </a:solidFill>
                <a:latin typeface="Liter" pitchFamily="34" charset="0"/>
                <a:ea typeface="Liter" pitchFamily="34" charset="-122"/>
                <a:cs typeface="Liter" pitchFamily="34" charset="-120"/>
              </a:rPr>
              <a:t>1. Test Configuration</a:t>
            </a:r>
            <a:endParaRPr lang="en-US" sz="1600" dirty="0"/>
          </a:p>
        </p:txBody>
      </p:sp>
      <p:sp>
        <p:nvSpPr>
          <p:cNvPr id="36" name="Shape 34"/>
          <p:cNvSpPr/>
          <p:nvPr/>
        </p:nvSpPr>
        <p:spPr>
          <a:xfrm>
            <a:off x="6350000" y="4210053"/>
            <a:ext cx="5327650" cy="920750"/>
          </a:xfrm>
          <a:custGeom>
            <a:avLst/>
            <a:gdLst/>
            <a:ahLst/>
            <a:cxnLst/>
            <a:rect l="l" t="t" r="r" b="b"/>
            <a:pathLst>
              <a:path w="5327650" h="920750">
                <a:moveTo>
                  <a:pt x="19050" y="0"/>
                </a:moveTo>
                <a:lnTo>
                  <a:pt x="5295903" y="0"/>
                </a:lnTo>
                <a:cubicBezTo>
                  <a:pt x="5313436" y="0"/>
                  <a:pt x="5327650" y="14214"/>
                  <a:pt x="5327650" y="31747"/>
                </a:cubicBezTo>
                <a:lnTo>
                  <a:pt x="5327650" y="889003"/>
                </a:lnTo>
                <a:cubicBezTo>
                  <a:pt x="5327650" y="906536"/>
                  <a:pt x="5313436" y="920750"/>
                  <a:pt x="5295903" y="920750"/>
                </a:cubicBezTo>
                <a:lnTo>
                  <a:pt x="19050" y="920750"/>
                </a:lnTo>
                <a:cubicBezTo>
                  <a:pt x="8529" y="920750"/>
                  <a:pt x="0" y="912221"/>
                  <a:pt x="0" y="901700"/>
                </a:cubicBezTo>
                <a:lnTo>
                  <a:pt x="0" y="19050"/>
                </a:lnTo>
                <a:cubicBezTo>
                  <a:pt x="0" y="8536"/>
                  <a:pt x="8536" y="0"/>
                  <a:pt x="19050" y="0"/>
                </a:cubicBezTo>
                <a:close/>
              </a:path>
            </a:pathLst>
          </a:custGeom>
          <a:solidFill>
            <a:srgbClr val="1A1D21">
              <a:alpha val="90196"/>
            </a:srgbClr>
          </a:solidFill>
          <a:ln/>
        </p:spPr>
      </p:sp>
      <p:sp>
        <p:nvSpPr>
          <p:cNvPr id="37" name="Shape 35"/>
          <p:cNvSpPr/>
          <p:nvPr/>
        </p:nvSpPr>
        <p:spPr>
          <a:xfrm>
            <a:off x="6350000" y="4210053"/>
            <a:ext cx="19050" cy="920750"/>
          </a:xfrm>
          <a:custGeom>
            <a:avLst/>
            <a:gdLst/>
            <a:ahLst/>
            <a:cxnLst/>
            <a:rect l="l" t="t" r="r" b="b"/>
            <a:pathLst>
              <a:path w="19050" h="920750">
                <a:moveTo>
                  <a:pt x="19050" y="0"/>
                </a:moveTo>
                <a:lnTo>
                  <a:pt x="19050" y="0"/>
                </a:lnTo>
                <a:lnTo>
                  <a:pt x="19050" y="920750"/>
                </a:lnTo>
                <a:lnTo>
                  <a:pt x="19050" y="920750"/>
                </a:lnTo>
                <a:cubicBezTo>
                  <a:pt x="8536" y="920750"/>
                  <a:pt x="0" y="912214"/>
                  <a:pt x="0" y="901700"/>
                </a:cubicBezTo>
                <a:lnTo>
                  <a:pt x="0" y="19050"/>
                </a:lnTo>
                <a:cubicBezTo>
                  <a:pt x="0" y="8536"/>
                  <a:pt x="8536" y="0"/>
                  <a:pt x="19050" y="0"/>
                </a:cubicBezTo>
                <a:close/>
              </a:path>
            </a:pathLst>
          </a:custGeom>
          <a:solidFill>
            <a:srgbClr val="F47C20"/>
          </a:solidFill>
          <a:ln/>
        </p:spPr>
      </p:sp>
      <p:sp>
        <p:nvSpPr>
          <p:cNvPr id="38" name="Text 36"/>
          <p:cNvSpPr/>
          <p:nvPr/>
        </p:nvSpPr>
        <p:spPr>
          <a:xfrm>
            <a:off x="6423025" y="4273553"/>
            <a:ext cx="5246688" cy="793750"/>
          </a:xfrm>
          <a:prstGeom prst="rect">
            <a:avLst/>
          </a:prstGeom>
          <a:noFill/>
          <a:ln/>
        </p:spPr>
        <p:txBody>
          <a:bodyPr wrap="square" lIns="0" tIns="0" rIns="0" bIns="0" rtlCol="0" anchor="ctr"/>
          <a:lstStyle/>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Debian/Ubuntu</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apache2ctl configtest</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RHEL/CentOS</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httpd -t</a:t>
            </a:r>
            <a:endParaRPr lang="en-US" sz="1600" dirty="0"/>
          </a:p>
        </p:txBody>
      </p:sp>
      <p:sp>
        <p:nvSpPr>
          <p:cNvPr id="39" name="Shape 37"/>
          <p:cNvSpPr/>
          <p:nvPr/>
        </p:nvSpPr>
        <p:spPr>
          <a:xfrm>
            <a:off x="6245225" y="5321303"/>
            <a:ext cx="5524500" cy="1365250"/>
          </a:xfrm>
          <a:custGeom>
            <a:avLst/>
            <a:gdLst/>
            <a:ahLst/>
            <a:cxnLst/>
            <a:rect l="l" t="t" r="r" b="b"/>
            <a:pathLst>
              <a:path w="5524500" h="1365250">
                <a:moveTo>
                  <a:pt x="63498" y="0"/>
                </a:moveTo>
                <a:lnTo>
                  <a:pt x="5461002" y="0"/>
                </a:lnTo>
                <a:cubicBezTo>
                  <a:pt x="5496071" y="0"/>
                  <a:pt x="5524500" y="28429"/>
                  <a:pt x="5524500" y="63498"/>
                </a:cubicBezTo>
                <a:lnTo>
                  <a:pt x="5524500" y="1301752"/>
                </a:lnTo>
                <a:cubicBezTo>
                  <a:pt x="5524500" y="1336821"/>
                  <a:pt x="5496071" y="1365250"/>
                  <a:pt x="5461002" y="1365250"/>
                </a:cubicBezTo>
                <a:lnTo>
                  <a:pt x="63498" y="1365250"/>
                </a:lnTo>
                <a:cubicBezTo>
                  <a:pt x="28429" y="1365250"/>
                  <a:pt x="0" y="1336821"/>
                  <a:pt x="0" y="1301752"/>
                </a:cubicBezTo>
                <a:lnTo>
                  <a:pt x="0" y="63498"/>
                </a:lnTo>
                <a:cubicBezTo>
                  <a:pt x="0" y="28452"/>
                  <a:pt x="28452" y="0"/>
                  <a:pt x="63498" y="0"/>
                </a:cubicBezTo>
                <a:close/>
              </a:path>
            </a:pathLst>
          </a:custGeom>
          <a:solidFill>
            <a:srgbClr val="1A1D21">
              <a:alpha val="50196"/>
            </a:srgbClr>
          </a:solidFill>
          <a:ln/>
        </p:spPr>
      </p:sp>
      <p:sp>
        <p:nvSpPr>
          <p:cNvPr id="40" name="Text 38"/>
          <p:cNvSpPr/>
          <p:nvPr/>
        </p:nvSpPr>
        <p:spPr>
          <a:xfrm>
            <a:off x="6340475" y="5416553"/>
            <a:ext cx="5397500" cy="190500"/>
          </a:xfrm>
          <a:prstGeom prst="rect">
            <a:avLst/>
          </a:prstGeom>
          <a:noFill/>
          <a:ln/>
        </p:spPr>
        <p:txBody>
          <a:bodyPr wrap="square" lIns="0" tIns="0" rIns="0" bIns="0" rtlCol="0" anchor="ctr"/>
          <a:lstStyle/>
          <a:p>
            <a:pPr>
              <a:lnSpc>
                <a:spcPct val="130000"/>
              </a:lnSpc>
            </a:pPr>
            <a:r>
              <a:rPr lang="en-US" sz="1000" b="1" dirty="0">
                <a:solidFill>
                  <a:srgbClr val="E8EAED"/>
                </a:solidFill>
                <a:latin typeface="Liter" pitchFamily="34" charset="0"/>
                <a:ea typeface="Liter" pitchFamily="34" charset="-122"/>
                <a:cs typeface="Liter" pitchFamily="34" charset="-120"/>
              </a:rPr>
              <a:t>2. Restart Apache</a:t>
            </a:r>
            <a:endParaRPr lang="en-US" sz="1600" dirty="0"/>
          </a:p>
        </p:txBody>
      </p:sp>
      <p:sp>
        <p:nvSpPr>
          <p:cNvPr id="41" name="Shape 39"/>
          <p:cNvSpPr/>
          <p:nvPr/>
        </p:nvSpPr>
        <p:spPr>
          <a:xfrm>
            <a:off x="6350000" y="5670553"/>
            <a:ext cx="5327650" cy="920750"/>
          </a:xfrm>
          <a:custGeom>
            <a:avLst/>
            <a:gdLst/>
            <a:ahLst/>
            <a:cxnLst/>
            <a:rect l="l" t="t" r="r" b="b"/>
            <a:pathLst>
              <a:path w="5327650" h="920750">
                <a:moveTo>
                  <a:pt x="19050" y="0"/>
                </a:moveTo>
                <a:lnTo>
                  <a:pt x="5295903" y="0"/>
                </a:lnTo>
                <a:cubicBezTo>
                  <a:pt x="5313436" y="0"/>
                  <a:pt x="5327650" y="14214"/>
                  <a:pt x="5327650" y="31747"/>
                </a:cubicBezTo>
                <a:lnTo>
                  <a:pt x="5327650" y="889003"/>
                </a:lnTo>
                <a:cubicBezTo>
                  <a:pt x="5327650" y="906536"/>
                  <a:pt x="5313436" y="920750"/>
                  <a:pt x="5295903" y="920750"/>
                </a:cubicBezTo>
                <a:lnTo>
                  <a:pt x="19050" y="920750"/>
                </a:lnTo>
                <a:cubicBezTo>
                  <a:pt x="8529" y="920750"/>
                  <a:pt x="0" y="912221"/>
                  <a:pt x="0" y="901700"/>
                </a:cubicBezTo>
                <a:lnTo>
                  <a:pt x="0" y="19050"/>
                </a:lnTo>
                <a:cubicBezTo>
                  <a:pt x="0" y="8536"/>
                  <a:pt x="8536" y="0"/>
                  <a:pt x="19050" y="0"/>
                </a:cubicBezTo>
                <a:close/>
              </a:path>
            </a:pathLst>
          </a:custGeom>
          <a:solidFill>
            <a:srgbClr val="1A1D21">
              <a:alpha val="90196"/>
            </a:srgbClr>
          </a:solidFill>
          <a:ln/>
        </p:spPr>
      </p:sp>
      <p:sp>
        <p:nvSpPr>
          <p:cNvPr id="42" name="Shape 40"/>
          <p:cNvSpPr/>
          <p:nvPr/>
        </p:nvSpPr>
        <p:spPr>
          <a:xfrm>
            <a:off x="6350000" y="5670553"/>
            <a:ext cx="19050" cy="920750"/>
          </a:xfrm>
          <a:custGeom>
            <a:avLst/>
            <a:gdLst/>
            <a:ahLst/>
            <a:cxnLst/>
            <a:rect l="l" t="t" r="r" b="b"/>
            <a:pathLst>
              <a:path w="19050" h="920750">
                <a:moveTo>
                  <a:pt x="19050" y="0"/>
                </a:moveTo>
                <a:lnTo>
                  <a:pt x="19050" y="0"/>
                </a:lnTo>
                <a:lnTo>
                  <a:pt x="19050" y="920750"/>
                </a:lnTo>
                <a:lnTo>
                  <a:pt x="19050" y="920750"/>
                </a:lnTo>
                <a:cubicBezTo>
                  <a:pt x="8536" y="920750"/>
                  <a:pt x="0" y="912214"/>
                  <a:pt x="0" y="901700"/>
                </a:cubicBezTo>
                <a:lnTo>
                  <a:pt x="0" y="19050"/>
                </a:lnTo>
                <a:cubicBezTo>
                  <a:pt x="0" y="8536"/>
                  <a:pt x="8536" y="0"/>
                  <a:pt x="19050" y="0"/>
                </a:cubicBezTo>
                <a:close/>
              </a:path>
            </a:pathLst>
          </a:custGeom>
          <a:solidFill>
            <a:srgbClr val="F47C20"/>
          </a:solidFill>
          <a:ln/>
        </p:spPr>
      </p:sp>
      <p:sp>
        <p:nvSpPr>
          <p:cNvPr id="43" name="Text 41"/>
          <p:cNvSpPr/>
          <p:nvPr/>
        </p:nvSpPr>
        <p:spPr>
          <a:xfrm>
            <a:off x="6423025" y="5734053"/>
            <a:ext cx="5246688" cy="793750"/>
          </a:xfrm>
          <a:prstGeom prst="rect">
            <a:avLst/>
          </a:prstGeom>
          <a:noFill/>
          <a:ln/>
        </p:spPr>
        <p:txBody>
          <a:bodyPr wrap="square" lIns="0" tIns="0" rIns="0" bIns="0" rtlCol="0" anchor="ctr"/>
          <a:lstStyle/>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Debian/Ubuntu</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systemctl restart apache2</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 RHEL/CentOS</a:t>
            </a:r>
            <a:endParaRPr lang="en-US" sz="1600" dirty="0"/>
          </a:p>
          <a:p>
            <a:pPr>
              <a:lnSpc>
                <a:spcPct val="100000"/>
              </a:lnSpc>
            </a:pPr>
            <a:r>
              <a:rPr lang="en-US" sz="875" dirty="0">
                <a:solidFill>
                  <a:srgbClr val="E8EAED">
                    <a:alpha val="90000"/>
                  </a:srgbClr>
                </a:solidFill>
                <a:latin typeface="MiSans" pitchFamily="34" charset="0"/>
                <a:ea typeface="MiSans" pitchFamily="34" charset="-122"/>
                <a:cs typeface="MiSans" pitchFamily="34" charset="-120"/>
              </a:rPr>
              <a:t>systemctl restart httpd</a:t>
            </a:r>
            <a:endParaRPr lang="en-US" sz="1600" dirty="0"/>
          </a:p>
        </p:txBody>
      </p:sp>
      <p:sp>
        <p:nvSpPr>
          <p:cNvPr id="44" name="Shape 42"/>
          <p:cNvSpPr/>
          <p:nvPr/>
        </p:nvSpPr>
        <p:spPr>
          <a:xfrm>
            <a:off x="6245225" y="6781803"/>
            <a:ext cx="5524500" cy="857250"/>
          </a:xfrm>
          <a:custGeom>
            <a:avLst/>
            <a:gdLst/>
            <a:ahLst/>
            <a:cxnLst/>
            <a:rect l="l" t="t" r="r" b="b"/>
            <a:pathLst>
              <a:path w="5524500" h="857250">
                <a:moveTo>
                  <a:pt x="63497" y="0"/>
                </a:moveTo>
                <a:lnTo>
                  <a:pt x="5461003" y="0"/>
                </a:lnTo>
                <a:cubicBezTo>
                  <a:pt x="5496072" y="0"/>
                  <a:pt x="5524500" y="28428"/>
                  <a:pt x="5524500" y="63497"/>
                </a:cubicBezTo>
                <a:lnTo>
                  <a:pt x="5524500" y="793753"/>
                </a:lnTo>
                <a:cubicBezTo>
                  <a:pt x="5524500" y="828822"/>
                  <a:pt x="5496072" y="857250"/>
                  <a:pt x="5461003" y="857250"/>
                </a:cubicBezTo>
                <a:lnTo>
                  <a:pt x="63497" y="857250"/>
                </a:lnTo>
                <a:cubicBezTo>
                  <a:pt x="28428" y="857250"/>
                  <a:pt x="0" y="828822"/>
                  <a:pt x="0" y="793753"/>
                </a:cubicBezTo>
                <a:lnTo>
                  <a:pt x="0" y="63497"/>
                </a:lnTo>
                <a:cubicBezTo>
                  <a:pt x="0" y="28428"/>
                  <a:pt x="28428" y="0"/>
                  <a:pt x="63497" y="0"/>
                </a:cubicBezTo>
                <a:close/>
              </a:path>
            </a:pathLst>
          </a:custGeom>
          <a:solidFill>
            <a:srgbClr val="1A1D21">
              <a:alpha val="50196"/>
            </a:srgbClr>
          </a:solidFill>
          <a:ln/>
        </p:spPr>
      </p:sp>
      <p:sp>
        <p:nvSpPr>
          <p:cNvPr id="45" name="Text 43"/>
          <p:cNvSpPr/>
          <p:nvPr/>
        </p:nvSpPr>
        <p:spPr>
          <a:xfrm>
            <a:off x="6340475" y="6877053"/>
            <a:ext cx="5397500" cy="190500"/>
          </a:xfrm>
          <a:prstGeom prst="rect">
            <a:avLst/>
          </a:prstGeom>
          <a:noFill/>
          <a:ln/>
        </p:spPr>
        <p:txBody>
          <a:bodyPr wrap="square" lIns="0" tIns="0" rIns="0" bIns="0" rtlCol="0" anchor="ctr"/>
          <a:lstStyle/>
          <a:p>
            <a:pPr>
              <a:lnSpc>
                <a:spcPct val="130000"/>
              </a:lnSpc>
            </a:pPr>
            <a:r>
              <a:rPr lang="en-US" sz="1000" b="1" dirty="0">
                <a:solidFill>
                  <a:srgbClr val="E8EAED"/>
                </a:solidFill>
                <a:latin typeface="Liter" pitchFamily="34" charset="0"/>
                <a:ea typeface="Liter" pitchFamily="34" charset="-122"/>
                <a:cs typeface="Liter" pitchFamily="34" charset="-120"/>
              </a:rPr>
              <a:t>3. Verify in Browser</a:t>
            </a:r>
            <a:endParaRPr lang="en-US" sz="1600" dirty="0"/>
          </a:p>
        </p:txBody>
      </p:sp>
      <p:sp>
        <p:nvSpPr>
          <p:cNvPr id="46" name="Shape 44"/>
          <p:cNvSpPr/>
          <p:nvPr/>
        </p:nvSpPr>
        <p:spPr>
          <a:xfrm>
            <a:off x="6364287" y="7162803"/>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A4E0"/>
          </a:solidFill>
          <a:ln/>
        </p:spPr>
      </p:sp>
      <p:sp>
        <p:nvSpPr>
          <p:cNvPr id="47" name="Text 45"/>
          <p:cNvSpPr/>
          <p:nvPr/>
        </p:nvSpPr>
        <p:spPr>
          <a:xfrm>
            <a:off x="6562725" y="7131053"/>
            <a:ext cx="1730375" cy="190500"/>
          </a:xfrm>
          <a:prstGeom prst="rect">
            <a:avLst/>
          </a:prstGeom>
          <a:noFill/>
          <a:ln/>
        </p:spPr>
        <p:txBody>
          <a:bodyPr wrap="square" lIns="0" tIns="0" rIns="0" bIns="0" rtlCol="0" anchor="ctr"/>
          <a:lstStyle/>
          <a:p>
            <a:pPr>
              <a:lnSpc>
                <a:spcPct val="130000"/>
              </a:lnSpc>
            </a:pPr>
            <a:r>
              <a:rPr lang="en-US" sz="1000" dirty="0">
                <a:solidFill>
                  <a:srgbClr val="E8EAED">
                    <a:alpha val="80000"/>
                  </a:srgbClr>
                </a:solidFill>
                <a:latin typeface="Liter" pitchFamily="34" charset="0"/>
                <a:ea typeface="Liter" pitchFamily="34" charset="-122"/>
                <a:cs typeface="Liter" pitchFamily="34" charset="-120"/>
              </a:rPr>
              <a:t>Direct: Should show 400 error</a:t>
            </a:r>
            <a:endParaRPr lang="en-US" sz="1600" dirty="0"/>
          </a:p>
        </p:txBody>
      </p:sp>
      <p:sp>
        <p:nvSpPr>
          <p:cNvPr id="48" name="Shape 46"/>
          <p:cNvSpPr/>
          <p:nvPr/>
        </p:nvSpPr>
        <p:spPr>
          <a:xfrm>
            <a:off x="6364287" y="7385053"/>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A4E0"/>
          </a:solidFill>
          <a:ln/>
        </p:spPr>
      </p:sp>
      <p:sp>
        <p:nvSpPr>
          <p:cNvPr id="49" name="Text 47"/>
          <p:cNvSpPr/>
          <p:nvPr/>
        </p:nvSpPr>
        <p:spPr>
          <a:xfrm>
            <a:off x="6562725" y="7353303"/>
            <a:ext cx="1595438" cy="190500"/>
          </a:xfrm>
          <a:prstGeom prst="rect">
            <a:avLst/>
          </a:prstGeom>
          <a:noFill/>
          <a:ln/>
        </p:spPr>
        <p:txBody>
          <a:bodyPr wrap="square" lIns="0" tIns="0" rIns="0" bIns="0" rtlCol="0" anchor="ctr"/>
          <a:lstStyle/>
          <a:p>
            <a:pPr>
              <a:lnSpc>
                <a:spcPct val="130000"/>
              </a:lnSpc>
            </a:pPr>
            <a:r>
              <a:rPr lang="en-US" sz="1000" dirty="0">
                <a:solidFill>
                  <a:srgbClr val="E8EAED">
                    <a:alpha val="80000"/>
                  </a:srgbClr>
                </a:solidFill>
                <a:latin typeface="Liter" pitchFamily="34" charset="0"/>
                <a:ea typeface="Liter" pitchFamily="34" charset="-122"/>
                <a:cs typeface="Liter" pitchFamily="34" charset="-120"/>
              </a:rPr>
              <a:t>Via Cloudflare: Should work</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Cloudflare IP Restrictions &amp; Origin Configurations</dc:title>
  <dc:subject>Cloudflare IP Restrictions &amp; Origin Configurations</dc:subject>
  <dc:creator>Kimi</dc:creator>
  <cp:lastModifiedBy>Kimi</cp:lastModifiedBy>
  <cp:revision>1</cp:revision>
  <dcterms:created xsi:type="dcterms:W3CDTF">2026-02-05T04:58:29Z</dcterms:created>
  <dcterms:modified xsi:type="dcterms:W3CDTF">2026-02-05T04:58:29Z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{"Label":"Cloudflare IP Restrictions &amp; Origin Configurations","ContentProducer":"001191110108MACG2KBH8F10000","ProduceID":"19c2aad7-3ec2-8ab4-8000-000084887fc9","ReservedCode1":"","ContentPropagator":"001191110108MACG2KBH8F20000","PropagateID":"19c2aad7-3ec2-8ab4-8000-000084887fc9","ReservedCode2":""}</vt:lpwstr>
  </property>
</Properties>
</file>