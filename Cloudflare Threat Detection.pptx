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embeddedFontLst>
    <p:embeddedFont>
      <p:font typeface="Liter" charset="-122" pitchFamily="34"/>
      <p:regular r:id="rId16"/>
    </p:embeddedFont>
    <p:embeddedFont>
      <p:font typeface="MiSans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5.depositphotos.com/852e39fad97c989b2e35b9d08d0581614aa7d82b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849874"/>
            <a:ext cx="1188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Detection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1000" y="4440674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6" name="Shape 3"/>
          <p:cNvSpPr/>
          <p:nvPr/>
        </p:nvSpPr>
        <p:spPr>
          <a:xfrm>
            <a:off x="1828800" y="4440674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0" y="0"/>
                </a:moveTo>
                <a:lnTo>
                  <a:pt x="609600" y="0"/>
                </a:lnTo>
                <a:lnTo>
                  <a:pt x="609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821674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Rulesets, IP Lists &amp; Machine Learning Scoring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85900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8478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8478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22383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8" name="Text 6"/>
          <p:cNvSpPr/>
          <p:nvPr/>
        </p:nvSpPr>
        <p:spPr>
          <a:xfrm>
            <a:off x="804148" y="2371725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85900" y="2219325"/>
            <a:ext cx="3181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85900" y="2600206"/>
            <a:ext cx="3152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 Threat Detection Architecture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8478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29350" y="18478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22383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14" name="Text 12"/>
          <p:cNvSpPr/>
          <p:nvPr/>
        </p:nvSpPr>
        <p:spPr>
          <a:xfrm>
            <a:off x="6607612" y="237172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2219325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Rulesets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0" y="2600206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Protection &amp; Configuration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4671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4671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857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002" y="39909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85900" y="3838575"/>
            <a:ext cx="2905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Managed Lists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85900" y="4219456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Intelligence &amp; Implementation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4671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34671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8576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6" name="Text 24"/>
          <p:cNvSpPr/>
          <p:nvPr/>
        </p:nvSpPr>
        <p:spPr>
          <a:xfrm>
            <a:off x="6606421" y="39909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3838575"/>
            <a:ext cx="2952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Attack Score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0" y="4219456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 &amp; Scoring Methodology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0863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50863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" y="54768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2" name="Text 30"/>
          <p:cNvSpPr/>
          <p:nvPr/>
        </p:nvSpPr>
        <p:spPr>
          <a:xfrm>
            <a:off x="779026" y="5610225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85900" y="5457825"/>
            <a:ext cx="2876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Bot Score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85900" y="5838706"/>
            <a:ext cx="2847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Engines &amp; Implementation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50863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29350" y="50863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54768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38" name="Text 36"/>
          <p:cNvSpPr/>
          <p:nvPr/>
        </p:nvSpPr>
        <p:spPr>
          <a:xfrm>
            <a:off x="6605111" y="561022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15200" y="5457825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15200" y="5838706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&amp; Deployment Strategy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354" y="351354"/>
            <a:ext cx="1155956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spc="55" kern="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1354" y="632438"/>
            <a:ext cx="11700104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 Threat Detection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1354" y="1159470"/>
            <a:ext cx="1124334" cy="35135"/>
          </a:xfrm>
          <a:custGeom>
            <a:avLst/>
            <a:gdLst/>
            <a:ahLst/>
            <a:cxnLst/>
            <a:rect l="l" t="t" r="r" b="b"/>
            <a:pathLst>
              <a:path w="1124334" h="35135">
                <a:moveTo>
                  <a:pt x="0" y="0"/>
                </a:moveTo>
                <a:lnTo>
                  <a:pt x="1124334" y="0"/>
                </a:lnTo>
                <a:lnTo>
                  <a:pt x="1124334" y="35135"/>
                </a:lnTo>
                <a:lnTo>
                  <a:pt x="0" y="35135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" name="Shape 3"/>
          <p:cNvSpPr/>
          <p:nvPr/>
        </p:nvSpPr>
        <p:spPr>
          <a:xfrm>
            <a:off x="354868" y="1338661"/>
            <a:ext cx="3731384" cy="990820"/>
          </a:xfrm>
          <a:custGeom>
            <a:avLst/>
            <a:gdLst/>
            <a:ahLst/>
            <a:cxnLst/>
            <a:rect l="l" t="t" r="r" b="b"/>
            <a:pathLst>
              <a:path w="3731384" h="990820">
                <a:moveTo>
                  <a:pt x="70269" y="0"/>
                </a:moveTo>
                <a:lnTo>
                  <a:pt x="3661116" y="0"/>
                </a:lnTo>
                <a:cubicBezTo>
                  <a:pt x="3699924" y="0"/>
                  <a:pt x="3731384" y="31460"/>
                  <a:pt x="3731384" y="70269"/>
                </a:cubicBezTo>
                <a:lnTo>
                  <a:pt x="3731384" y="920551"/>
                </a:lnTo>
                <a:cubicBezTo>
                  <a:pt x="3731384" y="959359"/>
                  <a:pt x="3699924" y="990820"/>
                  <a:pt x="3661116" y="990820"/>
                </a:cubicBezTo>
                <a:lnTo>
                  <a:pt x="70269" y="990820"/>
                </a:lnTo>
                <a:cubicBezTo>
                  <a:pt x="31460" y="990820"/>
                  <a:pt x="0" y="959359"/>
                  <a:pt x="0" y="920551"/>
                </a:cubicBezTo>
                <a:lnTo>
                  <a:pt x="0" y="70269"/>
                </a:lnTo>
                <a:cubicBezTo>
                  <a:pt x="0" y="31486"/>
                  <a:pt x="31486" y="0"/>
                  <a:pt x="70269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2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517" y="1482716"/>
            <a:ext cx="3654086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20" b="1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106M+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3788" y="1974613"/>
            <a:ext cx="3513545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Requests/Second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32723" y="1338661"/>
            <a:ext cx="3731384" cy="990820"/>
          </a:xfrm>
          <a:custGeom>
            <a:avLst/>
            <a:gdLst/>
            <a:ahLst/>
            <a:cxnLst/>
            <a:rect l="l" t="t" r="r" b="b"/>
            <a:pathLst>
              <a:path w="3731384" h="990820">
                <a:moveTo>
                  <a:pt x="70269" y="0"/>
                </a:moveTo>
                <a:lnTo>
                  <a:pt x="3661116" y="0"/>
                </a:lnTo>
                <a:cubicBezTo>
                  <a:pt x="3699924" y="0"/>
                  <a:pt x="3731384" y="31460"/>
                  <a:pt x="3731384" y="70269"/>
                </a:cubicBezTo>
                <a:lnTo>
                  <a:pt x="3731384" y="920551"/>
                </a:lnTo>
                <a:cubicBezTo>
                  <a:pt x="3731384" y="959359"/>
                  <a:pt x="3699924" y="990820"/>
                  <a:pt x="3661116" y="990820"/>
                </a:cubicBezTo>
                <a:lnTo>
                  <a:pt x="70269" y="990820"/>
                </a:lnTo>
                <a:cubicBezTo>
                  <a:pt x="31460" y="990820"/>
                  <a:pt x="0" y="959359"/>
                  <a:pt x="0" y="920551"/>
                </a:cubicBezTo>
                <a:lnTo>
                  <a:pt x="0" y="70269"/>
                </a:lnTo>
                <a:cubicBezTo>
                  <a:pt x="0" y="31486"/>
                  <a:pt x="31486" y="0"/>
                  <a:pt x="7026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20000"/>
                </a:srgbClr>
              </a:gs>
              <a:gs pos="100000">
                <a:srgbClr val="00A4E4">
                  <a:alpha val="5000"/>
                </a:srgbClr>
              </a:gs>
            </a:gsLst>
            <a:lin ang="2700000" scaled="1"/>
          </a:gradFill>
          <a:ln w="10160">
            <a:solidFill>
              <a:srgbClr val="00A4E4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1372" y="1482716"/>
            <a:ext cx="3654086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20" b="1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Billions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1643" y="1974613"/>
            <a:ext cx="3513545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Threats Blocked Daily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10579" y="1338661"/>
            <a:ext cx="3731384" cy="990820"/>
          </a:xfrm>
          <a:custGeom>
            <a:avLst/>
            <a:gdLst/>
            <a:ahLst/>
            <a:cxnLst/>
            <a:rect l="l" t="t" r="r" b="b"/>
            <a:pathLst>
              <a:path w="3731384" h="990820">
                <a:moveTo>
                  <a:pt x="70269" y="0"/>
                </a:moveTo>
                <a:lnTo>
                  <a:pt x="3661116" y="0"/>
                </a:lnTo>
                <a:cubicBezTo>
                  <a:pt x="3699924" y="0"/>
                  <a:pt x="3731384" y="31460"/>
                  <a:pt x="3731384" y="70269"/>
                </a:cubicBezTo>
                <a:lnTo>
                  <a:pt x="3731384" y="920551"/>
                </a:lnTo>
                <a:cubicBezTo>
                  <a:pt x="3731384" y="959359"/>
                  <a:pt x="3699924" y="990820"/>
                  <a:pt x="3661116" y="990820"/>
                </a:cubicBezTo>
                <a:lnTo>
                  <a:pt x="70269" y="990820"/>
                </a:lnTo>
                <a:cubicBezTo>
                  <a:pt x="31460" y="990820"/>
                  <a:pt x="0" y="959359"/>
                  <a:pt x="0" y="920551"/>
                </a:cubicBezTo>
                <a:lnTo>
                  <a:pt x="0" y="70269"/>
                </a:lnTo>
                <a:cubicBezTo>
                  <a:pt x="0" y="31486"/>
                  <a:pt x="31486" y="0"/>
                  <a:pt x="70269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2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9228" y="1482716"/>
            <a:ext cx="3654086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20" b="1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26M+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19499" y="1974613"/>
            <a:ext cx="3513545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Properties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4868" y="2477049"/>
            <a:ext cx="5672618" cy="3801655"/>
          </a:xfrm>
          <a:custGeom>
            <a:avLst/>
            <a:gdLst/>
            <a:ahLst/>
            <a:cxnLst/>
            <a:rect l="l" t="t" r="r" b="b"/>
            <a:pathLst>
              <a:path w="5672618" h="3801655">
                <a:moveTo>
                  <a:pt x="70255" y="0"/>
                </a:moveTo>
                <a:lnTo>
                  <a:pt x="5602363" y="0"/>
                </a:lnTo>
                <a:cubicBezTo>
                  <a:pt x="5641164" y="0"/>
                  <a:pt x="5672618" y="31454"/>
                  <a:pt x="5672618" y="70255"/>
                </a:cubicBezTo>
                <a:lnTo>
                  <a:pt x="5672618" y="3731401"/>
                </a:lnTo>
                <a:cubicBezTo>
                  <a:pt x="5672618" y="3770201"/>
                  <a:pt x="5641164" y="3801655"/>
                  <a:pt x="5602363" y="3801655"/>
                </a:cubicBezTo>
                <a:lnTo>
                  <a:pt x="70255" y="3801655"/>
                </a:lnTo>
                <a:cubicBezTo>
                  <a:pt x="31454" y="3801655"/>
                  <a:pt x="0" y="3770201"/>
                  <a:pt x="0" y="3731401"/>
                </a:cubicBezTo>
                <a:lnTo>
                  <a:pt x="0" y="70255"/>
                </a:lnTo>
                <a:cubicBezTo>
                  <a:pt x="0" y="31480"/>
                  <a:pt x="31480" y="0"/>
                  <a:pt x="70255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275" y="2656131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95730" y="2141"/>
                </a:moveTo>
                <a:cubicBezTo>
                  <a:pt x="101865" y="-700"/>
                  <a:pt x="108947" y="-700"/>
                  <a:pt x="115082" y="2141"/>
                </a:cubicBezTo>
                <a:lnTo>
                  <a:pt x="205089" y="43727"/>
                </a:lnTo>
                <a:cubicBezTo>
                  <a:pt x="208589" y="45333"/>
                  <a:pt x="210813" y="48833"/>
                  <a:pt x="210813" y="52703"/>
                </a:cubicBezTo>
                <a:cubicBezTo>
                  <a:pt x="210813" y="56574"/>
                  <a:pt x="208589" y="60073"/>
                  <a:pt x="205089" y="61679"/>
                </a:cubicBezTo>
                <a:lnTo>
                  <a:pt x="115082" y="103265"/>
                </a:lnTo>
                <a:cubicBezTo>
                  <a:pt x="108947" y="106106"/>
                  <a:pt x="101865" y="106106"/>
                  <a:pt x="95730" y="103265"/>
                </a:cubicBezTo>
                <a:lnTo>
                  <a:pt x="5723" y="61679"/>
                </a:lnTo>
                <a:cubicBezTo>
                  <a:pt x="2223" y="60032"/>
                  <a:pt x="0" y="56532"/>
                  <a:pt x="0" y="52703"/>
                </a:cubicBezTo>
                <a:cubicBezTo>
                  <a:pt x="0" y="48874"/>
                  <a:pt x="2223" y="45333"/>
                  <a:pt x="5723" y="43727"/>
                </a:cubicBezTo>
                <a:lnTo>
                  <a:pt x="95730" y="2141"/>
                </a:lnTo>
                <a:close/>
                <a:moveTo>
                  <a:pt x="19805" y="89925"/>
                </a:moveTo>
                <a:lnTo>
                  <a:pt x="87454" y="121176"/>
                </a:lnTo>
                <a:cubicBezTo>
                  <a:pt x="98860" y="126446"/>
                  <a:pt x="111994" y="126446"/>
                  <a:pt x="123400" y="121176"/>
                </a:cubicBezTo>
                <a:lnTo>
                  <a:pt x="191049" y="89925"/>
                </a:lnTo>
                <a:lnTo>
                  <a:pt x="205089" y="96430"/>
                </a:lnTo>
                <a:cubicBezTo>
                  <a:pt x="208589" y="98036"/>
                  <a:pt x="210813" y="101536"/>
                  <a:pt x="210813" y="105406"/>
                </a:cubicBezTo>
                <a:cubicBezTo>
                  <a:pt x="210813" y="109277"/>
                  <a:pt x="208589" y="112777"/>
                  <a:pt x="205089" y="114382"/>
                </a:cubicBezTo>
                <a:lnTo>
                  <a:pt x="115082" y="155968"/>
                </a:lnTo>
                <a:cubicBezTo>
                  <a:pt x="108947" y="158809"/>
                  <a:pt x="101865" y="158809"/>
                  <a:pt x="95730" y="155968"/>
                </a:cubicBezTo>
                <a:lnTo>
                  <a:pt x="5723" y="114382"/>
                </a:lnTo>
                <a:cubicBezTo>
                  <a:pt x="2223" y="112735"/>
                  <a:pt x="0" y="109236"/>
                  <a:pt x="0" y="105406"/>
                </a:cubicBezTo>
                <a:cubicBezTo>
                  <a:pt x="0" y="101577"/>
                  <a:pt x="2223" y="98036"/>
                  <a:pt x="5723" y="96430"/>
                </a:cubicBezTo>
                <a:lnTo>
                  <a:pt x="19764" y="89925"/>
                </a:lnTo>
                <a:close/>
                <a:moveTo>
                  <a:pt x="5723" y="149134"/>
                </a:moveTo>
                <a:lnTo>
                  <a:pt x="19764" y="142628"/>
                </a:lnTo>
                <a:lnTo>
                  <a:pt x="87413" y="173879"/>
                </a:lnTo>
                <a:cubicBezTo>
                  <a:pt x="98818" y="179150"/>
                  <a:pt x="111953" y="179150"/>
                  <a:pt x="123358" y="173879"/>
                </a:cubicBezTo>
                <a:lnTo>
                  <a:pt x="191008" y="142628"/>
                </a:lnTo>
                <a:lnTo>
                  <a:pt x="205048" y="149134"/>
                </a:lnTo>
                <a:cubicBezTo>
                  <a:pt x="208548" y="150739"/>
                  <a:pt x="210772" y="154239"/>
                  <a:pt x="210772" y="158110"/>
                </a:cubicBezTo>
                <a:cubicBezTo>
                  <a:pt x="210772" y="161980"/>
                  <a:pt x="208548" y="165480"/>
                  <a:pt x="205048" y="167086"/>
                </a:cubicBezTo>
                <a:lnTo>
                  <a:pt x="115041" y="208672"/>
                </a:lnTo>
                <a:cubicBezTo>
                  <a:pt x="108906" y="211513"/>
                  <a:pt x="101824" y="211513"/>
                  <a:pt x="95689" y="208672"/>
                </a:cubicBezTo>
                <a:lnTo>
                  <a:pt x="5723" y="167086"/>
                </a:lnTo>
                <a:cubicBezTo>
                  <a:pt x="2223" y="165439"/>
                  <a:pt x="0" y="161939"/>
                  <a:pt x="0" y="158110"/>
                </a:cubicBezTo>
                <a:cubicBezTo>
                  <a:pt x="0" y="154280"/>
                  <a:pt x="2223" y="150739"/>
                  <a:pt x="5723" y="149134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6" name="Text 14"/>
          <p:cNvSpPr/>
          <p:nvPr/>
        </p:nvSpPr>
        <p:spPr>
          <a:xfrm>
            <a:off x="762439" y="2621105"/>
            <a:ext cx="5226398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Four-Layer Detection System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6491" y="3007485"/>
            <a:ext cx="5366939" cy="597303"/>
          </a:xfrm>
          <a:custGeom>
            <a:avLst/>
            <a:gdLst/>
            <a:ahLst/>
            <a:cxnLst/>
            <a:rect l="l" t="t" r="r" b="b"/>
            <a:pathLst>
              <a:path w="5366939" h="597303">
                <a:moveTo>
                  <a:pt x="35135" y="0"/>
                </a:moveTo>
                <a:lnTo>
                  <a:pt x="5296667" y="0"/>
                </a:lnTo>
                <a:cubicBezTo>
                  <a:pt x="5335477" y="0"/>
                  <a:pt x="5366939" y="31462"/>
                  <a:pt x="5366939" y="70273"/>
                </a:cubicBezTo>
                <a:lnTo>
                  <a:pt x="5366939" y="527030"/>
                </a:lnTo>
                <a:cubicBezTo>
                  <a:pt x="5366939" y="565840"/>
                  <a:pt x="5335477" y="597303"/>
                  <a:pt x="5296667" y="597303"/>
                </a:cubicBezTo>
                <a:lnTo>
                  <a:pt x="35135" y="597303"/>
                </a:lnTo>
                <a:cubicBezTo>
                  <a:pt x="15731" y="597303"/>
                  <a:pt x="0" y="581572"/>
                  <a:pt x="0" y="562167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6491" y="3007485"/>
            <a:ext cx="35135" cy="597303"/>
          </a:xfrm>
          <a:custGeom>
            <a:avLst/>
            <a:gdLst/>
            <a:ahLst/>
            <a:cxnLst/>
            <a:rect l="l" t="t" r="r" b="b"/>
            <a:pathLst>
              <a:path w="35135" h="597303">
                <a:moveTo>
                  <a:pt x="35135" y="0"/>
                </a:moveTo>
                <a:lnTo>
                  <a:pt x="35135" y="0"/>
                </a:lnTo>
                <a:lnTo>
                  <a:pt x="35135" y="597303"/>
                </a:lnTo>
                <a:lnTo>
                  <a:pt x="35135" y="597303"/>
                </a:lnTo>
                <a:cubicBezTo>
                  <a:pt x="15731" y="597303"/>
                  <a:pt x="0" y="581572"/>
                  <a:pt x="0" y="562167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4330" y="3077756"/>
            <a:ext cx="351354" cy="351354"/>
          </a:xfrm>
          <a:custGeom>
            <a:avLst/>
            <a:gdLst/>
            <a:ahLst/>
            <a:cxnLst/>
            <a:rect l="l" t="t" r="r" b="b"/>
            <a:pathLst>
              <a:path w="351354" h="351354">
                <a:moveTo>
                  <a:pt x="175677" y="0"/>
                </a:moveTo>
                <a:lnTo>
                  <a:pt x="175677" y="0"/>
                </a:lnTo>
                <a:cubicBezTo>
                  <a:pt x="272636" y="0"/>
                  <a:pt x="351354" y="78718"/>
                  <a:pt x="351354" y="175677"/>
                </a:cubicBezTo>
                <a:lnTo>
                  <a:pt x="351354" y="175677"/>
                </a:lnTo>
                <a:cubicBezTo>
                  <a:pt x="351354" y="272636"/>
                  <a:pt x="272636" y="351354"/>
                  <a:pt x="175677" y="351354"/>
                </a:cubicBezTo>
                <a:lnTo>
                  <a:pt x="175677" y="351354"/>
                </a:lnTo>
                <a:cubicBezTo>
                  <a:pt x="78718" y="351354"/>
                  <a:pt x="0" y="272636"/>
                  <a:pt x="0" y="175677"/>
                </a:cubicBezTo>
                <a:lnTo>
                  <a:pt x="0" y="175677"/>
                </a:lnTo>
                <a:cubicBezTo>
                  <a:pt x="0" y="78718"/>
                  <a:pt x="78718" y="0"/>
                  <a:pt x="175677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44871" y="3130459"/>
            <a:ext cx="158110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1091" y="3077756"/>
            <a:ext cx="4523689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Signature-Based Rules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1091" y="3358840"/>
            <a:ext cx="4506121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Rulesets with continuously updated signatures for known attack patterns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6491" y="3675059"/>
            <a:ext cx="5366939" cy="597303"/>
          </a:xfrm>
          <a:custGeom>
            <a:avLst/>
            <a:gdLst/>
            <a:ahLst/>
            <a:cxnLst/>
            <a:rect l="l" t="t" r="r" b="b"/>
            <a:pathLst>
              <a:path w="5366939" h="597303">
                <a:moveTo>
                  <a:pt x="35135" y="0"/>
                </a:moveTo>
                <a:lnTo>
                  <a:pt x="5296667" y="0"/>
                </a:lnTo>
                <a:cubicBezTo>
                  <a:pt x="5335477" y="0"/>
                  <a:pt x="5366939" y="31462"/>
                  <a:pt x="5366939" y="70273"/>
                </a:cubicBezTo>
                <a:lnTo>
                  <a:pt x="5366939" y="527030"/>
                </a:lnTo>
                <a:cubicBezTo>
                  <a:pt x="5366939" y="565840"/>
                  <a:pt x="5335477" y="597303"/>
                  <a:pt x="5296667" y="597303"/>
                </a:cubicBezTo>
                <a:lnTo>
                  <a:pt x="35135" y="597303"/>
                </a:lnTo>
                <a:cubicBezTo>
                  <a:pt x="15731" y="597303"/>
                  <a:pt x="0" y="581572"/>
                  <a:pt x="0" y="562167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16491" y="3675059"/>
            <a:ext cx="35135" cy="597303"/>
          </a:xfrm>
          <a:custGeom>
            <a:avLst/>
            <a:gdLst/>
            <a:ahLst/>
            <a:cxnLst/>
            <a:rect l="l" t="t" r="r" b="b"/>
            <a:pathLst>
              <a:path w="35135" h="597303">
                <a:moveTo>
                  <a:pt x="35135" y="0"/>
                </a:moveTo>
                <a:lnTo>
                  <a:pt x="35135" y="0"/>
                </a:lnTo>
                <a:lnTo>
                  <a:pt x="35135" y="597303"/>
                </a:lnTo>
                <a:lnTo>
                  <a:pt x="35135" y="597303"/>
                </a:lnTo>
                <a:cubicBezTo>
                  <a:pt x="15731" y="597303"/>
                  <a:pt x="0" y="581572"/>
                  <a:pt x="0" y="562167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5" name="Shape 23"/>
          <p:cNvSpPr/>
          <p:nvPr/>
        </p:nvSpPr>
        <p:spPr>
          <a:xfrm>
            <a:off x="604330" y="3745329"/>
            <a:ext cx="351354" cy="351354"/>
          </a:xfrm>
          <a:custGeom>
            <a:avLst/>
            <a:gdLst/>
            <a:ahLst/>
            <a:cxnLst/>
            <a:rect l="l" t="t" r="r" b="b"/>
            <a:pathLst>
              <a:path w="351354" h="351354">
                <a:moveTo>
                  <a:pt x="175677" y="0"/>
                </a:moveTo>
                <a:lnTo>
                  <a:pt x="175677" y="0"/>
                </a:lnTo>
                <a:cubicBezTo>
                  <a:pt x="272636" y="0"/>
                  <a:pt x="351354" y="78718"/>
                  <a:pt x="351354" y="175677"/>
                </a:cubicBezTo>
                <a:lnTo>
                  <a:pt x="351354" y="175677"/>
                </a:lnTo>
                <a:cubicBezTo>
                  <a:pt x="351354" y="272636"/>
                  <a:pt x="272636" y="351354"/>
                  <a:pt x="175677" y="351354"/>
                </a:cubicBezTo>
                <a:lnTo>
                  <a:pt x="175677" y="351354"/>
                </a:lnTo>
                <a:cubicBezTo>
                  <a:pt x="78718" y="351354"/>
                  <a:pt x="0" y="272636"/>
                  <a:pt x="0" y="175677"/>
                </a:cubicBezTo>
                <a:lnTo>
                  <a:pt x="0" y="175677"/>
                </a:lnTo>
                <a:cubicBezTo>
                  <a:pt x="0" y="78718"/>
                  <a:pt x="78718" y="0"/>
                  <a:pt x="175677" y="0"/>
                </a:cubicBezTo>
                <a:close/>
              </a:path>
            </a:pathLst>
          </a:custGeom>
          <a:solidFill>
            <a:srgbClr val="00A4E4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28951" y="3798033"/>
            <a:ext cx="193245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1091" y="3745329"/>
            <a:ext cx="4629095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Reputation Intelligence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1091" y="4026413"/>
            <a:ext cx="4611527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IP Lists powered by global threat intelligence from billions of daily requests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6491" y="4342632"/>
            <a:ext cx="5366939" cy="597303"/>
          </a:xfrm>
          <a:custGeom>
            <a:avLst/>
            <a:gdLst/>
            <a:ahLst/>
            <a:cxnLst/>
            <a:rect l="l" t="t" r="r" b="b"/>
            <a:pathLst>
              <a:path w="5366939" h="597303">
                <a:moveTo>
                  <a:pt x="35135" y="0"/>
                </a:moveTo>
                <a:lnTo>
                  <a:pt x="5296667" y="0"/>
                </a:lnTo>
                <a:cubicBezTo>
                  <a:pt x="5335477" y="0"/>
                  <a:pt x="5366939" y="31462"/>
                  <a:pt x="5366939" y="70273"/>
                </a:cubicBezTo>
                <a:lnTo>
                  <a:pt x="5366939" y="527030"/>
                </a:lnTo>
                <a:cubicBezTo>
                  <a:pt x="5366939" y="565840"/>
                  <a:pt x="5335477" y="597303"/>
                  <a:pt x="5296667" y="597303"/>
                </a:cubicBezTo>
                <a:lnTo>
                  <a:pt x="35135" y="597303"/>
                </a:lnTo>
                <a:cubicBezTo>
                  <a:pt x="15731" y="597303"/>
                  <a:pt x="0" y="581572"/>
                  <a:pt x="0" y="562167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6491" y="4342632"/>
            <a:ext cx="35135" cy="597303"/>
          </a:xfrm>
          <a:custGeom>
            <a:avLst/>
            <a:gdLst/>
            <a:ahLst/>
            <a:cxnLst/>
            <a:rect l="l" t="t" r="r" b="b"/>
            <a:pathLst>
              <a:path w="35135" h="597303">
                <a:moveTo>
                  <a:pt x="35135" y="0"/>
                </a:moveTo>
                <a:lnTo>
                  <a:pt x="35135" y="0"/>
                </a:lnTo>
                <a:lnTo>
                  <a:pt x="35135" y="597303"/>
                </a:lnTo>
                <a:lnTo>
                  <a:pt x="35135" y="597303"/>
                </a:lnTo>
                <a:cubicBezTo>
                  <a:pt x="15731" y="597303"/>
                  <a:pt x="0" y="581572"/>
                  <a:pt x="0" y="562167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1" name="Shape 29"/>
          <p:cNvSpPr/>
          <p:nvPr/>
        </p:nvSpPr>
        <p:spPr>
          <a:xfrm>
            <a:off x="604330" y="4412902"/>
            <a:ext cx="351354" cy="351354"/>
          </a:xfrm>
          <a:custGeom>
            <a:avLst/>
            <a:gdLst/>
            <a:ahLst/>
            <a:cxnLst/>
            <a:rect l="l" t="t" r="r" b="b"/>
            <a:pathLst>
              <a:path w="351354" h="351354">
                <a:moveTo>
                  <a:pt x="175677" y="0"/>
                </a:moveTo>
                <a:lnTo>
                  <a:pt x="175677" y="0"/>
                </a:lnTo>
                <a:cubicBezTo>
                  <a:pt x="272636" y="0"/>
                  <a:pt x="351354" y="78718"/>
                  <a:pt x="351354" y="175677"/>
                </a:cubicBezTo>
                <a:lnTo>
                  <a:pt x="351354" y="175677"/>
                </a:lnTo>
                <a:cubicBezTo>
                  <a:pt x="351354" y="272636"/>
                  <a:pt x="272636" y="351354"/>
                  <a:pt x="175677" y="351354"/>
                </a:cubicBezTo>
                <a:lnTo>
                  <a:pt x="175677" y="351354"/>
                </a:lnTo>
                <a:cubicBezTo>
                  <a:pt x="78718" y="351354"/>
                  <a:pt x="0" y="272636"/>
                  <a:pt x="0" y="175677"/>
                </a:cubicBezTo>
                <a:lnTo>
                  <a:pt x="0" y="175677"/>
                </a:lnTo>
                <a:cubicBezTo>
                  <a:pt x="0" y="78718"/>
                  <a:pt x="78718" y="0"/>
                  <a:pt x="175677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28182" y="4465605"/>
            <a:ext cx="193245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61091" y="4412902"/>
            <a:ext cx="4066928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Attack Scoring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61091" y="4693985"/>
            <a:ext cx="4049360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models detecting attack variations and zero-day exploits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6491" y="5010204"/>
            <a:ext cx="5366939" cy="597303"/>
          </a:xfrm>
          <a:custGeom>
            <a:avLst/>
            <a:gdLst/>
            <a:ahLst/>
            <a:cxnLst/>
            <a:rect l="l" t="t" r="r" b="b"/>
            <a:pathLst>
              <a:path w="5366939" h="597303">
                <a:moveTo>
                  <a:pt x="35135" y="0"/>
                </a:moveTo>
                <a:lnTo>
                  <a:pt x="5296667" y="0"/>
                </a:lnTo>
                <a:cubicBezTo>
                  <a:pt x="5335477" y="0"/>
                  <a:pt x="5366939" y="31462"/>
                  <a:pt x="5366939" y="70273"/>
                </a:cubicBezTo>
                <a:lnTo>
                  <a:pt x="5366939" y="527030"/>
                </a:lnTo>
                <a:cubicBezTo>
                  <a:pt x="5366939" y="565840"/>
                  <a:pt x="5335477" y="597303"/>
                  <a:pt x="5296667" y="597303"/>
                </a:cubicBezTo>
                <a:lnTo>
                  <a:pt x="35135" y="597303"/>
                </a:lnTo>
                <a:cubicBezTo>
                  <a:pt x="15731" y="597303"/>
                  <a:pt x="0" y="581572"/>
                  <a:pt x="0" y="562167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6491" y="5010204"/>
            <a:ext cx="35135" cy="597303"/>
          </a:xfrm>
          <a:custGeom>
            <a:avLst/>
            <a:gdLst/>
            <a:ahLst/>
            <a:cxnLst/>
            <a:rect l="l" t="t" r="r" b="b"/>
            <a:pathLst>
              <a:path w="35135" h="597303">
                <a:moveTo>
                  <a:pt x="35135" y="0"/>
                </a:moveTo>
                <a:lnTo>
                  <a:pt x="35135" y="0"/>
                </a:lnTo>
                <a:lnTo>
                  <a:pt x="35135" y="597303"/>
                </a:lnTo>
                <a:lnTo>
                  <a:pt x="35135" y="597303"/>
                </a:lnTo>
                <a:cubicBezTo>
                  <a:pt x="15731" y="597303"/>
                  <a:pt x="0" y="581572"/>
                  <a:pt x="0" y="562167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37" name="Shape 35"/>
          <p:cNvSpPr/>
          <p:nvPr/>
        </p:nvSpPr>
        <p:spPr>
          <a:xfrm>
            <a:off x="604330" y="5080475"/>
            <a:ext cx="351354" cy="351354"/>
          </a:xfrm>
          <a:custGeom>
            <a:avLst/>
            <a:gdLst/>
            <a:ahLst/>
            <a:cxnLst/>
            <a:rect l="l" t="t" r="r" b="b"/>
            <a:pathLst>
              <a:path w="351354" h="351354">
                <a:moveTo>
                  <a:pt x="175677" y="0"/>
                </a:moveTo>
                <a:lnTo>
                  <a:pt x="175677" y="0"/>
                </a:lnTo>
                <a:cubicBezTo>
                  <a:pt x="272636" y="0"/>
                  <a:pt x="351354" y="78718"/>
                  <a:pt x="351354" y="175677"/>
                </a:cubicBezTo>
                <a:lnTo>
                  <a:pt x="351354" y="175677"/>
                </a:lnTo>
                <a:cubicBezTo>
                  <a:pt x="351354" y="272636"/>
                  <a:pt x="272636" y="351354"/>
                  <a:pt x="175677" y="351354"/>
                </a:cubicBezTo>
                <a:lnTo>
                  <a:pt x="175677" y="351354"/>
                </a:lnTo>
                <a:cubicBezTo>
                  <a:pt x="78718" y="351354"/>
                  <a:pt x="0" y="272636"/>
                  <a:pt x="0" y="175677"/>
                </a:cubicBezTo>
                <a:lnTo>
                  <a:pt x="0" y="175677"/>
                </a:lnTo>
                <a:cubicBezTo>
                  <a:pt x="0" y="78718"/>
                  <a:pt x="78718" y="0"/>
                  <a:pt x="175677" y="0"/>
                </a:cubicBezTo>
                <a:close/>
              </a:path>
            </a:pathLst>
          </a:custGeom>
          <a:solidFill>
            <a:srgbClr val="00A4E4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28182" y="5133179"/>
            <a:ext cx="193245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61091" y="5080475"/>
            <a:ext cx="4005441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Bot Scoring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61091" y="5361559"/>
            <a:ext cx="3987873" cy="175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8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Multi-engine bot detection distinguishing humans from automated traffic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1651" y="2477049"/>
            <a:ext cx="5672618" cy="2396237"/>
          </a:xfrm>
          <a:custGeom>
            <a:avLst/>
            <a:gdLst/>
            <a:ahLst/>
            <a:cxnLst/>
            <a:rect l="l" t="t" r="r" b="b"/>
            <a:pathLst>
              <a:path w="5672618" h="2396237">
                <a:moveTo>
                  <a:pt x="70282" y="0"/>
                </a:moveTo>
                <a:lnTo>
                  <a:pt x="5602336" y="0"/>
                </a:lnTo>
                <a:cubicBezTo>
                  <a:pt x="5641152" y="0"/>
                  <a:pt x="5672618" y="31466"/>
                  <a:pt x="5672618" y="70282"/>
                </a:cubicBezTo>
                <a:lnTo>
                  <a:pt x="5672618" y="2325956"/>
                </a:lnTo>
                <a:cubicBezTo>
                  <a:pt x="5672618" y="2364771"/>
                  <a:pt x="5641152" y="2396237"/>
                  <a:pt x="5602336" y="2396237"/>
                </a:cubicBezTo>
                <a:lnTo>
                  <a:pt x="70282" y="2396237"/>
                </a:lnTo>
                <a:cubicBezTo>
                  <a:pt x="31466" y="2396237"/>
                  <a:pt x="0" y="2364771"/>
                  <a:pt x="0" y="2325956"/>
                </a:cubicBezTo>
                <a:lnTo>
                  <a:pt x="0" y="70282"/>
                </a:lnTo>
                <a:cubicBezTo>
                  <a:pt x="0" y="31466"/>
                  <a:pt x="31466" y="0"/>
                  <a:pt x="70282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37666" y="2656240"/>
            <a:ext cx="175677" cy="175677"/>
          </a:xfrm>
          <a:custGeom>
            <a:avLst/>
            <a:gdLst/>
            <a:ahLst/>
            <a:cxnLst/>
            <a:rect l="l" t="t" r="r" b="b"/>
            <a:pathLst>
              <a:path w="175677" h="175677">
                <a:moveTo>
                  <a:pt x="153718" y="87839"/>
                </a:moveTo>
                <a:cubicBezTo>
                  <a:pt x="153718" y="51479"/>
                  <a:pt x="124198" y="21960"/>
                  <a:pt x="87839" y="21960"/>
                </a:cubicBezTo>
                <a:cubicBezTo>
                  <a:pt x="51479" y="21960"/>
                  <a:pt x="21960" y="51479"/>
                  <a:pt x="21960" y="87839"/>
                </a:cubicBezTo>
                <a:cubicBezTo>
                  <a:pt x="21960" y="124198"/>
                  <a:pt x="51479" y="153718"/>
                  <a:pt x="87839" y="153718"/>
                </a:cubicBezTo>
                <a:cubicBezTo>
                  <a:pt x="124198" y="153718"/>
                  <a:pt x="153718" y="124198"/>
                  <a:pt x="153718" y="87839"/>
                </a:cubicBezTo>
                <a:close/>
                <a:moveTo>
                  <a:pt x="0" y="87839"/>
                </a:moveTo>
                <a:cubicBezTo>
                  <a:pt x="0" y="39359"/>
                  <a:pt x="39359" y="0"/>
                  <a:pt x="87839" y="0"/>
                </a:cubicBezTo>
                <a:cubicBezTo>
                  <a:pt x="136318" y="0"/>
                  <a:pt x="175677" y="39359"/>
                  <a:pt x="175677" y="87839"/>
                </a:cubicBezTo>
                <a:cubicBezTo>
                  <a:pt x="175677" y="136318"/>
                  <a:pt x="136318" y="175677"/>
                  <a:pt x="87839" y="175677"/>
                </a:cubicBezTo>
                <a:cubicBezTo>
                  <a:pt x="39359" y="175677"/>
                  <a:pt x="0" y="136318"/>
                  <a:pt x="0" y="87839"/>
                </a:cubicBezTo>
                <a:close/>
                <a:moveTo>
                  <a:pt x="87839" y="115288"/>
                </a:moveTo>
                <a:cubicBezTo>
                  <a:pt x="102988" y="115288"/>
                  <a:pt x="115288" y="102988"/>
                  <a:pt x="115288" y="87839"/>
                </a:cubicBezTo>
                <a:cubicBezTo>
                  <a:pt x="115288" y="72689"/>
                  <a:pt x="102988" y="60389"/>
                  <a:pt x="87839" y="60389"/>
                </a:cubicBezTo>
                <a:cubicBezTo>
                  <a:pt x="72689" y="60389"/>
                  <a:pt x="60389" y="72689"/>
                  <a:pt x="60389" y="87839"/>
                </a:cubicBezTo>
                <a:cubicBezTo>
                  <a:pt x="60389" y="102988"/>
                  <a:pt x="72689" y="115288"/>
                  <a:pt x="87839" y="115288"/>
                </a:cubicBezTo>
                <a:close/>
                <a:moveTo>
                  <a:pt x="87839" y="38429"/>
                </a:moveTo>
                <a:cubicBezTo>
                  <a:pt x="115108" y="38429"/>
                  <a:pt x="137248" y="60569"/>
                  <a:pt x="137248" y="87839"/>
                </a:cubicBezTo>
                <a:cubicBezTo>
                  <a:pt x="137248" y="115108"/>
                  <a:pt x="115108" y="137248"/>
                  <a:pt x="87839" y="137248"/>
                </a:cubicBezTo>
                <a:cubicBezTo>
                  <a:pt x="60569" y="137248"/>
                  <a:pt x="38429" y="115108"/>
                  <a:pt x="38429" y="87839"/>
                </a:cubicBezTo>
                <a:cubicBezTo>
                  <a:pt x="38429" y="60569"/>
                  <a:pt x="60569" y="38429"/>
                  <a:pt x="87839" y="38429"/>
                </a:cubicBezTo>
                <a:close/>
                <a:moveTo>
                  <a:pt x="76859" y="87839"/>
                </a:moveTo>
                <a:cubicBezTo>
                  <a:pt x="76859" y="81779"/>
                  <a:pt x="81779" y="76859"/>
                  <a:pt x="87839" y="76859"/>
                </a:cubicBezTo>
                <a:cubicBezTo>
                  <a:pt x="93899" y="76859"/>
                  <a:pt x="98818" y="81779"/>
                  <a:pt x="98818" y="87839"/>
                </a:cubicBezTo>
                <a:cubicBezTo>
                  <a:pt x="98818" y="93899"/>
                  <a:pt x="93899" y="98818"/>
                  <a:pt x="87839" y="98818"/>
                </a:cubicBezTo>
                <a:cubicBezTo>
                  <a:pt x="81779" y="98818"/>
                  <a:pt x="76859" y="93899"/>
                  <a:pt x="76859" y="87839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3" name="Text 41"/>
          <p:cNvSpPr/>
          <p:nvPr/>
        </p:nvSpPr>
        <p:spPr>
          <a:xfrm>
            <a:off x="6535303" y="2621105"/>
            <a:ext cx="5252749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Coverage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15706" y="2972459"/>
            <a:ext cx="5384507" cy="386490"/>
          </a:xfrm>
          <a:custGeom>
            <a:avLst/>
            <a:gdLst/>
            <a:ahLst/>
            <a:cxnLst/>
            <a:rect l="l" t="t" r="r" b="b"/>
            <a:pathLst>
              <a:path w="5384507" h="386490">
                <a:moveTo>
                  <a:pt x="70272" y="0"/>
                </a:moveTo>
                <a:lnTo>
                  <a:pt x="5314236" y="0"/>
                </a:lnTo>
                <a:cubicBezTo>
                  <a:pt x="5353046" y="0"/>
                  <a:pt x="5384507" y="31462"/>
                  <a:pt x="5384507" y="70272"/>
                </a:cubicBezTo>
                <a:lnTo>
                  <a:pt x="5384507" y="316218"/>
                </a:lnTo>
                <a:cubicBezTo>
                  <a:pt x="5384507" y="355028"/>
                  <a:pt x="5353046" y="386490"/>
                  <a:pt x="5314236" y="386490"/>
                </a:cubicBezTo>
                <a:lnTo>
                  <a:pt x="70272" y="386490"/>
                </a:lnTo>
                <a:cubicBezTo>
                  <a:pt x="31488" y="386490"/>
                  <a:pt x="0" y="355002"/>
                  <a:pt x="0" y="316218"/>
                </a:cubicBezTo>
                <a:lnTo>
                  <a:pt x="0" y="70272"/>
                </a:lnTo>
                <a:cubicBezTo>
                  <a:pt x="0" y="31488"/>
                  <a:pt x="31488" y="0"/>
                  <a:pt x="7027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394761" y="3088406"/>
            <a:ext cx="158110" cy="140542"/>
          </a:xfrm>
          <a:custGeom>
            <a:avLst/>
            <a:gdLst/>
            <a:ahLst/>
            <a:cxnLst/>
            <a:rect l="l" t="t" r="r" b="b"/>
            <a:pathLst>
              <a:path w="158110" h="140542">
                <a:moveTo>
                  <a:pt x="52703" y="26352"/>
                </a:moveTo>
                <a:cubicBezTo>
                  <a:pt x="52703" y="11803"/>
                  <a:pt x="64506" y="0"/>
                  <a:pt x="79055" y="0"/>
                </a:cubicBezTo>
                <a:cubicBezTo>
                  <a:pt x="93603" y="0"/>
                  <a:pt x="105406" y="11803"/>
                  <a:pt x="105406" y="26352"/>
                </a:cubicBezTo>
                <a:lnTo>
                  <a:pt x="105406" y="27340"/>
                </a:lnTo>
                <a:cubicBezTo>
                  <a:pt x="105406" y="31649"/>
                  <a:pt x="101920" y="35135"/>
                  <a:pt x="97611" y="35135"/>
                </a:cubicBezTo>
                <a:lnTo>
                  <a:pt x="60526" y="35135"/>
                </a:lnTo>
                <a:cubicBezTo>
                  <a:pt x="56217" y="35135"/>
                  <a:pt x="52731" y="31649"/>
                  <a:pt x="52731" y="27340"/>
                </a:cubicBezTo>
                <a:lnTo>
                  <a:pt x="52731" y="26352"/>
                </a:lnTo>
                <a:close/>
                <a:moveTo>
                  <a:pt x="147569" y="29865"/>
                </a:moveTo>
                <a:cubicBezTo>
                  <a:pt x="150479" y="33736"/>
                  <a:pt x="149682" y="39253"/>
                  <a:pt x="145812" y="42163"/>
                </a:cubicBezTo>
                <a:lnTo>
                  <a:pt x="118966" y="62283"/>
                </a:lnTo>
                <a:cubicBezTo>
                  <a:pt x="120421" y="64726"/>
                  <a:pt x="121519" y="67416"/>
                  <a:pt x="122205" y="70271"/>
                </a:cubicBezTo>
                <a:lnTo>
                  <a:pt x="149326" y="70271"/>
                </a:lnTo>
                <a:cubicBezTo>
                  <a:pt x="154184" y="70271"/>
                  <a:pt x="158110" y="74196"/>
                  <a:pt x="158110" y="79055"/>
                </a:cubicBezTo>
                <a:cubicBezTo>
                  <a:pt x="158110" y="83913"/>
                  <a:pt x="154184" y="87839"/>
                  <a:pt x="149326" y="87839"/>
                </a:cubicBezTo>
                <a:lnTo>
                  <a:pt x="122974" y="87839"/>
                </a:lnTo>
                <a:lnTo>
                  <a:pt x="122974" y="96622"/>
                </a:lnTo>
                <a:cubicBezTo>
                  <a:pt x="122974" y="97336"/>
                  <a:pt x="122947" y="98077"/>
                  <a:pt x="122919" y="98791"/>
                </a:cubicBezTo>
                <a:lnTo>
                  <a:pt x="145812" y="115947"/>
                </a:lnTo>
                <a:cubicBezTo>
                  <a:pt x="149682" y="118857"/>
                  <a:pt x="150479" y="124374"/>
                  <a:pt x="147569" y="128244"/>
                </a:cubicBezTo>
                <a:cubicBezTo>
                  <a:pt x="144659" y="132115"/>
                  <a:pt x="139142" y="132911"/>
                  <a:pt x="135271" y="130001"/>
                </a:cubicBezTo>
                <a:lnTo>
                  <a:pt x="117951" y="117018"/>
                </a:lnTo>
                <a:cubicBezTo>
                  <a:pt x="111582" y="129150"/>
                  <a:pt x="99697" y="137934"/>
                  <a:pt x="85643" y="140048"/>
                </a:cubicBezTo>
                <a:lnTo>
                  <a:pt x="85643" y="76859"/>
                </a:lnTo>
                <a:cubicBezTo>
                  <a:pt x="85643" y="73208"/>
                  <a:pt x="82706" y="70271"/>
                  <a:pt x="79055" y="70271"/>
                </a:cubicBezTo>
                <a:cubicBezTo>
                  <a:pt x="75404" y="70271"/>
                  <a:pt x="72467" y="73208"/>
                  <a:pt x="72467" y="76859"/>
                </a:cubicBezTo>
                <a:lnTo>
                  <a:pt x="72467" y="140048"/>
                </a:lnTo>
                <a:cubicBezTo>
                  <a:pt x="58413" y="137934"/>
                  <a:pt x="46527" y="129150"/>
                  <a:pt x="40159" y="117018"/>
                </a:cubicBezTo>
                <a:lnTo>
                  <a:pt x="22838" y="130001"/>
                </a:lnTo>
                <a:cubicBezTo>
                  <a:pt x="18968" y="132911"/>
                  <a:pt x="13450" y="132115"/>
                  <a:pt x="10541" y="128244"/>
                </a:cubicBezTo>
                <a:cubicBezTo>
                  <a:pt x="7631" y="124374"/>
                  <a:pt x="8427" y="118857"/>
                  <a:pt x="12297" y="115947"/>
                </a:cubicBezTo>
                <a:lnTo>
                  <a:pt x="35190" y="98791"/>
                </a:lnTo>
                <a:cubicBezTo>
                  <a:pt x="35163" y="98077"/>
                  <a:pt x="35135" y="97364"/>
                  <a:pt x="35135" y="96622"/>
                </a:cubicBezTo>
                <a:lnTo>
                  <a:pt x="35135" y="87839"/>
                </a:lnTo>
                <a:lnTo>
                  <a:pt x="8784" y="87839"/>
                </a:lnTo>
                <a:cubicBezTo>
                  <a:pt x="3925" y="87839"/>
                  <a:pt x="0" y="83913"/>
                  <a:pt x="0" y="79055"/>
                </a:cubicBezTo>
                <a:cubicBezTo>
                  <a:pt x="0" y="74196"/>
                  <a:pt x="3925" y="70271"/>
                  <a:pt x="8784" y="70271"/>
                </a:cubicBezTo>
                <a:lnTo>
                  <a:pt x="35904" y="70271"/>
                </a:lnTo>
                <a:cubicBezTo>
                  <a:pt x="36590" y="67416"/>
                  <a:pt x="37688" y="64726"/>
                  <a:pt x="39143" y="62283"/>
                </a:cubicBezTo>
                <a:lnTo>
                  <a:pt x="12297" y="42163"/>
                </a:lnTo>
                <a:cubicBezTo>
                  <a:pt x="8427" y="39253"/>
                  <a:pt x="7631" y="33736"/>
                  <a:pt x="10541" y="29865"/>
                </a:cubicBezTo>
                <a:cubicBezTo>
                  <a:pt x="13450" y="25995"/>
                  <a:pt x="18968" y="25199"/>
                  <a:pt x="22838" y="28108"/>
                </a:cubicBezTo>
                <a:lnTo>
                  <a:pt x="52703" y="50507"/>
                </a:lnTo>
                <a:cubicBezTo>
                  <a:pt x="56079" y="49107"/>
                  <a:pt x="59785" y="48311"/>
                  <a:pt x="63683" y="48311"/>
                </a:cubicBezTo>
                <a:lnTo>
                  <a:pt x="94427" y="48311"/>
                </a:lnTo>
                <a:cubicBezTo>
                  <a:pt x="98324" y="48311"/>
                  <a:pt x="102030" y="49080"/>
                  <a:pt x="105406" y="50507"/>
                </a:cubicBezTo>
                <a:lnTo>
                  <a:pt x="135271" y="28108"/>
                </a:lnTo>
                <a:cubicBezTo>
                  <a:pt x="139142" y="25199"/>
                  <a:pt x="144659" y="25995"/>
                  <a:pt x="147569" y="29865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6" name="Text 44"/>
          <p:cNvSpPr/>
          <p:nvPr/>
        </p:nvSpPr>
        <p:spPr>
          <a:xfrm>
            <a:off x="6610257" y="3060298"/>
            <a:ext cx="1585196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Zero-Day Vulnerabilities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710383" y="3042730"/>
            <a:ext cx="913522" cy="245948"/>
          </a:xfrm>
          <a:custGeom>
            <a:avLst/>
            <a:gdLst/>
            <a:ahLst/>
            <a:cxnLst/>
            <a:rect l="l" t="t" r="r" b="b"/>
            <a:pathLst>
              <a:path w="913522" h="245948">
                <a:moveTo>
                  <a:pt x="35136" y="0"/>
                </a:moveTo>
                <a:lnTo>
                  <a:pt x="878385" y="0"/>
                </a:lnTo>
                <a:cubicBezTo>
                  <a:pt x="897791" y="0"/>
                  <a:pt x="913522" y="15731"/>
                  <a:pt x="913522" y="35136"/>
                </a:cubicBezTo>
                <a:lnTo>
                  <a:pt x="913522" y="210812"/>
                </a:lnTo>
                <a:cubicBezTo>
                  <a:pt x="913522" y="230217"/>
                  <a:pt x="897791" y="245948"/>
                  <a:pt x="878385" y="245948"/>
                </a:cubicBezTo>
                <a:lnTo>
                  <a:pt x="35136" y="245948"/>
                </a:lnTo>
                <a:cubicBezTo>
                  <a:pt x="15731" y="245948"/>
                  <a:pt x="0" y="230217"/>
                  <a:pt x="0" y="210812"/>
                </a:cubicBezTo>
                <a:lnTo>
                  <a:pt x="0" y="35136"/>
                </a:lnTo>
                <a:cubicBezTo>
                  <a:pt x="0" y="15744"/>
                  <a:pt x="15744" y="0"/>
                  <a:pt x="35136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8" name="Text 46"/>
          <p:cNvSpPr/>
          <p:nvPr/>
        </p:nvSpPr>
        <p:spPr>
          <a:xfrm>
            <a:off x="10710383" y="3042730"/>
            <a:ext cx="975009" cy="245948"/>
          </a:xfrm>
          <a:prstGeom prst="rect">
            <a:avLst/>
          </a:prstGeom>
          <a:noFill/>
          <a:ln/>
        </p:spPr>
        <p:txBody>
          <a:bodyPr wrap="square" lIns="105406" tIns="35135" rIns="105406" bIns="35135" rtlCol="0" anchor="ctr"/>
          <a:lstStyle/>
          <a:p>
            <a:pPr>
              <a:lnSpc>
                <a:spcPct val="120000"/>
              </a:lnSpc>
            </a:pPr>
            <a:r>
              <a:rPr lang="en-US" sz="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15706" y="3429220"/>
            <a:ext cx="5384507" cy="386490"/>
          </a:xfrm>
          <a:custGeom>
            <a:avLst/>
            <a:gdLst/>
            <a:ahLst/>
            <a:cxnLst/>
            <a:rect l="l" t="t" r="r" b="b"/>
            <a:pathLst>
              <a:path w="5384507" h="386490">
                <a:moveTo>
                  <a:pt x="70272" y="0"/>
                </a:moveTo>
                <a:lnTo>
                  <a:pt x="5314236" y="0"/>
                </a:lnTo>
                <a:cubicBezTo>
                  <a:pt x="5353046" y="0"/>
                  <a:pt x="5384507" y="31462"/>
                  <a:pt x="5384507" y="70272"/>
                </a:cubicBezTo>
                <a:lnTo>
                  <a:pt x="5384507" y="316218"/>
                </a:lnTo>
                <a:cubicBezTo>
                  <a:pt x="5384507" y="355028"/>
                  <a:pt x="5353046" y="386490"/>
                  <a:pt x="5314236" y="386490"/>
                </a:cubicBezTo>
                <a:lnTo>
                  <a:pt x="70272" y="386490"/>
                </a:lnTo>
                <a:cubicBezTo>
                  <a:pt x="31488" y="386490"/>
                  <a:pt x="0" y="355002"/>
                  <a:pt x="0" y="316218"/>
                </a:cubicBezTo>
                <a:lnTo>
                  <a:pt x="0" y="70272"/>
                </a:lnTo>
                <a:cubicBezTo>
                  <a:pt x="0" y="31488"/>
                  <a:pt x="31488" y="0"/>
                  <a:pt x="7027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94761" y="3545166"/>
            <a:ext cx="158110" cy="140542"/>
          </a:xfrm>
          <a:custGeom>
            <a:avLst/>
            <a:gdLst/>
            <a:ahLst/>
            <a:cxnLst/>
            <a:rect l="l" t="t" r="r" b="b"/>
            <a:pathLst>
              <a:path w="158110" h="140542">
                <a:moveTo>
                  <a:pt x="99038" y="329"/>
                </a:moveTo>
                <a:cubicBezTo>
                  <a:pt x="94372" y="-1016"/>
                  <a:pt x="89513" y="1702"/>
                  <a:pt x="88168" y="6368"/>
                </a:cubicBezTo>
                <a:lnTo>
                  <a:pt x="53033" y="129342"/>
                </a:lnTo>
                <a:cubicBezTo>
                  <a:pt x="51688" y="134009"/>
                  <a:pt x="54405" y="138867"/>
                  <a:pt x="59071" y="140212"/>
                </a:cubicBezTo>
                <a:cubicBezTo>
                  <a:pt x="63738" y="141557"/>
                  <a:pt x="68596" y="138840"/>
                  <a:pt x="69941" y="134173"/>
                </a:cubicBezTo>
                <a:lnTo>
                  <a:pt x="105077" y="11199"/>
                </a:lnTo>
                <a:cubicBezTo>
                  <a:pt x="106422" y="6533"/>
                  <a:pt x="103704" y="1674"/>
                  <a:pt x="99038" y="329"/>
                </a:cubicBezTo>
                <a:close/>
                <a:moveTo>
                  <a:pt x="116770" y="37688"/>
                </a:moveTo>
                <a:cubicBezTo>
                  <a:pt x="113339" y="41119"/>
                  <a:pt x="113339" y="46692"/>
                  <a:pt x="116770" y="50123"/>
                </a:cubicBezTo>
                <a:lnTo>
                  <a:pt x="136918" y="70271"/>
                </a:lnTo>
                <a:lnTo>
                  <a:pt x="116770" y="90419"/>
                </a:lnTo>
                <a:cubicBezTo>
                  <a:pt x="113339" y="93850"/>
                  <a:pt x="113339" y="99422"/>
                  <a:pt x="116770" y="102854"/>
                </a:cubicBezTo>
                <a:cubicBezTo>
                  <a:pt x="120202" y="106285"/>
                  <a:pt x="125774" y="106285"/>
                  <a:pt x="129205" y="102854"/>
                </a:cubicBezTo>
                <a:lnTo>
                  <a:pt x="155557" y="76502"/>
                </a:lnTo>
                <a:cubicBezTo>
                  <a:pt x="158988" y="73071"/>
                  <a:pt x="158988" y="67498"/>
                  <a:pt x="155557" y="64067"/>
                </a:cubicBezTo>
                <a:lnTo>
                  <a:pt x="129205" y="37716"/>
                </a:lnTo>
                <a:cubicBezTo>
                  <a:pt x="125774" y="34285"/>
                  <a:pt x="120202" y="34285"/>
                  <a:pt x="116770" y="37716"/>
                </a:cubicBezTo>
                <a:close/>
                <a:moveTo>
                  <a:pt x="41366" y="37688"/>
                </a:moveTo>
                <a:cubicBezTo>
                  <a:pt x="37935" y="34257"/>
                  <a:pt x="32363" y="34257"/>
                  <a:pt x="28932" y="37688"/>
                </a:cubicBezTo>
                <a:lnTo>
                  <a:pt x="2580" y="64040"/>
                </a:lnTo>
                <a:cubicBezTo>
                  <a:pt x="-851" y="67471"/>
                  <a:pt x="-851" y="73043"/>
                  <a:pt x="2580" y="76474"/>
                </a:cubicBezTo>
                <a:lnTo>
                  <a:pt x="28932" y="102826"/>
                </a:lnTo>
                <a:cubicBezTo>
                  <a:pt x="32363" y="106257"/>
                  <a:pt x="37935" y="106257"/>
                  <a:pt x="41366" y="102826"/>
                </a:cubicBezTo>
                <a:cubicBezTo>
                  <a:pt x="44798" y="99395"/>
                  <a:pt x="44798" y="93823"/>
                  <a:pt x="41366" y="90391"/>
                </a:cubicBezTo>
                <a:lnTo>
                  <a:pt x="21219" y="70271"/>
                </a:lnTo>
                <a:lnTo>
                  <a:pt x="41339" y="50123"/>
                </a:lnTo>
                <a:cubicBezTo>
                  <a:pt x="44770" y="46692"/>
                  <a:pt x="44770" y="41119"/>
                  <a:pt x="41339" y="37688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1" name="Text 49"/>
          <p:cNvSpPr/>
          <p:nvPr/>
        </p:nvSpPr>
        <p:spPr>
          <a:xfrm>
            <a:off x="6610257" y="3517058"/>
            <a:ext cx="155006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OWASP Top 10 Attacks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710383" y="3499491"/>
            <a:ext cx="913522" cy="245948"/>
          </a:xfrm>
          <a:custGeom>
            <a:avLst/>
            <a:gdLst/>
            <a:ahLst/>
            <a:cxnLst/>
            <a:rect l="l" t="t" r="r" b="b"/>
            <a:pathLst>
              <a:path w="913522" h="245948">
                <a:moveTo>
                  <a:pt x="35136" y="0"/>
                </a:moveTo>
                <a:lnTo>
                  <a:pt x="878385" y="0"/>
                </a:lnTo>
                <a:cubicBezTo>
                  <a:pt x="897791" y="0"/>
                  <a:pt x="913522" y="15731"/>
                  <a:pt x="913522" y="35136"/>
                </a:cubicBezTo>
                <a:lnTo>
                  <a:pt x="913522" y="210812"/>
                </a:lnTo>
                <a:cubicBezTo>
                  <a:pt x="913522" y="230217"/>
                  <a:pt x="897791" y="245948"/>
                  <a:pt x="878385" y="245948"/>
                </a:cubicBezTo>
                <a:lnTo>
                  <a:pt x="35136" y="245948"/>
                </a:lnTo>
                <a:cubicBezTo>
                  <a:pt x="15731" y="245948"/>
                  <a:pt x="0" y="230217"/>
                  <a:pt x="0" y="210812"/>
                </a:cubicBezTo>
                <a:lnTo>
                  <a:pt x="0" y="35136"/>
                </a:lnTo>
                <a:cubicBezTo>
                  <a:pt x="0" y="15744"/>
                  <a:pt x="15744" y="0"/>
                  <a:pt x="35136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3" name="Text 51"/>
          <p:cNvSpPr/>
          <p:nvPr/>
        </p:nvSpPr>
        <p:spPr>
          <a:xfrm>
            <a:off x="10710383" y="3499491"/>
            <a:ext cx="975009" cy="245948"/>
          </a:xfrm>
          <a:prstGeom prst="rect">
            <a:avLst/>
          </a:prstGeom>
          <a:noFill/>
          <a:ln/>
        </p:spPr>
        <p:txBody>
          <a:bodyPr wrap="square" lIns="105406" tIns="35135" rIns="105406" bIns="35135" rtlCol="0" anchor="ctr"/>
          <a:lstStyle/>
          <a:p>
            <a:pPr>
              <a:lnSpc>
                <a:spcPct val="120000"/>
              </a:lnSpc>
            </a:pPr>
            <a:r>
              <a:rPr lang="en-US" sz="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5706" y="3885981"/>
            <a:ext cx="5384507" cy="386490"/>
          </a:xfrm>
          <a:custGeom>
            <a:avLst/>
            <a:gdLst/>
            <a:ahLst/>
            <a:cxnLst/>
            <a:rect l="l" t="t" r="r" b="b"/>
            <a:pathLst>
              <a:path w="5384507" h="386490">
                <a:moveTo>
                  <a:pt x="70272" y="0"/>
                </a:moveTo>
                <a:lnTo>
                  <a:pt x="5314236" y="0"/>
                </a:lnTo>
                <a:cubicBezTo>
                  <a:pt x="5353046" y="0"/>
                  <a:pt x="5384507" y="31462"/>
                  <a:pt x="5384507" y="70272"/>
                </a:cubicBezTo>
                <a:lnTo>
                  <a:pt x="5384507" y="316218"/>
                </a:lnTo>
                <a:cubicBezTo>
                  <a:pt x="5384507" y="355028"/>
                  <a:pt x="5353046" y="386490"/>
                  <a:pt x="5314236" y="386490"/>
                </a:cubicBezTo>
                <a:lnTo>
                  <a:pt x="70272" y="386490"/>
                </a:lnTo>
                <a:cubicBezTo>
                  <a:pt x="31488" y="386490"/>
                  <a:pt x="0" y="355002"/>
                  <a:pt x="0" y="316218"/>
                </a:cubicBezTo>
                <a:lnTo>
                  <a:pt x="0" y="70272"/>
                </a:lnTo>
                <a:cubicBezTo>
                  <a:pt x="0" y="31488"/>
                  <a:pt x="31488" y="0"/>
                  <a:pt x="7027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03545" y="4001927"/>
            <a:ext cx="140542" cy="140542"/>
          </a:xfrm>
          <a:custGeom>
            <a:avLst/>
            <a:gdLst/>
            <a:ahLst/>
            <a:cxnLst/>
            <a:rect l="l" t="t" r="r" b="b"/>
            <a:pathLst>
              <a:path w="140542" h="140542">
                <a:moveTo>
                  <a:pt x="92231" y="96622"/>
                </a:moveTo>
                <a:cubicBezTo>
                  <a:pt x="118912" y="96622"/>
                  <a:pt x="140542" y="74992"/>
                  <a:pt x="140542" y="48311"/>
                </a:cubicBezTo>
                <a:cubicBezTo>
                  <a:pt x="140542" y="21630"/>
                  <a:pt x="118912" y="0"/>
                  <a:pt x="92231" y="0"/>
                </a:cubicBezTo>
                <a:cubicBezTo>
                  <a:pt x="65550" y="0"/>
                  <a:pt x="43919" y="21630"/>
                  <a:pt x="43919" y="48311"/>
                </a:cubicBezTo>
                <a:cubicBezTo>
                  <a:pt x="43919" y="53444"/>
                  <a:pt x="44715" y="58413"/>
                  <a:pt x="46198" y="63052"/>
                </a:cubicBezTo>
                <a:lnTo>
                  <a:pt x="1921" y="107328"/>
                </a:lnTo>
                <a:cubicBezTo>
                  <a:pt x="686" y="108563"/>
                  <a:pt x="0" y="110237"/>
                  <a:pt x="0" y="111994"/>
                </a:cubicBezTo>
                <a:lnTo>
                  <a:pt x="0" y="133954"/>
                </a:lnTo>
                <a:cubicBezTo>
                  <a:pt x="0" y="137605"/>
                  <a:pt x="2937" y="140542"/>
                  <a:pt x="6588" y="140542"/>
                </a:cubicBezTo>
                <a:lnTo>
                  <a:pt x="28548" y="140542"/>
                </a:lnTo>
                <a:cubicBezTo>
                  <a:pt x="32198" y="140542"/>
                  <a:pt x="35135" y="137605"/>
                  <a:pt x="35135" y="133954"/>
                </a:cubicBezTo>
                <a:lnTo>
                  <a:pt x="35135" y="122974"/>
                </a:lnTo>
                <a:lnTo>
                  <a:pt x="46115" y="122974"/>
                </a:lnTo>
                <a:cubicBezTo>
                  <a:pt x="49766" y="122974"/>
                  <a:pt x="52703" y="120037"/>
                  <a:pt x="52703" y="116386"/>
                </a:cubicBezTo>
                <a:lnTo>
                  <a:pt x="52703" y="105406"/>
                </a:lnTo>
                <a:lnTo>
                  <a:pt x="63683" y="105406"/>
                </a:lnTo>
                <a:cubicBezTo>
                  <a:pt x="65440" y="105406"/>
                  <a:pt x="67114" y="104720"/>
                  <a:pt x="68349" y="103485"/>
                </a:cubicBezTo>
                <a:lnTo>
                  <a:pt x="77490" y="94344"/>
                </a:lnTo>
                <a:cubicBezTo>
                  <a:pt x="82129" y="95826"/>
                  <a:pt x="87097" y="96622"/>
                  <a:pt x="92231" y="96622"/>
                </a:cubicBezTo>
                <a:close/>
                <a:moveTo>
                  <a:pt x="103210" y="26352"/>
                </a:moveTo>
                <a:cubicBezTo>
                  <a:pt x="109270" y="26352"/>
                  <a:pt x="114190" y="31271"/>
                  <a:pt x="114190" y="37331"/>
                </a:cubicBezTo>
                <a:cubicBezTo>
                  <a:pt x="114190" y="43391"/>
                  <a:pt x="109270" y="48311"/>
                  <a:pt x="103210" y="48311"/>
                </a:cubicBezTo>
                <a:cubicBezTo>
                  <a:pt x="97150" y="48311"/>
                  <a:pt x="92231" y="43391"/>
                  <a:pt x="92231" y="37331"/>
                </a:cubicBezTo>
                <a:cubicBezTo>
                  <a:pt x="92231" y="31271"/>
                  <a:pt x="97150" y="26352"/>
                  <a:pt x="103210" y="26352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6" name="Text 54"/>
          <p:cNvSpPr/>
          <p:nvPr/>
        </p:nvSpPr>
        <p:spPr>
          <a:xfrm>
            <a:off x="6610257" y="3973819"/>
            <a:ext cx="1260193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Credential Stuffing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710383" y="3956252"/>
            <a:ext cx="913522" cy="245948"/>
          </a:xfrm>
          <a:custGeom>
            <a:avLst/>
            <a:gdLst/>
            <a:ahLst/>
            <a:cxnLst/>
            <a:rect l="l" t="t" r="r" b="b"/>
            <a:pathLst>
              <a:path w="913522" h="245948">
                <a:moveTo>
                  <a:pt x="35136" y="0"/>
                </a:moveTo>
                <a:lnTo>
                  <a:pt x="878385" y="0"/>
                </a:lnTo>
                <a:cubicBezTo>
                  <a:pt x="897791" y="0"/>
                  <a:pt x="913522" y="15731"/>
                  <a:pt x="913522" y="35136"/>
                </a:cubicBezTo>
                <a:lnTo>
                  <a:pt x="913522" y="210812"/>
                </a:lnTo>
                <a:cubicBezTo>
                  <a:pt x="913522" y="230217"/>
                  <a:pt x="897791" y="245948"/>
                  <a:pt x="878385" y="245948"/>
                </a:cubicBezTo>
                <a:lnTo>
                  <a:pt x="35136" y="245948"/>
                </a:lnTo>
                <a:cubicBezTo>
                  <a:pt x="15731" y="245948"/>
                  <a:pt x="0" y="230217"/>
                  <a:pt x="0" y="210812"/>
                </a:cubicBezTo>
                <a:lnTo>
                  <a:pt x="0" y="35136"/>
                </a:lnTo>
                <a:cubicBezTo>
                  <a:pt x="0" y="15744"/>
                  <a:pt x="15744" y="0"/>
                  <a:pt x="35136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8" name="Text 56"/>
          <p:cNvSpPr/>
          <p:nvPr/>
        </p:nvSpPr>
        <p:spPr>
          <a:xfrm>
            <a:off x="10710383" y="3956252"/>
            <a:ext cx="975009" cy="245948"/>
          </a:xfrm>
          <a:prstGeom prst="rect">
            <a:avLst/>
          </a:prstGeom>
          <a:noFill/>
          <a:ln/>
        </p:spPr>
        <p:txBody>
          <a:bodyPr wrap="square" lIns="105406" tIns="35135" rIns="105406" bIns="35135" rtlCol="0" anchor="ctr"/>
          <a:lstStyle/>
          <a:p>
            <a:pPr>
              <a:lnSpc>
                <a:spcPct val="120000"/>
              </a:lnSpc>
            </a:pPr>
            <a:r>
              <a:rPr lang="en-US" sz="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15706" y="4342741"/>
            <a:ext cx="5384507" cy="386490"/>
          </a:xfrm>
          <a:custGeom>
            <a:avLst/>
            <a:gdLst/>
            <a:ahLst/>
            <a:cxnLst/>
            <a:rect l="l" t="t" r="r" b="b"/>
            <a:pathLst>
              <a:path w="5384507" h="386490">
                <a:moveTo>
                  <a:pt x="70272" y="0"/>
                </a:moveTo>
                <a:lnTo>
                  <a:pt x="5314236" y="0"/>
                </a:lnTo>
                <a:cubicBezTo>
                  <a:pt x="5353046" y="0"/>
                  <a:pt x="5384507" y="31462"/>
                  <a:pt x="5384507" y="70272"/>
                </a:cubicBezTo>
                <a:lnTo>
                  <a:pt x="5384507" y="316218"/>
                </a:lnTo>
                <a:cubicBezTo>
                  <a:pt x="5384507" y="355028"/>
                  <a:pt x="5353046" y="386490"/>
                  <a:pt x="5314236" y="386490"/>
                </a:cubicBezTo>
                <a:lnTo>
                  <a:pt x="70272" y="386490"/>
                </a:lnTo>
                <a:cubicBezTo>
                  <a:pt x="31488" y="386490"/>
                  <a:pt x="0" y="355002"/>
                  <a:pt x="0" y="316218"/>
                </a:cubicBezTo>
                <a:lnTo>
                  <a:pt x="0" y="70272"/>
                </a:lnTo>
                <a:cubicBezTo>
                  <a:pt x="0" y="31488"/>
                  <a:pt x="31488" y="0"/>
                  <a:pt x="7027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85977" y="4458689"/>
            <a:ext cx="175677" cy="140542"/>
          </a:xfrm>
          <a:custGeom>
            <a:avLst/>
            <a:gdLst/>
            <a:ahLst/>
            <a:cxnLst/>
            <a:rect l="l" t="t" r="r" b="b"/>
            <a:pathLst>
              <a:path w="175677" h="140542">
                <a:moveTo>
                  <a:pt x="96622" y="0"/>
                </a:moveTo>
                <a:cubicBezTo>
                  <a:pt x="96622" y="-4859"/>
                  <a:pt x="92697" y="-8784"/>
                  <a:pt x="87839" y="-8784"/>
                </a:cubicBezTo>
                <a:cubicBezTo>
                  <a:pt x="82980" y="-8784"/>
                  <a:pt x="79055" y="-4859"/>
                  <a:pt x="79055" y="0"/>
                </a:cubicBezTo>
                <a:lnTo>
                  <a:pt x="79055" y="17568"/>
                </a:lnTo>
                <a:lnTo>
                  <a:pt x="52703" y="17568"/>
                </a:lnTo>
                <a:cubicBezTo>
                  <a:pt x="38155" y="17568"/>
                  <a:pt x="26352" y="29371"/>
                  <a:pt x="26352" y="43919"/>
                </a:cubicBezTo>
                <a:lnTo>
                  <a:pt x="26352" y="105406"/>
                </a:lnTo>
                <a:cubicBezTo>
                  <a:pt x="26352" y="119955"/>
                  <a:pt x="38155" y="131758"/>
                  <a:pt x="52703" y="131758"/>
                </a:cubicBezTo>
                <a:lnTo>
                  <a:pt x="122974" y="131758"/>
                </a:lnTo>
                <a:cubicBezTo>
                  <a:pt x="137522" y="131758"/>
                  <a:pt x="149326" y="119955"/>
                  <a:pt x="149326" y="105406"/>
                </a:cubicBezTo>
                <a:lnTo>
                  <a:pt x="149326" y="43919"/>
                </a:lnTo>
                <a:cubicBezTo>
                  <a:pt x="149326" y="29371"/>
                  <a:pt x="137522" y="17568"/>
                  <a:pt x="122974" y="17568"/>
                </a:cubicBezTo>
                <a:lnTo>
                  <a:pt x="96622" y="17568"/>
                </a:lnTo>
                <a:lnTo>
                  <a:pt x="96622" y="0"/>
                </a:lnTo>
                <a:close/>
                <a:moveTo>
                  <a:pt x="43919" y="101014"/>
                </a:moveTo>
                <a:cubicBezTo>
                  <a:pt x="43919" y="97364"/>
                  <a:pt x="46856" y="94427"/>
                  <a:pt x="50507" y="94427"/>
                </a:cubicBezTo>
                <a:lnTo>
                  <a:pt x="59291" y="94427"/>
                </a:lnTo>
                <a:cubicBezTo>
                  <a:pt x="62942" y="94427"/>
                  <a:pt x="65879" y="97364"/>
                  <a:pt x="65879" y="101014"/>
                </a:cubicBezTo>
                <a:cubicBezTo>
                  <a:pt x="65879" y="104665"/>
                  <a:pt x="62942" y="107602"/>
                  <a:pt x="59291" y="107602"/>
                </a:cubicBezTo>
                <a:lnTo>
                  <a:pt x="50507" y="107602"/>
                </a:lnTo>
                <a:cubicBezTo>
                  <a:pt x="46856" y="107602"/>
                  <a:pt x="43919" y="104665"/>
                  <a:pt x="43919" y="101014"/>
                </a:cubicBezTo>
                <a:close/>
                <a:moveTo>
                  <a:pt x="76859" y="101014"/>
                </a:moveTo>
                <a:cubicBezTo>
                  <a:pt x="76859" y="97364"/>
                  <a:pt x="79796" y="94427"/>
                  <a:pt x="83447" y="94427"/>
                </a:cubicBezTo>
                <a:lnTo>
                  <a:pt x="92231" y="94427"/>
                </a:lnTo>
                <a:cubicBezTo>
                  <a:pt x="95881" y="94427"/>
                  <a:pt x="98818" y="97364"/>
                  <a:pt x="98818" y="101014"/>
                </a:cubicBezTo>
                <a:cubicBezTo>
                  <a:pt x="98818" y="104665"/>
                  <a:pt x="95881" y="107602"/>
                  <a:pt x="92231" y="107602"/>
                </a:cubicBezTo>
                <a:lnTo>
                  <a:pt x="83447" y="107602"/>
                </a:lnTo>
                <a:cubicBezTo>
                  <a:pt x="79796" y="107602"/>
                  <a:pt x="76859" y="104665"/>
                  <a:pt x="76859" y="101014"/>
                </a:cubicBezTo>
                <a:close/>
                <a:moveTo>
                  <a:pt x="109798" y="101014"/>
                </a:moveTo>
                <a:cubicBezTo>
                  <a:pt x="109798" y="97364"/>
                  <a:pt x="112735" y="94427"/>
                  <a:pt x="116386" y="94427"/>
                </a:cubicBezTo>
                <a:lnTo>
                  <a:pt x="125170" y="94427"/>
                </a:lnTo>
                <a:cubicBezTo>
                  <a:pt x="128821" y="94427"/>
                  <a:pt x="131758" y="97364"/>
                  <a:pt x="131758" y="101014"/>
                </a:cubicBezTo>
                <a:cubicBezTo>
                  <a:pt x="131758" y="104665"/>
                  <a:pt x="128821" y="107602"/>
                  <a:pt x="125170" y="107602"/>
                </a:cubicBezTo>
                <a:lnTo>
                  <a:pt x="116386" y="107602"/>
                </a:lnTo>
                <a:cubicBezTo>
                  <a:pt x="112735" y="107602"/>
                  <a:pt x="109798" y="104665"/>
                  <a:pt x="109798" y="101014"/>
                </a:cubicBezTo>
                <a:close/>
                <a:moveTo>
                  <a:pt x="61487" y="48311"/>
                </a:moveTo>
                <a:cubicBezTo>
                  <a:pt x="68759" y="48311"/>
                  <a:pt x="74663" y="54215"/>
                  <a:pt x="74663" y="61487"/>
                </a:cubicBezTo>
                <a:cubicBezTo>
                  <a:pt x="74663" y="68759"/>
                  <a:pt x="68759" y="74663"/>
                  <a:pt x="61487" y="74663"/>
                </a:cubicBezTo>
                <a:cubicBezTo>
                  <a:pt x="54215" y="74663"/>
                  <a:pt x="48311" y="68759"/>
                  <a:pt x="48311" y="61487"/>
                </a:cubicBezTo>
                <a:cubicBezTo>
                  <a:pt x="48311" y="54215"/>
                  <a:pt x="54215" y="48311"/>
                  <a:pt x="61487" y="48311"/>
                </a:cubicBezTo>
                <a:close/>
                <a:moveTo>
                  <a:pt x="101014" y="61487"/>
                </a:moveTo>
                <a:cubicBezTo>
                  <a:pt x="101014" y="54215"/>
                  <a:pt x="106918" y="48311"/>
                  <a:pt x="114190" y="48311"/>
                </a:cubicBezTo>
                <a:cubicBezTo>
                  <a:pt x="121462" y="48311"/>
                  <a:pt x="127366" y="54215"/>
                  <a:pt x="127366" y="61487"/>
                </a:cubicBezTo>
                <a:cubicBezTo>
                  <a:pt x="127366" y="68759"/>
                  <a:pt x="121462" y="74663"/>
                  <a:pt x="114190" y="74663"/>
                </a:cubicBezTo>
                <a:cubicBezTo>
                  <a:pt x="106918" y="74663"/>
                  <a:pt x="101014" y="68759"/>
                  <a:pt x="101014" y="61487"/>
                </a:cubicBezTo>
                <a:close/>
                <a:moveTo>
                  <a:pt x="17568" y="61487"/>
                </a:moveTo>
                <a:cubicBezTo>
                  <a:pt x="17568" y="56628"/>
                  <a:pt x="13642" y="52703"/>
                  <a:pt x="8784" y="52703"/>
                </a:cubicBezTo>
                <a:cubicBezTo>
                  <a:pt x="3925" y="52703"/>
                  <a:pt x="0" y="56628"/>
                  <a:pt x="0" y="61487"/>
                </a:cubicBezTo>
                <a:lnTo>
                  <a:pt x="0" y="87839"/>
                </a:lnTo>
                <a:cubicBezTo>
                  <a:pt x="0" y="92697"/>
                  <a:pt x="3925" y="96622"/>
                  <a:pt x="8784" y="96622"/>
                </a:cubicBezTo>
                <a:cubicBezTo>
                  <a:pt x="13642" y="96622"/>
                  <a:pt x="17568" y="92697"/>
                  <a:pt x="17568" y="87839"/>
                </a:cubicBezTo>
                <a:lnTo>
                  <a:pt x="17568" y="61487"/>
                </a:lnTo>
                <a:close/>
                <a:moveTo>
                  <a:pt x="166893" y="52703"/>
                </a:moveTo>
                <a:cubicBezTo>
                  <a:pt x="162035" y="52703"/>
                  <a:pt x="158110" y="56628"/>
                  <a:pt x="158110" y="61487"/>
                </a:cubicBezTo>
                <a:lnTo>
                  <a:pt x="158110" y="87839"/>
                </a:lnTo>
                <a:cubicBezTo>
                  <a:pt x="158110" y="92697"/>
                  <a:pt x="162035" y="96622"/>
                  <a:pt x="166893" y="96622"/>
                </a:cubicBezTo>
                <a:cubicBezTo>
                  <a:pt x="171752" y="96622"/>
                  <a:pt x="175677" y="92697"/>
                  <a:pt x="175677" y="87839"/>
                </a:cubicBezTo>
                <a:lnTo>
                  <a:pt x="175677" y="61487"/>
                </a:lnTo>
                <a:cubicBezTo>
                  <a:pt x="175677" y="56628"/>
                  <a:pt x="171752" y="52703"/>
                  <a:pt x="166893" y="52703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61" name="Text 59"/>
          <p:cNvSpPr/>
          <p:nvPr/>
        </p:nvSpPr>
        <p:spPr>
          <a:xfrm>
            <a:off x="6610257" y="4430581"/>
            <a:ext cx="1532493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Bot Attacks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710383" y="4413013"/>
            <a:ext cx="913522" cy="245948"/>
          </a:xfrm>
          <a:custGeom>
            <a:avLst/>
            <a:gdLst/>
            <a:ahLst/>
            <a:cxnLst/>
            <a:rect l="l" t="t" r="r" b="b"/>
            <a:pathLst>
              <a:path w="913522" h="245948">
                <a:moveTo>
                  <a:pt x="35136" y="0"/>
                </a:moveTo>
                <a:lnTo>
                  <a:pt x="878385" y="0"/>
                </a:lnTo>
                <a:cubicBezTo>
                  <a:pt x="897791" y="0"/>
                  <a:pt x="913522" y="15731"/>
                  <a:pt x="913522" y="35136"/>
                </a:cubicBezTo>
                <a:lnTo>
                  <a:pt x="913522" y="210812"/>
                </a:lnTo>
                <a:cubicBezTo>
                  <a:pt x="913522" y="230217"/>
                  <a:pt x="897791" y="245948"/>
                  <a:pt x="878385" y="245948"/>
                </a:cubicBezTo>
                <a:lnTo>
                  <a:pt x="35136" y="245948"/>
                </a:lnTo>
                <a:cubicBezTo>
                  <a:pt x="15731" y="245948"/>
                  <a:pt x="0" y="230217"/>
                  <a:pt x="0" y="210812"/>
                </a:cubicBezTo>
                <a:lnTo>
                  <a:pt x="0" y="35136"/>
                </a:lnTo>
                <a:cubicBezTo>
                  <a:pt x="0" y="15744"/>
                  <a:pt x="15744" y="0"/>
                  <a:pt x="35136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63" name="Text 61"/>
          <p:cNvSpPr/>
          <p:nvPr/>
        </p:nvSpPr>
        <p:spPr>
          <a:xfrm>
            <a:off x="10710383" y="4413013"/>
            <a:ext cx="975009" cy="245948"/>
          </a:xfrm>
          <a:prstGeom prst="rect">
            <a:avLst/>
          </a:prstGeom>
          <a:noFill/>
          <a:ln/>
        </p:spPr>
        <p:txBody>
          <a:bodyPr wrap="square" lIns="105406" tIns="35135" rIns="105406" bIns="35135" rtlCol="0" anchor="ctr"/>
          <a:lstStyle/>
          <a:p>
            <a:pPr>
              <a:lnSpc>
                <a:spcPct val="120000"/>
              </a:lnSpc>
            </a:pPr>
            <a:r>
              <a:rPr lang="en-US" sz="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71651" y="4985719"/>
            <a:ext cx="5672618" cy="1289471"/>
          </a:xfrm>
          <a:custGeom>
            <a:avLst/>
            <a:gdLst/>
            <a:ahLst/>
            <a:cxnLst/>
            <a:rect l="l" t="t" r="r" b="b"/>
            <a:pathLst>
              <a:path w="5672618" h="1289471">
                <a:moveTo>
                  <a:pt x="70276" y="0"/>
                </a:moveTo>
                <a:lnTo>
                  <a:pt x="5602342" y="0"/>
                </a:lnTo>
                <a:cubicBezTo>
                  <a:pt x="5641154" y="0"/>
                  <a:pt x="5672618" y="31464"/>
                  <a:pt x="5672618" y="70276"/>
                </a:cubicBezTo>
                <a:lnTo>
                  <a:pt x="5672618" y="1219195"/>
                </a:lnTo>
                <a:cubicBezTo>
                  <a:pt x="5672618" y="1258007"/>
                  <a:pt x="5641154" y="1289471"/>
                  <a:pt x="5602342" y="1289471"/>
                </a:cubicBezTo>
                <a:lnTo>
                  <a:pt x="70276" y="1289471"/>
                </a:lnTo>
                <a:cubicBezTo>
                  <a:pt x="31464" y="1289471"/>
                  <a:pt x="0" y="1258007"/>
                  <a:pt x="0" y="1219195"/>
                </a:cubicBezTo>
                <a:lnTo>
                  <a:pt x="0" y="70276"/>
                </a:lnTo>
                <a:cubicBezTo>
                  <a:pt x="0" y="31464"/>
                  <a:pt x="31464" y="0"/>
                  <a:pt x="70276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68410" y="5147343"/>
            <a:ext cx="158110" cy="210813"/>
          </a:xfrm>
          <a:custGeom>
            <a:avLst/>
            <a:gdLst/>
            <a:ahLst/>
            <a:cxnLst/>
            <a:rect l="l" t="t" r="r" b="b"/>
            <a:pathLst>
              <a:path w="158110" h="210813">
                <a:moveTo>
                  <a:pt x="120600" y="158110"/>
                </a:moveTo>
                <a:cubicBezTo>
                  <a:pt x="123605" y="148928"/>
                  <a:pt x="129617" y="140610"/>
                  <a:pt x="136411" y="133446"/>
                </a:cubicBezTo>
                <a:cubicBezTo>
                  <a:pt x="149875" y="119282"/>
                  <a:pt x="158110" y="100136"/>
                  <a:pt x="158110" y="79055"/>
                </a:cubicBezTo>
                <a:cubicBezTo>
                  <a:pt x="158110" y="35410"/>
                  <a:pt x="122700" y="0"/>
                  <a:pt x="79055" y="0"/>
                </a:cubicBezTo>
                <a:cubicBezTo>
                  <a:pt x="35410" y="0"/>
                  <a:pt x="0" y="35410"/>
                  <a:pt x="0" y="79055"/>
                </a:cubicBezTo>
                <a:cubicBezTo>
                  <a:pt x="0" y="100136"/>
                  <a:pt x="8235" y="119282"/>
                  <a:pt x="21699" y="133446"/>
                </a:cubicBezTo>
                <a:cubicBezTo>
                  <a:pt x="28493" y="140610"/>
                  <a:pt x="34545" y="148928"/>
                  <a:pt x="37510" y="158110"/>
                </a:cubicBezTo>
                <a:lnTo>
                  <a:pt x="120559" y="158110"/>
                </a:lnTo>
                <a:close/>
                <a:moveTo>
                  <a:pt x="118582" y="177873"/>
                </a:moveTo>
                <a:lnTo>
                  <a:pt x="39527" y="177873"/>
                </a:lnTo>
                <a:lnTo>
                  <a:pt x="39527" y="184461"/>
                </a:lnTo>
                <a:cubicBezTo>
                  <a:pt x="39527" y="202660"/>
                  <a:pt x="54268" y="217401"/>
                  <a:pt x="72467" y="217401"/>
                </a:cubicBezTo>
                <a:lnTo>
                  <a:pt x="85643" y="217401"/>
                </a:lnTo>
                <a:cubicBezTo>
                  <a:pt x="103842" y="217401"/>
                  <a:pt x="118582" y="202660"/>
                  <a:pt x="118582" y="184461"/>
                </a:cubicBezTo>
                <a:lnTo>
                  <a:pt x="118582" y="177873"/>
                </a:lnTo>
                <a:close/>
                <a:moveTo>
                  <a:pt x="75761" y="46115"/>
                </a:moveTo>
                <a:cubicBezTo>
                  <a:pt x="59373" y="46115"/>
                  <a:pt x="46115" y="59373"/>
                  <a:pt x="46115" y="75761"/>
                </a:cubicBezTo>
                <a:cubicBezTo>
                  <a:pt x="46115" y="81237"/>
                  <a:pt x="41710" y="85643"/>
                  <a:pt x="36233" y="85643"/>
                </a:cubicBezTo>
                <a:cubicBezTo>
                  <a:pt x="30757" y="85643"/>
                  <a:pt x="26352" y="81237"/>
                  <a:pt x="26352" y="75761"/>
                </a:cubicBezTo>
                <a:cubicBezTo>
                  <a:pt x="26352" y="48462"/>
                  <a:pt x="48462" y="26352"/>
                  <a:pt x="75761" y="26352"/>
                </a:cubicBezTo>
                <a:cubicBezTo>
                  <a:pt x="81237" y="26352"/>
                  <a:pt x="85643" y="30757"/>
                  <a:pt x="85643" y="36233"/>
                </a:cubicBezTo>
                <a:cubicBezTo>
                  <a:pt x="85643" y="41710"/>
                  <a:pt x="81237" y="46115"/>
                  <a:pt x="75761" y="46115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66" name="Text 64"/>
          <p:cNvSpPr/>
          <p:nvPr/>
        </p:nvSpPr>
        <p:spPr>
          <a:xfrm>
            <a:off x="6684629" y="5129775"/>
            <a:ext cx="852035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315706" y="5445994"/>
            <a:ext cx="5454778" cy="68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Multi-layered defense: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detection mechanism complements the others. Signature rules catch known threats, IP lists block malicious sources, ML Attack Score catches variations and zero-days, while ML Bot Score stops automated abuse.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437" y="343437"/>
            <a:ext cx="11573814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spc="54" kern="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RULESETS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437" y="618186"/>
            <a:ext cx="11711189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Protection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3437" y="1133341"/>
            <a:ext cx="1098997" cy="34344"/>
          </a:xfrm>
          <a:custGeom>
            <a:avLst/>
            <a:gdLst/>
            <a:ahLst/>
            <a:cxnLst/>
            <a:rect l="l" t="t" r="r" b="b"/>
            <a:pathLst>
              <a:path w="1098997" h="34344">
                <a:moveTo>
                  <a:pt x="0" y="0"/>
                </a:moveTo>
                <a:lnTo>
                  <a:pt x="1098997" y="0"/>
                </a:lnTo>
                <a:lnTo>
                  <a:pt x="1098997" y="34344"/>
                </a:lnTo>
                <a:lnTo>
                  <a:pt x="0" y="34344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" name="Shape 3"/>
          <p:cNvSpPr/>
          <p:nvPr/>
        </p:nvSpPr>
        <p:spPr>
          <a:xfrm>
            <a:off x="346871" y="1308494"/>
            <a:ext cx="5682159" cy="2136176"/>
          </a:xfrm>
          <a:custGeom>
            <a:avLst/>
            <a:gdLst/>
            <a:ahLst/>
            <a:cxnLst/>
            <a:rect l="l" t="t" r="r" b="b"/>
            <a:pathLst>
              <a:path w="5682159" h="2136176">
                <a:moveTo>
                  <a:pt x="68678" y="0"/>
                </a:moveTo>
                <a:lnTo>
                  <a:pt x="5613481" y="0"/>
                </a:lnTo>
                <a:cubicBezTo>
                  <a:pt x="5651385" y="0"/>
                  <a:pt x="5682159" y="30774"/>
                  <a:pt x="5682159" y="68678"/>
                </a:cubicBezTo>
                <a:lnTo>
                  <a:pt x="5682159" y="2067498"/>
                </a:lnTo>
                <a:cubicBezTo>
                  <a:pt x="5682159" y="2105428"/>
                  <a:pt x="5651411" y="2136176"/>
                  <a:pt x="5613481" y="2136176"/>
                </a:cubicBezTo>
                <a:lnTo>
                  <a:pt x="68678" y="2136176"/>
                </a:lnTo>
                <a:cubicBezTo>
                  <a:pt x="30774" y="2136176"/>
                  <a:pt x="0" y="2105402"/>
                  <a:pt x="0" y="2067498"/>
                </a:cubicBezTo>
                <a:lnTo>
                  <a:pt x="0" y="68678"/>
                </a:lnTo>
                <a:cubicBezTo>
                  <a:pt x="0" y="30774"/>
                  <a:pt x="30774" y="0"/>
                  <a:pt x="68678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2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 w="10160">
            <a:solidFill>
              <a:srgbClr val="F4812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449301"/>
            <a:ext cx="2670220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 Managed Ruleset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0265" y="1466366"/>
            <a:ext cx="1133341" cy="240406"/>
          </a:xfrm>
          <a:custGeom>
            <a:avLst/>
            <a:gdLst/>
            <a:ahLst/>
            <a:cxnLst/>
            <a:rect l="l" t="t" r="r" b="b"/>
            <a:pathLst>
              <a:path w="1133341" h="240406">
                <a:moveTo>
                  <a:pt x="34344" y="0"/>
                </a:moveTo>
                <a:lnTo>
                  <a:pt x="1098996" y="0"/>
                </a:lnTo>
                <a:cubicBezTo>
                  <a:pt x="1117964" y="0"/>
                  <a:pt x="1133341" y="15376"/>
                  <a:pt x="1133341" y="34344"/>
                </a:cubicBezTo>
                <a:lnTo>
                  <a:pt x="1133341" y="206061"/>
                </a:lnTo>
                <a:cubicBezTo>
                  <a:pt x="1133341" y="225029"/>
                  <a:pt x="1117964" y="240406"/>
                  <a:pt x="1098996" y="240406"/>
                </a:cubicBezTo>
                <a:lnTo>
                  <a:pt x="34344" y="240406"/>
                </a:lnTo>
                <a:cubicBezTo>
                  <a:pt x="15389" y="240406"/>
                  <a:pt x="0" y="225016"/>
                  <a:pt x="0" y="206061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8" name="Text 6"/>
          <p:cNvSpPr/>
          <p:nvPr/>
        </p:nvSpPr>
        <p:spPr>
          <a:xfrm>
            <a:off x="4750265" y="1466366"/>
            <a:ext cx="1193442" cy="240406"/>
          </a:xfrm>
          <a:prstGeom prst="rect">
            <a:avLst/>
          </a:prstGeom>
          <a:noFill/>
          <a:ln/>
        </p:spPr>
        <p:txBody>
          <a:bodyPr wrap="square" lIns="103031" tIns="34344" rIns="103031" bIns="34344" rtlCol="0" anchor="ctr"/>
          <a:lstStyle/>
          <a:p>
            <a:pPr>
              <a:lnSpc>
                <a:spcPct val="120000"/>
              </a:lnSpc>
            </a:pPr>
            <a:r>
              <a:rPr lang="en-US" sz="94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7680" y="1826974"/>
            <a:ext cx="5400541" cy="618186"/>
          </a:xfrm>
          <a:custGeom>
            <a:avLst/>
            <a:gdLst/>
            <a:ahLst/>
            <a:cxnLst/>
            <a:rect l="l" t="t" r="r" b="b"/>
            <a:pathLst>
              <a:path w="5400541" h="618186">
                <a:moveTo>
                  <a:pt x="68687" y="0"/>
                </a:moveTo>
                <a:lnTo>
                  <a:pt x="5331854" y="0"/>
                </a:lnTo>
                <a:cubicBezTo>
                  <a:pt x="5369789" y="0"/>
                  <a:pt x="5400541" y="30752"/>
                  <a:pt x="5400541" y="68687"/>
                </a:cubicBezTo>
                <a:lnTo>
                  <a:pt x="5400541" y="549499"/>
                </a:lnTo>
                <a:cubicBezTo>
                  <a:pt x="5400541" y="587434"/>
                  <a:pt x="5369789" y="618186"/>
                  <a:pt x="5331854" y="618186"/>
                </a:cubicBezTo>
                <a:lnTo>
                  <a:pt x="68687" y="618186"/>
                </a:lnTo>
                <a:cubicBezTo>
                  <a:pt x="30752" y="618186"/>
                  <a:pt x="0" y="587434"/>
                  <a:pt x="0" y="549499"/>
                </a:cubicBezTo>
                <a:lnTo>
                  <a:pt x="0" y="68687"/>
                </a:lnTo>
                <a:cubicBezTo>
                  <a:pt x="0" y="30752"/>
                  <a:pt x="30752" y="0"/>
                  <a:pt x="6868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0711" y="1930005"/>
            <a:ext cx="5254580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Ruleset 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711" y="2136067"/>
            <a:ext cx="5263166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efb7b8c949ac4650a09736fc376e9aee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7680" y="2548191"/>
            <a:ext cx="5469228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Created by Cloudflare security team for fast, effective protection. Frequently updated for new vulnerabilities and reduced false positives.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7680" y="3063346"/>
            <a:ext cx="1279301" cy="240406"/>
          </a:xfrm>
          <a:custGeom>
            <a:avLst/>
            <a:gdLst/>
            <a:ahLst/>
            <a:cxnLst/>
            <a:rect l="l" t="t" r="r" b="b"/>
            <a:pathLst>
              <a:path w="1279301" h="240406">
                <a:moveTo>
                  <a:pt x="120203" y="0"/>
                </a:moveTo>
                <a:lnTo>
                  <a:pt x="1159099" y="0"/>
                </a:lnTo>
                <a:cubicBezTo>
                  <a:pt x="1225485" y="0"/>
                  <a:pt x="1279301" y="53817"/>
                  <a:pt x="1279301" y="120203"/>
                </a:cubicBezTo>
                <a:lnTo>
                  <a:pt x="1279301" y="120203"/>
                </a:lnTo>
                <a:cubicBezTo>
                  <a:pt x="1279301" y="186589"/>
                  <a:pt x="1225485" y="240406"/>
                  <a:pt x="1159099" y="240406"/>
                </a:cubicBezTo>
                <a:lnTo>
                  <a:pt x="120203" y="240406"/>
                </a:lnTo>
                <a:cubicBezTo>
                  <a:pt x="53817" y="240406"/>
                  <a:pt x="0" y="186589"/>
                  <a:pt x="0" y="120203"/>
                </a:cubicBezTo>
                <a:lnTo>
                  <a:pt x="0" y="120203"/>
                </a:lnTo>
                <a:cubicBezTo>
                  <a:pt x="0" y="53817"/>
                  <a:pt x="53817" y="0"/>
                  <a:pt x="120203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7680" y="3063346"/>
            <a:ext cx="1339403" cy="240406"/>
          </a:xfrm>
          <a:prstGeom prst="rect">
            <a:avLst/>
          </a:prstGeom>
          <a:noFill/>
          <a:ln/>
        </p:spPr>
        <p:txBody>
          <a:bodyPr wrap="square" lIns="103031" tIns="34344" rIns="103031" bIns="34344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Zero-Day Protection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37386" y="3063346"/>
            <a:ext cx="1287887" cy="240406"/>
          </a:xfrm>
          <a:custGeom>
            <a:avLst/>
            <a:gdLst/>
            <a:ahLst/>
            <a:cxnLst/>
            <a:rect l="l" t="t" r="r" b="b"/>
            <a:pathLst>
              <a:path w="1287887" h="240406">
                <a:moveTo>
                  <a:pt x="120203" y="0"/>
                </a:moveTo>
                <a:lnTo>
                  <a:pt x="1167685" y="0"/>
                </a:lnTo>
                <a:cubicBezTo>
                  <a:pt x="1234071" y="0"/>
                  <a:pt x="1287887" y="53817"/>
                  <a:pt x="1287887" y="120203"/>
                </a:cubicBezTo>
                <a:lnTo>
                  <a:pt x="1287887" y="120203"/>
                </a:lnTo>
                <a:cubicBezTo>
                  <a:pt x="1287887" y="186589"/>
                  <a:pt x="1234071" y="240406"/>
                  <a:pt x="1167685" y="240406"/>
                </a:cubicBezTo>
                <a:lnTo>
                  <a:pt x="120203" y="240406"/>
                </a:lnTo>
                <a:cubicBezTo>
                  <a:pt x="53817" y="240406"/>
                  <a:pt x="0" y="186589"/>
                  <a:pt x="0" y="120203"/>
                </a:cubicBezTo>
                <a:lnTo>
                  <a:pt x="0" y="120203"/>
                </a:lnTo>
                <a:cubicBezTo>
                  <a:pt x="0" y="53817"/>
                  <a:pt x="53817" y="0"/>
                  <a:pt x="120203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837386" y="3063346"/>
            <a:ext cx="1347989" cy="240406"/>
          </a:xfrm>
          <a:prstGeom prst="rect">
            <a:avLst/>
          </a:prstGeom>
          <a:noFill/>
          <a:ln/>
        </p:spPr>
        <p:txBody>
          <a:bodyPr wrap="square" lIns="103031" tIns="34344" rIns="103031" bIns="34344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Updates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9946" y="1308494"/>
            <a:ext cx="5682159" cy="2136176"/>
          </a:xfrm>
          <a:custGeom>
            <a:avLst/>
            <a:gdLst/>
            <a:ahLst/>
            <a:cxnLst/>
            <a:rect l="l" t="t" r="r" b="b"/>
            <a:pathLst>
              <a:path w="5682159" h="2136176">
                <a:moveTo>
                  <a:pt x="68678" y="0"/>
                </a:moveTo>
                <a:lnTo>
                  <a:pt x="5613481" y="0"/>
                </a:lnTo>
                <a:cubicBezTo>
                  <a:pt x="5651385" y="0"/>
                  <a:pt x="5682159" y="30774"/>
                  <a:pt x="5682159" y="68678"/>
                </a:cubicBezTo>
                <a:lnTo>
                  <a:pt x="5682159" y="2067498"/>
                </a:lnTo>
                <a:cubicBezTo>
                  <a:pt x="5682159" y="2105428"/>
                  <a:pt x="5651411" y="2136176"/>
                  <a:pt x="5613481" y="2136176"/>
                </a:cubicBezTo>
                <a:lnTo>
                  <a:pt x="68678" y="2136176"/>
                </a:lnTo>
                <a:cubicBezTo>
                  <a:pt x="30774" y="2136176"/>
                  <a:pt x="0" y="2105402"/>
                  <a:pt x="0" y="2067498"/>
                </a:cubicBezTo>
                <a:lnTo>
                  <a:pt x="0" y="68678"/>
                </a:lnTo>
                <a:cubicBezTo>
                  <a:pt x="0" y="30774"/>
                  <a:pt x="30774" y="0"/>
                  <a:pt x="6867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20000"/>
                </a:srgbClr>
              </a:gs>
              <a:gs pos="100000">
                <a:srgbClr val="00A4E4">
                  <a:alpha val="5000"/>
                </a:srgbClr>
              </a:gs>
            </a:gsLst>
            <a:lin ang="2700000" scaled="1"/>
          </a:gradFill>
          <a:ln w="10160">
            <a:solidFill>
              <a:srgbClr val="00A4E4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0755" y="1449301"/>
            <a:ext cx="2043448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OWASP Core Ruleset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65691" y="1466366"/>
            <a:ext cx="841420" cy="240406"/>
          </a:xfrm>
          <a:custGeom>
            <a:avLst/>
            <a:gdLst/>
            <a:ahLst/>
            <a:cxnLst/>
            <a:rect l="l" t="t" r="r" b="b"/>
            <a:pathLst>
              <a:path w="841420" h="240406">
                <a:moveTo>
                  <a:pt x="34344" y="0"/>
                </a:moveTo>
                <a:lnTo>
                  <a:pt x="807075" y="0"/>
                </a:lnTo>
                <a:cubicBezTo>
                  <a:pt x="826043" y="0"/>
                  <a:pt x="841420" y="15376"/>
                  <a:pt x="841420" y="34344"/>
                </a:cubicBezTo>
                <a:lnTo>
                  <a:pt x="841420" y="206061"/>
                </a:lnTo>
                <a:cubicBezTo>
                  <a:pt x="841420" y="225029"/>
                  <a:pt x="826043" y="240406"/>
                  <a:pt x="807075" y="240406"/>
                </a:cubicBezTo>
                <a:lnTo>
                  <a:pt x="34344" y="240406"/>
                </a:lnTo>
                <a:cubicBezTo>
                  <a:pt x="15389" y="240406"/>
                  <a:pt x="0" y="225016"/>
                  <a:pt x="0" y="206061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0" name="Text 18"/>
          <p:cNvSpPr/>
          <p:nvPr/>
        </p:nvSpPr>
        <p:spPr>
          <a:xfrm>
            <a:off x="10865691" y="1466366"/>
            <a:ext cx="901521" cy="240406"/>
          </a:xfrm>
          <a:prstGeom prst="rect">
            <a:avLst/>
          </a:prstGeom>
          <a:noFill/>
          <a:ln/>
        </p:spPr>
        <p:txBody>
          <a:bodyPr wrap="square" lIns="103031" tIns="34344" rIns="103031" bIns="34344" rtlCol="0" anchor="ctr"/>
          <a:lstStyle/>
          <a:p>
            <a:pPr>
              <a:lnSpc>
                <a:spcPct val="120000"/>
              </a:lnSpc>
            </a:pPr>
            <a:r>
              <a:rPr lang="en-US" sz="94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10755" y="1826974"/>
            <a:ext cx="5469228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Cloudflare's implementation of OWASP ModSecurity Core Rule Set. Monitored for updates from official OWASP repository.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27927" y="2367887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60101" y="120203"/>
                </a:moveTo>
                <a:cubicBezTo>
                  <a:pt x="93272" y="120203"/>
                  <a:pt x="120203" y="93272"/>
                  <a:pt x="120203" y="60101"/>
                </a:cubicBezTo>
                <a:cubicBezTo>
                  <a:pt x="120203" y="26931"/>
                  <a:pt x="93272" y="0"/>
                  <a:pt x="60101" y="0"/>
                </a:cubicBezTo>
                <a:cubicBezTo>
                  <a:pt x="26931" y="0"/>
                  <a:pt x="0" y="26931"/>
                  <a:pt x="0" y="60101"/>
                </a:cubicBezTo>
                <a:cubicBezTo>
                  <a:pt x="0" y="93272"/>
                  <a:pt x="26931" y="120203"/>
                  <a:pt x="60101" y="120203"/>
                </a:cubicBezTo>
                <a:close/>
                <a:moveTo>
                  <a:pt x="79916" y="49936"/>
                </a:moveTo>
                <a:lnTo>
                  <a:pt x="61134" y="79987"/>
                </a:lnTo>
                <a:cubicBezTo>
                  <a:pt x="60148" y="81559"/>
                  <a:pt x="58458" y="82546"/>
                  <a:pt x="56603" y="82639"/>
                </a:cubicBezTo>
                <a:cubicBezTo>
                  <a:pt x="54749" y="82733"/>
                  <a:pt x="52964" y="81888"/>
                  <a:pt x="51861" y="80386"/>
                </a:cubicBezTo>
                <a:lnTo>
                  <a:pt x="40592" y="65360"/>
                </a:lnTo>
                <a:cubicBezTo>
                  <a:pt x="38714" y="62872"/>
                  <a:pt x="39230" y="59350"/>
                  <a:pt x="41719" y="57472"/>
                </a:cubicBezTo>
                <a:cubicBezTo>
                  <a:pt x="44207" y="55594"/>
                  <a:pt x="47729" y="56110"/>
                  <a:pt x="49607" y="58599"/>
                </a:cubicBezTo>
                <a:lnTo>
                  <a:pt x="55946" y="67051"/>
                </a:lnTo>
                <a:lnTo>
                  <a:pt x="70361" y="43973"/>
                </a:lnTo>
                <a:cubicBezTo>
                  <a:pt x="72004" y="41343"/>
                  <a:pt x="75479" y="40521"/>
                  <a:pt x="78132" y="42188"/>
                </a:cubicBezTo>
                <a:cubicBezTo>
                  <a:pt x="80785" y="43855"/>
                  <a:pt x="81583" y="47306"/>
                  <a:pt x="79916" y="49959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3" name="Text 21"/>
          <p:cNvSpPr/>
          <p:nvPr/>
        </p:nvSpPr>
        <p:spPr>
          <a:xfrm>
            <a:off x="6529696" y="2342129"/>
            <a:ext cx="1339403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Injection Protection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7927" y="2608293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60101" y="120203"/>
                </a:moveTo>
                <a:cubicBezTo>
                  <a:pt x="93272" y="120203"/>
                  <a:pt x="120203" y="93272"/>
                  <a:pt x="120203" y="60101"/>
                </a:cubicBezTo>
                <a:cubicBezTo>
                  <a:pt x="120203" y="26931"/>
                  <a:pt x="93272" y="0"/>
                  <a:pt x="60101" y="0"/>
                </a:cubicBezTo>
                <a:cubicBezTo>
                  <a:pt x="26931" y="0"/>
                  <a:pt x="0" y="26931"/>
                  <a:pt x="0" y="60101"/>
                </a:cubicBezTo>
                <a:cubicBezTo>
                  <a:pt x="0" y="93272"/>
                  <a:pt x="26931" y="120203"/>
                  <a:pt x="60101" y="120203"/>
                </a:cubicBezTo>
                <a:close/>
                <a:moveTo>
                  <a:pt x="79916" y="49936"/>
                </a:moveTo>
                <a:lnTo>
                  <a:pt x="61134" y="79987"/>
                </a:lnTo>
                <a:cubicBezTo>
                  <a:pt x="60148" y="81559"/>
                  <a:pt x="58458" y="82546"/>
                  <a:pt x="56603" y="82639"/>
                </a:cubicBezTo>
                <a:cubicBezTo>
                  <a:pt x="54749" y="82733"/>
                  <a:pt x="52964" y="81888"/>
                  <a:pt x="51861" y="80386"/>
                </a:cubicBezTo>
                <a:lnTo>
                  <a:pt x="40592" y="65360"/>
                </a:lnTo>
                <a:cubicBezTo>
                  <a:pt x="38714" y="62872"/>
                  <a:pt x="39230" y="59350"/>
                  <a:pt x="41719" y="57472"/>
                </a:cubicBezTo>
                <a:cubicBezTo>
                  <a:pt x="44207" y="55594"/>
                  <a:pt x="47729" y="56110"/>
                  <a:pt x="49607" y="58599"/>
                </a:cubicBezTo>
                <a:lnTo>
                  <a:pt x="55946" y="67051"/>
                </a:lnTo>
                <a:lnTo>
                  <a:pt x="70361" y="43973"/>
                </a:lnTo>
                <a:cubicBezTo>
                  <a:pt x="72004" y="41343"/>
                  <a:pt x="75479" y="40521"/>
                  <a:pt x="78132" y="42188"/>
                </a:cubicBezTo>
                <a:cubicBezTo>
                  <a:pt x="80785" y="43855"/>
                  <a:pt x="81583" y="47306"/>
                  <a:pt x="79916" y="49959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5" name="Text 23"/>
          <p:cNvSpPr/>
          <p:nvPr/>
        </p:nvSpPr>
        <p:spPr>
          <a:xfrm>
            <a:off x="6529696" y="2582535"/>
            <a:ext cx="1468192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Cross-Site Scripting (XSS)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7927" y="2848698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60101" y="120203"/>
                </a:moveTo>
                <a:cubicBezTo>
                  <a:pt x="93272" y="120203"/>
                  <a:pt x="120203" y="93272"/>
                  <a:pt x="120203" y="60101"/>
                </a:cubicBezTo>
                <a:cubicBezTo>
                  <a:pt x="120203" y="26931"/>
                  <a:pt x="93272" y="0"/>
                  <a:pt x="60101" y="0"/>
                </a:cubicBezTo>
                <a:cubicBezTo>
                  <a:pt x="26931" y="0"/>
                  <a:pt x="0" y="26931"/>
                  <a:pt x="0" y="60101"/>
                </a:cubicBezTo>
                <a:cubicBezTo>
                  <a:pt x="0" y="93272"/>
                  <a:pt x="26931" y="120203"/>
                  <a:pt x="60101" y="120203"/>
                </a:cubicBezTo>
                <a:close/>
                <a:moveTo>
                  <a:pt x="79916" y="49936"/>
                </a:moveTo>
                <a:lnTo>
                  <a:pt x="61134" y="79987"/>
                </a:lnTo>
                <a:cubicBezTo>
                  <a:pt x="60148" y="81559"/>
                  <a:pt x="58458" y="82546"/>
                  <a:pt x="56603" y="82639"/>
                </a:cubicBezTo>
                <a:cubicBezTo>
                  <a:pt x="54749" y="82733"/>
                  <a:pt x="52964" y="81888"/>
                  <a:pt x="51861" y="80386"/>
                </a:cubicBezTo>
                <a:lnTo>
                  <a:pt x="40592" y="65360"/>
                </a:lnTo>
                <a:cubicBezTo>
                  <a:pt x="38714" y="62872"/>
                  <a:pt x="39230" y="59350"/>
                  <a:pt x="41719" y="57472"/>
                </a:cubicBezTo>
                <a:cubicBezTo>
                  <a:pt x="44207" y="55594"/>
                  <a:pt x="47729" y="56110"/>
                  <a:pt x="49607" y="58599"/>
                </a:cubicBezTo>
                <a:lnTo>
                  <a:pt x="55946" y="67051"/>
                </a:lnTo>
                <a:lnTo>
                  <a:pt x="70361" y="43973"/>
                </a:lnTo>
                <a:cubicBezTo>
                  <a:pt x="72004" y="41343"/>
                  <a:pt x="75479" y="40521"/>
                  <a:pt x="78132" y="42188"/>
                </a:cubicBezTo>
                <a:cubicBezTo>
                  <a:pt x="80785" y="43855"/>
                  <a:pt x="81583" y="47306"/>
                  <a:pt x="79916" y="49959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7" name="Text 25"/>
          <p:cNvSpPr/>
          <p:nvPr/>
        </p:nvSpPr>
        <p:spPr>
          <a:xfrm>
            <a:off x="6529696" y="2822940"/>
            <a:ext cx="1090411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 Injection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27927" y="3089104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60101" y="120203"/>
                </a:moveTo>
                <a:cubicBezTo>
                  <a:pt x="93272" y="120203"/>
                  <a:pt x="120203" y="93272"/>
                  <a:pt x="120203" y="60101"/>
                </a:cubicBezTo>
                <a:cubicBezTo>
                  <a:pt x="120203" y="26931"/>
                  <a:pt x="93272" y="0"/>
                  <a:pt x="60101" y="0"/>
                </a:cubicBezTo>
                <a:cubicBezTo>
                  <a:pt x="26931" y="0"/>
                  <a:pt x="0" y="26931"/>
                  <a:pt x="0" y="60101"/>
                </a:cubicBezTo>
                <a:cubicBezTo>
                  <a:pt x="0" y="93272"/>
                  <a:pt x="26931" y="120203"/>
                  <a:pt x="60101" y="120203"/>
                </a:cubicBezTo>
                <a:close/>
                <a:moveTo>
                  <a:pt x="79916" y="49936"/>
                </a:moveTo>
                <a:lnTo>
                  <a:pt x="61134" y="79987"/>
                </a:lnTo>
                <a:cubicBezTo>
                  <a:pt x="60148" y="81559"/>
                  <a:pt x="58458" y="82546"/>
                  <a:pt x="56603" y="82639"/>
                </a:cubicBezTo>
                <a:cubicBezTo>
                  <a:pt x="54749" y="82733"/>
                  <a:pt x="52964" y="81888"/>
                  <a:pt x="51861" y="80386"/>
                </a:cubicBezTo>
                <a:lnTo>
                  <a:pt x="40592" y="65360"/>
                </a:lnTo>
                <a:cubicBezTo>
                  <a:pt x="38714" y="62872"/>
                  <a:pt x="39230" y="59350"/>
                  <a:pt x="41719" y="57472"/>
                </a:cubicBezTo>
                <a:cubicBezTo>
                  <a:pt x="44207" y="55594"/>
                  <a:pt x="47729" y="56110"/>
                  <a:pt x="49607" y="58599"/>
                </a:cubicBezTo>
                <a:lnTo>
                  <a:pt x="55946" y="67051"/>
                </a:lnTo>
                <a:lnTo>
                  <a:pt x="70361" y="43973"/>
                </a:lnTo>
                <a:cubicBezTo>
                  <a:pt x="72004" y="41343"/>
                  <a:pt x="75479" y="40521"/>
                  <a:pt x="78132" y="42188"/>
                </a:cubicBezTo>
                <a:cubicBezTo>
                  <a:pt x="80785" y="43855"/>
                  <a:pt x="81583" y="47306"/>
                  <a:pt x="79916" y="49959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9" name="Text 27"/>
          <p:cNvSpPr/>
          <p:nvPr/>
        </p:nvSpPr>
        <p:spPr>
          <a:xfrm>
            <a:off x="6529696" y="3063346"/>
            <a:ext cx="1056068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File Inclusion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6871" y="3554461"/>
            <a:ext cx="5682159" cy="2960424"/>
          </a:xfrm>
          <a:custGeom>
            <a:avLst/>
            <a:gdLst/>
            <a:ahLst/>
            <a:cxnLst/>
            <a:rect l="l" t="t" r="r" b="b"/>
            <a:pathLst>
              <a:path w="5682159" h="2960424">
                <a:moveTo>
                  <a:pt x="68682" y="0"/>
                </a:moveTo>
                <a:lnTo>
                  <a:pt x="5613477" y="0"/>
                </a:lnTo>
                <a:cubicBezTo>
                  <a:pt x="5651409" y="0"/>
                  <a:pt x="5682159" y="30750"/>
                  <a:pt x="5682159" y="68682"/>
                </a:cubicBezTo>
                <a:lnTo>
                  <a:pt x="5682159" y="2891742"/>
                </a:lnTo>
                <a:cubicBezTo>
                  <a:pt x="5682159" y="2929674"/>
                  <a:pt x="5651409" y="2960424"/>
                  <a:pt x="5613477" y="2960424"/>
                </a:cubicBezTo>
                <a:lnTo>
                  <a:pt x="68682" y="2960424"/>
                </a:lnTo>
                <a:cubicBezTo>
                  <a:pt x="30775" y="2960424"/>
                  <a:pt x="0" y="2929648"/>
                  <a:pt x="0" y="2891742"/>
                </a:cubicBezTo>
                <a:lnTo>
                  <a:pt x="0" y="68682"/>
                </a:lnTo>
                <a:cubicBezTo>
                  <a:pt x="0" y="30775"/>
                  <a:pt x="30775" y="0"/>
                  <a:pt x="68682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9145" y="3729614"/>
            <a:ext cx="171718" cy="171718"/>
          </a:xfrm>
          <a:custGeom>
            <a:avLst/>
            <a:gdLst/>
            <a:ahLst/>
            <a:cxnLst/>
            <a:rect l="l" t="t" r="r" b="b"/>
            <a:pathLst>
              <a:path w="171718" h="171718">
                <a:moveTo>
                  <a:pt x="85859" y="0"/>
                </a:moveTo>
                <a:cubicBezTo>
                  <a:pt x="87402" y="0"/>
                  <a:pt x="88945" y="335"/>
                  <a:pt x="90353" y="973"/>
                </a:cubicBezTo>
                <a:lnTo>
                  <a:pt x="153540" y="27770"/>
                </a:lnTo>
                <a:cubicBezTo>
                  <a:pt x="160919" y="30889"/>
                  <a:pt x="166419" y="38167"/>
                  <a:pt x="166386" y="46954"/>
                </a:cubicBezTo>
                <a:cubicBezTo>
                  <a:pt x="166218" y="80225"/>
                  <a:pt x="152534" y="141097"/>
                  <a:pt x="94747" y="168767"/>
                </a:cubicBezTo>
                <a:cubicBezTo>
                  <a:pt x="89146" y="171450"/>
                  <a:pt x="82639" y="171450"/>
                  <a:pt x="77038" y="168767"/>
                </a:cubicBezTo>
                <a:cubicBezTo>
                  <a:pt x="19218" y="141097"/>
                  <a:pt x="5567" y="80225"/>
                  <a:pt x="5400" y="46954"/>
                </a:cubicBezTo>
                <a:cubicBezTo>
                  <a:pt x="5366" y="38167"/>
                  <a:pt x="10867" y="30889"/>
                  <a:pt x="18245" y="27770"/>
                </a:cubicBezTo>
                <a:lnTo>
                  <a:pt x="81399" y="973"/>
                </a:lnTo>
                <a:cubicBezTo>
                  <a:pt x="82807" y="335"/>
                  <a:pt x="84316" y="0"/>
                  <a:pt x="85859" y="0"/>
                </a:cubicBezTo>
                <a:close/>
                <a:moveTo>
                  <a:pt x="85859" y="22404"/>
                </a:moveTo>
                <a:lnTo>
                  <a:pt x="85859" y="149214"/>
                </a:lnTo>
                <a:cubicBezTo>
                  <a:pt x="132143" y="126810"/>
                  <a:pt x="144585" y="77173"/>
                  <a:pt x="144887" y="47457"/>
                </a:cubicBezTo>
                <a:lnTo>
                  <a:pt x="85859" y="22437"/>
                </a:lnTo>
                <a:lnTo>
                  <a:pt x="85859" y="22437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2" name="Text 30"/>
          <p:cNvSpPr/>
          <p:nvPr/>
        </p:nvSpPr>
        <p:spPr>
          <a:xfrm>
            <a:off x="702328" y="3695270"/>
            <a:ext cx="5271752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Rulesets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4852" y="4038707"/>
            <a:ext cx="5383369" cy="824248"/>
          </a:xfrm>
          <a:custGeom>
            <a:avLst/>
            <a:gdLst/>
            <a:ahLst/>
            <a:cxnLst/>
            <a:rect l="l" t="t" r="r" b="b"/>
            <a:pathLst>
              <a:path w="5383369" h="824248">
                <a:moveTo>
                  <a:pt x="34344" y="0"/>
                </a:moveTo>
                <a:lnTo>
                  <a:pt x="5314684" y="0"/>
                </a:lnTo>
                <a:cubicBezTo>
                  <a:pt x="5352618" y="0"/>
                  <a:pt x="5383369" y="30751"/>
                  <a:pt x="5383369" y="68685"/>
                </a:cubicBezTo>
                <a:lnTo>
                  <a:pt x="5383369" y="755563"/>
                </a:lnTo>
                <a:cubicBezTo>
                  <a:pt x="5383369" y="793497"/>
                  <a:pt x="5352618" y="824248"/>
                  <a:pt x="5314684" y="824248"/>
                </a:cubicBezTo>
                <a:lnTo>
                  <a:pt x="34344" y="824248"/>
                </a:lnTo>
                <a:cubicBezTo>
                  <a:pt x="15376" y="824248"/>
                  <a:pt x="0" y="808872"/>
                  <a:pt x="0" y="789904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4852" y="4038707"/>
            <a:ext cx="34344" cy="824248"/>
          </a:xfrm>
          <a:custGeom>
            <a:avLst/>
            <a:gdLst/>
            <a:ahLst/>
            <a:cxnLst/>
            <a:rect l="l" t="t" r="r" b="b"/>
            <a:pathLst>
              <a:path w="34344" h="824248">
                <a:moveTo>
                  <a:pt x="34344" y="0"/>
                </a:moveTo>
                <a:lnTo>
                  <a:pt x="34344" y="0"/>
                </a:lnTo>
                <a:lnTo>
                  <a:pt x="34344" y="824248"/>
                </a:lnTo>
                <a:lnTo>
                  <a:pt x="34344" y="824248"/>
                </a:lnTo>
                <a:cubicBezTo>
                  <a:pt x="15376" y="824248"/>
                  <a:pt x="0" y="808872"/>
                  <a:pt x="0" y="789904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5" name="Text 33"/>
          <p:cNvSpPr/>
          <p:nvPr/>
        </p:nvSpPr>
        <p:spPr>
          <a:xfrm>
            <a:off x="625055" y="4141738"/>
            <a:ext cx="523740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Exposed Credentials Check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5055" y="4416487"/>
            <a:ext cx="5220237" cy="34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credential checks against public databases of stolen credentials on authentication endpoints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4852" y="4965986"/>
            <a:ext cx="5383369" cy="652530"/>
          </a:xfrm>
          <a:custGeom>
            <a:avLst/>
            <a:gdLst/>
            <a:ahLst/>
            <a:cxnLst/>
            <a:rect l="l" t="t" r="r" b="b"/>
            <a:pathLst>
              <a:path w="5383369" h="652530">
                <a:moveTo>
                  <a:pt x="34344" y="0"/>
                </a:moveTo>
                <a:lnTo>
                  <a:pt x="5314684" y="0"/>
                </a:lnTo>
                <a:cubicBezTo>
                  <a:pt x="5352618" y="0"/>
                  <a:pt x="5383369" y="30751"/>
                  <a:pt x="5383369" y="68685"/>
                </a:cubicBezTo>
                <a:lnTo>
                  <a:pt x="5383369" y="583844"/>
                </a:lnTo>
                <a:cubicBezTo>
                  <a:pt x="5383369" y="621778"/>
                  <a:pt x="5352618" y="652530"/>
                  <a:pt x="5314684" y="652530"/>
                </a:cubicBezTo>
                <a:lnTo>
                  <a:pt x="34344" y="652530"/>
                </a:lnTo>
                <a:cubicBezTo>
                  <a:pt x="15376" y="652530"/>
                  <a:pt x="0" y="637153"/>
                  <a:pt x="0" y="618186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4852" y="4965986"/>
            <a:ext cx="34344" cy="652530"/>
          </a:xfrm>
          <a:custGeom>
            <a:avLst/>
            <a:gdLst/>
            <a:ahLst/>
            <a:cxnLst/>
            <a:rect l="l" t="t" r="r" b="b"/>
            <a:pathLst>
              <a:path w="34344" h="652530">
                <a:moveTo>
                  <a:pt x="34344" y="0"/>
                </a:moveTo>
                <a:lnTo>
                  <a:pt x="34344" y="0"/>
                </a:lnTo>
                <a:lnTo>
                  <a:pt x="34344" y="652530"/>
                </a:lnTo>
                <a:lnTo>
                  <a:pt x="34344" y="652530"/>
                </a:lnTo>
                <a:cubicBezTo>
                  <a:pt x="15376" y="652530"/>
                  <a:pt x="0" y="637153"/>
                  <a:pt x="0" y="618186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39" name="Text 37"/>
          <p:cNvSpPr/>
          <p:nvPr/>
        </p:nvSpPr>
        <p:spPr>
          <a:xfrm>
            <a:off x="625055" y="5069017"/>
            <a:ext cx="523740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Sensitive Data Detection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5055" y="5343766"/>
            <a:ext cx="5220237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Monitors downloads of sensitive data (financial, PII)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4852" y="5721546"/>
            <a:ext cx="5383369" cy="652530"/>
          </a:xfrm>
          <a:custGeom>
            <a:avLst/>
            <a:gdLst/>
            <a:ahLst/>
            <a:cxnLst/>
            <a:rect l="l" t="t" r="r" b="b"/>
            <a:pathLst>
              <a:path w="5383369" h="652530">
                <a:moveTo>
                  <a:pt x="34344" y="0"/>
                </a:moveTo>
                <a:lnTo>
                  <a:pt x="5314684" y="0"/>
                </a:lnTo>
                <a:cubicBezTo>
                  <a:pt x="5352618" y="0"/>
                  <a:pt x="5383369" y="30751"/>
                  <a:pt x="5383369" y="68685"/>
                </a:cubicBezTo>
                <a:lnTo>
                  <a:pt x="5383369" y="583844"/>
                </a:lnTo>
                <a:cubicBezTo>
                  <a:pt x="5383369" y="621778"/>
                  <a:pt x="5352618" y="652530"/>
                  <a:pt x="5314684" y="652530"/>
                </a:cubicBezTo>
                <a:lnTo>
                  <a:pt x="34344" y="652530"/>
                </a:lnTo>
                <a:cubicBezTo>
                  <a:pt x="15376" y="652530"/>
                  <a:pt x="0" y="637153"/>
                  <a:pt x="0" y="618186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4852" y="5721546"/>
            <a:ext cx="34344" cy="652530"/>
          </a:xfrm>
          <a:custGeom>
            <a:avLst/>
            <a:gdLst/>
            <a:ahLst/>
            <a:cxnLst/>
            <a:rect l="l" t="t" r="r" b="b"/>
            <a:pathLst>
              <a:path w="34344" h="652530">
                <a:moveTo>
                  <a:pt x="34344" y="0"/>
                </a:moveTo>
                <a:lnTo>
                  <a:pt x="34344" y="0"/>
                </a:lnTo>
                <a:lnTo>
                  <a:pt x="34344" y="652530"/>
                </a:lnTo>
                <a:lnTo>
                  <a:pt x="34344" y="652530"/>
                </a:lnTo>
                <a:cubicBezTo>
                  <a:pt x="15376" y="652530"/>
                  <a:pt x="0" y="637153"/>
                  <a:pt x="0" y="618186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8C929D"/>
          </a:solidFill>
          <a:ln/>
        </p:spPr>
      </p:sp>
      <p:sp>
        <p:nvSpPr>
          <p:cNvPr id="43" name="Text 41"/>
          <p:cNvSpPr/>
          <p:nvPr/>
        </p:nvSpPr>
        <p:spPr>
          <a:xfrm>
            <a:off x="625055" y="5824577"/>
            <a:ext cx="523740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Ruleset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5055" y="6099327"/>
            <a:ext cx="5220237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Mitigates high-impact vulnerabilities safely for most applications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9946" y="3554461"/>
            <a:ext cx="5682159" cy="1586677"/>
          </a:xfrm>
          <a:custGeom>
            <a:avLst/>
            <a:gdLst/>
            <a:ahLst/>
            <a:cxnLst/>
            <a:rect l="l" t="t" r="r" b="b"/>
            <a:pathLst>
              <a:path w="5682159" h="1586677">
                <a:moveTo>
                  <a:pt x="68687" y="0"/>
                </a:moveTo>
                <a:lnTo>
                  <a:pt x="5613472" y="0"/>
                </a:lnTo>
                <a:cubicBezTo>
                  <a:pt x="5651407" y="0"/>
                  <a:pt x="5682159" y="30752"/>
                  <a:pt x="5682159" y="68687"/>
                </a:cubicBezTo>
                <a:lnTo>
                  <a:pt x="5682159" y="1517990"/>
                </a:lnTo>
                <a:cubicBezTo>
                  <a:pt x="5682159" y="1555925"/>
                  <a:pt x="5651407" y="1586677"/>
                  <a:pt x="5613472" y="1586677"/>
                </a:cubicBezTo>
                <a:lnTo>
                  <a:pt x="68687" y="1586677"/>
                </a:lnTo>
                <a:cubicBezTo>
                  <a:pt x="30752" y="1586677"/>
                  <a:pt x="0" y="1555925"/>
                  <a:pt x="0" y="1517990"/>
                </a:cubicBezTo>
                <a:lnTo>
                  <a:pt x="0" y="68687"/>
                </a:lnTo>
                <a:cubicBezTo>
                  <a:pt x="0" y="30752"/>
                  <a:pt x="30752" y="0"/>
                  <a:pt x="68687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21488" y="3729614"/>
            <a:ext cx="193183" cy="171718"/>
          </a:xfrm>
          <a:custGeom>
            <a:avLst/>
            <a:gdLst/>
            <a:ahLst/>
            <a:cxnLst/>
            <a:rect l="l" t="t" r="r" b="b"/>
            <a:pathLst>
              <a:path w="193183" h="171718">
                <a:moveTo>
                  <a:pt x="134557" y="13114"/>
                </a:moveTo>
                <a:lnTo>
                  <a:pt x="184262" y="63522"/>
                </a:lnTo>
                <a:cubicBezTo>
                  <a:pt x="193552" y="72947"/>
                  <a:pt x="193552" y="88039"/>
                  <a:pt x="184262" y="97464"/>
                </a:cubicBezTo>
                <a:lnTo>
                  <a:pt x="131807" y="150555"/>
                </a:lnTo>
                <a:cubicBezTo>
                  <a:pt x="128688" y="153708"/>
                  <a:pt x="123590" y="153742"/>
                  <a:pt x="120438" y="150622"/>
                </a:cubicBezTo>
                <a:cubicBezTo>
                  <a:pt x="117285" y="147503"/>
                  <a:pt x="117251" y="142405"/>
                  <a:pt x="120371" y="139253"/>
                </a:cubicBezTo>
                <a:lnTo>
                  <a:pt x="172825" y="86127"/>
                </a:lnTo>
                <a:cubicBezTo>
                  <a:pt x="175911" y="83008"/>
                  <a:pt x="175911" y="77944"/>
                  <a:pt x="172825" y="74825"/>
                </a:cubicBezTo>
                <a:lnTo>
                  <a:pt x="123087" y="24450"/>
                </a:lnTo>
                <a:cubicBezTo>
                  <a:pt x="119968" y="21297"/>
                  <a:pt x="120002" y="16199"/>
                  <a:pt x="123154" y="13080"/>
                </a:cubicBezTo>
                <a:cubicBezTo>
                  <a:pt x="126307" y="9961"/>
                  <a:pt x="131405" y="9995"/>
                  <a:pt x="134524" y="13147"/>
                </a:cubicBezTo>
                <a:close/>
                <a:moveTo>
                  <a:pt x="10766" y="76971"/>
                </a:moveTo>
                <a:lnTo>
                  <a:pt x="10766" y="32197"/>
                </a:lnTo>
                <a:cubicBezTo>
                  <a:pt x="10766" y="20358"/>
                  <a:pt x="20392" y="10732"/>
                  <a:pt x="32231" y="10732"/>
                </a:cubicBezTo>
                <a:lnTo>
                  <a:pt x="77005" y="10732"/>
                </a:lnTo>
                <a:cubicBezTo>
                  <a:pt x="82707" y="10732"/>
                  <a:pt x="88173" y="12979"/>
                  <a:pt x="92198" y="17004"/>
                </a:cubicBezTo>
                <a:lnTo>
                  <a:pt x="140494" y="65300"/>
                </a:lnTo>
                <a:cubicBezTo>
                  <a:pt x="148878" y="73685"/>
                  <a:pt x="148878" y="87268"/>
                  <a:pt x="140494" y="95652"/>
                </a:cubicBezTo>
                <a:lnTo>
                  <a:pt x="95720" y="140427"/>
                </a:lnTo>
                <a:cubicBezTo>
                  <a:pt x="87335" y="148811"/>
                  <a:pt x="73752" y="148811"/>
                  <a:pt x="65367" y="140427"/>
                </a:cubicBezTo>
                <a:lnTo>
                  <a:pt x="17071" y="92131"/>
                </a:lnTo>
                <a:cubicBezTo>
                  <a:pt x="13047" y="88106"/>
                  <a:pt x="10799" y="82639"/>
                  <a:pt x="10799" y="76938"/>
                </a:cubicBezTo>
                <a:close/>
                <a:moveTo>
                  <a:pt x="59062" y="48296"/>
                </a:moveTo>
                <a:cubicBezTo>
                  <a:pt x="59062" y="42372"/>
                  <a:pt x="54253" y="37563"/>
                  <a:pt x="48329" y="37563"/>
                </a:cubicBezTo>
                <a:cubicBezTo>
                  <a:pt x="42406" y="37563"/>
                  <a:pt x="37597" y="42372"/>
                  <a:pt x="37597" y="48296"/>
                </a:cubicBezTo>
                <a:cubicBezTo>
                  <a:pt x="37597" y="54219"/>
                  <a:pt x="42406" y="59028"/>
                  <a:pt x="48329" y="59028"/>
                </a:cubicBezTo>
                <a:cubicBezTo>
                  <a:pt x="54253" y="59028"/>
                  <a:pt x="59062" y="54219"/>
                  <a:pt x="59062" y="48296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7" name="Text 45"/>
          <p:cNvSpPr/>
          <p:nvPr/>
        </p:nvSpPr>
        <p:spPr>
          <a:xfrm>
            <a:off x="6525403" y="3695270"/>
            <a:ext cx="5271752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Tag-Based Organization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10755" y="4038707"/>
            <a:ext cx="5469228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 have associated tags (e.g., </a:t>
            </a:r>
            <a:pPr>
              <a:lnSpc>
                <a:spcPct val="130000"/>
              </a:lnSpc>
            </a:pPr>
            <a:r>
              <a:rPr lang="en-US" sz="946" dirty="0">
                <a:solidFill>
                  <a:srgbClr val="F48120"/>
                </a:solidFill>
                <a:highlight>
                  <a:srgbClr val="F48120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wordpress 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30000"/>
              </a:lnSpc>
            </a:pPr>
            <a:r>
              <a:rPr lang="en-US" sz="946" dirty="0">
                <a:solidFill>
                  <a:srgbClr val="F48120"/>
                </a:solidFill>
                <a:highlight>
                  <a:srgbClr val="F48120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php 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30000"/>
              </a:lnSpc>
            </a:pPr>
            <a:r>
              <a:rPr lang="en-US" sz="946" dirty="0">
                <a:solidFill>
                  <a:srgbClr val="F48120"/>
                </a:solidFill>
                <a:highlight>
                  <a:srgbClr val="F48120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java 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for: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27927" y="4382144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97665" y="48832"/>
                </a:moveTo>
                <a:cubicBezTo>
                  <a:pt x="97665" y="59608"/>
                  <a:pt x="94167" y="69563"/>
                  <a:pt x="88274" y="77639"/>
                </a:cubicBezTo>
                <a:lnTo>
                  <a:pt x="117996" y="107384"/>
                </a:lnTo>
                <a:cubicBezTo>
                  <a:pt x="120931" y="110319"/>
                  <a:pt x="120931" y="115085"/>
                  <a:pt x="117996" y="118019"/>
                </a:cubicBezTo>
                <a:cubicBezTo>
                  <a:pt x="115061" y="120954"/>
                  <a:pt x="110295" y="120954"/>
                  <a:pt x="107361" y="118019"/>
                </a:cubicBezTo>
                <a:lnTo>
                  <a:pt x="77639" y="88274"/>
                </a:lnTo>
                <a:cubicBezTo>
                  <a:pt x="69563" y="94167"/>
                  <a:pt x="59608" y="97665"/>
                  <a:pt x="48832" y="97665"/>
                </a:cubicBezTo>
                <a:cubicBezTo>
                  <a:pt x="21857" y="97665"/>
                  <a:pt x="0" y="75808"/>
                  <a:pt x="0" y="48832"/>
                </a:cubicBezTo>
                <a:cubicBezTo>
                  <a:pt x="0" y="21857"/>
                  <a:pt x="21857" y="0"/>
                  <a:pt x="48832" y="0"/>
                </a:cubicBezTo>
                <a:cubicBezTo>
                  <a:pt x="75808" y="0"/>
                  <a:pt x="97665" y="21857"/>
                  <a:pt x="97665" y="48832"/>
                </a:cubicBezTo>
                <a:close/>
                <a:moveTo>
                  <a:pt x="48832" y="82639"/>
                </a:moveTo>
                <a:cubicBezTo>
                  <a:pt x="67491" y="82639"/>
                  <a:pt x="82639" y="67491"/>
                  <a:pt x="82639" y="48832"/>
                </a:cubicBezTo>
                <a:cubicBezTo>
                  <a:pt x="82639" y="30174"/>
                  <a:pt x="67491" y="15025"/>
                  <a:pt x="48832" y="15025"/>
                </a:cubicBezTo>
                <a:cubicBezTo>
                  <a:pt x="30174" y="15025"/>
                  <a:pt x="15025" y="30174"/>
                  <a:pt x="15025" y="48832"/>
                </a:cubicBezTo>
                <a:cubicBezTo>
                  <a:pt x="15025" y="67491"/>
                  <a:pt x="30174" y="82639"/>
                  <a:pt x="48832" y="82639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0" name="Text 48"/>
          <p:cNvSpPr/>
          <p:nvPr/>
        </p:nvSpPr>
        <p:spPr>
          <a:xfrm>
            <a:off x="6529696" y="4347800"/>
            <a:ext cx="1562637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filtering and searching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7927" y="4622549"/>
            <a:ext cx="120203" cy="120203"/>
          </a:xfrm>
          <a:custGeom>
            <a:avLst/>
            <a:gdLst/>
            <a:ahLst/>
            <a:cxnLst/>
            <a:rect l="l" t="t" r="r" b="b"/>
            <a:pathLst>
              <a:path w="120203" h="120203">
                <a:moveTo>
                  <a:pt x="54584" y="1221"/>
                </a:moveTo>
                <a:cubicBezTo>
                  <a:pt x="58082" y="-399"/>
                  <a:pt x="62120" y="-399"/>
                  <a:pt x="65619" y="1221"/>
                </a:cubicBezTo>
                <a:lnTo>
                  <a:pt x="116939" y="24933"/>
                </a:lnTo>
                <a:cubicBezTo>
                  <a:pt x="118935" y="25848"/>
                  <a:pt x="120203" y="27844"/>
                  <a:pt x="120203" y="30051"/>
                </a:cubicBezTo>
                <a:cubicBezTo>
                  <a:pt x="120203" y="32258"/>
                  <a:pt x="118935" y="34253"/>
                  <a:pt x="116939" y="35169"/>
                </a:cubicBezTo>
                <a:lnTo>
                  <a:pt x="65619" y="58881"/>
                </a:lnTo>
                <a:cubicBezTo>
                  <a:pt x="62120" y="60501"/>
                  <a:pt x="58082" y="60501"/>
                  <a:pt x="54584" y="58881"/>
                </a:cubicBezTo>
                <a:lnTo>
                  <a:pt x="3263" y="35169"/>
                </a:lnTo>
                <a:cubicBezTo>
                  <a:pt x="1268" y="34230"/>
                  <a:pt x="0" y="32234"/>
                  <a:pt x="0" y="30051"/>
                </a:cubicBezTo>
                <a:cubicBezTo>
                  <a:pt x="0" y="27867"/>
                  <a:pt x="1268" y="25848"/>
                  <a:pt x="3263" y="24933"/>
                </a:cubicBezTo>
                <a:lnTo>
                  <a:pt x="54584" y="1221"/>
                </a:lnTo>
                <a:close/>
                <a:moveTo>
                  <a:pt x="11292" y="51274"/>
                </a:moveTo>
                <a:lnTo>
                  <a:pt x="49865" y="69093"/>
                </a:lnTo>
                <a:cubicBezTo>
                  <a:pt x="56369" y="72098"/>
                  <a:pt x="63858" y="72098"/>
                  <a:pt x="70361" y="69093"/>
                </a:cubicBezTo>
                <a:lnTo>
                  <a:pt x="108934" y="51274"/>
                </a:lnTo>
                <a:lnTo>
                  <a:pt x="116939" y="54983"/>
                </a:lnTo>
                <a:cubicBezTo>
                  <a:pt x="118935" y="55899"/>
                  <a:pt x="120203" y="57895"/>
                  <a:pt x="120203" y="60101"/>
                </a:cubicBezTo>
                <a:cubicBezTo>
                  <a:pt x="120203" y="62308"/>
                  <a:pt x="118935" y="64304"/>
                  <a:pt x="116939" y="65219"/>
                </a:cubicBezTo>
                <a:lnTo>
                  <a:pt x="65619" y="88931"/>
                </a:lnTo>
                <a:cubicBezTo>
                  <a:pt x="62120" y="90551"/>
                  <a:pt x="58082" y="90551"/>
                  <a:pt x="54584" y="88931"/>
                </a:cubicBezTo>
                <a:lnTo>
                  <a:pt x="3263" y="65219"/>
                </a:lnTo>
                <a:cubicBezTo>
                  <a:pt x="1268" y="64280"/>
                  <a:pt x="0" y="62285"/>
                  <a:pt x="0" y="60101"/>
                </a:cubicBezTo>
                <a:cubicBezTo>
                  <a:pt x="0" y="57918"/>
                  <a:pt x="1268" y="55899"/>
                  <a:pt x="3263" y="54983"/>
                </a:cubicBezTo>
                <a:lnTo>
                  <a:pt x="11269" y="51274"/>
                </a:lnTo>
                <a:close/>
                <a:moveTo>
                  <a:pt x="3263" y="85034"/>
                </a:moveTo>
                <a:lnTo>
                  <a:pt x="11269" y="81325"/>
                </a:lnTo>
                <a:lnTo>
                  <a:pt x="49842" y="99144"/>
                </a:lnTo>
                <a:cubicBezTo>
                  <a:pt x="56345" y="102149"/>
                  <a:pt x="63834" y="102149"/>
                  <a:pt x="70337" y="99144"/>
                </a:cubicBezTo>
                <a:lnTo>
                  <a:pt x="108910" y="81325"/>
                </a:lnTo>
                <a:lnTo>
                  <a:pt x="116916" y="85034"/>
                </a:lnTo>
                <a:cubicBezTo>
                  <a:pt x="118912" y="85950"/>
                  <a:pt x="120179" y="87945"/>
                  <a:pt x="120179" y="90152"/>
                </a:cubicBezTo>
                <a:cubicBezTo>
                  <a:pt x="120179" y="92359"/>
                  <a:pt x="118912" y="94355"/>
                  <a:pt x="116916" y="95270"/>
                </a:cubicBezTo>
                <a:lnTo>
                  <a:pt x="65595" y="118982"/>
                </a:lnTo>
                <a:cubicBezTo>
                  <a:pt x="62097" y="120602"/>
                  <a:pt x="58059" y="120602"/>
                  <a:pt x="54561" y="118982"/>
                </a:cubicBezTo>
                <a:lnTo>
                  <a:pt x="3263" y="95270"/>
                </a:lnTo>
                <a:cubicBezTo>
                  <a:pt x="1268" y="94331"/>
                  <a:pt x="0" y="92335"/>
                  <a:pt x="0" y="90152"/>
                </a:cubicBezTo>
                <a:cubicBezTo>
                  <a:pt x="0" y="87969"/>
                  <a:pt x="1268" y="85950"/>
                  <a:pt x="3263" y="85034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2" name="Text 50"/>
          <p:cNvSpPr/>
          <p:nvPr/>
        </p:nvSpPr>
        <p:spPr>
          <a:xfrm>
            <a:off x="6529696" y="4588205"/>
            <a:ext cx="2103549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Bulk configuration by technology stack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2902" y="4862955"/>
            <a:ext cx="150254" cy="120203"/>
          </a:xfrm>
          <a:custGeom>
            <a:avLst/>
            <a:gdLst/>
            <a:ahLst/>
            <a:cxnLst/>
            <a:rect l="l" t="t" r="r" b="b"/>
            <a:pathLst>
              <a:path w="150254" h="120203">
                <a:moveTo>
                  <a:pt x="97641" y="49419"/>
                </a:moveTo>
                <a:cubicBezTo>
                  <a:pt x="100506" y="48645"/>
                  <a:pt x="103511" y="50006"/>
                  <a:pt x="104802" y="52659"/>
                </a:cubicBezTo>
                <a:lnTo>
                  <a:pt x="109169" y="61487"/>
                </a:lnTo>
                <a:cubicBezTo>
                  <a:pt x="111587" y="61815"/>
                  <a:pt x="113958" y="62473"/>
                  <a:pt x="116188" y="63388"/>
                </a:cubicBezTo>
                <a:lnTo>
                  <a:pt x="124405" y="57918"/>
                </a:lnTo>
                <a:cubicBezTo>
                  <a:pt x="126870" y="56275"/>
                  <a:pt x="130134" y="56603"/>
                  <a:pt x="132223" y="58693"/>
                </a:cubicBezTo>
                <a:lnTo>
                  <a:pt x="136731" y="63200"/>
                </a:lnTo>
                <a:cubicBezTo>
                  <a:pt x="138820" y="65290"/>
                  <a:pt x="139149" y="68577"/>
                  <a:pt x="137505" y="71018"/>
                </a:cubicBezTo>
                <a:lnTo>
                  <a:pt x="132035" y="79212"/>
                </a:lnTo>
                <a:cubicBezTo>
                  <a:pt x="132481" y="80315"/>
                  <a:pt x="132880" y="81466"/>
                  <a:pt x="133209" y="82663"/>
                </a:cubicBezTo>
                <a:cubicBezTo>
                  <a:pt x="133538" y="83860"/>
                  <a:pt x="133749" y="85034"/>
                  <a:pt x="133913" y="86231"/>
                </a:cubicBezTo>
                <a:lnTo>
                  <a:pt x="142764" y="90598"/>
                </a:lnTo>
                <a:cubicBezTo>
                  <a:pt x="145417" y="91913"/>
                  <a:pt x="146779" y="94918"/>
                  <a:pt x="146004" y="97759"/>
                </a:cubicBezTo>
                <a:lnTo>
                  <a:pt x="144361" y="103910"/>
                </a:lnTo>
                <a:cubicBezTo>
                  <a:pt x="143586" y="106750"/>
                  <a:pt x="140933" y="108676"/>
                  <a:pt x="137975" y="108488"/>
                </a:cubicBezTo>
                <a:lnTo>
                  <a:pt x="128115" y="107854"/>
                </a:lnTo>
                <a:cubicBezTo>
                  <a:pt x="126636" y="109756"/>
                  <a:pt x="124922" y="111516"/>
                  <a:pt x="122973" y="113019"/>
                </a:cubicBezTo>
                <a:lnTo>
                  <a:pt x="123607" y="122856"/>
                </a:lnTo>
                <a:cubicBezTo>
                  <a:pt x="123795" y="125814"/>
                  <a:pt x="121870" y="128490"/>
                  <a:pt x="119029" y="129242"/>
                </a:cubicBezTo>
                <a:lnTo>
                  <a:pt x="112878" y="130885"/>
                </a:lnTo>
                <a:cubicBezTo>
                  <a:pt x="110014" y="131660"/>
                  <a:pt x="107032" y="130298"/>
                  <a:pt x="105717" y="127645"/>
                </a:cubicBezTo>
                <a:lnTo>
                  <a:pt x="101351" y="118818"/>
                </a:lnTo>
                <a:cubicBezTo>
                  <a:pt x="98933" y="118489"/>
                  <a:pt x="96561" y="117832"/>
                  <a:pt x="94331" y="116916"/>
                </a:cubicBezTo>
                <a:lnTo>
                  <a:pt x="86114" y="122386"/>
                </a:lnTo>
                <a:cubicBezTo>
                  <a:pt x="83649" y="124030"/>
                  <a:pt x="80386" y="123701"/>
                  <a:pt x="78296" y="121611"/>
                </a:cubicBezTo>
                <a:lnTo>
                  <a:pt x="73789" y="117104"/>
                </a:lnTo>
                <a:cubicBezTo>
                  <a:pt x="71699" y="115014"/>
                  <a:pt x="71370" y="111751"/>
                  <a:pt x="73014" y="109286"/>
                </a:cubicBezTo>
                <a:lnTo>
                  <a:pt x="78484" y="101069"/>
                </a:lnTo>
                <a:cubicBezTo>
                  <a:pt x="78038" y="99966"/>
                  <a:pt x="77639" y="98815"/>
                  <a:pt x="77310" y="97618"/>
                </a:cubicBezTo>
                <a:cubicBezTo>
                  <a:pt x="76981" y="96421"/>
                  <a:pt x="76770" y="95223"/>
                  <a:pt x="76606" y="94049"/>
                </a:cubicBezTo>
                <a:lnTo>
                  <a:pt x="67755" y="89683"/>
                </a:lnTo>
                <a:cubicBezTo>
                  <a:pt x="65102" y="88368"/>
                  <a:pt x="63764" y="85363"/>
                  <a:pt x="64515" y="82522"/>
                </a:cubicBezTo>
                <a:lnTo>
                  <a:pt x="66159" y="76371"/>
                </a:lnTo>
                <a:cubicBezTo>
                  <a:pt x="66933" y="73530"/>
                  <a:pt x="69586" y="71605"/>
                  <a:pt x="72544" y="71793"/>
                </a:cubicBezTo>
                <a:lnTo>
                  <a:pt x="82381" y="72427"/>
                </a:lnTo>
                <a:cubicBezTo>
                  <a:pt x="83860" y="70525"/>
                  <a:pt x="85574" y="68764"/>
                  <a:pt x="87523" y="67262"/>
                </a:cubicBezTo>
                <a:lnTo>
                  <a:pt x="86889" y="57448"/>
                </a:lnTo>
                <a:cubicBezTo>
                  <a:pt x="86701" y="54490"/>
                  <a:pt x="88626" y="51814"/>
                  <a:pt x="91467" y="51063"/>
                </a:cubicBezTo>
                <a:lnTo>
                  <a:pt x="97618" y="49419"/>
                </a:lnTo>
                <a:close/>
                <a:moveTo>
                  <a:pt x="105271" y="79822"/>
                </a:moveTo>
                <a:cubicBezTo>
                  <a:pt x="99570" y="79829"/>
                  <a:pt x="94947" y="84463"/>
                  <a:pt x="94953" y="90164"/>
                </a:cubicBezTo>
                <a:cubicBezTo>
                  <a:pt x="94960" y="95865"/>
                  <a:pt x="99594" y="100489"/>
                  <a:pt x="105295" y="100482"/>
                </a:cubicBezTo>
                <a:cubicBezTo>
                  <a:pt x="110996" y="100476"/>
                  <a:pt x="115620" y="95842"/>
                  <a:pt x="115613" y="90140"/>
                </a:cubicBezTo>
                <a:cubicBezTo>
                  <a:pt x="115607" y="84439"/>
                  <a:pt x="110973" y="79816"/>
                  <a:pt x="105271" y="79822"/>
                </a:cubicBezTo>
                <a:close/>
                <a:moveTo>
                  <a:pt x="52800" y="-10682"/>
                </a:moveTo>
                <a:lnTo>
                  <a:pt x="58951" y="-9039"/>
                </a:lnTo>
                <a:cubicBezTo>
                  <a:pt x="61792" y="-8264"/>
                  <a:pt x="63717" y="-5588"/>
                  <a:pt x="63529" y="-2653"/>
                </a:cubicBezTo>
                <a:lnTo>
                  <a:pt x="62895" y="7161"/>
                </a:lnTo>
                <a:cubicBezTo>
                  <a:pt x="64844" y="8663"/>
                  <a:pt x="66558" y="10400"/>
                  <a:pt x="68037" y="12325"/>
                </a:cubicBezTo>
                <a:lnTo>
                  <a:pt x="77897" y="11692"/>
                </a:lnTo>
                <a:cubicBezTo>
                  <a:pt x="80832" y="11504"/>
                  <a:pt x="83508" y="13429"/>
                  <a:pt x="84283" y="16270"/>
                </a:cubicBezTo>
                <a:lnTo>
                  <a:pt x="85926" y="22421"/>
                </a:lnTo>
                <a:cubicBezTo>
                  <a:pt x="86678" y="25261"/>
                  <a:pt x="85339" y="28266"/>
                  <a:pt x="82686" y="29581"/>
                </a:cubicBezTo>
                <a:lnTo>
                  <a:pt x="73836" y="33948"/>
                </a:lnTo>
                <a:cubicBezTo>
                  <a:pt x="73671" y="35145"/>
                  <a:pt x="73436" y="36343"/>
                  <a:pt x="73131" y="37516"/>
                </a:cubicBezTo>
                <a:cubicBezTo>
                  <a:pt x="72826" y="38690"/>
                  <a:pt x="72403" y="39864"/>
                  <a:pt x="71957" y="40968"/>
                </a:cubicBezTo>
                <a:lnTo>
                  <a:pt x="77428" y="49185"/>
                </a:lnTo>
                <a:cubicBezTo>
                  <a:pt x="79071" y="51650"/>
                  <a:pt x="78742" y="54913"/>
                  <a:pt x="76653" y="57002"/>
                </a:cubicBezTo>
                <a:lnTo>
                  <a:pt x="72145" y="61510"/>
                </a:lnTo>
                <a:cubicBezTo>
                  <a:pt x="70056" y="63599"/>
                  <a:pt x="66792" y="63928"/>
                  <a:pt x="64327" y="62285"/>
                </a:cubicBezTo>
                <a:lnTo>
                  <a:pt x="56110" y="56815"/>
                </a:lnTo>
                <a:cubicBezTo>
                  <a:pt x="53880" y="57730"/>
                  <a:pt x="51509" y="58388"/>
                  <a:pt x="49091" y="58716"/>
                </a:cubicBezTo>
                <a:lnTo>
                  <a:pt x="44724" y="67544"/>
                </a:lnTo>
                <a:cubicBezTo>
                  <a:pt x="43409" y="70197"/>
                  <a:pt x="40404" y="71535"/>
                  <a:pt x="37563" y="70783"/>
                </a:cubicBezTo>
                <a:lnTo>
                  <a:pt x="31412" y="69140"/>
                </a:lnTo>
                <a:cubicBezTo>
                  <a:pt x="28548" y="68365"/>
                  <a:pt x="26647" y="65689"/>
                  <a:pt x="26834" y="62754"/>
                </a:cubicBezTo>
                <a:lnTo>
                  <a:pt x="27468" y="52917"/>
                </a:lnTo>
                <a:cubicBezTo>
                  <a:pt x="25520" y="51415"/>
                  <a:pt x="23806" y="49678"/>
                  <a:pt x="22327" y="47752"/>
                </a:cubicBezTo>
                <a:lnTo>
                  <a:pt x="12466" y="48386"/>
                </a:lnTo>
                <a:cubicBezTo>
                  <a:pt x="9532" y="48574"/>
                  <a:pt x="6855" y="46649"/>
                  <a:pt x="6081" y="43808"/>
                </a:cubicBezTo>
                <a:lnTo>
                  <a:pt x="4437" y="37657"/>
                </a:lnTo>
                <a:cubicBezTo>
                  <a:pt x="3686" y="34817"/>
                  <a:pt x="5024" y="31811"/>
                  <a:pt x="7677" y="30497"/>
                </a:cubicBezTo>
                <a:lnTo>
                  <a:pt x="16528" y="26130"/>
                </a:lnTo>
                <a:cubicBezTo>
                  <a:pt x="16692" y="24933"/>
                  <a:pt x="16927" y="23759"/>
                  <a:pt x="17232" y="22562"/>
                </a:cubicBezTo>
                <a:cubicBezTo>
                  <a:pt x="17561" y="21364"/>
                  <a:pt x="17937" y="20214"/>
                  <a:pt x="18406" y="19110"/>
                </a:cubicBezTo>
                <a:lnTo>
                  <a:pt x="12936" y="10917"/>
                </a:lnTo>
                <a:cubicBezTo>
                  <a:pt x="11292" y="8452"/>
                  <a:pt x="11621" y="5188"/>
                  <a:pt x="13711" y="3099"/>
                </a:cubicBezTo>
                <a:lnTo>
                  <a:pt x="18218" y="-1409"/>
                </a:lnTo>
                <a:cubicBezTo>
                  <a:pt x="20308" y="-3498"/>
                  <a:pt x="23571" y="-3827"/>
                  <a:pt x="26036" y="-2183"/>
                </a:cubicBezTo>
                <a:lnTo>
                  <a:pt x="34253" y="3287"/>
                </a:lnTo>
                <a:cubicBezTo>
                  <a:pt x="36483" y="2371"/>
                  <a:pt x="38855" y="1714"/>
                  <a:pt x="41273" y="1385"/>
                </a:cubicBezTo>
                <a:lnTo>
                  <a:pt x="45640" y="-7442"/>
                </a:lnTo>
                <a:cubicBezTo>
                  <a:pt x="46954" y="-10095"/>
                  <a:pt x="49936" y="-11433"/>
                  <a:pt x="52800" y="-10682"/>
                </a:cubicBezTo>
                <a:close/>
                <a:moveTo>
                  <a:pt x="45170" y="19721"/>
                </a:moveTo>
                <a:cubicBezTo>
                  <a:pt x="39469" y="19721"/>
                  <a:pt x="34840" y="24349"/>
                  <a:pt x="34840" y="30051"/>
                </a:cubicBezTo>
                <a:cubicBezTo>
                  <a:pt x="34840" y="35752"/>
                  <a:pt x="39469" y="40381"/>
                  <a:pt x="45170" y="40381"/>
                </a:cubicBezTo>
                <a:cubicBezTo>
                  <a:pt x="50871" y="40381"/>
                  <a:pt x="55500" y="35752"/>
                  <a:pt x="55500" y="30051"/>
                </a:cubicBezTo>
                <a:cubicBezTo>
                  <a:pt x="55500" y="24349"/>
                  <a:pt x="50871" y="19721"/>
                  <a:pt x="45170" y="19721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4" name="Text 52"/>
          <p:cNvSpPr/>
          <p:nvPr/>
        </p:nvSpPr>
        <p:spPr>
          <a:xfrm>
            <a:off x="6529696" y="4828611"/>
            <a:ext cx="1725769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Technology-specific protection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9946" y="5251039"/>
            <a:ext cx="5682159" cy="1002835"/>
          </a:xfrm>
          <a:custGeom>
            <a:avLst/>
            <a:gdLst/>
            <a:ahLst/>
            <a:cxnLst/>
            <a:rect l="l" t="t" r="r" b="b"/>
            <a:pathLst>
              <a:path w="5682159" h="1002835">
                <a:moveTo>
                  <a:pt x="68684" y="0"/>
                </a:moveTo>
                <a:lnTo>
                  <a:pt x="5613475" y="0"/>
                </a:lnTo>
                <a:cubicBezTo>
                  <a:pt x="5651408" y="0"/>
                  <a:pt x="5682159" y="30751"/>
                  <a:pt x="5682159" y="68684"/>
                </a:cubicBezTo>
                <a:lnTo>
                  <a:pt x="5682159" y="934151"/>
                </a:lnTo>
                <a:cubicBezTo>
                  <a:pt x="5682159" y="972084"/>
                  <a:pt x="5651408" y="1002835"/>
                  <a:pt x="5613475" y="1002835"/>
                </a:cubicBezTo>
                <a:lnTo>
                  <a:pt x="68684" y="1002835"/>
                </a:lnTo>
                <a:cubicBezTo>
                  <a:pt x="30751" y="1002835"/>
                  <a:pt x="0" y="972084"/>
                  <a:pt x="0" y="934151"/>
                </a:cubicBezTo>
                <a:lnTo>
                  <a:pt x="0" y="68684"/>
                </a:lnTo>
                <a:cubicBezTo>
                  <a:pt x="0" y="30751"/>
                  <a:pt x="30751" y="0"/>
                  <a:pt x="68684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32220" y="5434776"/>
            <a:ext cx="154546" cy="154546"/>
          </a:xfrm>
          <a:custGeom>
            <a:avLst/>
            <a:gdLst/>
            <a:ahLst/>
            <a:cxnLst/>
            <a:rect l="l" t="t" r="r" b="b"/>
            <a:pathLst>
              <a:path w="154546" h="154546">
                <a:moveTo>
                  <a:pt x="144918" y="57955"/>
                </a:moveTo>
                <a:lnTo>
                  <a:pt x="147302" y="57955"/>
                </a:lnTo>
                <a:cubicBezTo>
                  <a:pt x="151317" y="57955"/>
                  <a:pt x="154546" y="54725"/>
                  <a:pt x="154546" y="50711"/>
                </a:cubicBezTo>
                <a:lnTo>
                  <a:pt x="154546" y="7244"/>
                </a:lnTo>
                <a:cubicBezTo>
                  <a:pt x="154546" y="4316"/>
                  <a:pt x="152796" y="1660"/>
                  <a:pt x="150079" y="543"/>
                </a:cubicBezTo>
                <a:cubicBezTo>
                  <a:pt x="147362" y="-574"/>
                  <a:pt x="144253" y="60"/>
                  <a:pt x="142171" y="2113"/>
                </a:cubicBezTo>
                <a:lnTo>
                  <a:pt x="126565" y="17749"/>
                </a:lnTo>
                <a:cubicBezTo>
                  <a:pt x="113193" y="6671"/>
                  <a:pt x="95988" y="0"/>
                  <a:pt x="77273" y="0"/>
                </a:cubicBezTo>
                <a:cubicBezTo>
                  <a:pt x="38335" y="0"/>
                  <a:pt x="6128" y="28796"/>
                  <a:pt x="785" y="66256"/>
                </a:cubicBezTo>
                <a:cubicBezTo>
                  <a:pt x="30" y="71538"/>
                  <a:pt x="3683" y="76428"/>
                  <a:pt x="8965" y="77183"/>
                </a:cubicBezTo>
                <a:cubicBezTo>
                  <a:pt x="14247" y="77937"/>
                  <a:pt x="19137" y="74255"/>
                  <a:pt x="19892" y="69003"/>
                </a:cubicBezTo>
                <a:cubicBezTo>
                  <a:pt x="23906" y="40900"/>
                  <a:pt x="48084" y="19318"/>
                  <a:pt x="77273" y="19318"/>
                </a:cubicBezTo>
                <a:cubicBezTo>
                  <a:pt x="90675" y="19318"/>
                  <a:pt x="102991" y="23846"/>
                  <a:pt x="112801" y="31483"/>
                </a:cubicBezTo>
                <a:lnTo>
                  <a:pt x="98704" y="45579"/>
                </a:lnTo>
                <a:cubicBezTo>
                  <a:pt x="96622" y="47662"/>
                  <a:pt x="96018" y="50771"/>
                  <a:pt x="97135" y="53488"/>
                </a:cubicBezTo>
                <a:cubicBezTo>
                  <a:pt x="98252" y="56204"/>
                  <a:pt x="100908" y="57955"/>
                  <a:pt x="103836" y="57955"/>
                </a:cubicBezTo>
                <a:lnTo>
                  <a:pt x="144918" y="57955"/>
                </a:lnTo>
                <a:close/>
                <a:moveTo>
                  <a:pt x="153792" y="88291"/>
                </a:moveTo>
                <a:cubicBezTo>
                  <a:pt x="154546" y="83008"/>
                  <a:pt x="150864" y="78118"/>
                  <a:pt x="145612" y="77364"/>
                </a:cubicBezTo>
                <a:cubicBezTo>
                  <a:pt x="140360" y="76609"/>
                  <a:pt x="135439" y="80292"/>
                  <a:pt x="134685" y="85544"/>
                </a:cubicBezTo>
                <a:cubicBezTo>
                  <a:pt x="130670" y="113616"/>
                  <a:pt x="106492" y="135198"/>
                  <a:pt x="77303" y="135198"/>
                </a:cubicBezTo>
                <a:cubicBezTo>
                  <a:pt x="63901" y="135198"/>
                  <a:pt x="51586" y="130670"/>
                  <a:pt x="41776" y="123033"/>
                </a:cubicBezTo>
                <a:lnTo>
                  <a:pt x="55842" y="108967"/>
                </a:lnTo>
                <a:cubicBezTo>
                  <a:pt x="57925" y="106885"/>
                  <a:pt x="58528" y="103776"/>
                  <a:pt x="57412" y="101059"/>
                </a:cubicBezTo>
                <a:cubicBezTo>
                  <a:pt x="56295" y="98342"/>
                  <a:pt x="53638" y="96592"/>
                  <a:pt x="50711" y="96592"/>
                </a:cubicBezTo>
                <a:lnTo>
                  <a:pt x="7244" y="96592"/>
                </a:lnTo>
                <a:cubicBezTo>
                  <a:pt x="3230" y="96592"/>
                  <a:pt x="0" y="99821"/>
                  <a:pt x="0" y="103836"/>
                </a:cubicBezTo>
                <a:lnTo>
                  <a:pt x="0" y="147302"/>
                </a:lnTo>
                <a:cubicBezTo>
                  <a:pt x="0" y="150230"/>
                  <a:pt x="1751" y="152886"/>
                  <a:pt x="4467" y="154003"/>
                </a:cubicBezTo>
                <a:cubicBezTo>
                  <a:pt x="7184" y="155120"/>
                  <a:pt x="10293" y="154486"/>
                  <a:pt x="12376" y="152434"/>
                </a:cubicBezTo>
                <a:lnTo>
                  <a:pt x="28012" y="136798"/>
                </a:lnTo>
                <a:cubicBezTo>
                  <a:pt x="41353" y="147876"/>
                  <a:pt x="58559" y="154546"/>
                  <a:pt x="77273" y="154546"/>
                </a:cubicBezTo>
                <a:cubicBezTo>
                  <a:pt x="116212" y="154546"/>
                  <a:pt x="148419" y="125750"/>
                  <a:pt x="153762" y="88291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7" name="Text 55"/>
          <p:cNvSpPr/>
          <p:nvPr/>
        </p:nvSpPr>
        <p:spPr>
          <a:xfrm>
            <a:off x="6508231" y="5391846"/>
            <a:ext cx="528033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Updates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10755" y="5700939"/>
            <a:ext cx="5469228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Rulesets are </a:t>
            </a:r>
            <a:pPr>
              <a:lnSpc>
                <a:spcPct val="130000"/>
              </a:lnSpc>
            </a:pPr>
            <a:r>
              <a:rPr lang="en-US" sz="108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updated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Cloudflare's security team as new vulnerabilities emerge. Monitor changes via the 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WAF changelog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RULESETS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&amp; Customization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>
                <a:moveTo>
                  <a:pt x="0" y="0"/>
                </a:moveTo>
                <a:lnTo>
                  <a:pt x="1016000" y="0"/>
                </a:lnTo>
                <a:lnTo>
                  <a:pt x="1016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675" y="1209675"/>
            <a:ext cx="3760787" cy="2197100"/>
          </a:xfrm>
          <a:custGeom>
            <a:avLst/>
            <a:gdLst/>
            <a:ahLst/>
            <a:cxnLst/>
            <a:rect l="l" t="t" r="r" b="b"/>
            <a:pathLst>
              <a:path w="3760787" h="2197100">
                <a:moveTo>
                  <a:pt x="63496" y="0"/>
                </a:moveTo>
                <a:lnTo>
                  <a:pt x="3697291" y="0"/>
                </a:lnTo>
                <a:cubicBezTo>
                  <a:pt x="3732359" y="0"/>
                  <a:pt x="3760788" y="28428"/>
                  <a:pt x="3760788" y="63496"/>
                </a:cubicBezTo>
                <a:lnTo>
                  <a:pt x="3760787" y="2133604"/>
                </a:lnTo>
                <a:cubicBezTo>
                  <a:pt x="3760787" y="2168672"/>
                  <a:pt x="3732359" y="2197100"/>
                  <a:pt x="3697291" y="2197100"/>
                </a:cubicBezTo>
                <a:lnTo>
                  <a:pt x="63496" y="2197100"/>
                </a:lnTo>
                <a:cubicBezTo>
                  <a:pt x="28428" y="2197100"/>
                  <a:pt x="0" y="2168672"/>
                  <a:pt x="0" y="21336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2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 w="10160">
            <a:solidFill>
              <a:srgbClr val="F4812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0850" y="1339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" name="Shape 5"/>
          <p:cNvSpPr/>
          <p:nvPr/>
        </p:nvSpPr>
        <p:spPr>
          <a:xfrm>
            <a:off x="561975" y="14509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927100" y="1419225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Ruleset Level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0850" y="1816100"/>
            <a:ext cx="3500438" cy="444500"/>
          </a:xfrm>
          <a:custGeom>
            <a:avLst/>
            <a:gdLst/>
            <a:ahLst/>
            <a:cxnLst/>
            <a:rect l="l" t="t" r="r" b="b"/>
            <a:pathLst>
              <a:path w="3500438" h="444500">
                <a:moveTo>
                  <a:pt x="63501" y="0"/>
                </a:moveTo>
                <a:lnTo>
                  <a:pt x="3436936" y="0"/>
                </a:lnTo>
                <a:cubicBezTo>
                  <a:pt x="3472007" y="0"/>
                  <a:pt x="3500438" y="28430"/>
                  <a:pt x="3500438" y="63501"/>
                </a:cubicBezTo>
                <a:lnTo>
                  <a:pt x="3500438" y="380999"/>
                </a:lnTo>
                <a:cubicBezTo>
                  <a:pt x="3500438" y="416070"/>
                  <a:pt x="3472007" y="444500"/>
                  <a:pt x="3436936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14350" y="1879600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4350" y="2070100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filter expression for subset of requests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0850" y="2324002"/>
            <a:ext cx="3500438" cy="444500"/>
          </a:xfrm>
          <a:custGeom>
            <a:avLst/>
            <a:gdLst/>
            <a:ahLst/>
            <a:cxnLst/>
            <a:rect l="l" t="t" r="r" b="b"/>
            <a:pathLst>
              <a:path w="3500438" h="444500">
                <a:moveTo>
                  <a:pt x="63501" y="0"/>
                </a:moveTo>
                <a:lnTo>
                  <a:pt x="3436936" y="0"/>
                </a:lnTo>
                <a:cubicBezTo>
                  <a:pt x="3472007" y="0"/>
                  <a:pt x="3500438" y="28430"/>
                  <a:pt x="3500438" y="63501"/>
                </a:cubicBezTo>
                <a:lnTo>
                  <a:pt x="3500438" y="380999"/>
                </a:lnTo>
                <a:cubicBezTo>
                  <a:pt x="3500438" y="416070"/>
                  <a:pt x="3472007" y="444500"/>
                  <a:pt x="3436936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4350" y="2387502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Ruleset 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4350" y="2578002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 default actions for all rules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0850" y="2831903"/>
            <a:ext cx="3500438" cy="444500"/>
          </a:xfrm>
          <a:custGeom>
            <a:avLst/>
            <a:gdLst/>
            <a:ahLst/>
            <a:cxnLst/>
            <a:rect l="l" t="t" r="r" b="b"/>
            <a:pathLst>
              <a:path w="3500438" h="444500">
                <a:moveTo>
                  <a:pt x="63501" y="0"/>
                </a:moveTo>
                <a:lnTo>
                  <a:pt x="3436936" y="0"/>
                </a:lnTo>
                <a:cubicBezTo>
                  <a:pt x="3472007" y="0"/>
                  <a:pt x="3500438" y="28430"/>
                  <a:pt x="3500438" y="63501"/>
                </a:cubicBezTo>
                <a:lnTo>
                  <a:pt x="3500438" y="380999"/>
                </a:lnTo>
                <a:cubicBezTo>
                  <a:pt x="3500438" y="416070"/>
                  <a:pt x="3472007" y="444500"/>
                  <a:pt x="3436936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4350" y="289540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4350" y="3085903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Enable/disable entire ruleset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15309" y="1209675"/>
            <a:ext cx="3760787" cy="2197100"/>
          </a:xfrm>
          <a:custGeom>
            <a:avLst/>
            <a:gdLst/>
            <a:ahLst/>
            <a:cxnLst/>
            <a:rect l="l" t="t" r="r" b="b"/>
            <a:pathLst>
              <a:path w="3760787" h="2197100">
                <a:moveTo>
                  <a:pt x="63496" y="0"/>
                </a:moveTo>
                <a:lnTo>
                  <a:pt x="3697291" y="0"/>
                </a:lnTo>
                <a:cubicBezTo>
                  <a:pt x="3732359" y="0"/>
                  <a:pt x="3760788" y="28428"/>
                  <a:pt x="3760788" y="63496"/>
                </a:cubicBezTo>
                <a:lnTo>
                  <a:pt x="3760787" y="2133604"/>
                </a:lnTo>
                <a:cubicBezTo>
                  <a:pt x="3760787" y="2168672"/>
                  <a:pt x="3732359" y="2197100"/>
                  <a:pt x="3697291" y="2197100"/>
                </a:cubicBezTo>
                <a:lnTo>
                  <a:pt x="63496" y="2197100"/>
                </a:lnTo>
                <a:cubicBezTo>
                  <a:pt x="28428" y="2197100"/>
                  <a:pt x="0" y="2168672"/>
                  <a:pt x="0" y="21336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20000"/>
                </a:srgbClr>
              </a:gs>
              <a:gs pos="100000">
                <a:srgbClr val="00A4E4">
                  <a:alpha val="5000"/>
                </a:srgbClr>
              </a:gs>
            </a:gsLst>
            <a:lin ang="2700000" scaled="1"/>
          </a:gradFill>
          <a:ln w="10160">
            <a:solidFill>
              <a:srgbClr val="00A4E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5484" y="1339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0" name="Shape 18"/>
          <p:cNvSpPr/>
          <p:nvPr/>
        </p:nvSpPr>
        <p:spPr>
          <a:xfrm>
            <a:off x="4446687" y="14509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24396" y="12123"/>
                </a:moveTo>
                <a:lnTo>
                  <a:pt x="170346" y="58725"/>
                </a:lnTo>
                <a:cubicBezTo>
                  <a:pt x="178935" y="67438"/>
                  <a:pt x="178935" y="81390"/>
                  <a:pt x="170346" y="90103"/>
                </a:cubicBezTo>
                <a:lnTo>
                  <a:pt x="121853" y="139185"/>
                </a:lnTo>
                <a:cubicBezTo>
                  <a:pt x="118969" y="142100"/>
                  <a:pt x="114257" y="142131"/>
                  <a:pt x="111342" y="139247"/>
                </a:cubicBezTo>
                <a:cubicBezTo>
                  <a:pt x="108427" y="136364"/>
                  <a:pt x="108396" y="131651"/>
                  <a:pt x="111280" y="128736"/>
                </a:cubicBezTo>
                <a:lnTo>
                  <a:pt x="159773" y="79623"/>
                </a:lnTo>
                <a:cubicBezTo>
                  <a:pt x="162626" y="76740"/>
                  <a:pt x="162626" y="72058"/>
                  <a:pt x="159773" y="69174"/>
                </a:cubicBezTo>
                <a:lnTo>
                  <a:pt x="113792" y="22603"/>
                </a:lnTo>
                <a:cubicBezTo>
                  <a:pt x="110908" y="19689"/>
                  <a:pt x="110939" y="14976"/>
                  <a:pt x="113854" y="12092"/>
                </a:cubicBezTo>
                <a:cubicBezTo>
                  <a:pt x="116768" y="9209"/>
                  <a:pt x="121481" y="9240"/>
                  <a:pt x="124365" y="12154"/>
                </a:cubicBezTo>
                <a:close/>
                <a:moveTo>
                  <a:pt x="9953" y="71158"/>
                </a:moveTo>
                <a:lnTo>
                  <a:pt x="9953" y="29766"/>
                </a:lnTo>
                <a:cubicBezTo>
                  <a:pt x="9953" y="18821"/>
                  <a:pt x="18852" y="9922"/>
                  <a:pt x="29797" y="9922"/>
                </a:cubicBezTo>
                <a:lnTo>
                  <a:pt x="71189" y="9922"/>
                </a:lnTo>
                <a:cubicBezTo>
                  <a:pt x="76460" y="9922"/>
                  <a:pt x="81514" y="11999"/>
                  <a:pt x="85235" y="15720"/>
                </a:cubicBezTo>
                <a:lnTo>
                  <a:pt x="129884" y="60368"/>
                </a:lnTo>
                <a:cubicBezTo>
                  <a:pt x="137635" y="68120"/>
                  <a:pt x="137635" y="80677"/>
                  <a:pt x="129884" y="88429"/>
                </a:cubicBezTo>
                <a:lnTo>
                  <a:pt x="88491" y="129822"/>
                </a:lnTo>
                <a:cubicBezTo>
                  <a:pt x="80739" y="137573"/>
                  <a:pt x="68182" y="137573"/>
                  <a:pt x="60430" y="129822"/>
                </a:cubicBezTo>
                <a:lnTo>
                  <a:pt x="15782" y="85173"/>
                </a:lnTo>
                <a:cubicBezTo>
                  <a:pt x="12061" y="81452"/>
                  <a:pt x="9984" y="76398"/>
                  <a:pt x="9984" y="71127"/>
                </a:cubicBezTo>
                <a:close/>
                <a:moveTo>
                  <a:pt x="54601" y="44648"/>
                </a:moveTo>
                <a:cubicBezTo>
                  <a:pt x="54601" y="39172"/>
                  <a:pt x="50155" y="34727"/>
                  <a:pt x="44679" y="34727"/>
                </a:cubicBezTo>
                <a:cubicBezTo>
                  <a:pt x="39203" y="34727"/>
                  <a:pt x="34758" y="39172"/>
                  <a:pt x="34758" y="44648"/>
                </a:cubicBezTo>
                <a:cubicBezTo>
                  <a:pt x="34758" y="50124"/>
                  <a:pt x="39203" y="54570"/>
                  <a:pt x="44679" y="54570"/>
                </a:cubicBezTo>
                <a:cubicBezTo>
                  <a:pt x="50155" y="54570"/>
                  <a:pt x="54601" y="50124"/>
                  <a:pt x="54601" y="4464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4821734" y="1419225"/>
            <a:ext cx="75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Tag Level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45484" y="1816100"/>
            <a:ext cx="3500438" cy="444500"/>
          </a:xfrm>
          <a:custGeom>
            <a:avLst/>
            <a:gdLst/>
            <a:ahLst/>
            <a:cxnLst/>
            <a:rect l="l" t="t" r="r" b="b"/>
            <a:pathLst>
              <a:path w="3500438" h="444500">
                <a:moveTo>
                  <a:pt x="63501" y="0"/>
                </a:moveTo>
                <a:lnTo>
                  <a:pt x="3436936" y="0"/>
                </a:lnTo>
                <a:cubicBezTo>
                  <a:pt x="3472007" y="0"/>
                  <a:pt x="3500438" y="28430"/>
                  <a:pt x="3500438" y="63501"/>
                </a:cubicBezTo>
                <a:lnTo>
                  <a:pt x="3500438" y="380999"/>
                </a:lnTo>
                <a:cubicBezTo>
                  <a:pt x="3500438" y="416070"/>
                  <a:pt x="3472007" y="444500"/>
                  <a:pt x="3436936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08984" y="1879600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Action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08984" y="2070100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action for all rules with selected tags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45484" y="2324002"/>
            <a:ext cx="3500438" cy="444500"/>
          </a:xfrm>
          <a:custGeom>
            <a:avLst/>
            <a:gdLst/>
            <a:ahLst/>
            <a:cxnLst/>
            <a:rect l="l" t="t" r="r" b="b"/>
            <a:pathLst>
              <a:path w="3500438" h="444500">
                <a:moveTo>
                  <a:pt x="63501" y="0"/>
                </a:moveTo>
                <a:lnTo>
                  <a:pt x="3436936" y="0"/>
                </a:lnTo>
                <a:cubicBezTo>
                  <a:pt x="3472007" y="0"/>
                  <a:pt x="3500438" y="28430"/>
                  <a:pt x="3500438" y="63501"/>
                </a:cubicBezTo>
                <a:lnTo>
                  <a:pt x="3500438" y="380999"/>
                </a:lnTo>
                <a:cubicBezTo>
                  <a:pt x="3500438" y="416070"/>
                  <a:pt x="3472007" y="444500"/>
                  <a:pt x="3436936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408984" y="2387502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Status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08984" y="2578002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Enable/disable rules by tag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45484" y="2831903"/>
            <a:ext cx="3500438" cy="444500"/>
          </a:xfrm>
          <a:custGeom>
            <a:avLst/>
            <a:gdLst/>
            <a:ahLst/>
            <a:cxnLst/>
            <a:rect l="l" t="t" r="r" b="b"/>
            <a:pathLst>
              <a:path w="3500438" h="444500">
                <a:moveTo>
                  <a:pt x="63501" y="0"/>
                </a:moveTo>
                <a:lnTo>
                  <a:pt x="3436936" y="0"/>
                </a:lnTo>
                <a:cubicBezTo>
                  <a:pt x="3472007" y="0"/>
                  <a:pt x="3500438" y="28430"/>
                  <a:pt x="3500438" y="63501"/>
                </a:cubicBezTo>
                <a:lnTo>
                  <a:pt x="3500438" y="380999"/>
                </a:lnTo>
                <a:cubicBezTo>
                  <a:pt x="3500438" y="416070"/>
                  <a:pt x="3472007" y="444500"/>
                  <a:pt x="3436936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408984" y="289540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Bulk Configuration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08984" y="3085903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to new rules automatically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9942" y="1209675"/>
            <a:ext cx="3760787" cy="2197100"/>
          </a:xfrm>
          <a:custGeom>
            <a:avLst/>
            <a:gdLst/>
            <a:ahLst/>
            <a:cxnLst/>
            <a:rect l="l" t="t" r="r" b="b"/>
            <a:pathLst>
              <a:path w="3760787" h="2197100">
                <a:moveTo>
                  <a:pt x="63496" y="0"/>
                </a:moveTo>
                <a:lnTo>
                  <a:pt x="3697291" y="0"/>
                </a:lnTo>
                <a:cubicBezTo>
                  <a:pt x="3732359" y="0"/>
                  <a:pt x="3760788" y="28428"/>
                  <a:pt x="3760788" y="63496"/>
                </a:cubicBezTo>
                <a:lnTo>
                  <a:pt x="3760787" y="2133604"/>
                </a:lnTo>
                <a:cubicBezTo>
                  <a:pt x="3760787" y="2168672"/>
                  <a:pt x="3732359" y="2197100"/>
                  <a:pt x="3697291" y="2197100"/>
                </a:cubicBezTo>
                <a:lnTo>
                  <a:pt x="63496" y="2197100"/>
                </a:lnTo>
                <a:cubicBezTo>
                  <a:pt x="28428" y="2197100"/>
                  <a:pt x="0" y="2168672"/>
                  <a:pt x="0" y="21336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2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 w="10160">
            <a:solidFill>
              <a:srgbClr val="F48120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40117" y="1339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3" name="Shape 31"/>
          <p:cNvSpPr/>
          <p:nvPr/>
        </p:nvSpPr>
        <p:spPr>
          <a:xfrm>
            <a:off x="8351242" y="14509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19844"/>
                </a:moveTo>
                <a:cubicBezTo>
                  <a:pt x="4434" y="19844"/>
                  <a:pt x="0" y="24278"/>
                  <a:pt x="0" y="29766"/>
                </a:cubicBezTo>
                <a:cubicBezTo>
                  <a:pt x="0" y="35254"/>
                  <a:pt x="4434" y="39688"/>
                  <a:pt x="9922" y="39688"/>
                </a:cubicBezTo>
                <a:lnTo>
                  <a:pt x="36804" y="39688"/>
                </a:lnTo>
                <a:cubicBezTo>
                  <a:pt x="40618" y="48462"/>
                  <a:pt x="49361" y="54570"/>
                  <a:pt x="59531" y="54570"/>
                </a:cubicBezTo>
                <a:cubicBezTo>
                  <a:pt x="69701" y="54570"/>
                  <a:pt x="78445" y="48462"/>
                  <a:pt x="82259" y="39688"/>
                </a:cubicBezTo>
                <a:lnTo>
                  <a:pt x="148828" y="39688"/>
                </a:lnTo>
                <a:cubicBezTo>
                  <a:pt x="154316" y="39688"/>
                  <a:pt x="158750" y="35254"/>
                  <a:pt x="158750" y="29766"/>
                </a:cubicBezTo>
                <a:cubicBezTo>
                  <a:pt x="158750" y="24278"/>
                  <a:pt x="154316" y="19844"/>
                  <a:pt x="148828" y="19844"/>
                </a:cubicBezTo>
                <a:lnTo>
                  <a:pt x="82259" y="19844"/>
                </a:lnTo>
                <a:cubicBezTo>
                  <a:pt x="78445" y="11069"/>
                  <a:pt x="69701" y="4961"/>
                  <a:pt x="59531" y="4961"/>
                </a:cubicBezTo>
                <a:cubicBezTo>
                  <a:pt x="49361" y="4961"/>
                  <a:pt x="40618" y="11069"/>
                  <a:pt x="36804" y="19844"/>
                </a:cubicBezTo>
                <a:lnTo>
                  <a:pt x="9922" y="19844"/>
                </a:lnTo>
                <a:close/>
                <a:moveTo>
                  <a:pt x="9922" y="69453"/>
                </a:move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86413" y="89297"/>
                </a:lnTo>
                <a:cubicBezTo>
                  <a:pt x="90227" y="98072"/>
                  <a:pt x="98971" y="104180"/>
                  <a:pt x="109141" y="104180"/>
                </a:cubicBezTo>
                <a:cubicBezTo>
                  <a:pt x="119311" y="104180"/>
                  <a:pt x="128054" y="98072"/>
                  <a:pt x="131868" y="89297"/>
                </a:cubicBezTo>
                <a:lnTo>
                  <a:pt x="148828" y="89297"/>
                </a:lnTo>
                <a:cubicBezTo>
                  <a:pt x="154316" y="89297"/>
                  <a:pt x="158750" y="84863"/>
                  <a:pt x="158750" y="79375"/>
                </a:cubicBezTo>
                <a:cubicBezTo>
                  <a:pt x="158750" y="73887"/>
                  <a:pt x="154316" y="69453"/>
                  <a:pt x="148828" y="69453"/>
                </a:cubicBezTo>
                <a:lnTo>
                  <a:pt x="131868" y="69453"/>
                </a:lnTo>
                <a:cubicBezTo>
                  <a:pt x="128054" y="60678"/>
                  <a:pt x="119311" y="54570"/>
                  <a:pt x="109141" y="54570"/>
                </a:cubicBezTo>
                <a:cubicBezTo>
                  <a:pt x="98971" y="54570"/>
                  <a:pt x="90227" y="60678"/>
                  <a:pt x="86413" y="69453"/>
                </a:cubicBezTo>
                <a:lnTo>
                  <a:pt x="9922" y="69453"/>
                </a:lnTo>
                <a:close/>
                <a:moveTo>
                  <a:pt x="9922" y="119062"/>
                </a:moveTo>
                <a:cubicBezTo>
                  <a:pt x="4434" y="119062"/>
                  <a:pt x="0" y="123496"/>
                  <a:pt x="0" y="128984"/>
                </a:cubicBezTo>
                <a:cubicBezTo>
                  <a:pt x="0" y="134472"/>
                  <a:pt x="4434" y="138906"/>
                  <a:pt x="9922" y="138906"/>
                </a:cubicBezTo>
                <a:lnTo>
                  <a:pt x="26882" y="138906"/>
                </a:lnTo>
                <a:cubicBezTo>
                  <a:pt x="30696" y="147681"/>
                  <a:pt x="39439" y="153789"/>
                  <a:pt x="49609" y="153789"/>
                </a:cubicBezTo>
                <a:cubicBezTo>
                  <a:pt x="59779" y="153789"/>
                  <a:pt x="68523" y="147681"/>
                  <a:pt x="72337" y="138906"/>
                </a:cubicBezTo>
                <a:lnTo>
                  <a:pt x="148828" y="138906"/>
                </a:lnTo>
                <a:cubicBezTo>
                  <a:pt x="154316" y="138906"/>
                  <a:pt x="158750" y="134472"/>
                  <a:pt x="158750" y="128984"/>
                </a:cubicBezTo>
                <a:cubicBezTo>
                  <a:pt x="158750" y="123496"/>
                  <a:pt x="154316" y="119062"/>
                  <a:pt x="148828" y="119062"/>
                </a:cubicBezTo>
                <a:lnTo>
                  <a:pt x="72337" y="119062"/>
                </a:lnTo>
                <a:cubicBezTo>
                  <a:pt x="68523" y="110288"/>
                  <a:pt x="59779" y="104180"/>
                  <a:pt x="49609" y="104180"/>
                </a:cubicBezTo>
                <a:cubicBezTo>
                  <a:pt x="39439" y="104180"/>
                  <a:pt x="30696" y="110288"/>
                  <a:pt x="26882" y="119062"/>
                </a:cubicBezTo>
                <a:lnTo>
                  <a:pt x="9922" y="11906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8716367" y="1419225"/>
            <a:ext cx="793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Level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40117" y="1816100"/>
            <a:ext cx="3500438" cy="444500"/>
          </a:xfrm>
          <a:custGeom>
            <a:avLst/>
            <a:gdLst/>
            <a:ahLst/>
            <a:cxnLst/>
            <a:rect l="l" t="t" r="r" b="b"/>
            <a:pathLst>
              <a:path w="3500438" h="444500">
                <a:moveTo>
                  <a:pt x="63501" y="0"/>
                </a:moveTo>
                <a:lnTo>
                  <a:pt x="3436936" y="0"/>
                </a:lnTo>
                <a:cubicBezTo>
                  <a:pt x="3472007" y="0"/>
                  <a:pt x="3500438" y="28430"/>
                  <a:pt x="3500438" y="63501"/>
                </a:cubicBezTo>
                <a:lnTo>
                  <a:pt x="3500438" y="380999"/>
                </a:lnTo>
                <a:cubicBezTo>
                  <a:pt x="3500438" y="416070"/>
                  <a:pt x="3472007" y="444500"/>
                  <a:pt x="3436936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303617" y="1879600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 Action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03617" y="2070100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Customize specific rule behavior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40117" y="2324002"/>
            <a:ext cx="3500438" cy="444500"/>
          </a:xfrm>
          <a:custGeom>
            <a:avLst/>
            <a:gdLst/>
            <a:ahLst/>
            <a:cxnLst/>
            <a:rect l="l" t="t" r="r" b="b"/>
            <a:pathLst>
              <a:path w="3500438" h="444500">
                <a:moveTo>
                  <a:pt x="63501" y="0"/>
                </a:moveTo>
                <a:lnTo>
                  <a:pt x="3436936" y="0"/>
                </a:lnTo>
                <a:cubicBezTo>
                  <a:pt x="3472007" y="0"/>
                  <a:pt x="3500438" y="28430"/>
                  <a:pt x="3500438" y="63501"/>
                </a:cubicBezTo>
                <a:lnTo>
                  <a:pt x="3500438" y="380999"/>
                </a:lnTo>
                <a:cubicBezTo>
                  <a:pt x="3500438" y="416070"/>
                  <a:pt x="3472007" y="444500"/>
                  <a:pt x="3436936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303617" y="2387502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 Status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03617" y="2578002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Enable/disable single rules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40117" y="2831903"/>
            <a:ext cx="3500438" cy="444500"/>
          </a:xfrm>
          <a:custGeom>
            <a:avLst/>
            <a:gdLst/>
            <a:ahLst/>
            <a:cxnLst/>
            <a:rect l="l" t="t" r="r" b="b"/>
            <a:pathLst>
              <a:path w="3500438" h="444500">
                <a:moveTo>
                  <a:pt x="63501" y="0"/>
                </a:moveTo>
                <a:lnTo>
                  <a:pt x="3436936" y="0"/>
                </a:lnTo>
                <a:cubicBezTo>
                  <a:pt x="3472007" y="0"/>
                  <a:pt x="3500438" y="28430"/>
                  <a:pt x="3500438" y="63501"/>
                </a:cubicBezTo>
                <a:lnTo>
                  <a:pt x="3500438" y="380999"/>
                </a:lnTo>
                <a:cubicBezTo>
                  <a:pt x="3500438" y="416070"/>
                  <a:pt x="3472007" y="444500"/>
                  <a:pt x="3436936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303617" y="2895403"/>
            <a:ext cx="342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Reset to Default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03617" y="3085903"/>
            <a:ext cx="3421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Revert custom configurations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0675" y="3508077"/>
            <a:ext cx="5705475" cy="3641725"/>
          </a:xfrm>
          <a:custGeom>
            <a:avLst/>
            <a:gdLst/>
            <a:ahLst/>
            <a:cxnLst/>
            <a:rect l="l" t="t" r="r" b="b"/>
            <a:pathLst>
              <a:path w="5705475" h="3641725">
                <a:moveTo>
                  <a:pt x="63512" y="0"/>
                </a:moveTo>
                <a:lnTo>
                  <a:pt x="5641963" y="0"/>
                </a:lnTo>
                <a:cubicBezTo>
                  <a:pt x="5677040" y="0"/>
                  <a:pt x="5705475" y="28435"/>
                  <a:pt x="5705475" y="63512"/>
                </a:cubicBezTo>
                <a:lnTo>
                  <a:pt x="5705475" y="3578213"/>
                </a:lnTo>
                <a:cubicBezTo>
                  <a:pt x="5705475" y="3613290"/>
                  <a:pt x="5677040" y="3641725"/>
                  <a:pt x="5641963" y="3641725"/>
                </a:cubicBezTo>
                <a:lnTo>
                  <a:pt x="63512" y="3641725"/>
                </a:lnTo>
                <a:cubicBezTo>
                  <a:pt x="28435" y="3641725"/>
                  <a:pt x="0" y="3613290"/>
                  <a:pt x="0" y="3578213"/>
                </a:cubicBezTo>
                <a:lnTo>
                  <a:pt x="0" y="63512"/>
                </a:lnTo>
                <a:cubicBezTo>
                  <a:pt x="0" y="28435"/>
                  <a:pt x="28435" y="0"/>
                  <a:pt x="63512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694" y="367000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0492" y="2946"/>
                </a:moveTo>
                <a:cubicBezTo>
                  <a:pt x="61423" y="-1643"/>
                  <a:pt x="65484" y="-4961"/>
                  <a:pt x="70197" y="-4961"/>
                </a:cubicBezTo>
                <a:lnTo>
                  <a:pt x="88739" y="-4961"/>
                </a:lnTo>
                <a:cubicBezTo>
                  <a:pt x="93452" y="-4961"/>
                  <a:pt x="97513" y="-1643"/>
                  <a:pt x="98444" y="2946"/>
                </a:cubicBezTo>
                <a:lnTo>
                  <a:pt x="102939" y="24650"/>
                </a:lnTo>
                <a:cubicBezTo>
                  <a:pt x="107311" y="26510"/>
                  <a:pt x="111404" y="28897"/>
                  <a:pt x="115125" y="31719"/>
                </a:cubicBezTo>
                <a:lnTo>
                  <a:pt x="136147" y="24743"/>
                </a:lnTo>
                <a:cubicBezTo>
                  <a:pt x="140612" y="23254"/>
                  <a:pt x="145510" y="25115"/>
                  <a:pt x="147867" y="29208"/>
                </a:cubicBezTo>
                <a:lnTo>
                  <a:pt x="157138" y="45269"/>
                </a:lnTo>
                <a:cubicBezTo>
                  <a:pt x="159494" y="49361"/>
                  <a:pt x="158657" y="54508"/>
                  <a:pt x="155122" y="57640"/>
                </a:cubicBezTo>
                <a:lnTo>
                  <a:pt x="138596" y="72337"/>
                </a:lnTo>
                <a:cubicBezTo>
                  <a:pt x="138875" y="74631"/>
                  <a:pt x="138999" y="76988"/>
                  <a:pt x="138999" y="79375"/>
                </a:cubicBezTo>
                <a:cubicBezTo>
                  <a:pt x="138999" y="81762"/>
                  <a:pt x="138844" y="84119"/>
                  <a:pt x="138596" y="86413"/>
                </a:cubicBezTo>
                <a:lnTo>
                  <a:pt x="155153" y="101141"/>
                </a:lnTo>
                <a:cubicBezTo>
                  <a:pt x="158688" y="104273"/>
                  <a:pt x="159494" y="109451"/>
                  <a:pt x="157169" y="113512"/>
                </a:cubicBezTo>
                <a:lnTo>
                  <a:pt x="147898" y="129573"/>
                </a:lnTo>
                <a:cubicBezTo>
                  <a:pt x="145542" y="133635"/>
                  <a:pt x="140643" y="135527"/>
                  <a:pt x="136178" y="134038"/>
                </a:cubicBezTo>
                <a:lnTo>
                  <a:pt x="115156" y="127062"/>
                </a:lnTo>
                <a:cubicBezTo>
                  <a:pt x="111404" y="129884"/>
                  <a:pt x="107311" y="132240"/>
                  <a:pt x="102970" y="134131"/>
                </a:cubicBezTo>
                <a:lnTo>
                  <a:pt x="98506" y="155804"/>
                </a:lnTo>
                <a:cubicBezTo>
                  <a:pt x="97544" y="160424"/>
                  <a:pt x="93483" y="163711"/>
                  <a:pt x="88801" y="163711"/>
                </a:cubicBezTo>
                <a:lnTo>
                  <a:pt x="70259" y="163711"/>
                </a:lnTo>
                <a:cubicBezTo>
                  <a:pt x="65546" y="163711"/>
                  <a:pt x="61485" y="160393"/>
                  <a:pt x="60554" y="155804"/>
                </a:cubicBezTo>
                <a:lnTo>
                  <a:pt x="56090" y="134131"/>
                </a:lnTo>
                <a:cubicBezTo>
                  <a:pt x="51718" y="132271"/>
                  <a:pt x="47656" y="129884"/>
                  <a:pt x="43904" y="127062"/>
                </a:cubicBezTo>
                <a:lnTo>
                  <a:pt x="22789" y="134038"/>
                </a:lnTo>
                <a:cubicBezTo>
                  <a:pt x="18324" y="135527"/>
                  <a:pt x="13426" y="133666"/>
                  <a:pt x="11069" y="129573"/>
                </a:cubicBezTo>
                <a:lnTo>
                  <a:pt x="1798" y="113512"/>
                </a:lnTo>
                <a:cubicBezTo>
                  <a:pt x="-558" y="109420"/>
                  <a:pt x="279" y="104273"/>
                  <a:pt x="3814" y="101141"/>
                </a:cubicBezTo>
                <a:lnTo>
                  <a:pt x="20371" y="86413"/>
                </a:lnTo>
                <a:cubicBezTo>
                  <a:pt x="20092" y="84119"/>
                  <a:pt x="19968" y="81762"/>
                  <a:pt x="19968" y="79375"/>
                </a:cubicBezTo>
                <a:cubicBezTo>
                  <a:pt x="19968" y="76988"/>
                  <a:pt x="20123" y="74631"/>
                  <a:pt x="20371" y="72337"/>
                </a:cubicBezTo>
                <a:lnTo>
                  <a:pt x="3814" y="57609"/>
                </a:lnTo>
                <a:cubicBezTo>
                  <a:pt x="279" y="54477"/>
                  <a:pt x="-527" y="49299"/>
                  <a:pt x="1798" y="45238"/>
                </a:cubicBezTo>
                <a:lnTo>
                  <a:pt x="11069" y="29177"/>
                </a:lnTo>
                <a:cubicBezTo>
                  <a:pt x="13426" y="25084"/>
                  <a:pt x="18324" y="23223"/>
                  <a:pt x="22789" y="24712"/>
                </a:cubicBezTo>
                <a:lnTo>
                  <a:pt x="43811" y="31688"/>
                </a:lnTo>
                <a:cubicBezTo>
                  <a:pt x="47563" y="28866"/>
                  <a:pt x="51656" y="26510"/>
                  <a:pt x="55997" y="24619"/>
                </a:cubicBezTo>
                <a:lnTo>
                  <a:pt x="60492" y="2946"/>
                </a:lnTo>
                <a:close/>
                <a:moveTo>
                  <a:pt x="79468" y="104180"/>
                </a:moveTo>
                <a:cubicBezTo>
                  <a:pt x="88330" y="104146"/>
                  <a:pt x="96501" y="99388"/>
                  <a:pt x="100903" y="91697"/>
                </a:cubicBezTo>
                <a:cubicBezTo>
                  <a:pt x="105305" y="84006"/>
                  <a:pt x="105270" y="74550"/>
                  <a:pt x="100810" y="66892"/>
                </a:cubicBezTo>
                <a:cubicBezTo>
                  <a:pt x="96350" y="59234"/>
                  <a:pt x="88144" y="54537"/>
                  <a:pt x="79282" y="54570"/>
                </a:cubicBezTo>
                <a:cubicBezTo>
                  <a:pt x="70420" y="54604"/>
                  <a:pt x="62249" y="59362"/>
                  <a:pt x="57847" y="67053"/>
                </a:cubicBezTo>
                <a:cubicBezTo>
                  <a:pt x="53445" y="74744"/>
                  <a:pt x="53480" y="84200"/>
                  <a:pt x="57940" y="91858"/>
                </a:cubicBezTo>
                <a:cubicBezTo>
                  <a:pt x="62400" y="99516"/>
                  <a:pt x="70606" y="104213"/>
                  <a:pt x="79468" y="10418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87" y="363825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Actions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66725" y="3955753"/>
            <a:ext cx="2674938" cy="539750"/>
          </a:xfrm>
          <a:custGeom>
            <a:avLst/>
            <a:gdLst/>
            <a:ahLst/>
            <a:cxnLst/>
            <a:rect l="l" t="t" r="r" b="b"/>
            <a:pathLst>
              <a:path w="2674938" h="539750">
                <a:moveTo>
                  <a:pt x="31750" y="0"/>
                </a:moveTo>
                <a:lnTo>
                  <a:pt x="2611436" y="0"/>
                </a:lnTo>
                <a:cubicBezTo>
                  <a:pt x="2646507" y="0"/>
                  <a:pt x="2674937" y="28431"/>
                  <a:pt x="2674937" y="63502"/>
                </a:cubicBezTo>
                <a:lnTo>
                  <a:pt x="2674938" y="476248"/>
                </a:lnTo>
                <a:cubicBezTo>
                  <a:pt x="2674937" y="511319"/>
                  <a:pt x="2646507" y="539750"/>
                  <a:pt x="2611436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66725" y="395575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9" name="Shape 47"/>
          <p:cNvSpPr/>
          <p:nvPr/>
        </p:nvSpPr>
        <p:spPr>
          <a:xfrm>
            <a:off x="593725" y="408275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0" name="Text 48"/>
          <p:cNvSpPr/>
          <p:nvPr/>
        </p:nvSpPr>
        <p:spPr>
          <a:xfrm>
            <a:off x="800100" y="4051003"/>
            <a:ext cx="37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77850" y="4273253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Deny request immediately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22625" y="3955753"/>
            <a:ext cx="2674938" cy="539750"/>
          </a:xfrm>
          <a:custGeom>
            <a:avLst/>
            <a:gdLst/>
            <a:ahLst/>
            <a:cxnLst/>
            <a:rect l="l" t="t" r="r" b="b"/>
            <a:pathLst>
              <a:path w="2674938" h="539750">
                <a:moveTo>
                  <a:pt x="31750" y="0"/>
                </a:moveTo>
                <a:lnTo>
                  <a:pt x="2611436" y="0"/>
                </a:lnTo>
                <a:cubicBezTo>
                  <a:pt x="2646507" y="0"/>
                  <a:pt x="2674937" y="28431"/>
                  <a:pt x="2674937" y="63502"/>
                </a:cubicBezTo>
                <a:lnTo>
                  <a:pt x="2674938" y="476248"/>
                </a:lnTo>
                <a:cubicBezTo>
                  <a:pt x="2674937" y="511319"/>
                  <a:pt x="2646507" y="539750"/>
                  <a:pt x="2611436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222625" y="3955753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4" name="Shape 52"/>
          <p:cNvSpPr/>
          <p:nvPr/>
        </p:nvSpPr>
        <p:spPr>
          <a:xfrm>
            <a:off x="3349625" y="408275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5" name="Text 53"/>
          <p:cNvSpPr/>
          <p:nvPr/>
        </p:nvSpPr>
        <p:spPr>
          <a:xfrm>
            <a:off x="3556000" y="4051003"/>
            <a:ext cx="117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Challenge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333750" y="4273253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challenge based on risk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66725" y="4558904"/>
            <a:ext cx="2674938" cy="539750"/>
          </a:xfrm>
          <a:custGeom>
            <a:avLst/>
            <a:gdLst/>
            <a:ahLst/>
            <a:cxnLst/>
            <a:rect l="l" t="t" r="r" b="b"/>
            <a:pathLst>
              <a:path w="2674938" h="539750">
                <a:moveTo>
                  <a:pt x="31750" y="0"/>
                </a:moveTo>
                <a:lnTo>
                  <a:pt x="2611436" y="0"/>
                </a:lnTo>
                <a:cubicBezTo>
                  <a:pt x="2646507" y="0"/>
                  <a:pt x="2674937" y="28431"/>
                  <a:pt x="2674937" y="63502"/>
                </a:cubicBezTo>
                <a:lnTo>
                  <a:pt x="2674938" y="476248"/>
                </a:lnTo>
                <a:cubicBezTo>
                  <a:pt x="2674937" y="511319"/>
                  <a:pt x="2646507" y="539750"/>
                  <a:pt x="2611436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66725" y="4558904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9" name="Shape 57"/>
          <p:cNvSpPr/>
          <p:nvPr/>
        </p:nvSpPr>
        <p:spPr>
          <a:xfrm>
            <a:off x="585788" y="4685904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60" name="Text 58"/>
          <p:cNvSpPr/>
          <p:nvPr/>
        </p:nvSpPr>
        <p:spPr>
          <a:xfrm>
            <a:off x="800100" y="4654154"/>
            <a:ext cx="79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 Challenge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77850" y="4876404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 challenge page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222625" y="4558904"/>
            <a:ext cx="2674938" cy="539750"/>
          </a:xfrm>
          <a:custGeom>
            <a:avLst/>
            <a:gdLst/>
            <a:ahLst/>
            <a:cxnLst/>
            <a:rect l="l" t="t" r="r" b="b"/>
            <a:pathLst>
              <a:path w="2674938" h="539750">
                <a:moveTo>
                  <a:pt x="31750" y="0"/>
                </a:moveTo>
                <a:lnTo>
                  <a:pt x="2611436" y="0"/>
                </a:lnTo>
                <a:cubicBezTo>
                  <a:pt x="2646507" y="0"/>
                  <a:pt x="2674937" y="28431"/>
                  <a:pt x="2674937" y="63502"/>
                </a:cubicBezTo>
                <a:lnTo>
                  <a:pt x="2674938" y="476248"/>
                </a:lnTo>
                <a:cubicBezTo>
                  <a:pt x="2674937" y="511319"/>
                  <a:pt x="2646507" y="539750"/>
                  <a:pt x="2611436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222625" y="4558904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64" name="Shape 62"/>
          <p:cNvSpPr/>
          <p:nvPr/>
        </p:nvSpPr>
        <p:spPr>
          <a:xfrm>
            <a:off x="3357563" y="468590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9174" y="620"/>
                </a:moveTo>
                <a:cubicBezTo>
                  <a:pt x="21183" y="-397"/>
                  <a:pt x="23614" y="-174"/>
                  <a:pt x="25400" y="1191"/>
                </a:cubicBezTo>
                <a:lnTo>
                  <a:pt x="104775" y="60697"/>
                </a:lnTo>
                <a:cubicBezTo>
                  <a:pt x="106834" y="62235"/>
                  <a:pt x="107652" y="64914"/>
                  <a:pt x="106859" y="67345"/>
                </a:cubicBezTo>
                <a:cubicBezTo>
                  <a:pt x="106065" y="69776"/>
                  <a:pt x="103783" y="71413"/>
                  <a:pt x="101203" y="71413"/>
                </a:cubicBezTo>
                <a:lnTo>
                  <a:pt x="63426" y="71413"/>
                </a:lnTo>
                <a:lnTo>
                  <a:pt x="85477" y="115491"/>
                </a:lnTo>
                <a:cubicBezTo>
                  <a:pt x="87437" y="119410"/>
                  <a:pt x="85849" y="124172"/>
                  <a:pt x="81930" y="126132"/>
                </a:cubicBezTo>
                <a:cubicBezTo>
                  <a:pt x="78011" y="128091"/>
                  <a:pt x="73248" y="126504"/>
                  <a:pt x="71289" y="122585"/>
                </a:cubicBezTo>
                <a:lnTo>
                  <a:pt x="49237" y="78507"/>
                </a:lnTo>
                <a:lnTo>
                  <a:pt x="26591" y="108719"/>
                </a:lnTo>
                <a:cubicBezTo>
                  <a:pt x="25053" y="110778"/>
                  <a:pt x="22374" y="111596"/>
                  <a:pt x="19943" y="110803"/>
                </a:cubicBezTo>
                <a:cubicBezTo>
                  <a:pt x="17512" y="110009"/>
                  <a:pt x="15875" y="107727"/>
                  <a:pt x="15875" y="105172"/>
                </a:cubicBezTo>
                <a:lnTo>
                  <a:pt x="15875" y="5953"/>
                </a:lnTo>
                <a:cubicBezTo>
                  <a:pt x="15875" y="3696"/>
                  <a:pt x="17140" y="1637"/>
                  <a:pt x="19174" y="62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65" name="Text 63"/>
          <p:cNvSpPr/>
          <p:nvPr/>
        </p:nvSpPr>
        <p:spPr>
          <a:xfrm>
            <a:off x="3556000" y="4654154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Challenge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333750" y="4876404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CAPTCHA challenge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66725" y="5162055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66725" y="5162055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9D"/>
          </a:solidFill>
          <a:ln/>
        </p:spPr>
      </p:sp>
      <p:sp>
        <p:nvSpPr>
          <p:cNvPr id="69" name="Shape 67"/>
          <p:cNvSpPr/>
          <p:nvPr/>
        </p:nvSpPr>
        <p:spPr>
          <a:xfrm>
            <a:off x="609600" y="5289055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8C929D"/>
          </a:solidFill>
          <a:ln/>
        </p:spPr>
      </p:sp>
      <p:sp>
        <p:nvSpPr>
          <p:cNvPr id="70" name="Text 68"/>
          <p:cNvSpPr/>
          <p:nvPr/>
        </p:nvSpPr>
        <p:spPr>
          <a:xfrm>
            <a:off x="800100" y="5257305"/>
            <a:ext cx="27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577850" y="5479555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 only, no action taken (monitoring mode)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162675" y="3508077"/>
            <a:ext cx="5705475" cy="2514600"/>
          </a:xfrm>
          <a:custGeom>
            <a:avLst/>
            <a:gdLst/>
            <a:ahLst/>
            <a:cxnLst/>
            <a:rect l="l" t="t" r="r" b="b"/>
            <a:pathLst>
              <a:path w="5705475" h="2514600">
                <a:moveTo>
                  <a:pt x="63494" y="0"/>
                </a:moveTo>
                <a:lnTo>
                  <a:pt x="5641981" y="0"/>
                </a:lnTo>
                <a:cubicBezTo>
                  <a:pt x="5677048" y="0"/>
                  <a:pt x="5705475" y="28427"/>
                  <a:pt x="5705475" y="63494"/>
                </a:cubicBezTo>
                <a:lnTo>
                  <a:pt x="5705475" y="2451106"/>
                </a:lnTo>
                <a:cubicBezTo>
                  <a:pt x="5705475" y="2486173"/>
                  <a:pt x="5677048" y="2514600"/>
                  <a:pt x="5641981" y="2514600"/>
                </a:cubicBezTo>
                <a:lnTo>
                  <a:pt x="63494" y="2514600"/>
                </a:lnTo>
                <a:cubicBezTo>
                  <a:pt x="28427" y="2514600"/>
                  <a:pt x="0" y="2486173"/>
                  <a:pt x="0" y="24511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00A4E4">
                <a:alpha val="30196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02772" y="367000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74" name="Text 72"/>
          <p:cNvSpPr/>
          <p:nvPr/>
        </p:nvSpPr>
        <p:spPr>
          <a:xfrm>
            <a:off x="6491287" y="363825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Deployment Example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92850" y="3955753"/>
            <a:ext cx="5445125" cy="1936750"/>
          </a:xfrm>
          <a:custGeom>
            <a:avLst/>
            <a:gdLst/>
            <a:ahLst/>
            <a:cxnLst/>
            <a:rect l="l" t="t" r="r" b="b"/>
            <a:pathLst>
              <a:path w="5445125" h="1936750">
                <a:moveTo>
                  <a:pt x="63506" y="0"/>
                </a:moveTo>
                <a:lnTo>
                  <a:pt x="5381619" y="0"/>
                </a:lnTo>
                <a:cubicBezTo>
                  <a:pt x="5416692" y="0"/>
                  <a:pt x="5445125" y="28433"/>
                  <a:pt x="5445125" y="63506"/>
                </a:cubicBezTo>
                <a:lnTo>
                  <a:pt x="5445125" y="1873244"/>
                </a:lnTo>
                <a:cubicBezTo>
                  <a:pt x="5445125" y="1908317"/>
                  <a:pt x="5416692" y="1936750"/>
                  <a:pt x="5381619" y="1936750"/>
                </a:cubicBezTo>
                <a:lnTo>
                  <a:pt x="63506" y="1936750"/>
                </a:lnTo>
                <a:cubicBezTo>
                  <a:pt x="28433" y="1936750"/>
                  <a:pt x="0" y="1908317"/>
                  <a:pt x="0" y="18732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6388100" y="405100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Deploy Cloudflare Managed Ruleset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388100" y="420975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curl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"https://api.cloudflare.com/client/v4/zones/$ZONE_ID/rulesets"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\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388100" y="436850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--request POST \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388100" y="452725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--header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"Authorization: Bearer $TOKEN"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\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388100" y="468600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--json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'{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388100" y="484475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"action": "execute",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388100" y="500350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"action_parameters": {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388100" y="516225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"id": "efb7b8c9..."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388100" y="532100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},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388100" y="547975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"expression": "true"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388100" y="563850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}'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6162675" y="6124278"/>
            <a:ext cx="5705475" cy="1022350"/>
          </a:xfrm>
          <a:custGeom>
            <a:avLst/>
            <a:gdLst/>
            <a:ahLst/>
            <a:cxnLst/>
            <a:rect l="l" t="t" r="r" b="b"/>
            <a:pathLst>
              <a:path w="5705475" h="1022350">
                <a:moveTo>
                  <a:pt x="63498" y="0"/>
                </a:moveTo>
                <a:lnTo>
                  <a:pt x="5641977" y="0"/>
                </a:lnTo>
                <a:cubicBezTo>
                  <a:pt x="5677046" y="0"/>
                  <a:pt x="5705475" y="28429"/>
                  <a:pt x="5705475" y="63498"/>
                </a:cubicBezTo>
                <a:lnTo>
                  <a:pt x="5705475" y="958852"/>
                </a:lnTo>
                <a:cubicBezTo>
                  <a:pt x="5705475" y="993921"/>
                  <a:pt x="5677046" y="1022350"/>
                  <a:pt x="5641977" y="1022350"/>
                </a:cubicBezTo>
                <a:lnTo>
                  <a:pt x="63498" y="1022350"/>
                </a:lnTo>
                <a:cubicBezTo>
                  <a:pt x="28429" y="1022350"/>
                  <a:pt x="0" y="993921"/>
                  <a:pt x="0" y="958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12694" y="629413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53578" y="17859"/>
                </a:moveTo>
                <a:cubicBezTo>
                  <a:pt x="53578" y="12920"/>
                  <a:pt x="57569" y="8930"/>
                  <a:pt x="62508" y="8930"/>
                </a:cubicBezTo>
                <a:lnTo>
                  <a:pt x="80367" y="8930"/>
                </a:lnTo>
                <a:cubicBezTo>
                  <a:pt x="85306" y="8930"/>
                  <a:pt x="89297" y="12920"/>
                  <a:pt x="89297" y="17859"/>
                </a:cubicBezTo>
                <a:lnTo>
                  <a:pt x="89297" y="35719"/>
                </a:lnTo>
                <a:cubicBezTo>
                  <a:pt x="89297" y="40658"/>
                  <a:pt x="85306" y="44648"/>
                  <a:pt x="80367" y="44648"/>
                </a:cubicBezTo>
                <a:lnTo>
                  <a:pt x="78135" y="44648"/>
                </a:lnTo>
                <a:lnTo>
                  <a:pt x="78135" y="62508"/>
                </a:lnTo>
                <a:lnTo>
                  <a:pt x="111621" y="62508"/>
                </a:lnTo>
                <a:cubicBezTo>
                  <a:pt x="122727" y="62508"/>
                  <a:pt x="131713" y="71493"/>
                  <a:pt x="131713" y="82600"/>
                </a:cubicBezTo>
                <a:lnTo>
                  <a:pt x="131713" y="98227"/>
                </a:lnTo>
                <a:lnTo>
                  <a:pt x="133945" y="98227"/>
                </a:lnTo>
                <a:cubicBezTo>
                  <a:pt x="138885" y="98227"/>
                  <a:pt x="142875" y="102217"/>
                  <a:pt x="142875" y="107156"/>
                </a:cubicBezTo>
                <a:lnTo>
                  <a:pt x="142875" y="125016"/>
                </a:lnTo>
                <a:cubicBezTo>
                  <a:pt x="142875" y="129955"/>
                  <a:pt x="138885" y="133945"/>
                  <a:pt x="133945" y="133945"/>
                </a:cubicBezTo>
                <a:lnTo>
                  <a:pt x="116086" y="133945"/>
                </a:lnTo>
                <a:cubicBezTo>
                  <a:pt x="111147" y="133945"/>
                  <a:pt x="107156" y="129955"/>
                  <a:pt x="107156" y="125016"/>
                </a:cubicBezTo>
                <a:lnTo>
                  <a:pt x="107156" y="107156"/>
                </a:lnTo>
                <a:cubicBezTo>
                  <a:pt x="107156" y="102217"/>
                  <a:pt x="111147" y="98227"/>
                  <a:pt x="116086" y="98227"/>
                </a:cubicBezTo>
                <a:lnTo>
                  <a:pt x="118318" y="98227"/>
                </a:lnTo>
                <a:lnTo>
                  <a:pt x="118318" y="82600"/>
                </a:lnTo>
                <a:cubicBezTo>
                  <a:pt x="118318" y="78888"/>
                  <a:pt x="115332" y="75902"/>
                  <a:pt x="111621" y="75902"/>
                </a:cubicBezTo>
                <a:lnTo>
                  <a:pt x="78135" y="75902"/>
                </a:lnTo>
                <a:lnTo>
                  <a:pt x="78135" y="98227"/>
                </a:lnTo>
                <a:lnTo>
                  <a:pt x="80367" y="98227"/>
                </a:lnTo>
                <a:cubicBezTo>
                  <a:pt x="85306" y="98227"/>
                  <a:pt x="89297" y="102217"/>
                  <a:pt x="89297" y="107156"/>
                </a:cubicBezTo>
                <a:lnTo>
                  <a:pt x="89297" y="125016"/>
                </a:lnTo>
                <a:cubicBezTo>
                  <a:pt x="89297" y="129955"/>
                  <a:pt x="85306" y="133945"/>
                  <a:pt x="80367" y="133945"/>
                </a:cubicBezTo>
                <a:lnTo>
                  <a:pt x="62508" y="133945"/>
                </a:lnTo>
                <a:cubicBezTo>
                  <a:pt x="57569" y="133945"/>
                  <a:pt x="53578" y="129955"/>
                  <a:pt x="53578" y="125016"/>
                </a:cubicBezTo>
                <a:lnTo>
                  <a:pt x="53578" y="107156"/>
                </a:lnTo>
                <a:cubicBezTo>
                  <a:pt x="53578" y="102217"/>
                  <a:pt x="57569" y="98227"/>
                  <a:pt x="62508" y="98227"/>
                </a:cubicBezTo>
                <a:lnTo>
                  <a:pt x="64740" y="98227"/>
                </a:lnTo>
                <a:lnTo>
                  <a:pt x="64740" y="75902"/>
                </a:lnTo>
                <a:lnTo>
                  <a:pt x="31254" y="75902"/>
                </a:lnTo>
                <a:cubicBezTo>
                  <a:pt x="27543" y="75902"/>
                  <a:pt x="24557" y="78888"/>
                  <a:pt x="24557" y="82600"/>
                </a:cubicBezTo>
                <a:lnTo>
                  <a:pt x="24557" y="98227"/>
                </a:lnTo>
                <a:lnTo>
                  <a:pt x="26789" y="98227"/>
                </a:lnTo>
                <a:cubicBezTo>
                  <a:pt x="31728" y="98227"/>
                  <a:pt x="35719" y="102217"/>
                  <a:pt x="35719" y="107156"/>
                </a:cubicBezTo>
                <a:lnTo>
                  <a:pt x="35719" y="125016"/>
                </a:lnTo>
                <a:cubicBezTo>
                  <a:pt x="35719" y="129955"/>
                  <a:pt x="31728" y="133945"/>
                  <a:pt x="26789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07156"/>
                </a:lnTo>
                <a:cubicBezTo>
                  <a:pt x="0" y="102217"/>
                  <a:pt x="3990" y="98227"/>
                  <a:pt x="8930" y="98227"/>
                </a:cubicBezTo>
                <a:lnTo>
                  <a:pt x="11162" y="98227"/>
                </a:lnTo>
                <a:lnTo>
                  <a:pt x="11162" y="82600"/>
                </a:lnTo>
                <a:cubicBezTo>
                  <a:pt x="11162" y="71493"/>
                  <a:pt x="20148" y="62508"/>
                  <a:pt x="31254" y="62508"/>
                </a:cubicBezTo>
                <a:lnTo>
                  <a:pt x="64740" y="62508"/>
                </a:lnTo>
                <a:lnTo>
                  <a:pt x="64740" y="44648"/>
                </a:lnTo>
                <a:lnTo>
                  <a:pt x="62508" y="44648"/>
                </a:lnTo>
                <a:cubicBezTo>
                  <a:pt x="57569" y="44648"/>
                  <a:pt x="53578" y="40658"/>
                  <a:pt x="53578" y="35719"/>
                </a:cubicBezTo>
                <a:lnTo>
                  <a:pt x="53578" y="17859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89" name="Text 87"/>
          <p:cNvSpPr/>
          <p:nvPr/>
        </p:nvSpPr>
        <p:spPr>
          <a:xfrm>
            <a:off x="6475412" y="6254452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System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292850" y="6540202"/>
            <a:ext cx="550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specific configurations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override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less specific ones: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6292850" y="6794202"/>
            <a:ext cx="627063" cy="222250"/>
          </a:xfrm>
          <a:custGeom>
            <a:avLst/>
            <a:gdLst/>
            <a:ahLst/>
            <a:cxnLst/>
            <a:rect l="l" t="t" r="r" b="b"/>
            <a:pathLst>
              <a:path w="627063" h="222250">
                <a:moveTo>
                  <a:pt x="31751" y="0"/>
                </a:moveTo>
                <a:lnTo>
                  <a:pt x="595312" y="0"/>
                </a:lnTo>
                <a:cubicBezTo>
                  <a:pt x="612847" y="0"/>
                  <a:pt x="627063" y="14215"/>
                  <a:pt x="627063" y="31751"/>
                </a:cubicBezTo>
                <a:lnTo>
                  <a:pt x="627063" y="190499"/>
                </a:lnTo>
                <a:cubicBezTo>
                  <a:pt x="627063" y="208035"/>
                  <a:pt x="612847" y="222250"/>
                  <a:pt x="5953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6292850" y="6794202"/>
            <a:ext cx="68262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Level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6999287" y="684976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8C929D"/>
          </a:solidFill>
          <a:ln/>
        </p:spPr>
      </p:sp>
      <p:sp>
        <p:nvSpPr>
          <p:cNvPr id="94" name="Shape 92"/>
          <p:cNvSpPr/>
          <p:nvPr/>
        </p:nvSpPr>
        <p:spPr>
          <a:xfrm>
            <a:off x="7185819" y="6794202"/>
            <a:ext cx="603250" cy="222250"/>
          </a:xfrm>
          <a:custGeom>
            <a:avLst/>
            <a:gdLst/>
            <a:ahLst/>
            <a:cxnLst/>
            <a:rect l="l" t="t" r="r" b="b"/>
            <a:pathLst>
              <a:path w="603250" h="222250">
                <a:moveTo>
                  <a:pt x="31751" y="0"/>
                </a:moveTo>
                <a:lnTo>
                  <a:pt x="571499" y="0"/>
                </a:lnTo>
                <a:cubicBezTo>
                  <a:pt x="589035" y="0"/>
                  <a:pt x="603250" y="14215"/>
                  <a:pt x="603250" y="31751"/>
                </a:cubicBezTo>
                <a:lnTo>
                  <a:pt x="603250" y="190499"/>
                </a:lnTo>
                <a:cubicBezTo>
                  <a:pt x="603250" y="208035"/>
                  <a:pt x="589035" y="222250"/>
                  <a:pt x="5714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A4E4">
              <a:alpha val="20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7185819" y="6794202"/>
            <a:ext cx="658813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Tag Level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7865170" y="684976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8C929D"/>
          </a:solidFill>
          <a:ln/>
        </p:spPr>
      </p:sp>
      <p:sp>
        <p:nvSpPr>
          <p:cNvPr id="97" name="Shape 95"/>
          <p:cNvSpPr/>
          <p:nvPr/>
        </p:nvSpPr>
        <p:spPr>
          <a:xfrm>
            <a:off x="8051701" y="6794202"/>
            <a:ext cx="777875" cy="222250"/>
          </a:xfrm>
          <a:custGeom>
            <a:avLst/>
            <a:gdLst/>
            <a:ahLst/>
            <a:cxnLst/>
            <a:rect l="l" t="t" r="r" b="b"/>
            <a:pathLst>
              <a:path w="777875" h="222250">
                <a:moveTo>
                  <a:pt x="31751" y="0"/>
                </a:moveTo>
                <a:lnTo>
                  <a:pt x="746124" y="0"/>
                </a:lnTo>
                <a:cubicBezTo>
                  <a:pt x="763660" y="0"/>
                  <a:pt x="777875" y="14215"/>
                  <a:pt x="777875" y="31751"/>
                </a:cubicBezTo>
                <a:lnTo>
                  <a:pt x="777875" y="190499"/>
                </a:lnTo>
                <a:cubicBezTo>
                  <a:pt x="777875" y="208035"/>
                  <a:pt x="763660" y="222250"/>
                  <a:pt x="746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8C929D">
              <a:alpha val="2000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8051701" y="6794202"/>
            <a:ext cx="83343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Ruleset Level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212" y="364212"/>
            <a:ext cx="11536418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b="1" spc="57" kern="0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MANAGED LISTS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212" y="655582"/>
            <a:ext cx="11682103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1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Intelligence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212" y="1201900"/>
            <a:ext cx="1165479" cy="36421"/>
          </a:xfrm>
          <a:custGeom>
            <a:avLst/>
            <a:gdLst/>
            <a:ahLst/>
            <a:cxnLst/>
            <a:rect l="l" t="t" r="r" b="b"/>
            <a:pathLst>
              <a:path w="1165479" h="36421">
                <a:moveTo>
                  <a:pt x="0" y="0"/>
                </a:moveTo>
                <a:lnTo>
                  <a:pt x="1165479" y="0"/>
                </a:lnTo>
                <a:lnTo>
                  <a:pt x="1165479" y="36421"/>
                </a:lnTo>
                <a:lnTo>
                  <a:pt x="0" y="36421"/>
                </a:lnTo>
                <a:lnTo>
                  <a:pt x="0" y="0"/>
                </a:ln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" name="Shape 3"/>
          <p:cNvSpPr/>
          <p:nvPr/>
        </p:nvSpPr>
        <p:spPr>
          <a:xfrm>
            <a:off x="382423" y="1347585"/>
            <a:ext cx="11445365" cy="764845"/>
          </a:xfrm>
          <a:custGeom>
            <a:avLst/>
            <a:gdLst/>
            <a:ahLst/>
            <a:cxnLst/>
            <a:rect l="l" t="t" r="r" b="b"/>
            <a:pathLst>
              <a:path w="11445365" h="764845">
                <a:moveTo>
                  <a:pt x="36421" y="0"/>
                </a:moveTo>
                <a:lnTo>
                  <a:pt x="11372521" y="0"/>
                </a:lnTo>
                <a:cubicBezTo>
                  <a:pt x="11412752" y="0"/>
                  <a:pt x="11445365" y="32613"/>
                  <a:pt x="11445365" y="72844"/>
                </a:cubicBezTo>
                <a:lnTo>
                  <a:pt x="11445365" y="692002"/>
                </a:lnTo>
                <a:cubicBezTo>
                  <a:pt x="11445365" y="732232"/>
                  <a:pt x="11412752" y="764845"/>
                  <a:pt x="11372521" y="764845"/>
                </a:cubicBez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20"/>
                  <a:pt x="16320" y="0"/>
                  <a:pt x="3642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2423" y="1347585"/>
            <a:ext cx="36421" cy="764845"/>
          </a:xfrm>
          <a:custGeom>
            <a:avLst/>
            <a:gdLst/>
            <a:ahLst/>
            <a:cxnLst/>
            <a:rect l="l" t="t" r="r" b="b"/>
            <a:pathLst>
              <a:path w="36421" h="764845">
                <a:moveTo>
                  <a:pt x="36421" y="0"/>
                </a:moveTo>
                <a:lnTo>
                  <a:pt x="36421" y="0"/>
                </a:lnTo>
                <a:lnTo>
                  <a:pt x="36421" y="764845"/>
                </a:ln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7" name="Text 5"/>
          <p:cNvSpPr/>
          <p:nvPr/>
        </p:nvSpPr>
        <p:spPr>
          <a:xfrm>
            <a:off x="546318" y="1493270"/>
            <a:ext cx="11208627" cy="473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7" b="1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Intelligence Network:</a:t>
            </a:r>
            <a:pPr>
              <a:lnSpc>
                <a:spcPct val="140000"/>
              </a:lnSpc>
            </a:pPr>
            <a:r>
              <a:rPr lang="en-US" sz="1147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Cloudflare processes </a:t>
            </a:r>
            <a:pPr>
              <a:lnSpc>
                <a:spcPct val="140000"/>
              </a:lnSpc>
            </a:pPr>
            <a:r>
              <a:rPr lang="en-US" sz="1147" b="1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billions of requests daily</a:t>
            </a:r>
            <a:pPr>
              <a:lnSpc>
                <a:spcPct val="140000"/>
              </a:lnSpc>
            </a:pPr>
            <a:r>
              <a:rPr lang="en-US" sz="1147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detecting malicious actors and maintaining continuously updated IP threat intelligence feeds. These lists integrate seamlessly with firewall rules for immediate protection.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7854" y="2225336"/>
            <a:ext cx="5670782" cy="1536975"/>
          </a:xfrm>
          <a:custGeom>
            <a:avLst/>
            <a:gdLst/>
            <a:ahLst/>
            <a:cxnLst/>
            <a:rect l="l" t="t" r="r" b="b"/>
            <a:pathLst>
              <a:path w="5670782" h="1536975">
                <a:moveTo>
                  <a:pt x="72837" y="0"/>
                </a:moveTo>
                <a:lnTo>
                  <a:pt x="5597945" y="0"/>
                </a:lnTo>
                <a:cubicBezTo>
                  <a:pt x="5638145" y="0"/>
                  <a:pt x="5670782" y="32637"/>
                  <a:pt x="5670782" y="72837"/>
                </a:cubicBezTo>
                <a:lnTo>
                  <a:pt x="5670782" y="1464138"/>
                </a:lnTo>
                <a:cubicBezTo>
                  <a:pt x="5670782" y="1504365"/>
                  <a:pt x="5638172" y="1536975"/>
                  <a:pt x="5597945" y="1536975"/>
                </a:cubicBezTo>
                <a:lnTo>
                  <a:pt x="72837" y="1536975"/>
                </a:lnTo>
                <a:cubicBezTo>
                  <a:pt x="32637" y="1536975"/>
                  <a:pt x="0" y="1504338"/>
                  <a:pt x="0" y="1464138"/>
                </a:cubicBezTo>
                <a:lnTo>
                  <a:pt x="0" y="72837"/>
                </a:lnTo>
                <a:cubicBezTo>
                  <a:pt x="0" y="32610"/>
                  <a:pt x="32610" y="0"/>
                  <a:pt x="72837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2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 w="10160">
            <a:solidFill>
              <a:srgbClr val="F4812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181" y="2374661"/>
            <a:ext cx="437055" cy="437055"/>
          </a:xfrm>
          <a:custGeom>
            <a:avLst/>
            <a:gdLst/>
            <a:ahLst/>
            <a:cxnLst/>
            <a:rect l="l" t="t" r="r" b="b"/>
            <a:pathLst>
              <a:path w="437055" h="437055">
                <a:moveTo>
                  <a:pt x="72844" y="0"/>
                </a:moveTo>
                <a:lnTo>
                  <a:pt x="364211" y="0"/>
                </a:lnTo>
                <a:cubicBezTo>
                  <a:pt x="404414" y="0"/>
                  <a:pt x="437055" y="32640"/>
                  <a:pt x="437055" y="72844"/>
                </a:cubicBezTo>
                <a:lnTo>
                  <a:pt x="437055" y="364211"/>
                </a:lnTo>
                <a:cubicBezTo>
                  <a:pt x="437055" y="404441"/>
                  <a:pt x="404441" y="437055"/>
                  <a:pt x="364211" y="437055"/>
                </a:cubicBezTo>
                <a:lnTo>
                  <a:pt x="72844" y="437055"/>
                </a:lnTo>
                <a:cubicBezTo>
                  <a:pt x="32613" y="437055"/>
                  <a:pt x="0" y="404441"/>
                  <a:pt x="0" y="364211"/>
                </a:cubicBezTo>
                <a:lnTo>
                  <a:pt x="0" y="72844"/>
                </a:lnTo>
                <a:cubicBezTo>
                  <a:pt x="0" y="32640"/>
                  <a:pt x="32640" y="0"/>
                  <a:pt x="72844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103" y="2483925"/>
            <a:ext cx="191211" cy="218527"/>
          </a:xfrm>
          <a:custGeom>
            <a:avLst/>
            <a:gdLst/>
            <a:ahLst/>
            <a:cxnLst/>
            <a:rect l="l" t="t" r="r" b="b"/>
            <a:pathLst>
              <a:path w="191211" h="218527">
                <a:moveTo>
                  <a:pt x="72985" y="-6829"/>
                </a:moveTo>
                <a:cubicBezTo>
                  <a:pt x="57449" y="-6829"/>
                  <a:pt x="48315" y="18054"/>
                  <a:pt x="43833" y="40974"/>
                </a:cubicBezTo>
                <a:lnTo>
                  <a:pt x="30730" y="40974"/>
                </a:lnTo>
                <a:cubicBezTo>
                  <a:pt x="25054" y="40974"/>
                  <a:pt x="20487" y="45541"/>
                  <a:pt x="20487" y="51217"/>
                </a:cubicBezTo>
                <a:cubicBezTo>
                  <a:pt x="20487" y="56894"/>
                  <a:pt x="25054" y="61461"/>
                  <a:pt x="30730" y="61461"/>
                </a:cubicBezTo>
                <a:lnTo>
                  <a:pt x="40974" y="61461"/>
                </a:lnTo>
                <a:lnTo>
                  <a:pt x="40974" y="75119"/>
                </a:lnTo>
                <a:cubicBezTo>
                  <a:pt x="40974" y="82375"/>
                  <a:pt x="42382" y="89289"/>
                  <a:pt x="44943" y="95606"/>
                </a:cubicBezTo>
                <a:lnTo>
                  <a:pt x="40974" y="95606"/>
                </a:lnTo>
                <a:lnTo>
                  <a:pt x="40974" y="95606"/>
                </a:lnTo>
                <a:lnTo>
                  <a:pt x="32224" y="95606"/>
                </a:lnTo>
                <a:cubicBezTo>
                  <a:pt x="25737" y="95606"/>
                  <a:pt x="20487" y="100855"/>
                  <a:pt x="20487" y="107343"/>
                </a:cubicBezTo>
                <a:cubicBezTo>
                  <a:pt x="20487" y="108623"/>
                  <a:pt x="20700" y="109861"/>
                  <a:pt x="21084" y="111056"/>
                </a:cubicBezTo>
                <a:lnTo>
                  <a:pt x="33419" y="148018"/>
                </a:lnTo>
                <a:cubicBezTo>
                  <a:pt x="17158" y="162017"/>
                  <a:pt x="6829" y="182718"/>
                  <a:pt x="6829" y="205851"/>
                </a:cubicBezTo>
                <a:cubicBezTo>
                  <a:pt x="6829" y="212851"/>
                  <a:pt x="12506" y="218527"/>
                  <a:pt x="19505" y="218527"/>
                </a:cubicBezTo>
                <a:lnTo>
                  <a:pt x="171706" y="218527"/>
                </a:lnTo>
                <a:cubicBezTo>
                  <a:pt x="178706" y="218527"/>
                  <a:pt x="184382" y="212851"/>
                  <a:pt x="184382" y="205851"/>
                </a:cubicBezTo>
                <a:cubicBezTo>
                  <a:pt x="184382" y="182718"/>
                  <a:pt x="174054" y="162017"/>
                  <a:pt x="157792" y="148061"/>
                </a:cubicBezTo>
                <a:lnTo>
                  <a:pt x="170127" y="111099"/>
                </a:lnTo>
                <a:cubicBezTo>
                  <a:pt x="170511" y="109904"/>
                  <a:pt x="170724" y="108666"/>
                  <a:pt x="170724" y="107386"/>
                </a:cubicBezTo>
                <a:cubicBezTo>
                  <a:pt x="170724" y="100898"/>
                  <a:pt x="165475" y="95648"/>
                  <a:pt x="158987" y="95648"/>
                </a:cubicBezTo>
                <a:lnTo>
                  <a:pt x="150237" y="95648"/>
                </a:lnTo>
                <a:lnTo>
                  <a:pt x="150237" y="95648"/>
                </a:lnTo>
                <a:lnTo>
                  <a:pt x="146268" y="95648"/>
                </a:lnTo>
                <a:cubicBezTo>
                  <a:pt x="148829" y="89332"/>
                  <a:pt x="150237" y="82417"/>
                  <a:pt x="150237" y="75161"/>
                </a:cubicBezTo>
                <a:lnTo>
                  <a:pt x="150237" y="61503"/>
                </a:lnTo>
                <a:lnTo>
                  <a:pt x="160481" y="61503"/>
                </a:lnTo>
                <a:cubicBezTo>
                  <a:pt x="166158" y="61503"/>
                  <a:pt x="170724" y="56937"/>
                  <a:pt x="170724" y="51260"/>
                </a:cubicBezTo>
                <a:cubicBezTo>
                  <a:pt x="170724" y="45583"/>
                  <a:pt x="166158" y="41017"/>
                  <a:pt x="160481" y="41017"/>
                </a:cubicBezTo>
                <a:lnTo>
                  <a:pt x="147378" y="41017"/>
                </a:lnTo>
                <a:cubicBezTo>
                  <a:pt x="142939" y="18097"/>
                  <a:pt x="133763" y="-6786"/>
                  <a:pt x="118227" y="-6786"/>
                </a:cubicBezTo>
                <a:cubicBezTo>
                  <a:pt x="114129" y="-6786"/>
                  <a:pt x="110117" y="-5122"/>
                  <a:pt x="106489" y="-3286"/>
                </a:cubicBezTo>
                <a:cubicBezTo>
                  <a:pt x="102990" y="-1537"/>
                  <a:pt x="98636" y="43"/>
                  <a:pt x="95606" y="43"/>
                </a:cubicBezTo>
                <a:cubicBezTo>
                  <a:pt x="92575" y="43"/>
                  <a:pt x="88222" y="-1537"/>
                  <a:pt x="84722" y="-3286"/>
                </a:cubicBezTo>
                <a:cubicBezTo>
                  <a:pt x="81094" y="-5164"/>
                  <a:pt x="77082" y="-6829"/>
                  <a:pt x="72985" y="-6829"/>
                </a:cubicBezTo>
                <a:close/>
                <a:moveTo>
                  <a:pt x="112977" y="199918"/>
                </a:moveTo>
                <a:lnTo>
                  <a:pt x="102392" y="169657"/>
                </a:lnTo>
                <a:lnTo>
                  <a:pt x="114300" y="155786"/>
                </a:lnTo>
                <a:cubicBezTo>
                  <a:pt x="115452" y="154420"/>
                  <a:pt x="116093" y="152713"/>
                  <a:pt x="116093" y="150920"/>
                </a:cubicBezTo>
                <a:cubicBezTo>
                  <a:pt x="116093" y="146780"/>
                  <a:pt x="112763" y="143451"/>
                  <a:pt x="108623" y="143451"/>
                </a:cubicBezTo>
                <a:lnTo>
                  <a:pt x="82588" y="143451"/>
                </a:lnTo>
                <a:cubicBezTo>
                  <a:pt x="78448" y="143451"/>
                  <a:pt x="75119" y="146780"/>
                  <a:pt x="75119" y="150920"/>
                </a:cubicBezTo>
                <a:cubicBezTo>
                  <a:pt x="75119" y="152713"/>
                  <a:pt x="75759" y="154420"/>
                  <a:pt x="76911" y="155786"/>
                </a:cubicBezTo>
                <a:lnTo>
                  <a:pt x="88819" y="169657"/>
                </a:lnTo>
                <a:lnTo>
                  <a:pt x="78234" y="199918"/>
                </a:lnTo>
                <a:lnTo>
                  <a:pt x="53906" y="122922"/>
                </a:lnTo>
                <a:lnTo>
                  <a:pt x="69143" y="122922"/>
                </a:lnTo>
                <a:cubicBezTo>
                  <a:pt x="76997" y="127275"/>
                  <a:pt x="86002" y="129751"/>
                  <a:pt x="95606" y="129751"/>
                </a:cubicBezTo>
                <a:cubicBezTo>
                  <a:pt x="105209" y="129751"/>
                  <a:pt x="114215" y="127275"/>
                  <a:pt x="122068" y="122922"/>
                </a:cubicBezTo>
                <a:lnTo>
                  <a:pt x="137305" y="122922"/>
                </a:lnTo>
                <a:lnTo>
                  <a:pt x="112977" y="199918"/>
                </a:lnTo>
                <a:close/>
                <a:moveTo>
                  <a:pt x="95606" y="109264"/>
                </a:moveTo>
                <a:cubicBezTo>
                  <a:pt x="80795" y="109264"/>
                  <a:pt x="68204" y="99831"/>
                  <a:pt x="63467" y="86643"/>
                </a:cubicBezTo>
                <a:cubicBezTo>
                  <a:pt x="65900" y="88008"/>
                  <a:pt x="68717" y="88777"/>
                  <a:pt x="71704" y="88777"/>
                </a:cubicBezTo>
                <a:lnTo>
                  <a:pt x="76997" y="88777"/>
                </a:lnTo>
                <a:cubicBezTo>
                  <a:pt x="84039" y="88777"/>
                  <a:pt x="90271" y="84253"/>
                  <a:pt x="92490" y="77594"/>
                </a:cubicBezTo>
                <a:cubicBezTo>
                  <a:pt x="93472" y="74607"/>
                  <a:pt x="97697" y="74607"/>
                  <a:pt x="98679" y="77594"/>
                </a:cubicBezTo>
                <a:cubicBezTo>
                  <a:pt x="100898" y="84253"/>
                  <a:pt x="107172" y="88777"/>
                  <a:pt x="114172" y="88777"/>
                </a:cubicBezTo>
                <a:lnTo>
                  <a:pt x="119464" y="88777"/>
                </a:lnTo>
                <a:cubicBezTo>
                  <a:pt x="122452" y="88777"/>
                  <a:pt x="125269" y="88008"/>
                  <a:pt x="127702" y="86643"/>
                </a:cubicBezTo>
                <a:cubicBezTo>
                  <a:pt x="122964" y="99831"/>
                  <a:pt x="110373" y="109264"/>
                  <a:pt x="95563" y="10926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1063499" y="2374661"/>
            <a:ext cx="1156373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Proxies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3499" y="2629610"/>
            <a:ext cx="1129058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cf.open_proxies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7181" y="2884558"/>
            <a:ext cx="5444971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Known open HTTP and SOCKS proxy endpoints frequently used to launch attacks and hide attacker identity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7181" y="3394455"/>
            <a:ext cx="801267" cy="218527"/>
          </a:xfrm>
          <a:custGeom>
            <a:avLst/>
            <a:gdLst/>
            <a:ahLst/>
            <a:cxnLst/>
            <a:rect l="l" t="t" r="r" b="b"/>
            <a:pathLst>
              <a:path w="801267" h="218527">
                <a:moveTo>
                  <a:pt x="36422" y="0"/>
                </a:moveTo>
                <a:lnTo>
                  <a:pt x="764845" y="0"/>
                </a:lnTo>
                <a:cubicBezTo>
                  <a:pt x="784960" y="0"/>
                  <a:pt x="801267" y="16307"/>
                  <a:pt x="801267" y="36422"/>
                </a:cubicBezTo>
                <a:lnTo>
                  <a:pt x="801267" y="182105"/>
                </a:lnTo>
                <a:cubicBezTo>
                  <a:pt x="801267" y="202221"/>
                  <a:pt x="784960" y="218527"/>
                  <a:pt x="764845" y="218527"/>
                </a:cubicBezTo>
                <a:lnTo>
                  <a:pt x="36422" y="218527"/>
                </a:lnTo>
                <a:cubicBezTo>
                  <a:pt x="16307" y="218527"/>
                  <a:pt x="0" y="202221"/>
                  <a:pt x="0" y="182105"/>
                </a:cubicBezTo>
                <a:lnTo>
                  <a:pt x="0" y="36422"/>
                </a:lnTo>
                <a:cubicBezTo>
                  <a:pt x="0" y="16320"/>
                  <a:pt x="16320" y="0"/>
                  <a:pt x="36422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7181" y="3394455"/>
            <a:ext cx="855898" cy="218527"/>
          </a:xfrm>
          <a:prstGeom prst="rect">
            <a:avLst/>
          </a:prstGeom>
          <a:noFill/>
          <a:ln/>
        </p:spPr>
        <p:txBody>
          <a:bodyPr wrap="square" lIns="72842" tIns="36421" rIns="72842" bIns="36421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Proxies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92770" y="3394455"/>
            <a:ext cx="883214" cy="218527"/>
          </a:xfrm>
          <a:custGeom>
            <a:avLst/>
            <a:gdLst/>
            <a:ahLst/>
            <a:cxnLst/>
            <a:rect l="l" t="t" r="r" b="b"/>
            <a:pathLst>
              <a:path w="883214" h="218527">
                <a:moveTo>
                  <a:pt x="36422" y="0"/>
                </a:moveTo>
                <a:lnTo>
                  <a:pt x="846792" y="0"/>
                </a:lnTo>
                <a:cubicBezTo>
                  <a:pt x="866908" y="0"/>
                  <a:pt x="883214" y="16307"/>
                  <a:pt x="883214" y="36422"/>
                </a:cubicBezTo>
                <a:lnTo>
                  <a:pt x="883214" y="182105"/>
                </a:lnTo>
                <a:cubicBezTo>
                  <a:pt x="883214" y="202221"/>
                  <a:pt x="866908" y="218527"/>
                  <a:pt x="846792" y="218527"/>
                </a:cubicBezTo>
                <a:lnTo>
                  <a:pt x="36422" y="218527"/>
                </a:lnTo>
                <a:cubicBezTo>
                  <a:pt x="16307" y="218527"/>
                  <a:pt x="0" y="202221"/>
                  <a:pt x="0" y="182105"/>
                </a:cubicBezTo>
                <a:lnTo>
                  <a:pt x="0" y="36422"/>
                </a:lnTo>
                <a:cubicBezTo>
                  <a:pt x="0" y="16320"/>
                  <a:pt x="16320" y="0"/>
                  <a:pt x="36422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92770" y="3394455"/>
            <a:ext cx="937846" cy="218527"/>
          </a:xfrm>
          <a:prstGeom prst="rect">
            <a:avLst/>
          </a:prstGeom>
          <a:noFill/>
          <a:ln/>
        </p:spPr>
        <p:txBody>
          <a:bodyPr wrap="square" lIns="72842" tIns="36421" rIns="72842" bIns="36421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SOCKS Proxies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52681" y="2225336"/>
            <a:ext cx="5670782" cy="1536975"/>
          </a:xfrm>
          <a:custGeom>
            <a:avLst/>
            <a:gdLst/>
            <a:ahLst/>
            <a:cxnLst/>
            <a:rect l="l" t="t" r="r" b="b"/>
            <a:pathLst>
              <a:path w="5670782" h="1536975">
                <a:moveTo>
                  <a:pt x="72837" y="0"/>
                </a:moveTo>
                <a:lnTo>
                  <a:pt x="5597945" y="0"/>
                </a:lnTo>
                <a:cubicBezTo>
                  <a:pt x="5638145" y="0"/>
                  <a:pt x="5670782" y="32637"/>
                  <a:pt x="5670782" y="72837"/>
                </a:cubicBezTo>
                <a:lnTo>
                  <a:pt x="5670782" y="1464138"/>
                </a:lnTo>
                <a:cubicBezTo>
                  <a:pt x="5670782" y="1504365"/>
                  <a:pt x="5638172" y="1536975"/>
                  <a:pt x="5597945" y="1536975"/>
                </a:cubicBezTo>
                <a:lnTo>
                  <a:pt x="72837" y="1536975"/>
                </a:lnTo>
                <a:cubicBezTo>
                  <a:pt x="32637" y="1536975"/>
                  <a:pt x="0" y="1504338"/>
                  <a:pt x="0" y="1464138"/>
                </a:cubicBezTo>
                <a:lnTo>
                  <a:pt x="0" y="72837"/>
                </a:lnTo>
                <a:cubicBezTo>
                  <a:pt x="0" y="32610"/>
                  <a:pt x="32610" y="0"/>
                  <a:pt x="7283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20000"/>
                </a:srgbClr>
              </a:gs>
              <a:gs pos="100000">
                <a:srgbClr val="00A4E4">
                  <a:alpha val="5000"/>
                </a:srgbClr>
              </a:gs>
            </a:gsLst>
            <a:lin ang="2700000" scaled="1"/>
          </a:gradFill>
          <a:ln w="10160">
            <a:solidFill>
              <a:srgbClr val="00A4E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2007" y="2374661"/>
            <a:ext cx="437055" cy="437055"/>
          </a:xfrm>
          <a:custGeom>
            <a:avLst/>
            <a:gdLst/>
            <a:ahLst/>
            <a:cxnLst/>
            <a:rect l="l" t="t" r="r" b="b"/>
            <a:pathLst>
              <a:path w="437055" h="437055">
                <a:moveTo>
                  <a:pt x="72844" y="0"/>
                </a:moveTo>
                <a:lnTo>
                  <a:pt x="364211" y="0"/>
                </a:lnTo>
                <a:cubicBezTo>
                  <a:pt x="404414" y="0"/>
                  <a:pt x="437055" y="32640"/>
                  <a:pt x="437055" y="72844"/>
                </a:cubicBezTo>
                <a:lnTo>
                  <a:pt x="437055" y="364211"/>
                </a:lnTo>
                <a:cubicBezTo>
                  <a:pt x="437055" y="404441"/>
                  <a:pt x="404441" y="437055"/>
                  <a:pt x="364211" y="437055"/>
                </a:cubicBezTo>
                <a:lnTo>
                  <a:pt x="72844" y="437055"/>
                </a:lnTo>
                <a:cubicBezTo>
                  <a:pt x="32613" y="437055"/>
                  <a:pt x="0" y="404441"/>
                  <a:pt x="0" y="364211"/>
                </a:cubicBezTo>
                <a:lnTo>
                  <a:pt x="0" y="72844"/>
                </a:lnTo>
                <a:cubicBezTo>
                  <a:pt x="0" y="32640"/>
                  <a:pt x="32640" y="0"/>
                  <a:pt x="72844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0" name="Shape 18"/>
          <p:cNvSpPr/>
          <p:nvPr/>
        </p:nvSpPr>
        <p:spPr>
          <a:xfrm>
            <a:off x="6397613" y="2483925"/>
            <a:ext cx="245843" cy="218527"/>
          </a:xfrm>
          <a:custGeom>
            <a:avLst/>
            <a:gdLst/>
            <a:ahLst/>
            <a:cxnLst/>
            <a:rect l="l" t="t" r="r" b="b"/>
            <a:pathLst>
              <a:path w="245843" h="218527">
                <a:moveTo>
                  <a:pt x="122922" y="27316"/>
                </a:moveTo>
                <a:cubicBezTo>
                  <a:pt x="27316" y="27316"/>
                  <a:pt x="0" y="68290"/>
                  <a:pt x="0" y="116093"/>
                </a:cubicBezTo>
                <a:cubicBezTo>
                  <a:pt x="0" y="163895"/>
                  <a:pt x="34145" y="191211"/>
                  <a:pt x="75119" y="191211"/>
                </a:cubicBezTo>
                <a:lnTo>
                  <a:pt x="78704" y="191211"/>
                </a:lnTo>
                <a:cubicBezTo>
                  <a:pt x="89033" y="191211"/>
                  <a:pt x="98508" y="185364"/>
                  <a:pt x="103118" y="176102"/>
                </a:cubicBezTo>
                <a:lnTo>
                  <a:pt x="113020" y="156341"/>
                </a:lnTo>
                <a:cubicBezTo>
                  <a:pt x="114898" y="152585"/>
                  <a:pt x="118696" y="150237"/>
                  <a:pt x="122922" y="150237"/>
                </a:cubicBezTo>
                <a:cubicBezTo>
                  <a:pt x="127147" y="150237"/>
                  <a:pt x="130946" y="152585"/>
                  <a:pt x="132824" y="156341"/>
                </a:cubicBezTo>
                <a:lnTo>
                  <a:pt x="142726" y="176102"/>
                </a:lnTo>
                <a:cubicBezTo>
                  <a:pt x="147335" y="185364"/>
                  <a:pt x="156810" y="191211"/>
                  <a:pt x="167139" y="191211"/>
                </a:cubicBezTo>
                <a:lnTo>
                  <a:pt x="170724" y="191211"/>
                </a:lnTo>
                <a:cubicBezTo>
                  <a:pt x="211698" y="191211"/>
                  <a:pt x="245843" y="163895"/>
                  <a:pt x="245843" y="116093"/>
                </a:cubicBezTo>
                <a:cubicBezTo>
                  <a:pt x="245843" y="68290"/>
                  <a:pt x="218527" y="27316"/>
                  <a:pt x="122922" y="27316"/>
                </a:cubicBezTo>
                <a:close/>
                <a:moveTo>
                  <a:pt x="40974" y="109264"/>
                </a:moveTo>
                <a:cubicBezTo>
                  <a:pt x="40974" y="94188"/>
                  <a:pt x="53214" y="81948"/>
                  <a:pt x="68290" y="81948"/>
                </a:cubicBezTo>
                <a:cubicBezTo>
                  <a:pt x="83366" y="81948"/>
                  <a:pt x="95606" y="94188"/>
                  <a:pt x="95606" y="109264"/>
                </a:cubicBezTo>
                <a:cubicBezTo>
                  <a:pt x="95606" y="124340"/>
                  <a:pt x="83366" y="136580"/>
                  <a:pt x="68290" y="136580"/>
                </a:cubicBezTo>
                <a:cubicBezTo>
                  <a:pt x="53214" y="136580"/>
                  <a:pt x="40974" y="124340"/>
                  <a:pt x="40974" y="109264"/>
                </a:cubicBezTo>
                <a:close/>
                <a:moveTo>
                  <a:pt x="177553" y="81948"/>
                </a:moveTo>
                <a:cubicBezTo>
                  <a:pt x="192629" y="81948"/>
                  <a:pt x="204869" y="94188"/>
                  <a:pt x="204869" y="109264"/>
                </a:cubicBezTo>
                <a:cubicBezTo>
                  <a:pt x="204869" y="124340"/>
                  <a:pt x="192629" y="136580"/>
                  <a:pt x="177553" y="136580"/>
                </a:cubicBezTo>
                <a:cubicBezTo>
                  <a:pt x="162477" y="136580"/>
                  <a:pt x="150237" y="124340"/>
                  <a:pt x="150237" y="109264"/>
                </a:cubicBezTo>
                <a:cubicBezTo>
                  <a:pt x="150237" y="94188"/>
                  <a:pt x="162477" y="81948"/>
                  <a:pt x="177553" y="8194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6848326" y="2374661"/>
            <a:ext cx="1138163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Anonymizers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48326" y="2629610"/>
            <a:ext cx="1110847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cf.anonymizer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2007" y="2884558"/>
            <a:ext cx="5444971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Known anonymizers including open SOCKS proxies, VPNs, and TOR exit nodes used to obfuscate traffic origin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2007" y="3394455"/>
            <a:ext cx="418844" cy="218527"/>
          </a:xfrm>
          <a:custGeom>
            <a:avLst/>
            <a:gdLst/>
            <a:ahLst/>
            <a:cxnLst/>
            <a:rect l="l" t="t" r="r" b="b"/>
            <a:pathLst>
              <a:path w="418844" h="218527">
                <a:moveTo>
                  <a:pt x="36422" y="0"/>
                </a:moveTo>
                <a:lnTo>
                  <a:pt x="382422" y="0"/>
                </a:lnTo>
                <a:cubicBezTo>
                  <a:pt x="402537" y="0"/>
                  <a:pt x="418844" y="16307"/>
                  <a:pt x="418844" y="36422"/>
                </a:cubicBezTo>
                <a:lnTo>
                  <a:pt x="418844" y="182105"/>
                </a:lnTo>
                <a:cubicBezTo>
                  <a:pt x="418844" y="202221"/>
                  <a:pt x="402537" y="218527"/>
                  <a:pt x="382422" y="218527"/>
                </a:cubicBezTo>
                <a:lnTo>
                  <a:pt x="36422" y="218527"/>
                </a:lnTo>
                <a:cubicBezTo>
                  <a:pt x="16307" y="218527"/>
                  <a:pt x="0" y="202221"/>
                  <a:pt x="0" y="182105"/>
                </a:cubicBezTo>
                <a:lnTo>
                  <a:pt x="0" y="36422"/>
                </a:lnTo>
                <a:cubicBezTo>
                  <a:pt x="0" y="16320"/>
                  <a:pt x="16320" y="0"/>
                  <a:pt x="36422" y="0"/>
                </a:cubicBezTo>
                <a:close/>
              </a:path>
            </a:pathLst>
          </a:custGeom>
          <a:solidFill>
            <a:srgbClr val="00A4E4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02007" y="3394455"/>
            <a:ext cx="473476" cy="218527"/>
          </a:xfrm>
          <a:prstGeom prst="rect">
            <a:avLst/>
          </a:prstGeom>
          <a:noFill/>
          <a:ln/>
        </p:spPr>
        <p:txBody>
          <a:bodyPr wrap="square" lIns="72842" tIns="36421" rIns="72842" bIns="36421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93694" y="3394455"/>
            <a:ext cx="692003" cy="218527"/>
          </a:xfrm>
          <a:custGeom>
            <a:avLst/>
            <a:gdLst/>
            <a:ahLst/>
            <a:cxnLst/>
            <a:rect l="l" t="t" r="r" b="b"/>
            <a:pathLst>
              <a:path w="692003" h="218527">
                <a:moveTo>
                  <a:pt x="36422" y="0"/>
                </a:moveTo>
                <a:lnTo>
                  <a:pt x="655581" y="0"/>
                </a:lnTo>
                <a:cubicBezTo>
                  <a:pt x="675696" y="0"/>
                  <a:pt x="692003" y="16307"/>
                  <a:pt x="692003" y="36422"/>
                </a:cubicBezTo>
                <a:lnTo>
                  <a:pt x="692003" y="182105"/>
                </a:lnTo>
                <a:cubicBezTo>
                  <a:pt x="692003" y="202221"/>
                  <a:pt x="675696" y="218527"/>
                  <a:pt x="655581" y="218527"/>
                </a:cubicBezTo>
                <a:lnTo>
                  <a:pt x="36422" y="218527"/>
                </a:lnTo>
                <a:cubicBezTo>
                  <a:pt x="16307" y="218527"/>
                  <a:pt x="0" y="202221"/>
                  <a:pt x="0" y="182105"/>
                </a:cubicBezTo>
                <a:lnTo>
                  <a:pt x="0" y="36422"/>
                </a:lnTo>
                <a:cubicBezTo>
                  <a:pt x="0" y="16320"/>
                  <a:pt x="16320" y="0"/>
                  <a:pt x="36422" y="0"/>
                </a:cubicBezTo>
                <a:close/>
              </a:path>
            </a:pathLst>
          </a:custGeom>
          <a:solidFill>
            <a:srgbClr val="00A4E4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793694" y="3394455"/>
            <a:ext cx="746635" cy="218527"/>
          </a:xfrm>
          <a:prstGeom prst="rect">
            <a:avLst/>
          </a:prstGeom>
          <a:noFill/>
          <a:ln/>
        </p:spPr>
        <p:txBody>
          <a:bodyPr wrap="square" lIns="72842" tIns="36421" rIns="72842" bIns="36421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TOR Nodes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7854" y="3878744"/>
            <a:ext cx="5670782" cy="1536975"/>
          </a:xfrm>
          <a:custGeom>
            <a:avLst/>
            <a:gdLst/>
            <a:ahLst/>
            <a:cxnLst/>
            <a:rect l="l" t="t" r="r" b="b"/>
            <a:pathLst>
              <a:path w="5670782" h="1536975">
                <a:moveTo>
                  <a:pt x="72837" y="0"/>
                </a:moveTo>
                <a:lnTo>
                  <a:pt x="5597945" y="0"/>
                </a:lnTo>
                <a:cubicBezTo>
                  <a:pt x="5638145" y="0"/>
                  <a:pt x="5670782" y="32637"/>
                  <a:pt x="5670782" y="72837"/>
                </a:cubicBezTo>
                <a:lnTo>
                  <a:pt x="5670782" y="1464138"/>
                </a:lnTo>
                <a:cubicBezTo>
                  <a:pt x="5670782" y="1504365"/>
                  <a:pt x="5638172" y="1536975"/>
                  <a:pt x="5597945" y="1536975"/>
                </a:cubicBezTo>
                <a:lnTo>
                  <a:pt x="72837" y="1536975"/>
                </a:lnTo>
                <a:cubicBezTo>
                  <a:pt x="32637" y="1536975"/>
                  <a:pt x="0" y="1504338"/>
                  <a:pt x="0" y="1464138"/>
                </a:cubicBezTo>
                <a:lnTo>
                  <a:pt x="0" y="72837"/>
                </a:lnTo>
                <a:cubicBezTo>
                  <a:pt x="0" y="32610"/>
                  <a:pt x="32610" y="0"/>
                  <a:pt x="72837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2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 w="10160">
            <a:solidFill>
              <a:srgbClr val="F48120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7181" y="4028069"/>
            <a:ext cx="437055" cy="437055"/>
          </a:xfrm>
          <a:custGeom>
            <a:avLst/>
            <a:gdLst/>
            <a:ahLst/>
            <a:cxnLst/>
            <a:rect l="l" t="t" r="r" b="b"/>
            <a:pathLst>
              <a:path w="437055" h="437055">
                <a:moveTo>
                  <a:pt x="72844" y="0"/>
                </a:moveTo>
                <a:lnTo>
                  <a:pt x="364211" y="0"/>
                </a:lnTo>
                <a:cubicBezTo>
                  <a:pt x="404414" y="0"/>
                  <a:pt x="437055" y="32640"/>
                  <a:pt x="437055" y="72844"/>
                </a:cubicBezTo>
                <a:lnTo>
                  <a:pt x="437055" y="364211"/>
                </a:lnTo>
                <a:cubicBezTo>
                  <a:pt x="437055" y="404441"/>
                  <a:pt x="404441" y="437055"/>
                  <a:pt x="364211" y="437055"/>
                </a:cubicBezTo>
                <a:lnTo>
                  <a:pt x="72844" y="437055"/>
                </a:lnTo>
                <a:cubicBezTo>
                  <a:pt x="32613" y="437055"/>
                  <a:pt x="0" y="404441"/>
                  <a:pt x="0" y="364211"/>
                </a:cubicBezTo>
                <a:lnTo>
                  <a:pt x="0" y="72844"/>
                </a:lnTo>
                <a:cubicBezTo>
                  <a:pt x="0" y="32640"/>
                  <a:pt x="32640" y="0"/>
                  <a:pt x="72844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787" y="4137333"/>
            <a:ext cx="245843" cy="218527"/>
          </a:xfrm>
          <a:custGeom>
            <a:avLst/>
            <a:gdLst/>
            <a:ahLst/>
            <a:cxnLst/>
            <a:rect l="l" t="t" r="r" b="b"/>
            <a:pathLst>
              <a:path w="245843" h="218527">
                <a:moveTo>
                  <a:pt x="105849" y="37559"/>
                </a:moveTo>
                <a:lnTo>
                  <a:pt x="139994" y="37559"/>
                </a:lnTo>
                <a:lnTo>
                  <a:pt x="139994" y="58046"/>
                </a:lnTo>
                <a:lnTo>
                  <a:pt x="105849" y="58046"/>
                </a:lnTo>
                <a:lnTo>
                  <a:pt x="105849" y="37559"/>
                </a:lnTo>
                <a:close/>
                <a:moveTo>
                  <a:pt x="102435" y="13658"/>
                </a:moveTo>
                <a:cubicBezTo>
                  <a:pt x="91124" y="13658"/>
                  <a:pt x="81948" y="22834"/>
                  <a:pt x="81948" y="34145"/>
                </a:cubicBezTo>
                <a:lnTo>
                  <a:pt x="81948" y="61461"/>
                </a:lnTo>
                <a:cubicBezTo>
                  <a:pt x="81948" y="72771"/>
                  <a:pt x="91124" y="81948"/>
                  <a:pt x="102435" y="81948"/>
                </a:cubicBezTo>
                <a:lnTo>
                  <a:pt x="109264" y="81948"/>
                </a:lnTo>
                <a:lnTo>
                  <a:pt x="109264" y="95606"/>
                </a:lnTo>
                <a:lnTo>
                  <a:pt x="13658" y="95606"/>
                </a:lnTo>
                <a:cubicBezTo>
                  <a:pt x="6103" y="95606"/>
                  <a:pt x="0" y="101709"/>
                  <a:pt x="0" y="109264"/>
                </a:cubicBezTo>
                <a:cubicBezTo>
                  <a:pt x="0" y="116818"/>
                  <a:pt x="6103" y="122922"/>
                  <a:pt x="13658" y="122922"/>
                </a:cubicBezTo>
                <a:lnTo>
                  <a:pt x="54632" y="122922"/>
                </a:lnTo>
                <a:lnTo>
                  <a:pt x="54632" y="136580"/>
                </a:lnTo>
                <a:lnTo>
                  <a:pt x="47803" y="136580"/>
                </a:lnTo>
                <a:cubicBezTo>
                  <a:pt x="36492" y="136580"/>
                  <a:pt x="27316" y="145756"/>
                  <a:pt x="27316" y="157066"/>
                </a:cubicBezTo>
                <a:lnTo>
                  <a:pt x="27316" y="184382"/>
                </a:lnTo>
                <a:cubicBezTo>
                  <a:pt x="27316" y="195693"/>
                  <a:pt x="36492" y="204869"/>
                  <a:pt x="47803" y="204869"/>
                </a:cubicBezTo>
                <a:lnTo>
                  <a:pt x="88777" y="204869"/>
                </a:lnTo>
                <a:cubicBezTo>
                  <a:pt x="100087" y="204869"/>
                  <a:pt x="109264" y="195693"/>
                  <a:pt x="109264" y="184382"/>
                </a:cubicBezTo>
                <a:lnTo>
                  <a:pt x="109264" y="157066"/>
                </a:lnTo>
                <a:cubicBezTo>
                  <a:pt x="109264" y="145756"/>
                  <a:pt x="100087" y="136580"/>
                  <a:pt x="88777" y="136580"/>
                </a:cubicBezTo>
                <a:lnTo>
                  <a:pt x="81948" y="136580"/>
                </a:lnTo>
                <a:lnTo>
                  <a:pt x="81948" y="122922"/>
                </a:lnTo>
                <a:lnTo>
                  <a:pt x="163895" y="122922"/>
                </a:lnTo>
                <a:lnTo>
                  <a:pt x="163895" y="136580"/>
                </a:lnTo>
                <a:lnTo>
                  <a:pt x="157066" y="136580"/>
                </a:lnTo>
                <a:cubicBezTo>
                  <a:pt x="145756" y="136580"/>
                  <a:pt x="136580" y="145756"/>
                  <a:pt x="136580" y="157066"/>
                </a:cubicBezTo>
                <a:lnTo>
                  <a:pt x="136580" y="184382"/>
                </a:lnTo>
                <a:cubicBezTo>
                  <a:pt x="136580" y="195693"/>
                  <a:pt x="145756" y="204869"/>
                  <a:pt x="157066" y="204869"/>
                </a:cubicBezTo>
                <a:lnTo>
                  <a:pt x="198040" y="204869"/>
                </a:lnTo>
                <a:cubicBezTo>
                  <a:pt x="209351" y="204869"/>
                  <a:pt x="218527" y="195693"/>
                  <a:pt x="218527" y="184382"/>
                </a:cubicBezTo>
                <a:lnTo>
                  <a:pt x="218527" y="157066"/>
                </a:lnTo>
                <a:cubicBezTo>
                  <a:pt x="218527" y="145756"/>
                  <a:pt x="209351" y="136580"/>
                  <a:pt x="198040" y="136580"/>
                </a:cubicBezTo>
                <a:lnTo>
                  <a:pt x="191211" y="136580"/>
                </a:lnTo>
                <a:lnTo>
                  <a:pt x="191211" y="122922"/>
                </a:lnTo>
                <a:lnTo>
                  <a:pt x="232185" y="122922"/>
                </a:lnTo>
                <a:cubicBezTo>
                  <a:pt x="239740" y="122922"/>
                  <a:pt x="245843" y="116818"/>
                  <a:pt x="245843" y="109264"/>
                </a:cubicBezTo>
                <a:cubicBezTo>
                  <a:pt x="245843" y="101709"/>
                  <a:pt x="239740" y="95606"/>
                  <a:pt x="232185" y="95606"/>
                </a:cubicBezTo>
                <a:lnTo>
                  <a:pt x="136580" y="95606"/>
                </a:lnTo>
                <a:lnTo>
                  <a:pt x="136580" y="81948"/>
                </a:lnTo>
                <a:lnTo>
                  <a:pt x="143409" y="81948"/>
                </a:lnTo>
                <a:cubicBezTo>
                  <a:pt x="154719" y="81948"/>
                  <a:pt x="163895" y="72771"/>
                  <a:pt x="163895" y="61461"/>
                </a:cubicBezTo>
                <a:lnTo>
                  <a:pt x="163895" y="34145"/>
                </a:lnTo>
                <a:cubicBezTo>
                  <a:pt x="163895" y="22834"/>
                  <a:pt x="154719" y="13658"/>
                  <a:pt x="143409" y="13658"/>
                </a:cubicBezTo>
                <a:lnTo>
                  <a:pt x="102435" y="13658"/>
                </a:lnTo>
                <a:close/>
                <a:moveTo>
                  <a:pt x="191211" y="160481"/>
                </a:moveTo>
                <a:lnTo>
                  <a:pt x="194626" y="160481"/>
                </a:lnTo>
                <a:lnTo>
                  <a:pt x="194626" y="180968"/>
                </a:lnTo>
                <a:lnTo>
                  <a:pt x="160481" y="180968"/>
                </a:lnTo>
                <a:lnTo>
                  <a:pt x="160481" y="160481"/>
                </a:lnTo>
                <a:lnTo>
                  <a:pt x="191211" y="160481"/>
                </a:lnTo>
                <a:close/>
                <a:moveTo>
                  <a:pt x="81948" y="160481"/>
                </a:moveTo>
                <a:lnTo>
                  <a:pt x="85362" y="160481"/>
                </a:lnTo>
                <a:lnTo>
                  <a:pt x="85362" y="180968"/>
                </a:lnTo>
                <a:lnTo>
                  <a:pt x="51217" y="180968"/>
                </a:lnTo>
                <a:lnTo>
                  <a:pt x="51217" y="160481"/>
                </a:lnTo>
                <a:lnTo>
                  <a:pt x="81948" y="16048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1063499" y="4028069"/>
            <a:ext cx="546318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3499" y="4283018"/>
            <a:ext cx="519002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cf.vpn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7181" y="4537966"/>
            <a:ext cx="5444971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Known VPN server IP addresses commonly used to bypass geographic restrictions and hide user location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7181" y="5047863"/>
            <a:ext cx="1028899" cy="218527"/>
          </a:xfrm>
          <a:custGeom>
            <a:avLst/>
            <a:gdLst/>
            <a:ahLst/>
            <a:cxnLst/>
            <a:rect l="l" t="t" r="r" b="b"/>
            <a:pathLst>
              <a:path w="1028899" h="218527">
                <a:moveTo>
                  <a:pt x="36422" y="0"/>
                </a:moveTo>
                <a:lnTo>
                  <a:pt x="992477" y="0"/>
                </a:lnTo>
                <a:cubicBezTo>
                  <a:pt x="1012593" y="0"/>
                  <a:pt x="1028899" y="16307"/>
                  <a:pt x="1028899" y="36422"/>
                </a:cubicBezTo>
                <a:lnTo>
                  <a:pt x="1028899" y="182105"/>
                </a:lnTo>
                <a:cubicBezTo>
                  <a:pt x="1028899" y="202221"/>
                  <a:pt x="1012593" y="218527"/>
                  <a:pt x="992477" y="218527"/>
                </a:cubicBezTo>
                <a:lnTo>
                  <a:pt x="36422" y="218527"/>
                </a:lnTo>
                <a:cubicBezTo>
                  <a:pt x="16307" y="218527"/>
                  <a:pt x="0" y="202221"/>
                  <a:pt x="0" y="182105"/>
                </a:cubicBezTo>
                <a:lnTo>
                  <a:pt x="0" y="36422"/>
                </a:lnTo>
                <a:cubicBezTo>
                  <a:pt x="0" y="16320"/>
                  <a:pt x="16320" y="0"/>
                  <a:pt x="36422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17181" y="5047863"/>
            <a:ext cx="1083531" cy="218527"/>
          </a:xfrm>
          <a:prstGeom prst="rect">
            <a:avLst/>
          </a:prstGeom>
          <a:noFill/>
          <a:ln/>
        </p:spPr>
        <p:txBody>
          <a:bodyPr wrap="square" lIns="72842" tIns="36421" rIns="72842" bIns="36421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Commercial VPNs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614484" y="5047863"/>
            <a:ext cx="928741" cy="218527"/>
          </a:xfrm>
          <a:custGeom>
            <a:avLst/>
            <a:gdLst/>
            <a:ahLst/>
            <a:cxnLst/>
            <a:rect l="l" t="t" r="r" b="b"/>
            <a:pathLst>
              <a:path w="928741" h="218527">
                <a:moveTo>
                  <a:pt x="36422" y="0"/>
                </a:moveTo>
                <a:lnTo>
                  <a:pt x="892319" y="0"/>
                </a:lnTo>
                <a:cubicBezTo>
                  <a:pt x="912434" y="0"/>
                  <a:pt x="928741" y="16307"/>
                  <a:pt x="928741" y="36422"/>
                </a:cubicBezTo>
                <a:lnTo>
                  <a:pt x="928741" y="182105"/>
                </a:lnTo>
                <a:cubicBezTo>
                  <a:pt x="928741" y="202221"/>
                  <a:pt x="912434" y="218527"/>
                  <a:pt x="892319" y="218527"/>
                </a:cubicBezTo>
                <a:lnTo>
                  <a:pt x="36422" y="218527"/>
                </a:lnTo>
                <a:cubicBezTo>
                  <a:pt x="16307" y="218527"/>
                  <a:pt x="0" y="202221"/>
                  <a:pt x="0" y="182105"/>
                </a:cubicBezTo>
                <a:lnTo>
                  <a:pt x="0" y="36422"/>
                </a:lnTo>
                <a:cubicBezTo>
                  <a:pt x="0" y="16320"/>
                  <a:pt x="16320" y="0"/>
                  <a:pt x="36422" y="0"/>
                </a:cubicBezTo>
                <a:close/>
              </a:path>
            </a:pathLst>
          </a:custGeom>
          <a:solidFill>
            <a:srgbClr val="F48120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614484" y="5047863"/>
            <a:ext cx="983373" cy="218527"/>
          </a:xfrm>
          <a:prstGeom prst="rect">
            <a:avLst/>
          </a:prstGeom>
          <a:noFill/>
          <a:ln/>
        </p:spPr>
        <p:txBody>
          <a:bodyPr wrap="square" lIns="72842" tIns="36421" rIns="72842" bIns="36421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Corporate VPNs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52681" y="3878744"/>
            <a:ext cx="5670782" cy="1536975"/>
          </a:xfrm>
          <a:custGeom>
            <a:avLst/>
            <a:gdLst/>
            <a:ahLst/>
            <a:cxnLst/>
            <a:rect l="l" t="t" r="r" b="b"/>
            <a:pathLst>
              <a:path w="5670782" h="1536975">
                <a:moveTo>
                  <a:pt x="72837" y="0"/>
                </a:moveTo>
                <a:lnTo>
                  <a:pt x="5597945" y="0"/>
                </a:lnTo>
                <a:cubicBezTo>
                  <a:pt x="5638145" y="0"/>
                  <a:pt x="5670782" y="32637"/>
                  <a:pt x="5670782" y="72837"/>
                </a:cubicBezTo>
                <a:lnTo>
                  <a:pt x="5670782" y="1464138"/>
                </a:lnTo>
                <a:cubicBezTo>
                  <a:pt x="5670782" y="1504365"/>
                  <a:pt x="5638172" y="1536975"/>
                  <a:pt x="5597945" y="1536975"/>
                </a:cubicBezTo>
                <a:lnTo>
                  <a:pt x="72837" y="1536975"/>
                </a:lnTo>
                <a:cubicBezTo>
                  <a:pt x="32637" y="1536975"/>
                  <a:pt x="0" y="1504338"/>
                  <a:pt x="0" y="1464138"/>
                </a:cubicBezTo>
                <a:lnTo>
                  <a:pt x="0" y="72837"/>
                </a:lnTo>
                <a:cubicBezTo>
                  <a:pt x="0" y="32610"/>
                  <a:pt x="32610" y="0"/>
                  <a:pt x="7283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20000"/>
                </a:srgbClr>
              </a:gs>
              <a:gs pos="100000">
                <a:srgbClr val="00A4E4">
                  <a:alpha val="5000"/>
                </a:srgbClr>
              </a:gs>
            </a:gsLst>
            <a:lin ang="2700000" scaled="1"/>
          </a:gradFill>
          <a:ln w="10160">
            <a:solidFill>
              <a:srgbClr val="00A4E4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2007" y="4028069"/>
            <a:ext cx="437055" cy="437055"/>
          </a:xfrm>
          <a:custGeom>
            <a:avLst/>
            <a:gdLst/>
            <a:ahLst/>
            <a:cxnLst/>
            <a:rect l="l" t="t" r="r" b="b"/>
            <a:pathLst>
              <a:path w="437055" h="437055">
                <a:moveTo>
                  <a:pt x="72844" y="0"/>
                </a:moveTo>
                <a:lnTo>
                  <a:pt x="364211" y="0"/>
                </a:lnTo>
                <a:cubicBezTo>
                  <a:pt x="404414" y="0"/>
                  <a:pt x="437055" y="32640"/>
                  <a:pt x="437055" y="72844"/>
                </a:cubicBezTo>
                <a:lnTo>
                  <a:pt x="437055" y="364211"/>
                </a:lnTo>
                <a:cubicBezTo>
                  <a:pt x="437055" y="404441"/>
                  <a:pt x="404441" y="437055"/>
                  <a:pt x="364211" y="437055"/>
                </a:cubicBezTo>
                <a:lnTo>
                  <a:pt x="72844" y="437055"/>
                </a:lnTo>
                <a:cubicBezTo>
                  <a:pt x="32613" y="437055"/>
                  <a:pt x="0" y="404441"/>
                  <a:pt x="0" y="364211"/>
                </a:cubicBezTo>
                <a:lnTo>
                  <a:pt x="0" y="72844"/>
                </a:lnTo>
                <a:cubicBezTo>
                  <a:pt x="0" y="32640"/>
                  <a:pt x="32640" y="0"/>
                  <a:pt x="72844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40" name="Shape 38"/>
          <p:cNvSpPr/>
          <p:nvPr/>
        </p:nvSpPr>
        <p:spPr>
          <a:xfrm>
            <a:off x="6397613" y="4137333"/>
            <a:ext cx="245843" cy="218527"/>
          </a:xfrm>
          <a:custGeom>
            <a:avLst/>
            <a:gdLst/>
            <a:ahLst/>
            <a:cxnLst/>
            <a:rect l="l" t="t" r="r" b="b"/>
            <a:pathLst>
              <a:path w="245843" h="218527">
                <a:moveTo>
                  <a:pt x="81948" y="40974"/>
                </a:moveTo>
                <a:cubicBezTo>
                  <a:pt x="81948" y="18353"/>
                  <a:pt x="100301" y="0"/>
                  <a:pt x="122922" y="0"/>
                </a:cubicBezTo>
                <a:cubicBezTo>
                  <a:pt x="145543" y="0"/>
                  <a:pt x="163895" y="18353"/>
                  <a:pt x="163895" y="40974"/>
                </a:cubicBezTo>
                <a:lnTo>
                  <a:pt x="163895" y="42510"/>
                </a:lnTo>
                <a:cubicBezTo>
                  <a:pt x="163895" y="49211"/>
                  <a:pt x="158475" y="54632"/>
                  <a:pt x="151774" y="54632"/>
                </a:cubicBezTo>
                <a:lnTo>
                  <a:pt x="94112" y="54632"/>
                </a:lnTo>
                <a:cubicBezTo>
                  <a:pt x="87411" y="54632"/>
                  <a:pt x="81990" y="49211"/>
                  <a:pt x="81990" y="42510"/>
                </a:cubicBezTo>
                <a:lnTo>
                  <a:pt x="81990" y="40974"/>
                </a:lnTo>
                <a:close/>
                <a:moveTo>
                  <a:pt x="229454" y="46437"/>
                </a:moveTo>
                <a:cubicBezTo>
                  <a:pt x="233978" y="52455"/>
                  <a:pt x="232740" y="61034"/>
                  <a:pt x="226722" y="65558"/>
                </a:cubicBezTo>
                <a:lnTo>
                  <a:pt x="184980" y="96843"/>
                </a:lnTo>
                <a:cubicBezTo>
                  <a:pt x="187242" y="100642"/>
                  <a:pt x="188949" y="104825"/>
                  <a:pt x="190016" y="109264"/>
                </a:cubicBezTo>
                <a:lnTo>
                  <a:pt x="232185" y="109264"/>
                </a:lnTo>
                <a:cubicBezTo>
                  <a:pt x="239740" y="109264"/>
                  <a:pt x="245843" y="115367"/>
                  <a:pt x="245843" y="122922"/>
                </a:cubicBezTo>
                <a:cubicBezTo>
                  <a:pt x="245843" y="130476"/>
                  <a:pt x="239740" y="136580"/>
                  <a:pt x="232185" y="136580"/>
                </a:cubicBezTo>
                <a:lnTo>
                  <a:pt x="191211" y="136580"/>
                </a:lnTo>
                <a:lnTo>
                  <a:pt x="191211" y="150237"/>
                </a:lnTo>
                <a:cubicBezTo>
                  <a:pt x="191211" y="151347"/>
                  <a:pt x="191169" y="152500"/>
                  <a:pt x="191126" y="153609"/>
                </a:cubicBezTo>
                <a:lnTo>
                  <a:pt x="226722" y="180285"/>
                </a:lnTo>
                <a:cubicBezTo>
                  <a:pt x="232740" y="184809"/>
                  <a:pt x="233978" y="193388"/>
                  <a:pt x="229454" y="199406"/>
                </a:cubicBezTo>
                <a:cubicBezTo>
                  <a:pt x="224929" y="205424"/>
                  <a:pt x="216351" y="206662"/>
                  <a:pt x="210332" y="202138"/>
                </a:cubicBezTo>
                <a:lnTo>
                  <a:pt x="183401" y="181950"/>
                </a:lnTo>
                <a:cubicBezTo>
                  <a:pt x="173499" y="200815"/>
                  <a:pt x="155018" y="214473"/>
                  <a:pt x="133165" y="217759"/>
                </a:cubicBezTo>
                <a:lnTo>
                  <a:pt x="133165" y="119507"/>
                </a:lnTo>
                <a:cubicBezTo>
                  <a:pt x="133165" y="113831"/>
                  <a:pt x="128598" y="109264"/>
                  <a:pt x="122922" y="109264"/>
                </a:cubicBezTo>
                <a:cubicBezTo>
                  <a:pt x="117245" y="109264"/>
                  <a:pt x="112678" y="113831"/>
                  <a:pt x="112678" y="119507"/>
                </a:cubicBezTo>
                <a:lnTo>
                  <a:pt x="112678" y="217759"/>
                </a:lnTo>
                <a:cubicBezTo>
                  <a:pt x="90825" y="214473"/>
                  <a:pt x="72344" y="200815"/>
                  <a:pt x="62442" y="181950"/>
                </a:cubicBezTo>
                <a:lnTo>
                  <a:pt x="35511" y="202138"/>
                </a:lnTo>
                <a:cubicBezTo>
                  <a:pt x="29493" y="206662"/>
                  <a:pt x="20914" y="205424"/>
                  <a:pt x="16390" y="199406"/>
                </a:cubicBezTo>
                <a:cubicBezTo>
                  <a:pt x="11865" y="193388"/>
                  <a:pt x="13103" y="184809"/>
                  <a:pt x="19121" y="180285"/>
                </a:cubicBezTo>
                <a:lnTo>
                  <a:pt x="54717" y="153609"/>
                </a:lnTo>
                <a:cubicBezTo>
                  <a:pt x="54674" y="152500"/>
                  <a:pt x="54632" y="151390"/>
                  <a:pt x="54632" y="150237"/>
                </a:cubicBezTo>
                <a:lnTo>
                  <a:pt x="54632" y="136580"/>
                </a:lnTo>
                <a:lnTo>
                  <a:pt x="13658" y="136580"/>
                </a:lnTo>
                <a:cubicBezTo>
                  <a:pt x="6103" y="136580"/>
                  <a:pt x="0" y="130476"/>
                  <a:pt x="0" y="122922"/>
                </a:cubicBezTo>
                <a:cubicBezTo>
                  <a:pt x="0" y="115367"/>
                  <a:pt x="6103" y="109264"/>
                  <a:pt x="13658" y="109264"/>
                </a:cubicBezTo>
                <a:lnTo>
                  <a:pt x="55827" y="109264"/>
                </a:lnTo>
                <a:cubicBezTo>
                  <a:pt x="56894" y="104825"/>
                  <a:pt x="58601" y="100642"/>
                  <a:pt x="60863" y="96843"/>
                </a:cubicBezTo>
                <a:lnTo>
                  <a:pt x="19121" y="65558"/>
                </a:lnTo>
                <a:cubicBezTo>
                  <a:pt x="13103" y="61034"/>
                  <a:pt x="11865" y="52455"/>
                  <a:pt x="16390" y="46437"/>
                </a:cubicBezTo>
                <a:cubicBezTo>
                  <a:pt x="20914" y="40419"/>
                  <a:pt x="29493" y="39181"/>
                  <a:pt x="35511" y="43705"/>
                </a:cubicBezTo>
                <a:lnTo>
                  <a:pt x="81948" y="78533"/>
                </a:lnTo>
                <a:cubicBezTo>
                  <a:pt x="87197" y="76356"/>
                  <a:pt x="92959" y="75119"/>
                  <a:pt x="99020" y="75119"/>
                </a:cubicBezTo>
                <a:lnTo>
                  <a:pt x="146823" y="75119"/>
                </a:lnTo>
                <a:cubicBezTo>
                  <a:pt x="152884" y="75119"/>
                  <a:pt x="158646" y="76314"/>
                  <a:pt x="163895" y="78533"/>
                </a:cubicBezTo>
                <a:lnTo>
                  <a:pt x="210332" y="43705"/>
                </a:lnTo>
                <a:cubicBezTo>
                  <a:pt x="216351" y="39181"/>
                  <a:pt x="224929" y="40419"/>
                  <a:pt x="229454" y="4643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Text 39"/>
          <p:cNvSpPr/>
          <p:nvPr/>
        </p:nvSpPr>
        <p:spPr>
          <a:xfrm>
            <a:off x="6848326" y="4028069"/>
            <a:ext cx="792161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Malware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48326" y="4283018"/>
            <a:ext cx="764845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cf.malware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02007" y="4537966"/>
            <a:ext cx="5444971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addresses of known malware sources, including command-and-control servers and malware distribution points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2007" y="5047863"/>
            <a:ext cx="764845" cy="218527"/>
          </a:xfrm>
          <a:custGeom>
            <a:avLst/>
            <a:gdLst/>
            <a:ahLst/>
            <a:cxnLst/>
            <a:rect l="l" t="t" r="r" b="b"/>
            <a:pathLst>
              <a:path w="764845" h="218527">
                <a:moveTo>
                  <a:pt x="36422" y="0"/>
                </a:moveTo>
                <a:lnTo>
                  <a:pt x="728423" y="0"/>
                </a:lnTo>
                <a:cubicBezTo>
                  <a:pt x="748539" y="0"/>
                  <a:pt x="764845" y="16307"/>
                  <a:pt x="764845" y="36422"/>
                </a:cubicBezTo>
                <a:lnTo>
                  <a:pt x="764845" y="182105"/>
                </a:lnTo>
                <a:cubicBezTo>
                  <a:pt x="764845" y="202221"/>
                  <a:pt x="748539" y="218527"/>
                  <a:pt x="728423" y="218527"/>
                </a:cubicBezTo>
                <a:lnTo>
                  <a:pt x="36422" y="218527"/>
                </a:lnTo>
                <a:cubicBezTo>
                  <a:pt x="16307" y="218527"/>
                  <a:pt x="0" y="202221"/>
                  <a:pt x="0" y="182105"/>
                </a:cubicBezTo>
                <a:lnTo>
                  <a:pt x="0" y="36422"/>
                </a:lnTo>
                <a:cubicBezTo>
                  <a:pt x="0" y="16320"/>
                  <a:pt x="16320" y="0"/>
                  <a:pt x="36422" y="0"/>
                </a:cubicBezTo>
                <a:close/>
              </a:path>
            </a:pathLst>
          </a:custGeom>
          <a:solidFill>
            <a:srgbClr val="00A4E4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02007" y="5047863"/>
            <a:ext cx="819477" cy="218527"/>
          </a:xfrm>
          <a:prstGeom prst="rect">
            <a:avLst/>
          </a:prstGeom>
          <a:noFill/>
          <a:ln/>
        </p:spPr>
        <p:txBody>
          <a:bodyPr wrap="square" lIns="72842" tIns="36421" rIns="72842" bIns="36421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C&amp;C Servers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142769" y="5047863"/>
            <a:ext cx="710214" cy="218527"/>
          </a:xfrm>
          <a:custGeom>
            <a:avLst/>
            <a:gdLst/>
            <a:ahLst/>
            <a:cxnLst/>
            <a:rect l="l" t="t" r="r" b="b"/>
            <a:pathLst>
              <a:path w="710214" h="218527">
                <a:moveTo>
                  <a:pt x="36422" y="0"/>
                </a:moveTo>
                <a:lnTo>
                  <a:pt x="673792" y="0"/>
                </a:lnTo>
                <a:cubicBezTo>
                  <a:pt x="693907" y="0"/>
                  <a:pt x="710214" y="16307"/>
                  <a:pt x="710214" y="36422"/>
                </a:cubicBezTo>
                <a:lnTo>
                  <a:pt x="710214" y="182105"/>
                </a:lnTo>
                <a:cubicBezTo>
                  <a:pt x="710214" y="202221"/>
                  <a:pt x="693907" y="218527"/>
                  <a:pt x="673792" y="218527"/>
                </a:cubicBezTo>
                <a:lnTo>
                  <a:pt x="36422" y="218527"/>
                </a:lnTo>
                <a:cubicBezTo>
                  <a:pt x="16307" y="218527"/>
                  <a:pt x="0" y="202221"/>
                  <a:pt x="0" y="182105"/>
                </a:cubicBezTo>
                <a:lnTo>
                  <a:pt x="0" y="36422"/>
                </a:lnTo>
                <a:cubicBezTo>
                  <a:pt x="0" y="16320"/>
                  <a:pt x="16320" y="0"/>
                  <a:pt x="36422" y="0"/>
                </a:cubicBezTo>
                <a:close/>
              </a:path>
            </a:pathLst>
          </a:custGeom>
          <a:solidFill>
            <a:srgbClr val="00A4E4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142769" y="5047863"/>
            <a:ext cx="764845" cy="218527"/>
          </a:xfrm>
          <a:prstGeom prst="rect">
            <a:avLst/>
          </a:prstGeom>
          <a:noFill/>
          <a:ln/>
        </p:spPr>
        <p:txBody>
          <a:bodyPr wrap="square" lIns="72842" tIns="36421" rIns="72842" bIns="36421" rtlCol="0" anchor="ctr"/>
          <a:lstStyle/>
          <a:p>
            <a:pPr>
              <a:lnSpc>
                <a:spcPct val="110000"/>
              </a:lnSpc>
            </a:pPr>
            <a:r>
              <a:rPr lang="en-US" sz="860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7854" y="5532152"/>
            <a:ext cx="11452649" cy="954236"/>
          </a:xfrm>
          <a:custGeom>
            <a:avLst/>
            <a:gdLst/>
            <a:ahLst/>
            <a:cxnLst/>
            <a:rect l="l" t="t" r="r" b="b"/>
            <a:pathLst>
              <a:path w="11452649" h="954236">
                <a:moveTo>
                  <a:pt x="72846" y="0"/>
                </a:moveTo>
                <a:lnTo>
                  <a:pt x="11379803" y="0"/>
                </a:lnTo>
                <a:cubicBezTo>
                  <a:pt x="11420035" y="0"/>
                  <a:pt x="11452649" y="32614"/>
                  <a:pt x="11452649" y="72846"/>
                </a:cubicBezTo>
                <a:lnTo>
                  <a:pt x="11452649" y="881389"/>
                </a:lnTo>
                <a:cubicBezTo>
                  <a:pt x="11452649" y="921594"/>
                  <a:pt x="11420008" y="954236"/>
                  <a:pt x="11379803" y="954236"/>
                </a:cubicBezTo>
                <a:lnTo>
                  <a:pt x="72846" y="954236"/>
                </a:lnTo>
                <a:cubicBezTo>
                  <a:pt x="32614" y="954236"/>
                  <a:pt x="0" y="921621"/>
                  <a:pt x="0" y="881389"/>
                </a:cubicBezTo>
                <a:lnTo>
                  <a:pt x="0" y="72846"/>
                </a:lnTo>
                <a:cubicBezTo>
                  <a:pt x="0" y="32641"/>
                  <a:pt x="32641" y="0"/>
                  <a:pt x="72846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760" y="5645061"/>
            <a:ext cx="437055" cy="437055"/>
          </a:xfrm>
          <a:custGeom>
            <a:avLst/>
            <a:gdLst/>
            <a:ahLst/>
            <a:cxnLst/>
            <a:rect l="l" t="t" r="r" b="b"/>
            <a:pathLst>
              <a:path w="437055" h="437055">
                <a:moveTo>
                  <a:pt x="72844" y="0"/>
                </a:moveTo>
                <a:lnTo>
                  <a:pt x="364211" y="0"/>
                </a:lnTo>
                <a:cubicBezTo>
                  <a:pt x="404414" y="0"/>
                  <a:pt x="437055" y="32640"/>
                  <a:pt x="437055" y="72844"/>
                </a:cubicBezTo>
                <a:lnTo>
                  <a:pt x="437055" y="364211"/>
                </a:lnTo>
                <a:cubicBezTo>
                  <a:pt x="437055" y="404441"/>
                  <a:pt x="404441" y="437055"/>
                  <a:pt x="364211" y="437055"/>
                </a:cubicBezTo>
                <a:lnTo>
                  <a:pt x="72844" y="437055"/>
                </a:lnTo>
                <a:cubicBezTo>
                  <a:pt x="32613" y="437055"/>
                  <a:pt x="0" y="404441"/>
                  <a:pt x="0" y="364211"/>
                </a:cubicBezTo>
                <a:lnTo>
                  <a:pt x="0" y="72844"/>
                </a:lnTo>
                <a:cubicBezTo>
                  <a:pt x="0" y="32640"/>
                  <a:pt x="32640" y="0"/>
                  <a:pt x="72844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0" name="Shape 48"/>
          <p:cNvSpPr/>
          <p:nvPr/>
        </p:nvSpPr>
        <p:spPr>
          <a:xfrm>
            <a:off x="562708" y="5754324"/>
            <a:ext cx="273159" cy="218527"/>
          </a:xfrm>
          <a:custGeom>
            <a:avLst/>
            <a:gdLst/>
            <a:ahLst/>
            <a:cxnLst/>
            <a:rect l="l" t="t" r="r" b="b"/>
            <a:pathLst>
              <a:path w="273159" h="218527">
                <a:moveTo>
                  <a:pt x="150237" y="0"/>
                </a:moveTo>
                <a:cubicBezTo>
                  <a:pt x="150237" y="-7555"/>
                  <a:pt x="144134" y="-13658"/>
                  <a:pt x="136580" y="-13658"/>
                </a:cubicBezTo>
                <a:cubicBezTo>
                  <a:pt x="129025" y="-13658"/>
                  <a:pt x="122922" y="-7555"/>
                  <a:pt x="122922" y="0"/>
                </a:cubicBezTo>
                <a:lnTo>
                  <a:pt x="122922" y="27316"/>
                </a:lnTo>
                <a:lnTo>
                  <a:pt x="81948" y="27316"/>
                </a:lnTo>
                <a:cubicBezTo>
                  <a:pt x="59327" y="27316"/>
                  <a:pt x="40974" y="45669"/>
                  <a:pt x="40974" y="68290"/>
                </a:cubicBezTo>
                <a:lnTo>
                  <a:pt x="40974" y="163895"/>
                </a:lnTo>
                <a:cubicBezTo>
                  <a:pt x="40974" y="186516"/>
                  <a:pt x="59327" y="204869"/>
                  <a:pt x="81948" y="204869"/>
                </a:cubicBezTo>
                <a:lnTo>
                  <a:pt x="191211" y="204869"/>
                </a:lnTo>
                <a:cubicBezTo>
                  <a:pt x="213832" y="204869"/>
                  <a:pt x="232185" y="186516"/>
                  <a:pt x="232185" y="163895"/>
                </a:cubicBezTo>
                <a:lnTo>
                  <a:pt x="232185" y="68290"/>
                </a:lnTo>
                <a:cubicBezTo>
                  <a:pt x="232185" y="45669"/>
                  <a:pt x="213832" y="27316"/>
                  <a:pt x="191211" y="27316"/>
                </a:cubicBezTo>
                <a:lnTo>
                  <a:pt x="150237" y="27316"/>
                </a:lnTo>
                <a:lnTo>
                  <a:pt x="150237" y="0"/>
                </a:lnTo>
                <a:close/>
                <a:moveTo>
                  <a:pt x="68290" y="157066"/>
                </a:moveTo>
                <a:cubicBezTo>
                  <a:pt x="68290" y="151390"/>
                  <a:pt x="72857" y="146823"/>
                  <a:pt x="78533" y="146823"/>
                </a:cubicBezTo>
                <a:lnTo>
                  <a:pt x="92191" y="146823"/>
                </a:lnTo>
                <a:cubicBezTo>
                  <a:pt x="97868" y="146823"/>
                  <a:pt x="102435" y="151390"/>
                  <a:pt x="102435" y="157066"/>
                </a:cubicBezTo>
                <a:cubicBezTo>
                  <a:pt x="102435" y="162743"/>
                  <a:pt x="97868" y="167310"/>
                  <a:pt x="92191" y="167310"/>
                </a:cubicBezTo>
                <a:lnTo>
                  <a:pt x="78533" y="167310"/>
                </a:lnTo>
                <a:cubicBezTo>
                  <a:pt x="72857" y="167310"/>
                  <a:pt x="68290" y="162743"/>
                  <a:pt x="68290" y="157066"/>
                </a:cubicBezTo>
                <a:close/>
                <a:moveTo>
                  <a:pt x="119507" y="157066"/>
                </a:moveTo>
                <a:cubicBezTo>
                  <a:pt x="119507" y="151390"/>
                  <a:pt x="124074" y="146823"/>
                  <a:pt x="129751" y="146823"/>
                </a:cubicBezTo>
                <a:lnTo>
                  <a:pt x="143409" y="146823"/>
                </a:lnTo>
                <a:cubicBezTo>
                  <a:pt x="149085" y="146823"/>
                  <a:pt x="153652" y="151390"/>
                  <a:pt x="153652" y="157066"/>
                </a:cubicBezTo>
                <a:cubicBezTo>
                  <a:pt x="153652" y="162743"/>
                  <a:pt x="149085" y="167310"/>
                  <a:pt x="143409" y="167310"/>
                </a:cubicBezTo>
                <a:lnTo>
                  <a:pt x="129751" y="167310"/>
                </a:lnTo>
                <a:cubicBezTo>
                  <a:pt x="124074" y="167310"/>
                  <a:pt x="119507" y="162743"/>
                  <a:pt x="119507" y="157066"/>
                </a:cubicBezTo>
                <a:close/>
                <a:moveTo>
                  <a:pt x="170724" y="157066"/>
                </a:moveTo>
                <a:cubicBezTo>
                  <a:pt x="170724" y="151390"/>
                  <a:pt x="175291" y="146823"/>
                  <a:pt x="180968" y="146823"/>
                </a:cubicBezTo>
                <a:lnTo>
                  <a:pt x="194626" y="146823"/>
                </a:lnTo>
                <a:cubicBezTo>
                  <a:pt x="200302" y="146823"/>
                  <a:pt x="204869" y="151390"/>
                  <a:pt x="204869" y="157066"/>
                </a:cubicBezTo>
                <a:cubicBezTo>
                  <a:pt x="204869" y="162743"/>
                  <a:pt x="200302" y="167310"/>
                  <a:pt x="194626" y="167310"/>
                </a:cubicBezTo>
                <a:lnTo>
                  <a:pt x="180968" y="167310"/>
                </a:lnTo>
                <a:cubicBezTo>
                  <a:pt x="175291" y="167310"/>
                  <a:pt x="170724" y="162743"/>
                  <a:pt x="170724" y="157066"/>
                </a:cubicBezTo>
                <a:close/>
                <a:moveTo>
                  <a:pt x="95606" y="75119"/>
                </a:moveTo>
                <a:cubicBezTo>
                  <a:pt x="106913" y="75119"/>
                  <a:pt x="116093" y="84299"/>
                  <a:pt x="116093" y="95606"/>
                </a:cubicBezTo>
                <a:cubicBezTo>
                  <a:pt x="116093" y="106913"/>
                  <a:pt x="106913" y="116093"/>
                  <a:pt x="95606" y="116093"/>
                </a:cubicBezTo>
                <a:cubicBezTo>
                  <a:pt x="84299" y="116093"/>
                  <a:pt x="75119" y="106913"/>
                  <a:pt x="75119" y="95606"/>
                </a:cubicBezTo>
                <a:cubicBezTo>
                  <a:pt x="75119" y="84299"/>
                  <a:pt x="84299" y="75119"/>
                  <a:pt x="95606" y="75119"/>
                </a:cubicBezTo>
                <a:close/>
                <a:moveTo>
                  <a:pt x="157066" y="95606"/>
                </a:moveTo>
                <a:cubicBezTo>
                  <a:pt x="157066" y="84299"/>
                  <a:pt x="166246" y="75119"/>
                  <a:pt x="177553" y="75119"/>
                </a:cubicBezTo>
                <a:cubicBezTo>
                  <a:pt x="188860" y="75119"/>
                  <a:pt x="198040" y="84299"/>
                  <a:pt x="198040" y="95606"/>
                </a:cubicBezTo>
                <a:cubicBezTo>
                  <a:pt x="198040" y="106913"/>
                  <a:pt x="188860" y="116093"/>
                  <a:pt x="177553" y="116093"/>
                </a:cubicBezTo>
                <a:cubicBezTo>
                  <a:pt x="166246" y="116093"/>
                  <a:pt x="157066" y="106913"/>
                  <a:pt x="157066" y="95606"/>
                </a:cubicBezTo>
                <a:close/>
                <a:moveTo>
                  <a:pt x="27316" y="95606"/>
                </a:moveTo>
                <a:cubicBezTo>
                  <a:pt x="27316" y="88051"/>
                  <a:pt x="21213" y="81948"/>
                  <a:pt x="13658" y="81948"/>
                </a:cubicBezTo>
                <a:cubicBezTo>
                  <a:pt x="6103" y="81948"/>
                  <a:pt x="0" y="88051"/>
                  <a:pt x="0" y="95606"/>
                </a:cubicBezTo>
                <a:lnTo>
                  <a:pt x="0" y="136580"/>
                </a:lnTo>
                <a:cubicBezTo>
                  <a:pt x="0" y="144134"/>
                  <a:pt x="6103" y="150237"/>
                  <a:pt x="13658" y="150237"/>
                </a:cubicBezTo>
                <a:cubicBezTo>
                  <a:pt x="21213" y="150237"/>
                  <a:pt x="27316" y="144134"/>
                  <a:pt x="27316" y="136580"/>
                </a:cubicBezTo>
                <a:lnTo>
                  <a:pt x="27316" y="95606"/>
                </a:lnTo>
                <a:close/>
                <a:moveTo>
                  <a:pt x="259501" y="81948"/>
                </a:moveTo>
                <a:cubicBezTo>
                  <a:pt x="251947" y="81948"/>
                  <a:pt x="245843" y="88051"/>
                  <a:pt x="245843" y="95606"/>
                </a:cubicBezTo>
                <a:lnTo>
                  <a:pt x="245843" y="136580"/>
                </a:lnTo>
                <a:cubicBezTo>
                  <a:pt x="245843" y="144134"/>
                  <a:pt x="251947" y="150237"/>
                  <a:pt x="259501" y="150237"/>
                </a:cubicBezTo>
                <a:cubicBezTo>
                  <a:pt x="267056" y="150237"/>
                  <a:pt x="273159" y="144134"/>
                  <a:pt x="273159" y="136580"/>
                </a:cubicBezTo>
                <a:lnTo>
                  <a:pt x="273159" y="95606"/>
                </a:lnTo>
                <a:cubicBezTo>
                  <a:pt x="273159" y="88051"/>
                  <a:pt x="267056" y="81948"/>
                  <a:pt x="259501" y="8194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1" name="Text 49"/>
          <p:cNvSpPr/>
          <p:nvPr/>
        </p:nvSpPr>
        <p:spPr>
          <a:xfrm>
            <a:off x="1027078" y="5645061"/>
            <a:ext cx="10771573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Botnets, Command &amp; Control Servers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27078" y="5900009"/>
            <a:ext cx="10744257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cf.botnetcc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80760" y="6154958"/>
            <a:ext cx="11299680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Known botnet command-and-control servers that orchestrate distributed attacks including DDoS, credential stuffing, and spam campaigns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MANAGED LISTS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>
                <a:moveTo>
                  <a:pt x="0" y="0"/>
                </a:moveTo>
                <a:lnTo>
                  <a:pt x="1016000" y="0"/>
                </a:lnTo>
                <a:lnTo>
                  <a:pt x="1016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" name="Shape 3"/>
          <p:cNvSpPr/>
          <p:nvPr/>
        </p:nvSpPr>
        <p:spPr>
          <a:xfrm>
            <a:off x="320675" y="1209675"/>
            <a:ext cx="5705475" cy="4348163"/>
          </a:xfrm>
          <a:custGeom>
            <a:avLst/>
            <a:gdLst/>
            <a:ahLst/>
            <a:cxnLst/>
            <a:rect l="l" t="t" r="r" b="b"/>
            <a:pathLst>
              <a:path w="5705475" h="4348163">
                <a:moveTo>
                  <a:pt x="63483" y="0"/>
                </a:moveTo>
                <a:lnTo>
                  <a:pt x="5641992" y="0"/>
                </a:lnTo>
                <a:cubicBezTo>
                  <a:pt x="5677053" y="0"/>
                  <a:pt x="5705475" y="28422"/>
                  <a:pt x="5705475" y="63483"/>
                </a:cubicBezTo>
                <a:lnTo>
                  <a:pt x="5705475" y="4284679"/>
                </a:lnTo>
                <a:cubicBezTo>
                  <a:pt x="5705475" y="4319740"/>
                  <a:pt x="5677053" y="4348162"/>
                  <a:pt x="5641992" y="4348162"/>
                </a:cubicBezTo>
                <a:lnTo>
                  <a:pt x="63483" y="4348163"/>
                </a:lnTo>
                <a:cubicBezTo>
                  <a:pt x="28422" y="4348162"/>
                  <a:pt x="0" y="4319740"/>
                  <a:pt x="0" y="4284679"/>
                </a:cubicBezTo>
                <a:lnTo>
                  <a:pt x="0" y="63483"/>
                </a:lnTo>
                <a:cubicBezTo>
                  <a:pt x="0" y="28446"/>
                  <a:pt x="28446" y="0"/>
                  <a:pt x="63483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0772" y="137160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7" name="Text 5"/>
          <p:cNvSpPr/>
          <p:nvPr/>
        </p:nvSpPr>
        <p:spPr>
          <a:xfrm>
            <a:off x="649287" y="1339852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Firewall Rule Expressions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725" y="1657352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66725" y="1657352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0" name="Text 8"/>
          <p:cNvSpPr/>
          <p:nvPr/>
        </p:nvSpPr>
        <p:spPr>
          <a:xfrm>
            <a:off x="577850" y="175260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Open Proxies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7850" y="194310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(ip.src in $cf.open_proxies)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725" y="2260602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6725" y="2260602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14" name="Text 12"/>
          <p:cNvSpPr/>
          <p:nvPr/>
        </p:nvSpPr>
        <p:spPr>
          <a:xfrm>
            <a:off x="577850" y="235585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Anonymizers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7850" y="254635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(ip.src in $cf.anonymizer)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725" y="2863852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66725" y="2863852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18" name="Text 16"/>
          <p:cNvSpPr/>
          <p:nvPr/>
        </p:nvSpPr>
        <p:spPr>
          <a:xfrm>
            <a:off x="577850" y="295910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VPNs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7850" y="314960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(ip.src in $cf.vpn)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725" y="3467102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6725" y="3467102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22" name="Text 20"/>
          <p:cNvSpPr/>
          <p:nvPr/>
        </p:nvSpPr>
        <p:spPr>
          <a:xfrm>
            <a:off x="577850" y="356235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Malware Sources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7850" y="375285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(ip.src in $cf.malware)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725" y="4070352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31750" y="0"/>
                </a:moveTo>
                <a:lnTo>
                  <a:pt x="5365748" y="0"/>
                </a:lnTo>
                <a:cubicBezTo>
                  <a:pt x="5400819" y="0"/>
                  <a:pt x="5429250" y="28431"/>
                  <a:pt x="5429250" y="63502"/>
                </a:cubicBezTo>
                <a:lnTo>
                  <a:pt x="5429250" y="476248"/>
                </a:lnTo>
                <a:cubicBezTo>
                  <a:pt x="5429250" y="511319"/>
                  <a:pt x="5400819" y="539750"/>
                  <a:pt x="5365748" y="539750"/>
                </a:cubicBez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6725" y="4070352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26" name="Text 24"/>
          <p:cNvSpPr/>
          <p:nvPr/>
        </p:nvSpPr>
        <p:spPr>
          <a:xfrm>
            <a:off x="577850" y="416560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Botnet C&amp;C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7850" y="4356102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(ip.src in $cf.botnetcc)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62675" y="1209675"/>
            <a:ext cx="5705475" cy="1689100"/>
          </a:xfrm>
          <a:custGeom>
            <a:avLst/>
            <a:gdLst/>
            <a:ahLst/>
            <a:cxnLst/>
            <a:rect l="l" t="t" r="r" b="b"/>
            <a:pathLst>
              <a:path w="5705475" h="1689100">
                <a:moveTo>
                  <a:pt x="63493" y="0"/>
                </a:moveTo>
                <a:lnTo>
                  <a:pt x="5641982" y="0"/>
                </a:lnTo>
                <a:cubicBezTo>
                  <a:pt x="5677048" y="0"/>
                  <a:pt x="5705475" y="28427"/>
                  <a:pt x="5705475" y="63493"/>
                </a:cubicBezTo>
                <a:lnTo>
                  <a:pt x="5705475" y="1625607"/>
                </a:lnTo>
                <a:cubicBezTo>
                  <a:pt x="5705475" y="1660673"/>
                  <a:pt x="5677048" y="1689100"/>
                  <a:pt x="5641982" y="1689100"/>
                </a:cubicBezTo>
                <a:lnTo>
                  <a:pt x="63493" y="1689100"/>
                </a:lnTo>
                <a:cubicBezTo>
                  <a:pt x="28427" y="1689100"/>
                  <a:pt x="0" y="1660673"/>
                  <a:pt x="0" y="1625607"/>
                </a:cubicBezTo>
                <a:lnTo>
                  <a:pt x="0" y="63493"/>
                </a:lnTo>
                <a:cubicBezTo>
                  <a:pt x="0" y="28450"/>
                  <a:pt x="28450" y="0"/>
                  <a:pt x="63493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12694" y="13716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1287" y="1339852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Rule Example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92850" y="1657352"/>
            <a:ext cx="5445125" cy="1111250"/>
          </a:xfrm>
          <a:custGeom>
            <a:avLst/>
            <a:gdLst/>
            <a:ahLst/>
            <a:cxnLst/>
            <a:rect l="l" t="t" r="r" b="b"/>
            <a:pathLst>
              <a:path w="5445125" h="1111250">
                <a:moveTo>
                  <a:pt x="63497" y="0"/>
                </a:moveTo>
                <a:lnTo>
                  <a:pt x="5381628" y="0"/>
                </a:lnTo>
                <a:cubicBezTo>
                  <a:pt x="5416697" y="0"/>
                  <a:pt x="5445125" y="28428"/>
                  <a:pt x="5445125" y="63497"/>
                </a:cubicBezTo>
                <a:lnTo>
                  <a:pt x="5445125" y="1047753"/>
                </a:lnTo>
                <a:cubicBezTo>
                  <a:pt x="5445125" y="1082822"/>
                  <a:pt x="5416697" y="1111250"/>
                  <a:pt x="5381628" y="1111250"/>
                </a:cubicBezTo>
                <a:lnTo>
                  <a:pt x="63497" y="1111250"/>
                </a:lnTo>
                <a:cubicBezTo>
                  <a:pt x="28428" y="1111250"/>
                  <a:pt x="0" y="1082822"/>
                  <a:pt x="0" y="1047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388100" y="1752602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Block multiple threat categories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8100" y="1974852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(ip.src in $cf.open_proxies) or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88100" y="2133602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(ip.src in $cf.botnetcc) or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8100" y="2292352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(ip.src in $cf.malware)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8100" y="2514602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Action: Block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2675" y="3000376"/>
            <a:ext cx="5705475" cy="1530350"/>
          </a:xfrm>
          <a:custGeom>
            <a:avLst/>
            <a:gdLst/>
            <a:ahLst/>
            <a:cxnLst/>
            <a:rect l="l" t="t" r="r" b="b"/>
            <a:pathLst>
              <a:path w="5705475" h="1530350">
                <a:moveTo>
                  <a:pt x="63494" y="0"/>
                </a:moveTo>
                <a:lnTo>
                  <a:pt x="5641981" y="0"/>
                </a:lnTo>
                <a:cubicBezTo>
                  <a:pt x="5677048" y="0"/>
                  <a:pt x="5705475" y="28427"/>
                  <a:pt x="5705475" y="63494"/>
                </a:cubicBezTo>
                <a:lnTo>
                  <a:pt x="5705475" y="1466856"/>
                </a:lnTo>
                <a:cubicBezTo>
                  <a:pt x="5705475" y="1501923"/>
                  <a:pt x="5677048" y="1530350"/>
                  <a:pt x="5641981" y="1530350"/>
                </a:cubicBezTo>
                <a:lnTo>
                  <a:pt x="63494" y="1530350"/>
                </a:lnTo>
                <a:cubicBezTo>
                  <a:pt x="28427" y="1530350"/>
                  <a:pt x="0" y="1501923"/>
                  <a:pt x="0" y="14668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00A4E4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12694" y="316230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39" name="Text 37"/>
          <p:cNvSpPr/>
          <p:nvPr/>
        </p:nvSpPr>
        <p:spPr>
          <a:xfrm>
            <a:off x="6491287" y="3130553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Rule with Bot Score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92850" y="3448053"/>
            <a:ext cx="5445125" cy="952500"/>
          </a:xfrm>
          <a:custGeom>
            <a:avLst/>
            <a:gdLst/>
            <a:ahLst/>
            <a:cxnLst/>
            <a:rect l="l" t="t" r="r" b="b"/>
            <a:pathLst>
              <a:path w="5445125" h="952500">
                <a:moveTo>
                  <a:pt x="63503" y="0"/>
                </a:moveTo>
                <a:lnTo>
                  <a:pt x="5381622" y="0"/>
                </a:lnTo>
                <a:cubicBezTo>
                  <a:pt x="5416694" y="0"/>
                  <a:pt x="5445125" y="28431"/>
                  <a:pt x="5445125" y="63503"/>
                </a:cubicBezTo>
                <a:lnTo>
                  <a:pt x="5445125" y="888997"/>
                </a:lnTo>
                <a:cubicBezTo>
                  <a:pt x="5445125" y="924069"/>
                  <a:pt x="5416694" y="952500"/>
                  <a:pt x="5381622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88100" y="354330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Block VPNs with low bot scores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88100" y="376555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(ip.src in $cf.vpn) and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8100" y="392430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(cf.bot_management.score lt 30)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88100" y="414655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Action: Managed Challenge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2675" y="4632327"/>
            <a:ext cx="5705475" cy="927100"/>
          </a:xfrm>
          <a:custGeom>
            <a:avLst/>
            <a:gdLst/>
            <a:ahLst/>
            <a:cxnLst/>
            <a:rect l="l" t="t" r="r" b="b"/>
            <a:pathLst>
              <a:path w="5705475" h="927100">
                <a:moveTo>
                  <a:pt x="63497" y="0"/>
                </a:moveTo>
                <a:lnTo>
                  <a:pt x="5641978" y="0"/>
                </a:lnTo>
                <a:cubicBezTo>
                  <a:pt x="5677046" y="0"/>
                  <a:pt x="5705475" y="28429"/>
                  <a:pt x="5705475" y="63497"/>
                </a:cubicBezTo>
                <a:lnTo>
                  <a:pt x="5705475" y="863603"/>
                </a:lnTo>
                <a:cubicBezTo>
                  <a:pt x="5705475" y="898671"/>
                  <a:pt x="5677046" y="927100"/>
                  <a:pt x="5641978" y="927100"/>
                </a:cubicBezTo>
                <a:lnTo>
                  <a:pt x="63497" y="927100"/>
                </a:lnTo>
                <a:cubicBezTo>
                  <a:pt x="28429" y="927100"/>
                  <a:pt x="0" y="898671"/>
                  <a:pt x="0" y="8636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12694" y="48021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73" y="53578"/>
                </a:moveTo>
                <a:lnTo>
                  <a:pt x="136178" y="53578"/>
                </a:lnTo>
                <a:cubicBezTo>
                  <a:pt x="139889" y="53578"/>
                  <a:pt x="142875" y="50592"/>
                  <a:pt x="142875" y="46881"/>
                </a:cubicBezTo>
                <a:lnTo>
                  <a:pt x="142875" y="6697"/>
                </a:lnTo>
                <a:cubicBezTo>
                  <a:pt x="142875" y="3990"/>
                  <a:pt x="141256" y="1535"/>
                  <a:pt x="138745" y="502"/>
                </a:cubicBezTo>
                <a:cubicBezTo>
                  <a:pt x="136234" y="-530"/>
                  <a:pt x="133359" y="56"/>
                  <a:pt x="131434" y="1953"/>
                </a:cubicBezTo>
                <a:lnTo>
                  <a:pt x="117007" y="16408"/>
                </a:lnTo>
                <a:cubicBezTo>
                  <a:pt x="104645" y="6167"/>
                  <a:pt x="88739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ubicBezTo>
                  <a:pt x="22101" y="37812"/>
                  <a:pt x="44453" y="17859"/>
                  <a:pt x="71438" y="17859"/>
                </a:cubicBezTo>
                <a:cubicBezTo>
                  <a:pt x="83827" y="17859"/>
                  <a:pt x="95213" y="22045"/>
                  <a:pt x="104282" y="29105"/>
                </a:cubicBezTo>
                <a:lnTo>
                  <a:pt x="91250" y="42137"/>
                </a:lnTo>
                <a:cubicBezTo>
                  <a:pt x="89325" y="44062"/>
                  <a:pt x="88767" y="46937"/>
                  <a:pt x="89799" y="49448"/>
                </a:cubicBezTo>
                <a:cubicBezTo>
                  <a:pt x="90832" y="51960"/>
                  <a:pt x="93287" y="53578"/>
                  <a:pt x="95994" y="53578"/>
                </a:cubicBezTo>
                <a:lnTo>
                  <a:pt x="133973" y="53578"/>
                </a:lnTo>
                <a:close/>
                <a:moveTo>
                  <a:pt x="142177" y="81623"/>
                </a:moveTo>
                <a:cubicBezTo>
                  <a:pt x="142875" y="76740"/>
                  <a:pt x="139471" y="72219"/>
                  <a:pt x="134615" y="71521"/>
                </a:cubicBezTo>
                <a:cubicBezTo>
                  <a:pt x="129760" y="70824"/>
                  <a:pt x="125211" y="74228"/>
                  <a:pt x="124513" y="79084"/>
                </a:cubicBezTo>
                <a:cubicBezTo>
                  <a:pt x="120802" y="105035"/>
                  <a:pt x="98450" y="124988"/>
                  <a:pt x="71465" y="124988"/>
                </a:cubicBezTo>
                <a:cubicBezTo>
                  <a:pt x="59075" y="124988"/>
                  <a:pt x="47690" y="120802"/>
                  <a:pt x="38621" y="113742"/>
                </a:cubicBezTo>
                <a:lnTo>
                  <a:pt x="51625" y="100738"/>
                </a:lnTo>
                <a:cubicBezTo>
                  <a:pt x="53550" y="98813"/>
                  <a:pt x="54108" y="95938"/>
                  <a:pt x="53076" y="93427"/>
                </a:cubicBezTo>
                <a:cubicBezTo>
                  <a:pt x="52043" y="90915"/>
                  <a:pt x="49588" y="89297"/>
                  <a:pt x="46881" y="89297"/>
                </a:cubicBezTo>
                <a:lnTo>
                  <a:pt x="6697" y="89297"/>
                </a:lnTo>
                <a:cubicBezTo>
                  <a:pt x="2986" y="89297"/>
                  <a:pt x="0" y="92283"/>
                  <a:pt x="0" y="95994"/>
                </a:cubicBezTo>
                <a:lnTo>
                  <a:pt x="0" y="136178"/>
                </a:lnTo>
                <a:cubicBezTo>
                  <a:pt x="0" y="138885"/>
                  <a:pt x="1619" y="141340"/>
                  <a:pt x="4130" y="142373"/>
                </a:cubicBezTo>
                <a:cubicBezTo>
                  <a:pt x="6641" y="143405"/>
                  <a:pt x="9516" y="142819"/>
                  <a:pt x="11441" y="140922"/>
                </a:cubicBezTo>
                <a:lnTo>
                  <a:pt x="25896" y="126467"/>
                </a:lnTo>
                <a:cubicBezTo>
                  <a:pt x="38230" y="136708"/>
                  <a:pt x="54136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7" name="Text 45"/>
          <p:cNvSpPr/>
          <p:nvPr/>
        </p:nvSpPr>
        <p:spPr>
          <a:xfrm>
            <a:off x="6475412" y="4762500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Updates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92850" y="5048250"/>
            <a:ext cx="550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IP Lists are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continuously updated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based on Cloudflare's global threat intelligence. No manual maintenance required.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ATTACK SCORE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Scoring Methodology &amp; Thresholds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>
                <a:moveTo>
                  <a:pt x="0" y="0"/>
                </a:moveTo>
                <a:lnTo>
                  <a:pt x="1016000" y="0"/>
                </a:lnTo>
                <a:lnTo>
                  <a:pt x="1016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675" y="1209675"/>
            <a:ext cx="7658100" cy="2260600"/>
          </a:xfrm>
          <a:custGeom>
            <a:avLst/>
            <a:gdLst/>
            <a:ahLst/>
            <a:cxnLst/>
            <a:rect l="l" t="t" r="r" b="b"/>
            <a:pathLst>
              <a:path w="7658100" h="2260600">
                <a:moveTo>
                  <a:pt x="63500" y="0"/>
                </a:moveTo>
                <a:lnTo>
                  <a:pt x="7594600" y="0"/>
                </a:lnTo>
                <a:cubicBezTo>
                  <a:pt x="7629670" y="0"/>
                  <a:pt x="7658100" y="28430"/>
                  <a:pt x="7658100" y="63500"/>
                </a:cubicBezTo>
                <a:lnTo>
                  <a:pt x="7658100" y="2197100"/>
                </a:lnTo>
                <a:cubicBezTo>
                  <a:pt x="7658100" y="2232170"/>
                  <a:pt x="7629670" y="2260600"/>
                  <a:pt x="7594600" y="2260600"/>
                </a:cubicBezTo>
                <a:lnTo>
                  <a:pt x="63500" y="2260600"/>
                </a:lnTo>
                <a:cubicBezTo>
                  <a:pt x="28430" y="2260600"/>
                  <a:pt x="0" y="2232170"/>
                  <a:pt x="0" y="2197100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20000"/>
                </a:srgbClr>
              </a:gs>
              <a:gs pos="100000">
                <a:srgbClr val="F48120">
                  <a:alpha val="5000"/>
                </a:srgbClr>
              </a:gs>
            </a:gsLst>
            <a:lin ang="2700000" scaled="1"/>
          </a:gradFill>
          <a:ln w="10160">
            <a:solidFill>
              <a:srgbClr val="F4812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0850" y="1339848"/>
            <a:ext cx="749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 Range: 1-99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0850" y="1689002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31749" y="0"/>
                </a:moveTo>
                <a:lnTo>
                  <a:pt x="730251" y="0"/>
                </a:lnTo>
                <a:cubicBezTo>
                  <a:pt x="747786" y="0"/>
                  <a:pt x="762000" y="14214"/>
                  <a:pt x="762000" y="31749"/>
                </a:cubicBezTo>
                <a:lnTo>
                  <a:pt x="762000" y="349251"/>
                </a:lnTo>
                <a:cubicBezTo>
                  <a:pt x="762000" y="366786"/>
                  <a:pt x="747786" y="381000"/>
                  <a:pt x="730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/>
              </a:gs>
              <a:gs pos="100000">
                <a:srgbClr val="F48120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800100" y="1768377"/>
            <a:ext cx="14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8100" y="1689002"/>
            <a:ext cx="661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Almost Certainly Malicious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8100" y="1911252"/>
            <a:ext cx="659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 confidence of attack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0850" y="2133502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31749" y="0"/>
                </a:moveTo>
                <a:lnTo>
                  <a:pt x="730251" y="0"/>
                </a:lnTo>
                <a:cubicBezTo>
                  <a:pt x="747786" y="0"/>
                  <a:pt x="762000" y="14214"/>
                  <a:pt x="762000" y="31749"/>
                </a:cubicBezTo>
                <a:lnTo>
                  <a:pt x="762000" y="349251"/>
                </a:lnTo>
                <a:cubicBezTo>
                  <a:pt x="762000" y="366786"/>
                  <a:pt x="747786" y="381000"/>
                  <a:pt x="730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60000"/>
                </a:srgbClr>
              </a:gs>
              <a:gs pos="100000">
                <a:srgbClr val="00A4E4">
                  <a:alpha val="40000"/>
                </a:srgbClr>
              </a:gs>
            </a:gsLst>
            <a:lin ang="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735409" y="2212877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08100" y="2133502"/>
            <a:ext cx="661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Uncertain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08100" y="2355752"/>
            <a:ext cx="659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Borderline classification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0850" y="2578002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31749" y="0"/>
                </a:moveTo>
                <a:lnTo>
                  <a:pt x="730251" y="0"/>
                </a:lnTo>
                <a:cubicBezTo>
                  <a:pt x="747786" y="0"/>
                  <a:pt x="762000" y="14214"/>
                  <a:pt x="762000" y="31749"/>
                </a:cubicBezTo>
                <a:lnTo>
                  <a:pt x="762000" y="349251"/>
                </a:lnTo>
                <a:cubicBezTo>
                  <a:pt x="762000" y="366786"/>
                  <a:pt x="747786" y="381000"/>
                  <a:pt x="7302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40000"/>
                </a:srgbClr>
              </a:gs>
              <a:gs pos="100000">
                <a:srgbClr val="00A4E4"/>
              </a:gs>
            </a:gsLst>
            <a:lin ang="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736898" y="2657377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08100" y="2578002"/>
            <a:ext cx="661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Likely Clean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8100" y="2800252"/>
            <a:ext cx="659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 confidence of legitimate traffic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0850" y="3054252"/>
            <a:ext cx="7397750" cy="285750"/>
          </a:xfrm>
          <a:custGeom>
            <a:avLst/>
            <a:gdLst/>
            <a:ahLst/>
            <a:cxnLst/>
            <a:rect l="l" t="t" r="r" b="b"/>
            <a:pathLst>
              <a:path w="7397750" h="285750">
                <a:moveTo>
                  <a:pt x="63499" y="0"/>
                </a:moveTo>
                <a:lnTo>
                  <a:pt x="7334251" y="0"/>
                </a:lnTo>
                <a:cubicBezTo>
                  <a:pt x="7369320" y="0"/>
                  <a:pt x="7397750" y="28430"/>
                  <a:pt x="7397750" y="63499"/>
                </a:cubicBezTo>
                <a:lnTo>
                  <a:pt x="7397750" y="222251"/>
                </a:lnTo>
                <a:cubicBezTo>
                  <a:pt x="7397750" y="257320"/>
                  <a:pt x="7369320" y="285750"/>
                  <a:pt x="73342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14350" y="3117752"/>
            <a:ext cx="7326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 scores: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unscored,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F4812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not calculated (mitigated earlier)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9942" y="1209675"/>
            <a:ext cx="3760787" cy="2038350"/>
          </a:xfrm>
          <a:custGeom>
            <a:avLst/>
            <a:gdLst/>
            <a:ahLst/>
            <a:cxnLst/>
            <a:rect l="l" t="t" r="r" b="b"/>
            <a:pathLst>
              <a:path w="3760787" h="2038350">
                <a:moveTo>
                  <a:pt x="63495" y="0"/>
                </a:moveTo>
                <a:lnTo>
                  <a:pt x="3697293" y="0"/>
                </a:lnTo>
                <a:cubicBezTo>
                  <a:pt x="3732360" y="0"/>
                  <a:pt x="3760787" y="28428"/>
                  <a:pt x="3760787" y="63495"/>
                </a:cubicBezTo>
                <a:lnTo>
                  <a:pt x="3760787" y="1974855"/>
                </a:lnTo>
                <a:cubicBezTo>
                  <a:pt x="3760787" y="2009922"/>
                  <a:pt x="3732360" y="2038350"/>
                  <a:pt x="3697293" y="2038350"/>
                </a:cubicBezTo>
                <a:lnTo>
                  <a:pt x="63495" y="2038350"/>
                </a:lnTo>
                <a:cubicBezTo>
                  <a:pt x="28428" y="2038350"/>
                  <a:pt x="0" y="2009922"/>
                  <a:pt x="0" y="197485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20000"/>
                </a:srgbClr>
              </a:gs>
              <a:gs pos="100000">
                <a:srgbClr val="00A4E4">
                  <a:alpha val="5000"/>
                </a:srgbClr>
              </a:gs>
            </a:gsLst>
            <a:lin ang="2700000" scaled="1"/>
          </a:gradFill>
          <a:ln w="10160">
            <a:solidFill>
              <a:srgbClr val="00A4E4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0117" y="1339848"/>
            <a:ext cx="3579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Score Classes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40117" y="1657348"/>
            <a:ext cx="3500438" cy="317500"/>
          </a:xfrm>
          <a:custGeom>
            <a:avLst/>
            <a:gdLst/>
            <a:ahLst/>
            <a:cxnLst/>
            <a:rect l="l" t="t" r="r" b="b"/>
            <a:pathLst>
              <a:path w="3500438" h="3175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254000"/>
                </a:lnTo>
                <a:cubicBezTo>
                  <a:pt x="3500438" y="289047"/>
                  <a:pt x="3471984" y="317500"/>
                  <a:pt x="3436938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303617" y="1720848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53218" y="1736723"/>
            <a:ext cx="27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40117" y="2038348"/>
            <a:ext cx="3500438" cy="317500"/>
          </a:xfrm>
          <a:custGeom>
            <a:avLst/>
            <a:gdLst/>
            <a:ahLst/>
            <a:cxnLst/>
            <a:rect l="l" t="t" r="r" b="b"/>
            <a:pathLst>
              <a:path w="3500438" h="3175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254000"/>
                </a:lnTo>
                <a:cubicBezTo>
                  <a:pt x="3500438" y="289047"/>
                  <a:pt x="3471984" y="317500"/>
                  <a:pt x="3436938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303617" y="2101848"/>
            <a:ext cx="78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4812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Likely Attack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89221" y="2117723"/>
            <a:ext cx="34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21-50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40117" y="2419348"/>
            <a:ext cx="3500438" cy="317500"/>
          </a:xfrm>
          <a:custGeom>
            <a:avLst/>
            <a:gdLst/>
            <a:ahLst/>
            <a:cxnLst/>
            <a:rect l="l" t="t" r="r" b="b"/>
            <a:pathLst>
              <a:path w="3500438" h="3175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254000"/>
                </a:lnTo>
                <a:cubicBezTo>
                  <a:pt x="3500438" y="289047"/>
                  <a:pt x="3471984" y="317500"/>
                  <a:pt x="3436938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303617" y="2482848"/>
            <a:ext cx="73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A4E4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Likely Clean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85550" y="2498723"/>
            <a:ext cx="34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51-80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40117" y="2800348"/>
            <a:ext cx="3500438" cy="317500"/>
          </a:xfrm>
          <a:custGeom>
            <a:avLst/>
            <a:gdLst/>
            <a:ahLst/>
            <a:cxnLst/>
            <a:rect l="l" t="t" r="r" b="b"/>
            <a:pathLst>
              <a:path w="3500438" h="317500">
                <a:moveTo>
                  <a:pt x="63500" y="0"/>
                </a:moveTo>
                <a:lnTo>
                  <a:pt x="3436938" y="0"/>
                </a:lnTo>
                <a:cubicBezTo>
                  <a:pt x="3471984" y="0"/>
                  <a:pt x="3500438" y="28453"/>
                  <a:pt x="3500438" y="63500"/>
                </a:cubicBezTo>
                <a:lnTo>
                  <a:pt x="3500438" y="254000"/>
                </a:lnTo>
                <a:cubicBezTo>
                  <a:pt x="3500438" y="289047"/>
                  <a:pt x="3471984" y="317500"/>
                  <a:pt x="3436938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303617" y="2863848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87535" y="2879723"/>
            <a:ext cx="34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81-99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0675" y="3603525"/>
            <a:ext cx="5705475" cy="3070225"/>
          </a:xfrm>
          <a:custGeom>
            <a:avLst/>
            <a:gdLst/>
            <a:ahLst/>
            <a:cxnLst/>
            <a:rect l="l" t="t" r="r" b="b"/>
            <a:pathLst>
              <a:path w="5705475" h="3070225">
                <a:moveTo>
                  <a:pt x="63492" y="0"/>
                </a:moveTo>
                <a:lnTo>
                  <a:pt x="5641983" y="0"/>
                </a:lnTo>
                <a:cubicBezTo>
                  <a:pt x="5677049" y="0"/>
                  <a:pt x="5705475" y="28426"/>
                  <a:pt x="5705475" y="63492"/>
                </a:cubicBezTo>
                <a:lnTo>
                  <a:pt x="5705475" y="3006733"/>
                </a:lnTo>
                <a:cubicBezTo>
                  <a:pt x="5705475" y="3041799"/>
                  <a:pt x="5677049" y="3070225"/>
                  <a:pt x="5641983" y="3070225"/>
                </a:cubicBezTo>
                <a:lnTo>
                  <a:pt x="63492" y="3070225"/>
                </a:lnTo>
                <a:cubicBezTo>
                  <a:pt x="28426" y="3070225"/>
                  <a:pt x="0" y="3041799"/>
                  <a:pt x="0" y="3006733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616" y="3765452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9375" y="49609"/>
                </a:moveTo>
                <a:lnTo>
                  <a:pt x="79375" y="79375"/>
                </a:lnTo>
                <a:lnTo>
                  <a:pt x="119062" y="79375"/>
                </a:lnTo>
                <a:lnTo>
                  <a:pt x="119062" y="49609"/>
                </a:lnTo>
                <a:lnTo>
                  <a:pt x="79375" y="49609"/>
                </a:lnTo>
                <a:close/>
                <a:moveTo>
                  <a:pt x="59531" y="49609"/>
                </a:moveTo>
                <a:lnTo>
                  <a:pt x="19844" y="49609"/>
                </a:lnTo>
                <a:lnTo>
                  <a:pt x="19844" y="79375"/>
                </a:lnTo>
                <a:lnTo>
                  <a:pt x="59531" y="79375"/>
                </a:lnTo>
                <a:lnTo>
                  <a:pt x="59531" y="49609"/>
                </a:lnTo>
                <a:close/>
                <a:moveTo>
                  <a:pt x="0" y="99219"/>
                </a:move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99219"/>
                </a:lnTo>
                <a:close/>
                <a:moveTo>
                  <a:pt x="119062" y="99219"/>
                </a:moveTo>
                <a:lnTo>
                  <a:pt x="79375" y="99219"/>
                </a:lnTo>
                <a:lnTo>
                  <a:pt x="79375" y="128984"/>
                </a:lnTo>
                <a:lnTo>
                  <a:pt x="119062" y="128984"/>
                </a:lnTo>
                <a:lnTo>
                  <a:pt x="119062" y="99219"/>
                </a:lnTo>
                <a:close/>
                <a:moveTo>
                  <a:pt x="59531" y="128984"/>
                </a:moveTo>
                <a:lnTo>
                  <a:pt x="59531" y="99219"/>
                </a:lnTo>
                <a:lnTo>
                  <a:pt x="19844" y="99219"/>
                </a:lnTo>
                <a:lnTo>
                  <a:pt x="19844" y="128984"/>
                </a:lnTo>
                <a:lnTo>
                  <a:pt x="59531" y="128984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87" y="3733702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Score Fields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6725" y="4051202"/>
            <a:ext cx="5429250" cy="444500"/>
          </a:xfrm>
          <a:custGeom>
            <a:avLst/>
            <a:gdLst/>
            <a:ahLst/>
            <a:cxnLst/>
            <a:rect l="l" t="t" r="r" b="b"/>
            <a:pathLst>
              <a:path w="5429250" h="44450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380999"/>
                </a:lnTo>
                <a:cubicBezTo>
                  <a:pt x="5429250" y="416070"/>
                  <a:pt x="5400820" y="444500"/>
                  <a:pt x="5365749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6725" y="4051202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0" name="Text 38"/>
          <p:cNvSpPr/>
          <p:nvPr/>
        </p:nvSpPr>
        <p:spPr>
          <a:xfrm>
            <a:off x="546100" y="4114702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cf.waf.score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6100" y="4273452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score combining all attack vectors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66725" y="4559202"/>
            <a:ext cx="5429250" cy="444500"/>
          </a:xfrm>
          <a:custGeom>
            <a:avLst/>
            <a:gdLst/>
            <a:ahLst/>
            <a:cxnLst/>
            <a:rect l="l" t="t" r="r" b="b"/>
            <a:pathLst>
              <a:path w="5429250" h="44450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380999"/>
                </a:lnTo>
                <a:cubicBezTo>
                  <a:pt x="5429250" y="416070"/>
                  <a:pt x="5400820" y="444500"/>
                  <a:pt x="5365749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66725" y="4559202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44" name="Text 42"/>
          <p:cNvSpPr/>
          <p:nvPr/>
        </p:nvSpPr>
        <p:spPr>
          <a:xfrm>
            <a:off x="546100" y="4622702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cf.waf.score.sqli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6100" y="4781452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injection attack vector score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66725" y="5067202"/>
            <a:ext cx="5429250" cy="444500"/>
          </a:xfrm>
          <a:custGeom>
            <a:avLst/>
            <a:gdLst/>
            <a:ahLst/>
            <a:cxnLst/>
            <a:rect l="l" t="t" r="r" b="b"/>
            <a:pathLst>
              <a:path w="5429250" h="44450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380999"/>
                </a:lnTo>
                <a:cubicBezTo>
                  <a:pt x="5429250" y="416070"/>
                  <a:pt x="5400820" y="444500"/>
                  <a:pt x="5365749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66725" y="5067202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48" name="Text 46"/>
          <p:cNvSpPr/>
          <p:nvPr/>
        </p:nvSpPr>
        <p:spPr>
          <a:xfrm>
            <a:off x="546100" y="5130702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cf.waf.score.xss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6100" y="5289448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Cross-site scripting attack vector score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66725" y="5575198"/>
            <a:ext cx="5429250" cy="444500"/>
          </a:xfrm>
          <a:custGeom>
            <a:avLst/>
            <a:gdLst/>
            <a:ahLst/>
            <a:cxnLst/>
            <a:rect l="l" t="t" r="r" b="b"/>
            <a:pathLst>
              <a:path w="5429250" h="44450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380999"/>
                </a:lnTo>
                <a:cubicBezTo>
                  <a:pt x="5429250" y="416070"/>
                  <a:pt x="5400820" y="444500"/>
                  <a:pt x="5365749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66725" y="5575198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2" name="Text 50"/>
          <p:cNvSpPr/>
          <p:nvPr/>
        </p:nvSpPr>
        <p:spPr>
          <a:xfrm>
            <a:off x="546100" y="5638698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cf.waf.score.rce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46100" y="5797448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code execution attack vector score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66725" y="6083198"/>
            <a:ext cx="5429250" cy="444500"/>
          </a:xfrm>
          <a:custGeom>
            <a:avLst/>
            <a:gdLst/>
            <a:ahLst/>
            <a:cxnLst/>
            <a:rect l="l" t="t" r="r" b="b"/>
            <a:pathLst>
              <a:path w="5429250" h="444500">
                <a:moveTo>
                  <a:pt x="31750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380999"/>
                </a:lnTo>
                <a:cubicBezTo>
                  <a:pt x="5429250" y="416070"/>
                  <a:pt x="5400820" y="444500"/>
                  <a:pt x="5365749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66725" y="6083198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C929D"/>
          </a:solidFill>
          <a:ln/>
        </p:spPr>
      </p:sp>
      <p:sp>
        <p:nvSpPr>
          <p:cNvPr id="56" name="Text 54"/>
          <p:cNvSpPr/>
          <p:nvPr/>
        </p:nvSpPr>
        <p:spPr>
          <a:xfrm>
            <a:off x="546100" y="6146698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cf.waf.score.class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46100" y="6305448"/>
            <a:ext cx="534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score class (attack, likely_attack, etc.)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62675" y="3603525"/>
            <a:ext cx="5705475" cy="2038350"/>
          </a:xfrm>
          <a:custGeom>
            <a:avLst/>
            <a:gdLst/>
            <a:ahLst/>
            <a:cxnLst/>
            <a:rect l="l" t="t" r="r" b="b"/>
            <a:pathLst>
              <a:path w="5705475" h="2038350">
                <a:moveTo>
                  <a:pt x="63495" y="0"/>
                </a:moveTo>
                <a:lnTo>
                  <a:pt x="5641980" y="0"/>
                </a:lnTo>
                <a:cubicBezTo>
                  <a:pt x="5677047" y="0"/>
                  <a:pt x="5705475" y="28428"/>
                  <a:pt x="5705475" y="63495"/>
                </a:cubicBezTo>
                <a:lnTo>
                  <a:pt x="5705475" y="1974855"/>
                </a:lnTo>
                <a:cubicBezTo>
                  <a:pt x="5705475" y="2009922"/>
                  <a:pt x="5677047" y="2038350"/>
                  <a:pt x="5641980" y="2038350"/>
                </a:cubicBezTo>
                <a:lnTo>
                  <a:pt x="63495" y="2038350"/>
                </a:lnTo>
                <a:cubicBezTo>
                  <a:pt x="28428" y="2038350"/>
                  <a:pt x="0" y="2009922"/>
                  <a:pt x="0" y="1974855"/>
                </a:cubicBezTo>
                <a:lnTo>
                  <a:pt x="0" y="63495"/>
                </a:lnTo>
                <a:cubicBezTo>
                  <a:pt x="0" y="28451"/>
                  <a:pt x="28451" y="0"/>
                  <a:pt x="6349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00A4E4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2772" y="376545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60" name="Text 58"/>
          <p:cNvSpPr/>
          <p:nvPr/>
        </p:nvSpPr>
        <p:spPr>
          <a:xfrm>
            <a:off x="6491287" y="3733702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Rules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92850" y="4051202"/>
            <a:ext cx="5445125" cy="698500"/>
          </a:xfrm>
          <a:custGeom>
            <a:avLst/>
            <a:gdLst/>
            <a:ahLst/>
            <a:cxnLst/>
            <a:rect l="l" t="t" r="r" b="b"/>
            <a:pathLst>
              <a:path w="5445125" h="698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634999"/>
                </a:lnTo>
                <a:cubicBezTo>
                  <a:pt x="5445125" y="670070"/>
                  <a:pt x="5416695" y="698500"/>
                  <a:pt x="53816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388100" y="4146452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- Block Low Scores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88100" y="4336952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cf.waf.score le 20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88100" y="4527452"/>
            <a:ext cx="5302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Action: Block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292850" y="4813102"/>
            <a:ext cx="5445125" cy="698500"/>
          </a:xfrm>
          <a:custGeom>
            <a:avLst/>
            <a:gdLst/>
            <a:ahLst/>
            <a:cxnLst/>
            <a:rect l="l" t="t" r="r" b="b"/>
            <a:pathLst>
              <a:path w="5445125" h="698500">
                <a:moveTo>
                  <a:pt x="63501" y="0"/>
                </a:moveTo>
                <a:lnTo>
                  <a:pt x="5381624" y="0"/>
                </a:lnTo>
                <a:cubicBezTo>
                  <a:pt x="5416695" y="0"/>
                  <a:pt x="5445125" y="28430"/>
                  <a:pt x="5445125" y="63501"/>
                </a:cubicBezTo>
                <a:lnTo>
                  <a:pt x="5445125" y="634999"/>
                </a:lnTo>
                <a:cubicBezTo>
                  <a:pt x="5445125" y="670070"/>
                  <a:pt x="5416695" y="698500"/>
                  <a:pt x="53816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388100" y="4908352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- Use Score Class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388100" y="5098852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cf.waf.score.class eq "attack"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388100" y="5289355"/>
            <a:ext cx="5302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Action: Block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62675" y="5743278"/>
            <a:ext cx="5705475" cy="927100"/>
          </a:xfrm>
          <a:custGeom>
            <a:avLst/>
            <a:gdLst/>
            <a:ahLst/>
            <a:cxnLst/>
            <a:rect l="l" t="t" r="r" b="b"/>
            <a:pathLst>
              <a:path w="5705475" h="927100">
                <a:moveTo>
                  <a:pt x="63497" y="0"/>
                </a:moveTo>
                <a:lnTo>
                  <a:pt x="5641978" y="0"/>
                </a:lnTo>
                <a:cubicBezTo>
                  <a:pt x="5677046" y="0"/>
                  <a:pt x="5705475" y="28429"/>
                  <a:pt x="5705475" y="63497"/>
                </a:cubicBezTo>
                <a:lnTo>
                  <a:pt x="5705475" y="863603"/>
                </a:lnTo>
                <a:cubicBezTo>
                  <a:pt x="5705475" y="898671"/>
                  <a:pt x="5677046" y="927100"/>
                  <a:pt x="5641978" y="927100"/>
                </a:cubicBezTo>
                <a:lnTo>
                  <a:pt x="63497" y="927100"/>
                </a:lnTo>
                <a:cubicBezTo>
                  <a:pt x="28429" y="927100"/>
                  <a:pt x="0" y="898671"/>
                  <a:pt x="0" y="8636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12694" y="591313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5540" y="0"/>
                  <a:pt x="79307" y="2260"/>
                  <a:pt x="81260" y="5860"/>
                </a:cubicBezTo>
                <a:lnTo>
                  <a:pt x="141536" y="117481"/>
                </a:lnTo>
                <a:cubicBezTo>
                  <a:pt x="143405" y="120941"/>
                  <a:pt x="143321" y="125127"/>
                  <a:pt x="141312" y="128504"/>
                </a:cubicBezTo>
                <a:cubicBezTo>
                  <a:pt x="139303" y="131880"/>
                  <a:pt x="135648" y="133945"/>
                  <a:pt x="131713" y="133945"/>
                </a:cubicBezTo>
                <a:lnTo>
                  <a:pt x="11162" y="133945"/>
                </a:lnTo>
                <a:cubicBezTo>
                  <a:pt x="7227" y="133945"/>
                  <a:pt x="3600" y="131880"/>
                  <a:pt x="1563" y="128504"/>
                </a:cubicBezTo>
                <a:cubicBezTo>
                  <a:pt x="-474" y="125127"/>
                  <a:pt x="-530" y="120941"/>
                  <a:pt x="1339" y="117481"/>
                </a:cubicBezTo>
                <a:lnTo>
                  <a:pt x="61615" y="5860"/>
                </a:lnTo>
                <a:cubicBezTo>
                  <a:pt x="63568" y="2260"/>
                  <a:pt x="67335" y="0"/>
                  <a:pt x="71438" y="0"/>
                </a:cubicBezTo>
                <a:close/>
                <a:moveTo>
                  <a:pt x="71438" y="46881"/>
                </a:moveTo>
                <a:cubicBezTo>
                  <a:pt x="67726" y="46881"/>
                  <a:pt x="64740" y="49867"/>
                  <a:pt x="64740" y="53578"/>
                </a:cubicBezTo>
                <a:lnTo>
                  <a:pt x="64740" y="84832"/>
                </a:lnTo>
                <a:cubicBezTo>
                  <a:pt x="64740" y="88543"/>
                  <a:pt x="67726" y="91529"/>
                  <a:pt x="71438" y="91529"/>
                </a:cubicBezTo>
                <a:cubicBezTo>
                  <a:pt x="75149" y="91529"/>
                  <a:pt x="78135" y="88543"/>
                  <a:pt x="78135" y="84832"/>
                </a:cubicBezTo>
                <a:lnTo>
                  <a:pt x="78135" y="53578"/>
                </a:lnTo>
                <a:cubicBezTo>
                  <a:pt x="78135" y="49867"/>
                  <a:pt x="75149" y="46881"/>
                  <a:pt x="71438" y="46881"/>
                </a:cubicBezTo>
                <a:close/>
                <a:moveTo>
                  <a:pt x="78888" y="107156"/>
                </a:moveTo>
                <a:cubicBezTo>
                  <a:pt x="79058" y="104391"/>
                  <a:pt x="77678" y="101759"/>
                  <a:pt x="75308" y="100325"/>
                </a:cubicBezTo>
                <a:cubicBezTo>
                  <a:pt x="72937" y="98891"/>
                  <a:pt x="69966" y="98891"/>
                  <a:pt x="67595" y="100325"/>
                </a:cubicBezTo>
                <a:cubicBezTo>
                  <a:pt x="65224" y="101759"/>
                  <a:pt x="63845" y="104391"/>
                  <a:pt x="64015" y="107156"/>
                </a:cubicBezTo>
                <a:cubicBezTo>
                  <a:pt x="63845" y="109922"/>
                  <a:pt x="65224" y="112553"/>
                  <a:pt x="67595" y="113987"/>
                </a:cubicBezTo>
                <a:cubicBezTo>
                  <a:pt x="69966" y="115421"/>
                  <a:pt x="72937" y="115421"/>
                  <a:pt x="75308" y="113987"/>
                </a:cubicBezTo>
                <a:cubicBezTo>
                  <a:pt x="77678" y="112553"/>
                  <a:pt x="79058" y="109922"/>
                  <a:pt x="78888" y="107156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1" name="Text 69"/>
          <p:cNvSpPr/>
          <p:nvPr/>
        </p:nvSpPr>
        <p:spPr>
          <a:xfrm>
            <a:off x="6475412" y="5873452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Note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292850" y="6159202"/>
            <a:ext cx="550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Don't block scores 21-50 (Likely Attack) without additional filters due to false positives. Combine with URI path checks or bot scores.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00" y="320000"/>
            <a:ext cx="11616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b="1" spc="50" kern="0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BOT SCORE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0000" y="576000"/>
            <a:ext cx="11744000" cy="38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2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Scoring &amp;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00" y="1056000"/>
            <a:ext cx="1024000" cy="32000"/>
          </a:xfrm>
          <a:custGeom>
            <a:avLst/>
            <a:gdLst/>
            <a:ahLst/>
            <a:cxnLst/>
            <a:rect l="l" t="t" r="r" b="b"/>
            <a:pathLst>
              <a:path w="1024000" h="32000">
                <a:moveTo>
                  <a:pt x="0" y="0"/>
                </a:moveTo>
                <a:lnTo>
                  <a:pt x="1024000" y="0"/>
                </a:lnTo>
                <a:lnTo>
                  <a:pt x="1024000" y="32000"/>
                </a:lnTo>
                <a:lnTo>
                  <a:pt x="0" y="32000"/>
                </a:lnTo>
                <a:lnTo>
                  <a:pt x="0" y="0"/>
                </a:ln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" name="Shape 3"/>
          <p:cNvSpPr/>
          <p:nvPr/>
        </p:nvSpPr>
        <p:spPr>
          <a:xfrm>
            <a:off x="323200" y="1219200"/>
            <a:ext cx="7646400" cy="2086400"/>
          </a:xfrm>
          <a:custGeom>
            <a:avLst/>
            <a:gdLst/>
            <a:ahLst/>
            <a:cxnLst/>
            <a:rect l="l" t="t" r="r" b="b"/>
            <a:pathLst>
              <a:path w="7646400" h="2086400">
                <a:moveTo>
                  <a:pt x="63990" y="0"/>
                </a:moveTo>
                <a:lnTo>
                  <a:pt x="7582410" y="0"/>
                </a:lnTo>
                <a:cubicBezTo>
                  <a:pt x="7617751" y="0"/>
                  <a:pt x="7646400" y="28649"/>
                  <a:pt x="7646400" y="63990"/>
                </a:cubicBezTo>
                <a:lnTo>
                  <a:pt x="7646400" y="2022410"/>
                </a:lnTo>
                <a:cubicBezTo>
                  <a:pt x="7646400" y="2057751"/>
                  <a:pt x="7617751" y="2086400"/>
                  <a:pt x="7582410" y="2086400"/>
                </a:cubicBezTo>
                <a:lnTo>
                  <a:pt x="63990" y="2086400"/>
                </a:lnTo>
                <a:cubicBezTo>
                  <a:pt x="28649" y="2086400"/>
                  <a:pt x="0" y="2057751"/>
                  <a:pt x="0" y="2022410"/>
                </a:cubicBezTo>
                <a:lnTo>
                  <a:pt x="0" y="63990"/>
                </a:lnTo>
                <a:cubicBezTo>
                  <a:pt x="0" y="28673"/>
                  <a:pt x="28673" y="0"/>
                  <a:pt x="6399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20000"/>
                </a:srgbClr>
              </a:gs>
              <a:gs pos="100000">
                <a:srgbClr val="00A4E4">
                  <a:alpha val="5000"/>
                </a:srgbClr>
              </a:gs>
            </a:gsLst>
            <a:lin ang="2700000" scaled="1"/>
          </a:gradFill>
          <a:ln w="10160">
            <a:solidFill>
              <a:srgbClr val="00A4E4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4400" y="1350398"/>
            <a:ext cx="7480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2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 Score Range: 1-99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4400" y="1702297"/>
            <a:ext cx="896000" cy="448000"/>
          </a:xfrm>
          <a:custGeom>
            <a:avLst/>
            <a:gdLst/>
            <a:ahLst/>
            <a:cxnLst/>
            <a:rect l="l" t="t" r="r" b="b"/>
            <a:pathLst>
              <a:path w="896000" h="448000">
                <a:moveTo>
                  <a:pt x="32001" y="0"/>
                </a:moveTo>
                <a:lnTo>
                  <a:pt x="863999" y="0"/>
                </a:lnTo>
                <a:cubicBezTo>
                  <a:pt x="881673" y="0"/>
                  <a:pt x="896000" y="14327"/>
                  <a:pt x="896000" y="32001"/>
                </a:cubicBezTo>
                <a:lnTo>
                  <a:pt x="896000" y="415999"/>
                </a:lnTo>
                <a:cubicBezTo>
                  <a:pt x="896000" y="433673"/>
                  <a:pt x="881673" y="448000"/>
                  <a:pt x="863999" y="448000"/>
                </a:cubicBezTo>
                <a:lnTo>
                  <a:pt x="32001" y="448000"/>
                </a:lnTo>
                <a:cubicBezTo>
                  <a:pt x="14327" y="448000"/>
                  <a:pt x="0" y="433673"/>
                  <a:pt x="0" y="415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/>
              </a:gs>
              <a:gs pos="100000">
                <a:srgbClr val="F48120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740200" y="1814297"/>
            <a:ext cx="408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1-30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6400" y="1734297"/>
            <a:ext cx="6464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48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6400" y="1958297"/>
            <a:ext cx="644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Scripts, APIs, bots, headless browsers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4400" y="2214297"/>
            <a:ext cx="896000" cy="448000"/>
          </a:xfrm>
          <a:custGeom>
            <a:avLst/>
            <a:gdLst/>
            <a:ahLst/>
            <a:cxnLst/>
            <a:rect l="l" t="t" r="r" b="b"/>
            <a:pathLst>
              <a:path w="896000" h="448000">
                <a:moveTo>
                  <a:pt x="32001" y="0"/>
                </a:moveTo>
                <a:lnTo>
                  <a:pt x="863999" y="0"/>
                </a:lnTo>
                <a:cubicBezTo>
                  <a:pt x="881673" y="0"/>
                  <a:pt x="896000" y="14327"/>
                  <a:pt x="896000" y="32001"/>
                </a:cubicBezTo>
                <a:lnTo>
                  <a:pt x="896000" y="415999"/>
                </a:lnTo>
                <a:cubicBezTo>
                  <a:pt x="896000" y="433673"/>
                  <a:pt x="881673" y="448000"/>
                  <a:pt x="863999" y="448000"/>
                </a:cubicBezTo>
                <a:lnTo>
                  <a:pt x="32001" y="448000"/>
                </a:lnTo>
                <a:cubicBezTo>
                  <a:pt x="14327" y="448000"/>
                  <a:pt x="0" y="433673"/>
                  <a:pt x="0" y="415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70000"/>
                </a:srgbClr>
              </a:gs>
              <a:gs pos="100000">
                <a:srgbClr val="00A4E4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691100" y="2326297"/>
            <a:ext cx="504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31-80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6400" y="2246297"/>
            <a:ext cx="6464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Likely Automated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46400" y="2470297"/>
            <a:ext cx="644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Suspicious behavior, possible automation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4400" y="2726297"/>
            <a:ext cx="896000" cy="448000"/>
          </a:xfrm>
          <a:custGeom>
            <a:avLst/>
            <a:gdLst/>
            <a:ahLst/>
            <a:cxnLst/>
            <a:rect l="l" t="t" r="r" b="b"/>
            <a:pathLst>
              <a:path w="896000" h="448000">
                <a:moveTo>
                  <a:pt x="32001" y="0"/>
                </a:moveTo>
                <a:lnTo>
                  <a:pt x="863999" y="0"/>
                </a:lnTo>
                <a:cubicBezTo>
                  <a:pt x="881673" y="0"/>
                  <a:pt x="896000" y="14327"/>
                  <a:pt x="896000" y="32001"/>
                </a:cubicBezTo>
                <a:lnTo>
                  <a:pt x="896000" y="415999"/>
                </a:lnTo>
                <a:cubicBezTo>
                  <a:pt x="896000" y="433673"/>
                  <a:pt x="881673" y="448000"/>
                  <a:pt x="863999" y="448000"/>
                </a:cubicBezTo>
                <a:lnTo>
                  <a:pt x="32001" y="448000"/>
                </a:lnTo>
                <a:cubicBezTo>
                  <a:pt x="14327" y="448000"/>
                  <a:pt x="0" y="433673"/>
                  <a:pt x="0" y="415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50000"/>
                </a:srgbClr>
              </a:gs>
              <a:gs pos="100000">
                <a:srgbClr val="00A4E4"/>
              </a:gs>
            </a:gsLst>
            <a:lin ang="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693600" y="2838297"/>
            <a:ext cx="496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81-99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46400" y="2758297"/>
            <a:ext cx="6464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00A4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46400" y="2982297"/>
            <a:ext cx="644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desktop/mobile browsers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07400" y="1219200"/>
            <a:ext cx="3758400" cy="2054400"/>
          </a:xfrm>
          <a:custGeom>
            <a:avLst/>
            <a:gdLst/>
            <a:ahLst/>
            <a:cxnLst/>
            <a:rect l="l" t="t" r="r" b="b"/>
            <a:pathLst>
              <a:path w="3758400" h="2054400">
                <a:moveTo>
                  <a:pt x="63995" y="0"/>
                </a:moveTo>
                <a:lnTo>
                  <a:pt x="3694405" y="0"/>
                </a:lnTo>
                <a:cubicBezTo>
                  <a:pt x="3729749" y="0"/>
                  <a:pt x="3758400" y="28651"/>
                  <a:pt x="3758400" y="63995"/>
                </a:cubicBezTo>
                <a:lnTo>
                  <a:pt x="3758400" y="1990405"/>
                </a:lnTo>
                <a:cubicBezTo>
                  <a:pt x="3758400" y="2025749"/>
                  <a:pt x="3729749" y="2054400"/>
                  <a:pt x="3694405" y="2054400"/>
                </a:cubicBezTo>
                <a:lnTo>
                  <a:pt x="63995" y="2054400"/>
                </a:lnTo>
                <a:cubicBezTo>
                  <a:pt x="28651" y="2054400"/>
                  <a:pt x="0" y="2025749"/>
                  <a:pt x="0" y="1990405"/>
                </a:cubicBezTo>
                <a:lnTo>
                  <a:pt x="0" y="63995"/>
                </a:lnTo>
                <a:cubicBezTo>
                  <a:pt x="0" y="28651"/>
                  <a:pt x="28651" y="0"/>
                  <a:pt x="63995" y="0"/>
                </a:cubicBezTo>
                <a:close/>
              </a:path>
            </a:pathLst>
          </a:custGeom>
          <a:gradFill rotWithShape="1" flip="none">
            <a:gsLst>
              <a:gs pos="0">
                <a:srgbClr val="F4812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F48120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601" y="1350398"/>
            <a:ext cx="3576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Fields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38601" y="1670398"/>
            <a:ext cx="3496000" cy="448000"/>
          </a:xfrm>
          <a:custGeom>
            <a:avLst/>
            <a:gdLst/>
            <a:ahLst/>
            <a:cxnLst/>
            <a:rect l="l" t="t" r="r" b="b"/>
            <a:pathLst>
              <a:path w="3496000" h="448000">
                <a:moveTo>
                  <a:pt x="64001" y="0"/>
                </a:moveTo>
                <a:lnTo>
                  <a:pt x="3431999" y="0"/>
                </a:lnTo>
                <a:cubicBezTo>
                  <a:pt x="3467346" y="0"/>
                  <a:pt x="3496000" y="28654"/>
                  <a:pt x="3496000" y="64001"/>
                </a:cubicBezTo>
                <a:lnTo>
                  <a:pt x="3496000" y="383999"/>
                </a:lnTo>
                <a:cubicBezTo>
                  <a:pt x="3496000" y="419346"/>
                  <a:pt x="3467346" y="448000"/>
                  <a:pt x="3431999" y="448000"/>
                </a:cubicBezTo>
                <a:lnTo>
                  <a:pt x="64001" y="448000"/>
                </a:lnTo>
                <a:cubicBezTo>
                  <a:pt x="28654" y="448000"/>
                  <a:pt x="0" y="419346"/>
                  <a:pt x="0" y="383999"/>
                </a:cubicBezTo>
                <a:lnTo>
                  <a:pt x="0" y="64001"/>
                </a:lnTo>
                <a:cubicBezTo>
                  <a:pt x="0" y="28678"/>
                  <a:pt x="28678" y="0"/>
                  <a:pt x="640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302601" y="1734398"/>
            <a:ext cx="3424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cf.bot_management.score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02601" y="1894398"/>
            <a:ext cx="3424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1-99 likelihood score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38601" y="2182398"/>
            <a:ext cx="3496000" cy="448000"/>
          </a:xfrm>
          <a:custGeom>
            <a:avLst/>
            <a:gdLst/>
            <a:ahLst/>
            <a:cxnLst/>
            <a:rect l="l" t="t" r="r" b="b"/>
            <a:pathLst>
              <a:path w="3496000" h="448000">
                <a:moveTo>
                  <a:pt x="64001" y="0"/>
                </a:moveTo>
                <a:lnTo>
                  <a:pt x="3431999" y="0"/>
                </a:lnTo>
                <a:cubicBezTo>
                  <a:pt x="3467346" y="0"/>
                  <a:pt x="3496000" y="28654"/>
                  <a:pt x="3496000" y="64001"/>
                </a:cubicBezTo>
                <a:lnTo>
                  <a:pt x="3496000" y="383999"/>
                </a:lnTo>
                <a:cubicBezTo>
                  <a:pt x="3496000" y="419346"/>
                  <a:pt x="3467346" y="448000"/>
                  <a:pt x="3431999" y="448000"/>
                </a:cubicBezTo>
                <a:lnTo>
                  <a:pt x="64001" y="448000"/>
                </a:lnTo>
                <a:cubicBezTo>
                  <a:pt x="28654" y="448000"/>
                  <a:pt x="0" y="419346"/>
                  <a:pt x="0" y="383999"/>
                </a:cubicBezTo>
                <a:lnTo>
                  <a:pt x="0" y="64001"/>
                </a:lnTo>
                <a:cubicBezTo>
                  <a:pt x="0" y="28678"/>
                  <a:pt x="28678" y="0"/>
                  <a:pt x="640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302601" y="2246398"/>
            <a:ext cx="3424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cf.bot_management.verified_bot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02601" y="2406398"/>
            <a:ext cx="3424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Boolean - known good bot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38601" y="2694398"/>
            <a:ext cx="3496000" cy="448000"/>
          </a:xfrm>
          <a:custGeom>
            <a:avLst/>
            <a:gdLst/>
            <a:ahLst/>
            <a:cxnLst/>
            <a:rect l="l" t="t" r="r" b="b"/>
            <a:pathLst>
              <a:path w="3496000" h="448000">
                <a:moveTo>
                  <a:pt x="64001" y="0"/>
                </a:moveTo>
                <a:lnTo>
                  <a:pt x="3431999" y="0"/>
                </a:lnTo>
                <a:cubicBezTo>
                  <a:pt x="3467346" y="0"/>
                  <a:pt x="3496000" y="28654"/>
                  <a:pt x="3496000" y="64001"/>
                </a:cubicBezTo>
                <a:lnTo>
                  <a:pt x="3496000" y="383999"/>
                </a:lnTo>
                <a:cubicBezTo>
                  <a:pt x="3496000" y="419346"/>
                  <a:pt x="3467346" y="448000"/>
                  <a:pt x="3431999" y="448000"/>
                </a:cubicBezTo>
                <a:lnTo>
                  <a:pt x="64001" y="448000"/>
                </a:lnTo>
                <a:cubicBezTo>
                  <a:pt x="28654" y="448000"/>
                  <a:pt x="0" y="419346"/>
                  <a:pt x="0" y="383999"/>
                </a:cubicBezTo>
                <a:lnTo>
                  <a:pt x="0" y="64001"/>
                </a:lnTo>
                <a:cubicBezTo>
                  <a:pt x="0" y="28678"/>
                  <a:pt x="28678" y="0"/>
                  <a:pt x="640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302601" y="2758398"/>
            <a:ext cx="3424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cf.bot_management.ja3_hash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02601" y="2918398"/>
            <a:ext cx="3424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fingerprint hash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3200" y="3439895"/>
            <a:ext cx="5702400" cy="3094400"/>
          </a:xfrm>
          <a:custGeom>
            <a:avLst/>
            <a:gdLst/>
            <a:ahLst/>
            <a:cxnLst/>
            <a:rect l="l" t="t" r="r" b="b"/>
            <a:pathLst>
              <a:path w="5702400" h="3094400">
                <a:moveTo>
                  <a:pt x="63992" y="0"/>
                </a:moveTo>
                <a:lnTo>
                  <a:pt x="5638408" y="0"/>
                </a:lnTo>
                <a:cubicBezTo>
                  <a:pt x="5673750" y="0"/>
                  <a:pt x="5702400" y="28650"/>
                  <a:pt x="5702400" y="63992"/>
                </a:cubicBezTo>
                <a:lnTo>
                  <a:pt x="5702400" y="3030408"/>
                </a:lnTo>
                <a:cubicBezTo>
                  <a:pt x="5702400" y="3065750"/>
                  <a:pt x="5673750" y="3094400"/>
                  <a:pt x="5638408" y="3094400"/>
                </a:cubicBezTo>
                <a:lnTo>
                  <a:pt x="63992" y="3094400"/>
                </a:lnTo>
                <a:cubicBezTo>
                  <a:pt x="28650" y="3094400"/>
                  <a:pt x="0" y="3065750"/>
                  <a:pt x="0" y="3030408"/>
                </a:cubicBezTo>
                <a:lnTo>
                  <a:pt x="0" y="63992"/>
                </a:lnTo>
                <a:cubicBezTo>
                  <a:pt x="0" y="28674"/>
                  <a:pt x="28674" y="0"/>
                  <a:pt x="63992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4400" y="3603094"/>
            <a:ext cx="180000" cy="160000"/>
          </a:xfrm>
          <a:custGeom>
            <a:avLst/>
            <a:gdLst/>
            <a:ahLst/>
            <a:cxnLst/>
            <a:rect l="l" t="t" r="r" b="b"/>
            <a:pathLst>
              <a:path w="180000" h="160000">
                <a:moveTo>
                  <a:pt x="90000" y="20000"/>
                </a:moveTo>
                <a:cubicBezTo>
                  <a:pt x="123125" y="20000"/>
                  <a:pt x="150000" y="46875"/>
                  <a:pt x="150000" y="80000"/>
                </a:cubicBezTo>
                <a:cubicBezTo>
                  <a:pt x="150000" y="113125"/>
                  <a:pt x="123125" y="140000"/>
                  <a:pt x="90000" y="140000"/>
                </a:cubicBezTo>
                <a:cubicBezTo>
                  <a:pt x="69625" y="140000"/>
                  <a:pt x="51594" y="129844"/>
                  <a:pt x="40750" y="114281"/>
                </a:cubicBezTo>
                <a:cubicBezTo>
                  <a:pt x="37594" y="109750"/>
                  <a:pt x="31344" y="108656"/>
                  <a:pt x="26813" y="111813"/>
                </a:cubicBezTo>
                <a:cubicBezTo>
                  <a:pt x="22281" y="114969"/>
                  <a:pt x="21188" y="121219"/>
                  <a:pt x="24344" y="125750"/>
                </a:cubicBezTo>
                <a:cubicBezTo>
                  <a:pt x="38781" y="146438"/>
                  <a:pt x="62812" y="160000"/>
                  <a:pt x="90000" y="160000"/>
                </a:cubicBezTo>
                <a:cubicBezTo>
                  <a:pt x="134188" y="160000"/>
                  <a:pt x="170000" y="124187"/>
                  <a:pt x="170000" y="80000"/>
                </a:cubicBezTo>
                <a:cubicBezTo>
                  <a:pt x="170000" y="35813"/>
                  <a:pt x="134188" y="0"/>
                  <a:pt x="90000" y="0"/>
                </a:cubicBezTo>
                <a:cubicBezTo>
                  <a:pt x="63219" y="0"/>
                  <a:pt x="39531" y="13156"/>
                  <a:pt x="25000" y="33344"/>
                </a:cubicBezTo>
                <a:lnTo>
                  <a:pt x="25000" y="25000"/>
                </a:lnTo>
                <a:cubicBezTo>
                  <a:pt x="25000" y="19469"/>
                  <a:pt x="20531" y="15000"/>
                  <a:pt x="15000" y="15000"/>
                </a:cubicBezTo>
                <a:cubicBezTo>
                  <a:pt x="9469" y="15000"/>
                  <a:pt x="5000" y="19469"/>
                  <a:pt x="5000" y="25000"/>
                </a:cubicBezTo>
                <a:lnTo>
                  <a:pt x="5000" y="60000"/>
                </a:lnTo>
                <a:cubicBezTo>
                  <a:pt x="5000" y="65531"/>
                  <a:pt x="9469" y="70000"/>
                  <a:pt x="15000" y="70000"/>
                </a:cubicBezTo>
                <a:lnTo>
                  <a:pt x="22688" y="70000"/>
                </a:lnTo>
                <a:cubicBezTo>
                  <a:pt x="22844" y="70000"/>
                  <a:pt x="23000" y="70000"/>
                  <a:pt x="23156" y="70000"/>
                </a:cubicBezTo>
                <a:lnTo>
                  <a:pt x="50031" y="70000"/>
                </a:lnTo>
                <a:cubicBezTo>
                  <a:pt x="55562" y="70000"/>
                  <a:pt x="60031" y="65531"/>
                  <a:pt x="60031" y="60000"/>
                </a:cubicBezTo>
                <a:cubicBezTo>
                  <a:pt x="60031" y="54469"/>
                  <a:pt x="55562" y="50000"/>
                  <a:pt x="50031" y="50000"/>
                </a:cubicBezTo>
                <a:lnTo>
                  <a:pt x="38063" y="50000"/>
                </a:lnTo>
                <a:cubicBezTo>
                  <a:pt x="48406" y="32063"/>
                  <a:pt x="67813" y="20000"/>
                  <a:pt x="90000" y="20000"/>
                </a:cubicBezTo>
                <a:close/>
                <a:moveTo>
                  <a:pt x="97500" y="47500"/>
                </a:moveTo>
                <a:cubicBezTo>
                  <a:pt x="97500" y="43344"/>
                  <a:pt x="94156" y="40000"/>
                  <a:pt x="90000" y="40000"/>
                </a:cubicBezTo>
                <a:cubicBezTo>
                  <a:pt x="85844" y="40000"/>
                  <a:pt x="82500" y="43344"/>
                  <a:pt x="82500" y="47500"/>
                </a:cubicBezTo>
                <a:lnTo>
                  <a:pt x="82500" y="80000"/>
                </a:lnTo>
                <a:cubicBezTo>
                  <a:pt x="82500" y="82000"/>
                  <a:pt x="83281" y="83906"/>
                  <a:pt x="84688" y="85313"/>
                </a:cubicBezTo>
                <a:lnTo>
                  <a:pt x="107188" y="107813"/>
                </a:lnTo>
                <a:cubicBezTo>
                  <a:pt x="110125" y="110750"/>
                  <a:pt x="114875" y="110750"/>
                  <a:pt x="117781" y="107813"/>
                </a:cubicBezTo>
                <a:cubicBezTo>
                  <a:pt x="120688" y="104875"/>
                  <a:pt x="120719" y="100125"/>
                  <a:pt x="117781" y="97219"/>
                </a:cubicBezTo>
                <a:lnTo>
                  <a:pt x="97469" y="76906"/>
                </a:lnTo>
                <a:lnTo>
                  <a:pt x="97469" y="47500"/>
                </a:ln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32" name="Text 30"/>
          <p:cNvSpPr/>
          <p:nvPr/>
        </p:nvSpPr>
        <p:spPr>
          <a:xfrm>
            <a:off x="654400" y="3571094"/>
            <a:ext cx="5320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Model Evolution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4400" y="3891094"/>
            <a:ext cx="5320000" cy="320000"/>
          </a:xfrm>
          <a:custGeom>
            <a:avLst/>
            <a:gdLst/>
            <a:ahLst/>
            <a:cxnLst/>
            <a:rect l="l" t="t" r="r" b="b"/>
            <a:pathLst>
              <a:path w="5320000" h="320000">
                <a:moveTo>
                  <a:pt x="64000" y="0"/>
                </a:moveTo>
                <a:lnTo>
                  <a:pt x="5256000" y="0"/>
                </a:lnTo>
                <a:cubicBezTo>
                  <a:pt x="5291346" y="0"/>
                  <a:pt x="5320000" y="28654"/>
                  <a:pt x="5320000" y="64000"/>
                </a:cubicBezTo>
                <a:lnTo>
                  <a:pt x="5320000" y="256000"/>
                </a:lnTo>
                <a:cubicBezTo>
                  <a:pt x="5320000" y="291346"/>
                  <a:pt x="5291346" y="320000"/>
                  <a:pt x="5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18400" y="3955094"/>
            <a:ext cx="232000" cy="192000"/>
          </a:xfrm>
          <a:custGeom>
            <a:avLst/>
            <a:gdLst/>
            <a:ahLst/>
            <a:cxnLst/>
            <a:rect l="l" t="t" r="r" b="b"/>
            <a:pathLst>
              <a:path w="232000" h="192000">
                <a:moveTo>
                  <a:pt x="32001" y="0"/>
                </a:moveTo>
                <a:lnTo>
                  <a:pt x="199999" y="0"/>
                </a:lnTo>
                <a:cubicBezTo>
                  <a:pt x="217673" y="0"/>
                  <a:pt x="232000" y="14327"/>
                  <a:pt x="232000" y="32001"/>
                </a:cubicBezTo>
                <a:lnTo>
                  <a:pt x="232000" y="159999"/>
                </a:lnTo>
                <a:cubicBezTo>
                  <a:pt x="232000" y="177673"/>
                  <a:pt x="217673" y="192000"/>
                  <a:pt x="199999" y="192000"/>
                </a:cubicBezTo>
                <a:lnTo>
                  <a:pt x="32001" y="192000"/>
                </a:lnTo>
                <a:cubicBezTo>
                  <a:pt x="14327" y="192000"/>
                  <a:pt x="0" y="177673"/>
                  <a:pt x="0" y="15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8C929D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18400" y="3955094"/>
            <a:ext cx="280000" cy="192000"/>
          </a:xfrm>
          <a:prstGeom prst="rect">
            <a:avLst/>
          </a:prstGeom>
          <a:noFill/>
          <a:ln/>
        </p:spPr>
        <p:txBody>
          <a:bodyPr wrap="square" lIns="64000" tIns="32000" rIns="64000" bIns="32000" rtlCol="0" anchor="ctr"/>
          <a:lstStyle/>
          <a:p>
            <a:pPr>
              <a:lnSpc>
                <a:spcPct val="110000"/>
              </a:lnSpc>
            </a:pPr>
            <a:r>
              <a:rPr lang="en-US" sz="756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6000" y="3971000"/>
            <a:ext cx="1136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2019 - First ML Model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4400" y="4243000"/>
            <a:ext cx="5320000" cy="320000"/>
          </a:xfrm>
          <a:custGeom>
            <a:avLst/>
            <a:gdLst/>
            <a:ahLst/>
            <a:cxnLst/>
            <a:rect l="l" t="t" r="r" b="b"/>
            <a:pathLst>
              <a:path w="5320000" h="320000">
                <a:moveTo>
                  <a:pt x="64000" y="0"/>
                </a:moveTo>
                <a:lnTo>
                  <a:pt x="5256000" y="0"/>
                </a:lnTo>
                <a:cubicBezTo>
                  <a:pt x="5291346" y="0"/>
                  <a:pt x="5320000" y="28654"/>
                  <a:pt x="5320000" y="64000"/>
                </a:cubicBezTo>
                <a:lnTo>
                  <a:pt x="5320000" y="256000"/>
                </a:lnTo>
                <a:cubicBezTo>
                  <a:pt x="5320000" y="291346"/>
                  <a:pt x="5291346" y="320000"/>
                  <a:pt x="5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8400" y="4307000"/>
            <a:ext cx="232000" cy="192000"/>
          </a:xfrm>
          <a:custGeom>
            <a:avLst/>
            <a:gdLst/>
            <a:ahLst/>
            <a:cxnLst/>
            <a:rect l="l" t="t" r="r" b="b"/>
            <a:pathLst>
              <a:path w="232000" h="192000">
                <a:moveTo>
                  <a:pt x="32001" y="0"/>
                </a:moveTo>
                <a:lnTo>
                  <a:pt x="199999" y="0"/>
                </a:lnTo>
                <a:cubicBezTo>
                  <a:pt x="217673" y="0"/>
                  <a:pt x="232000" y="14327"/>
                  <a:pt x="232000" y="32001"/>
                </a:cubicBezTo>
                <a:lnTo>
                  <a:pt x="232000" y="159999"/>
                </a:lnTo>
                <a:cubicBezTo>
                  <a:pt x="232000" y="177673"/>
                  <a:pt x="217673" y="192000"/>
                  <a:pt x="199999" y="192000"/>
                </a:cubicBezTo>
                <a:lnTo>
                  <a:pt x="32001" y="192000"/>
                </a:lnTo>
                <a:cubicBezTo>
                  <a:pt x="14327" y="192000"/>
                  <a:pt x="0" y="177673"/>
                  <a:pt x="0" y="15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8C929D">
              <a:alpha val="3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18400" y="4307000"/>
            <a:ext cx="280000" cy="192000"/>
          </a:xfrm>
          <a:prstGeom prst="rect">
            <a:avLst/>
          </a:prstGeom>
          <a:noFill/>
          <a:ln/>
        </p:spPr>
        <p:txBody>
          <a:bodyPr wrap="square" lIns="64000" tIns="32000" rIns="64000" bIns="32000" rtlCol="0" anchor="ctr"/>
          <a:lstStyle/>
          <a:p>
            <a:pPr>
              <a:lnSpc>
                <a:spcPct val="110000"/>
              </a:lnSpc>
            </a:pPr>
            <a:r>
              <a:rPr lang="en-US" sz="756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6000" y="4322898"/>
            <a:ext cx="1952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2020 - Dynamic inter-request features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4400" y="4594898"/>
            <a:ext cx="5320000" cy="320000"/>
          </a:xfrm>
          <a:custGeom>
            <a:avLst/>
            <a:gdLst/>
            <a:ahLst/>
            <a:cxnLst/>
            <a:rect l="l" t="t" r="r" b="b"/>
            <a:pathLst>
              <a:path w="5320000" h="320000">
                <a:moveTo>
                  <a:pt x="64000" y="0"/>
                </a:moveTo>
                <a:lnTo>
                  <a:pt x="5256000" y="0"/>
                </a:lnTo>
                <a:cubicBezTo>
                  <a:pt x="5291346" y="0"/>
                  <a:pt x="5320000" y="28654"/>
                  <a:pt x="5320000" y="64000"/>
                </a:cubicBezTo>
                <a:lnTo>
                  <a:pt x="5320000" y="256000"/>
                </a:lnTo>
                <a:cubicBezTo>
                  <a:pt x="5320000" y="291346"/>
                  <a:pt x="5291346" y="320000"/>
                  <a:pt x="5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8400" y="4658898"/>
            <a:ext cx="232000" cy="192000"/>
          </a:xfrm>
          <a:custGeom>
            <a:avLst/>
            <a:gdLst/>
            <a:ahLst/>
            <a:cxnLst/>
            <a:rect l="l" t="t" r="r" b="b"/>
            <a:pathLst>
              <a:path w="232000" h="192000">
                <a:moveTo>
                  <a:pt x="32001" y="0"/>
                </a:moveTo>
                <a:lnTo>
                  <a:pt x="199999" y="0"/>
                </a:lnTo>
                <a:cubicBezTo>
                  <a:pt x="217673" y="0"/>
                  <a:pt x="232000" y="14327"/>
                  <a:pt x="232000" y="32001"/>
                </a:cubicBezTo>
                <a:lnTo>
                  <a:pt x="232000" y="159999"/>
                </a:lnTo>
                <a:cubicBezTo>
                  <a:pt x="232000" y="177673"/>
                  <a:pt x="217673" y="192000"/>
                  <a:pt x="199999" y="192000"/>
                </a:cubicBezTo>
                <a:lnTo>
                  <a:pt x="32001" y="192000"/>
                </a:lnTo>
                <a:cubicBezTo>
                  <a:pt x="14327" y="192000"/>
                  <a:pt x="0" y="177673"/>
                  <a:pt x="0" y="15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8C929D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18400" y="4658898"/>
            <a:ext cx="280000" cy="192000"/>
          </a:xfrm>
          <a:prstGeom prst="rect">
            <a:avLst/>
          </a:prstGeom>
          <a:noFill/>
          <a:ln/>
        </p:spPr>
        <p:txBody>
          <a:bodyPr wrap="square" lIns="64000" tIns="32000" rIns="64000" bIns="32000" rtlCol="0" anchor="ctr"/>
          <a:lstStyle/>
          <a:p>
            <a:pPr>
              <a:lnSpc>
                <a:spcPct val="110000"/>
              </a:lnSpc>
            </a:pPr>
            <a:r>
              <a:rPr lang="en-US" sz="756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6000" y="4674797"/>
            <a:ext cx="1776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2021 - iOS &amp; Firefox improvements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4400" y="4946797"/>
            <a:ext cx="5320000" cy="320000"/>
          </a:xfrm>
          <a:custGeom>
            <a:avLst/>
            <a:gdLst/>
            <a:ahLst/>
            <a:cxnLst/>
            <a:rect l="l" t="t" r="r" b="b"/>
            <a:pathLst>
              <a:path w="5320000" h="320000">
                <a:moveTo>
                  <a:pt x="64000" y="0"/>
                </a:moveTo>
                <a:lnTo>
                  <a:pt x="5256000" y="0"/>
                </a:lnTo>
                <a:cubicBezTo>
                  <a:pt x="5291346" y="0"/>
                  <a:pt x="5320000" y="28654"/>
                  <a:pt x="5320000" y="64000"/>
                </a:cubicBezTo>
                <a:lnTo>
                  <a:pt x="5320000" y="256000"/>
                </a:lnTo>
                <a:cubicBezTo>
                  <a:pt x="5320000" y="291346"/>
                  <a:pt x="5291346" y="320000"/>
                  <a:pt x="5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8400" y="5010797"/>
            <a:ext cx="232000" cy="192000"/>
          </a:xfrm>
          <a:custGeom>
            <a:avLst/>
            <a:gdLst/>
            <a:ahLst/>
            <a:cxnLst/>
            <a:rect l="l" t="t" r="r" b="b"/>
            <a:pathLst>
              <a:path w="232000" h="192000">
                <a:moveTo>
                  <a:pt x="32001" y="0"/>
                </a:moveTo>
                <a:lnTo>
                  <a:pt x="199999" y="0"/>
                </a:lnTo>
                <a:cubicBezTo>
                  <a:pt x="217673" y="0"/>
                  <a:pt x="232000" y="14327"/>
                  <a:pt x="232000" y="32001"/>
                </a:cubicBezTo>
                <a:lnTo>
                  <a:pt x="232000" y="159999"/>
                </a:lnTo>
                <a:cubicBezTo>
                  <a:pt x="232000" y="177673"/>
                  <a:pt x="217673" y="192000"/>
                  <a:pt x="199999" y="192000"/>
                </a:cubicBezTo>
                <a:lnTo>
                  <a:pt x="32001" y="192000"/>
                </a:lnTo>
                <a:cubicBezTo>
                  <a:pt x="14327" y="192000"/>
                  <a:pt x="0" y="177673"/>
                  <a:pt x="0" y="15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8C929D">
              <a:alpha val="3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18400" y="5010797"/>
            <a:ext cx="280000" cy="192000"/>
          </a:xfrm>
          <a:prstGeom prst="rect">
            <a:avLst/>
          </a:prstGeom>
          <a:noFill/>
          <a:ln/>
        </p:spPr>
        <p:txBody>
          <a:bodyPr wrap="square" lIns="64000" tIns="32000" rIns="64000" bIns="32000" rtlCol="0" anchor="ctr"/>
          <a:lstStyle/>
          <a:p>
            <a:pPr>
              <a:lnSpc>
                <a:spcPct val="110000"/>
              </a:lnSpc>
            </a:pPr>
            <a:r>
              <a:rPr lang="en-US" sz="756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6000" y="5026695"/>
            <a:ext cx="1744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2022 - Native Android app scoring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4400" y="5298695"/>
            <a:ext cx="5320000" cy="320000"/>
          </a:xfrm>
          <a:custGeom>
            <a:avLst/>
            <a:gdLst/>
            <a:ahLst/>
            <a:cxnLst/>
            <a:rect l="l" t="t" r="r" b="b"/>
            <a:pathLst>
              <a:path w="5320000" h="320000">
                <a:moveTo>
                  <a:pt x="64000" y="0"/>
                </a:moveTo>
                <a:lnTo>
                  <a:pt x="5256000" y="0"/>
                </a:lnTo>
                <a:cubicBezTo>
                  <a:pt x="5291346" y="0"/>
                  <a:pt x="5320000" y="28654"/>
                  <a:pt x="5320000" y="64000"/>
                </a:cubicBezTo>
                <a:lnTo>
                  <a:pt x="5320000" y="256000"/>
                </a:lnTo>
                <a:cubicBezTo>
                  <a:pt x="5320000" y="291346"/>
                  <a:pt x="5291346" y="320000"/>
                  <a:pt x="5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8400" y="5362695"/>
            <a:ext cx="232000" cy="192000"/>
          </a:xfrm>
          <a:custGeom>
            <a:avLst/>
            <a:gdLst/>
            <a:ahLst/>
            <a:cxnLst/>
            <a:rect l="l" t="t" r="r" b="b"/>
            <a:pathLst>
              <a:path w="232000" h="192000">
                <a:moveTo>
                  <a:pt x="32001" y="0"/>
                </a:moveTo>
                <a:lnTo>
                  <a:pt x="199999" y="0"/>
                </a:lnTo>
                <a:cubicBezTo>
                  <a:pt x="217673" y="0"/>
                  <a:pt x="232000" y="14327"/>
                  <a:pt x="232000" y="32001"/>
                </a:cubicBezTo>
                <a:lnTo>
                  <a:pt x="232000" y="159999"/>
                </a:lnTo>
                <a:cubicBezTo>
                  <a:pt x="232000" y="177673"/>
                  <a:pt x="217673" y="192000"/>
                  <a:pt x="199999" y="192000"/>
                </a:cubicBezTo>
                <a:lnTo>
                  <a:pt x="32001" y="192000"/>
                </a:lnTo>
                <a:cubicBezTo>
                  <a:pt x="14327" y="192000"/>
                  <a:pt x="0" y="177673"/>
                  <a:pt x="0" y="15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8C929D">
              <a:alpha val="3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18400" y="5362695"/>
            <a:ext cx="280000" cy="192000"/>
          </a:xfrm>
          <a:prstGeom prst="rect">
            <a:avLst/>
          </a:prstGeom>
          <a:noFill/>
          <a:ln/>
        </p:spPr>
        <p:txBody>
          <a:bodyPr wrap="square" lIns="64000" tIns="32000" rIns="64000" bIns="32000" rtlCol="0" anchor="ctr"/>
          <a:lstStyle/>
          <a:p>
            <a:pPr>
              <a:lnSpc>
                <a:spcPct val="110000"/>
              </a:lnSpc>
            </a:pPr>
            <a:r>
              <a:rPr lang="en-US" sz="756" dirty="0">
                <a:solidFill>
                  <a:srgbClr val="8C929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v7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6000" y="5378594"/>
            <a:ext cx="18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2024 - Distributed botnet detection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60800" y="5656994"/>
            <a:ext cx="5308800" cy="332800"/>
          </a:xfrm>
          <a:custGeom>
            <a:avLst/>
            <a:gdLst/>
            <a:ahLst/>
            <a:cxnLst/>
            <a:rect l="l" t="t" r="r" b="b"/>
            <a:pathLst>
              <a:path w="5308800" h="332800">
                <a:moveTo>
                  <a:pt x="64001" y="0"/>
                </a:moveTo>
                <a:lnTo>
                  <a:pt x="5244799" y="0"/>
                </a:lnTo>
                <a:cubicBezTo>
                  <a:pt x="5280146" y="0"/>
                  <a:pt x="5308800" y="28654"/>
                  <a:pt x="5308800" y="64001"/>
                </a:cubicBezTo>
                <a:lnTo>
                  <a:pt x="5308800" y="268799"/>
                </a:lnTo>
                <a:cubicBezTo>
                  <a:pt x="5308800" y="304146"/>
                  <a:pt x="5280146" y="332800"/>
                  <a:pt x="5244799" y="332800"/>
                </a:cubicBezTo>
                <a:lnTo>
                  <a:pt x="64001" y="332800"/>
                </a:lnTo>
                <a:cubicBezTo>
                  <a:pt x="28654" y="332800"/>
                  <a:pt x="0" y="304146"/>
                  <a:pt x="0" y="268799"/>
                </a:cubicBezTo>
                <a:lnTo>
                  <a:pt x="0" y="64001"/>
                </a:lnTo>
                <a:cubicBezTo>
                  <a:pt x="0" y="28654"/>
                  <a:pt x="28654" y="0"/>
                  <a:pt x="640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20320">
            <a:solidFill>
              <a:srgbClr val="00A4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1200" y="5727398"/>
            <a:ext cx="232000" cy="192000"/>
          </a:xfrm>
          <a:custGeom>
            <a:avLst/>
            <a:gdLst/>
            <a:ahLst/>
            <a:cxnLst/>
            <a:rect l="l" t="t" r="r" b="b"/>
            <a:pathLst>
              <a:path w="232000" h="192000">
                <a:moveTo>
                  <a:pt x="32001" y="0"/>
                </a:moveTo>
                <a:lnTo>
                  <a:pt x="199999" y="0"/>
                </a:lnTo>
                <a:cubicBezTo>
                  <a:pt x="217673" y="0"/>
                  <a:pt x="232000" y="14327"/>
                  <a:pt x="232000" y="32001"/>
                </a:cubicBezTo>
                <a:lnTo>
                  <a:pt x="232000" y="159999"/>
                </a:lnTo>
                <a:cubicBezTo>
                  <a:pt x="232000" y="177673"/>
                  <a:pt x="217673" y="192000"/>
                  <a:pt x="199999" y="192000"/>
                </a:cubicBezTo>
                <a:lnTo>
                  <a:pt x="32001" y="192000"/>
                </a:lnTo>
                <a:cubicBezTo>
                  <a:pt x="14327" y="192000"/>
                  <a:pt x="0" y="177673"/>
                  <a:pt x="0" y="15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55" name="Text 53"/>
          <p:cNvSpPr/>
          <p:nvPr/>
        </p:nvSpPr>
        <p:spPr>
          <a:xfrm>
            <a:off x="531200" y="5727398"/>
            <a:ext cx="280000" cy="192000"/>
          </a:xfrm>
          <a:prstGeom prst="rect">
            <a:avLst/>
          </a:prstGeom>
          <a:noFill/>
          <a:ln/>
        </p:spPr>
        <p:txBody>
          <a:bodyPr wrap="square" lIns="64000" tIns="32000" rIns="64000" bIns="32000" rtlCol="0" anchor="ctr"/>
          <a:lstStyle/>
          <a:p>
            <a:pPr>
              <a:lnSpc>
                <a:spcPct val="110000"/>
              </a:lnSpc>
            </a:pPr>
            <a:r>
              <a:rPr lang="en-US" sz="75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v8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0800" y="5743297"/>
            <a:ext cx="1752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2024 - Residential proxy detection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60800" y="6034494"/>
            <a:ext cx="5308800" cy="332800"/>
          </a:xfrm>
          <a:custGeom>
            <a:avLst/>
            <a:gdLst/>
            <a:ahLst/>
            <a:cxnLst/>
            <a:rect l="l" t="t" r="r" b="b"/>
            <a:pathLst>
              <a:path w="5308800" h="332800">
                <a:moveTo>
                  <a:pt x="64001" y="0"/>
                </a:moveTo>
                <a:lnTo>
                  <a:pt x="5244799" y="0"/>
                </a:lnTo>
                <a:cubicBezTo>
                  <a:pt x="5280146" y="0"/>
                  <a:pt x="5308800" y="28654"/>
                  <a:pt x="5308800" y="64001"/>
                </a:cubicBezTo>
                <a:lnTo>
                  <a:pt x="5308800" y="268799"/>
                </a:lnTo>
                <a:cubicBezTo>
                  <a:pt x="5308800" y="304146"/>
                  <a:pt x="5280146" y="332800"/>
                  <a:pt x="5244799" y="332800"/>
                </a:cubicBezTo>
                <a:lnTo>
                  <a:pt x="64001" y="332800"/>
                </a:lnTo>
                <a:cubicBezTo>
                  <a:pt x="28654" y="332800"/>
                  <a:pt x="0" y="304146"/>
                  <a:pt x="0" y="268799"/>
                </a:cubicBezTo>
                <a:lnTo>
                  <a:pt x="0" y="64001"/>
                </a:lnTo>
                <a:cubicBezTo>
                  <a:pt x="0" y="28654"/>
                  <a:pt x="28654" y="0"/>
                  <a:pt x="640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20320">
            <a:solidFill>
              <a:srgbClr val="F4812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1200" y="6104898"/>
            <a:ext cx="232000" cy="192000"/>
          </a:xfrm>
          <a:custGeom>
            <a:avLst/>
            <a:gdLst/>
            <a:ahLst/>
            <a:cxnLst/>
            <a:rect l="l" t="t" r="r" b="b"/>
            <a:pathLst>
              <a:path w="232000" h="192000">
                <a:moveTo>
                  <a:pt x="32001" y="0"/>
                </a:moveTo>
                <a:lnTo>
                  <a:pt x="199999" y="0"/>
                </a:lnTo>
                <a:cubicBezTo>
                  <a:pt x="217673" y="0"/>
                  <a:pt x="232000" y="14327"/>
                  <a:pt x="232000" y="32001"/>
                </a:cubicBezTo>
                <a:lnTo>
                  <a:pt x="232000" y="159999"/>
                </a:lnTo>
                <a:cubicBezTo>
                  <a:pt x="232000" y="177673"/>
                  <a:pt x="217673" y="192000"/>
                  <a:pt x="199999" y="192000"/>
                </a:cubicBezTo>
                <a:lnTo>
                  <a:pt x="32001" y="192000"/>
                </a:lnTo>
                <a:cubicBezTo>
                  <a:pt x="14327" y="192000"/>
                  <a:pt x="0" y="177673"/>
                  <a:pt x="0" y="159999"/>
                </a:cubicBezTo>
                <a:lnTo>
                  <a:pt x="0" y="32001"/>
                </a:lnTo>
                <a:cubicBezTo>
                  <a:pt x="0" y="14339"/>
                  <a:pt x="14339" y="0"/>
                  <a:pt x="32001" y="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59" name="Text 57"/>
          <p:cNvSpPr/>
          <p:nvPr/>
        </p:nvSpPr>
        <p:spPr>
          <a:xfrm>
            <a:off x="531200" y="6104898"/>
            <a:ext cx="280000" cy="192000"/>
          </a:xfrm>
          <a:prstGeom prst="rect">
            <a:avLst/>
          </a:prstGeom>
          <a:noFill/>
          <a:ln/>
        </p:spPr>
        <p:txBody>
          <a:bodyPr wrap="square" lIns="64000" tIns="32000" rIns="64000" bIns="32000" rtlCol="0" anchor="ctr"/>
          <a:lstStyle/>
          <a:p>
            <a:pPr>
              <a:lnSpc>
                <a:spcPct val="110000"/>
              </a:lnSpc>
            </a:pPr>
            <a:r>
              <a:rPr lang="en-US" sz="75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v9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29200" y="6120797"/>
            <a:ext cx="1896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2025 - Randomization attack defense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161400" y="3439895"/>
            <a:ext cx="5702400" cy="2054400"/>
          </a:xfrm>
          <a:custGeom>
            <a:avLst/>
            <a:gdLst/>
            <a:ahLst/>
            <a:cxnLst/>
            <a:rect l="l" t="t" r="r" b="b"/>
            <a:pathLst>
              <a:path w="5702400" h="2054400">
                <a:moveTo>
                  <a:pt x="63995" y="0"/>
                </a:moveTo>
                <a:lnTo>
                  <a:pt x="5638405" y="0"/>
                </a:lnTo>
                <a:cubicBezTo>
                  <a:pt x="5673749" y="0"/>
                  <a:pt x="5702400" y="28651"/>
                  <a:pt x="5702400" y="63995"/>
                </a:cubicBezTo>
                <a:lnTo>
                  <a:pt x="5702400" y="1990405"/>
                </a:lnTo>
                <a:cubicBezTo>
                  <a:pt x="5702400" y="2025749"/>
                  <a:pt x="5673749" y="2054400"/>
                  <a:pt x="5638405" y="2054400"/>
                </a:cubicBezTo>
                <a:lnTo>
                  <a:pt x="63995" y="2054400"/>
                </a:lnTo>
                <a:cubicBezTo>
                  <a:pt x="28651" y="2054400"/>
                  <a:pt x="0" y="2025749"/>
                  <a:pt x="0" y="1990405"/>
                </a:cubicBezTo>
                <a:lnTo>
                  <a:pt x="0" y="63995"/>
                </a:lnTo>
                <a:cubicBezTo>
                  <a:pt x="0" y="28651"/>
                  <a:pt x="28651" y="0"/>
                  <a:pt x="6399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4E4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00A4E4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02600" y="3603094"/>
            <a:ext cx="180000" cy="160000"/>
          </a:xfrm>
          <a:custGeom>
            <a:avLst/>
            <a:gdLst/>
            <a:ahLst/>
            <a:cxnLst/>
            <a:rect l="l" t="t" r="r" b="b"/>
            <a:pathLst>
              <a:path w="180000" h="160000">
                <a:moveTo>
                  <a:pt x="112750" y="375"/>
                </a:moveTo>
                <a:cubicBezTo>
                  <a:pt x="107438" y="-1156"/>
                  <a:pt x="101906" y="1938"/>
                  <a:pt x="100375" y="7250"/>
                </a:cubicBezTo>
                <a:lnTo>
                  <a:pt x="60375" y="147250"/>
                </a:lnTo>
                <a:cubicBezTo>
                  <a:pt x="58844" y="152563"/>
                  <a:pt x="61938" y="158094"/>
                  <a:pt x="67250" y="159625"/>
                </a:cubicBezTo>
                <a:cubicBezTo>
                  <a:pt x="72563" y="161156"/>
                  <a:pt x="78094" y="158063"/>
                  <a:pt x="79625" y="152750"/>
                </a:cubicBezTo>
                <a:lnTo>
                  <a:pt x="119625" y="12750"/>
                </a:lnTo>
                <a:cubicBezTo>
                  <a:pt x="121156" y="7438"/>
                  <a:pt x="118063" y="1906"/>
                  <a:pt x="112750" y="375"/>
                </a:cubicBezTo>
                <a:close/>
                <a:moveTo>
                  <a:pt x="132938" y="42906"/>
                </a:moveTo>
                <a:cubicBezTo>
                  <a:pt x="129031" y="46813"/>
                  <a:pt x="129031" y="53156"/>
                  <a:pt x="132938" y="57062"/>
                </a:cubicBezTo>
                <a:lnTo>
                  <a:pt x="155875" y="80000"/>
                </a:lnTo>
                <a:lnTo>
                  <a:pt x="132938" y="102938"/>
                </a:lnTo>
                <a:cubicBezTo>
                  <a:pt x="129031" y="106844"/>
                  <a:pt x="129031" y="113188"/>
                  <a:pt x="132938" y="117094"/>
                </a:cubicBezTo>
                <a:cubicBezTo>
                  <a:pt x="136844" y="121000"/>
                  <a:pt x="143188" y="121000"/>
                  <a:pt x="147094" y="117094"/>
                </a:cubicBezTo>
                <a:lnTo>
                  <a:pt x="177094" y="87094"/>
                </a:lnTo>
                <a:cubicBezTo>
                  <a:pt x="181000" y="83188"/>
                  <a:pt x="181000" y="76844"/>
                  <a:pt x="177094" y="72937"/>
                </a:cubicBezTo>
                <a:lnTo>
                  <a:pt x="147094" y="42937"/>
                </a:lnTo>
                <a:cubicBezTo>
                  <a:pt x="143188" y="39031"/>
                  <a:pt x="136844" y="39031"/>
                  <a:pt x="132938" y="42937"/>
                </a:cubicBezTo>
                <a:close/>
                <a:moveTo>
                  <a:pt x="47094" y="42906"/>
                </a:moveTo>
                <a:cubicBezTo>
                  <a:pt x="43187" y="39000"/>
                  <a:pt x="36844" y="39000"/>
                  <a:pt x="32938" y="42906"/>
                </a:cubicBezTo>
                <a:lnTo>
                  <a:pt x="2937" y="72906"/>
                </a:lnTo>
                <a:cubicBezTo>
                  <a:pt x="-969" y="76813"/>
                  <a:pt x="-969" y="83156"/>
                  <a:pt x="2937" y="87063"/>
                </a:cubicBezTo>
                <a:lnTo>
                  <a:pt x="32938" y="117063"/>
                </a:lnTo>
                <a:cubicBezTo>
                  <a:pt x="36844" y="120969"/>
                  <a:pt x="43187" y="120969"/>
                  <a:pt x="47094" y="117063"/>
                </a:cubicBezTo>
                <a:cubicBezTo>
                  <a:pt x="51000" y="113156"/>
                  <a:pt x="51000" y="106813"/>
                  <a:pt x="47094" y="102906"/>
                </a:cubicBezTo>
                <a:lnTo>
                  <a:pt x="24156" y="80000"/>
                </a:lnTo>
                <a:lnTo>
                  <a:pt x="47063" y="57063"/>
                </a:lnTo>
                <a:cubicBezTo>
                  <a:pt x="50969" y="53156"/>
                  <a:pt x="50969" y="46813"/>
                  <a:pt x="47063" y="42906"/>
                </a:cubicBezTo>
                <a:close/>
              </a:path>
            </a:pathLst>
          </a:custGeom>
          <a:solidFill>
            <a:srgbClr val="00A4E4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600" y="3571094"/>
            <a:ext cx="5320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Examples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92600" y="3891094"/>
            <a:ext cx="5440000" cy="448000"/>
          </a:xfrm>
          <a:custGeom>
            <a:avLst/>
            <a:gdLst/>
            <a:ahLst/>
            <a:cxnLst/>
            <a:rect l="l" t="t" r="r" b="b"/>
            <a:pathLst>
              <a:path w="5440000" h="448000">
                <a:moveTo>
                  <a:pt x="64001" y="0"/>
                </a:moveTo>
                <a:lnTo>
                  <a:pt x="5375999" y="0"/>
                </a:lnTo>
                <a:cubicBezTo>
                  <a:pt x="5411346" y="0"/>
                  <a:pt x="5440000" y="28654"/>
                  <a:pt x="5440000" y="64001"/>
                </a:cubicBezTo>
                <a:lnTo>
                  <a:pt x="5440000" y="383999"/>
                </a:lnTo>
                <a:cubicBezTo>
                  <a:pt x="5440000" y="419346"/>
                  <a:pt x="5411346" y="448000"/>
                  <a:pt x="5375999" y="448000"/>
                </a:cubicBezTo>
                <a:lnTo>
                  <a:pt x="64001" y="448000"/>
                </a:lnTo>
                <a:cubicBezTo>
                  <a:pt x="28654" y="448000"/>
                  <a:pt x="0" y="419346"/>
                  <a:pt x="0" y="383999"/>
                </a:cubicBezTo>
                <a:lnTo>
                  <a:pt x="0" y="64001"/>
                </a:lnTo>
                <a:cubicBezTo>
                  <a:pt x="0" y="28678"/>
                  <a:pt x="28678" y="0"/>
                  <a:pt x="6400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356600" y="3955094"/>
            <a:ext cx="536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Likely Bots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56600" y="4147094"/>
            <a:ext cx="5360000" cy="1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6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cf.bot_management.score lt 30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292600" y="4403000"/>
            <a:ext cx="5440000" cy="448000"/>
          </a:xfrm>
          <a:custGeom>
            <a:avLst/>
            <a:gdLst/>
            <a:ahLst/>
            <a:cxnLst/>
            <a:rect l="l" t="t" r="r" b="b"/>
            <a:pathLst>
              <a:path w="5440000" h="448000">
                <a:moveTo>
                  <a:pt x="64001" y="0"/>
                </a:moveTo>
                <a:lnTo>
                  <a:pt x="5375999" y="0"/>
                </a:lnTo>
                <a:cubicBezTo>
                  <a:pt x="5411346" y="0"/>
                  <a:pt x="5440000" y="28654"/>
                  <a:pt x="5440000" y="64001"/>
                </a:cubicBezTo>
                <a:lnTo>
                  <a:pt x="5440000" y="383999"/>
                </a:lnTo>
                <a:cubicBezTo>
                  <a:pt x="5440000" y="419346"/>
                  <a:pt x="5411346" y="448000"/>
                  <a:pt x="5375999" y="448000"/>
                </a:cubicBezTo>
                <a:lnTo>
                  <a:pt x="64001" y="448000"/>
                </a:lnTo>
                <a:cubicBezTo>
                  <a:pt x="28654" y="448000"/>
                  <a:pt x="0" y="419346"/>
                  <a:pt x="0" y="383999"/>
                </a:cubicBezTo>
                <a:lnTo>
                  <a:pt x="0" y="64001"/>
                </a:lnTo>
                <a:cubicBezTo>
                  <a:pt x="0" y="28678"/>
                  <a:pt x="28678" y="0"/>
                  <a:pt x="6400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356600" y="4467000"/>
            <a:ext cx="536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 Suspicious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56600" y="4659000"/>
            <a:ext cx="5360000" cy="1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6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cf.bot_management.score lt 50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292600" y="4914898"/>
            <a:ext cx="5440000" cy="448000"/>
          </a:xfrm>
          <a:custGeom>
            <a:avLst/>
            <a:gdLst/>
            <a:ahLst/>
            <a:cxnLst/>
            <a:rect l="l" t="t" r="r" b="b"/>
            <a:pathLst>
              <a:path w="5440000" h="448000">
                <a:moveTo>
                  <a:pt x="64001" y="0"/>
                </a:moveTo>
                <a:lnTo>
                  <a:pt x="5375999" y="0"/>
                </a:lnTo>
                <a:cubicBezTo>
                  <a:pt x="5411346" y="0"/>
                  <a:pt x="5440000" y="28654"/>
                  <a:pt x="5440000" y="64001"/>
                </a:cubicBezTo>
                <a:lnTo>
                  <a:pt x="5440000" y="383999"/>
                </a:lnTo>
                <a:cubicBezTo>
                  <a:pt x="5440000" y="419346"/>
                  <a:pt x="5411346" y="448000"/>
                  <a:pt x="5375999" y="448000"/>
                </a:cubicBezTo>
                <a:lnTo>
                  <a:pt x="64001" y="448000"/>
                </a:lnTo>
                <a:cubicBezTo>
                  <a:pt x="28654" y="448000"/>
                  <a:pt x="0" y="419346"/>
                  <a:pt x="0" y="383999"/>
                </a:cubicBezTo>
                <a:lnTo>
                  <a:pt x="0" y="64001"/>
                </a:lnTo>
                <a:cubicBezTo>
                  <a:pt x="0" y="28678"/>
                  <a:pt x="28678" y="0"/>
                  <a:pt x="64001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6356600" y="4978898"/>
            <a:ext cx="536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Allow Verified Bots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356600" y="5170898"/>
            <a:ext cx="5360000" cy="12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6" dirty="0">
                <a:solidFill>
                  <a:srgbClr val="F0F2F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cf.bot_management.verified_bot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161400" y="5596395"/>
            <a:ext cx="5702400" cy="934400"/>
          </a:xfrm>
          <a:custGeom>
            <a:avLst/>
            <a:gdLst/>
            <a:ahLst/>
            <a:cxnLst/>
            <a:rect l="l" t="t" r="r" b="b"/>
            <a:pathLst>
              <a:path w="5702400" h="934400">
                <a:moveTo>
                  <a:pt x="63997" y="0"/>
                </a:moveTo>
                <a:lnTo>
                  <a:pt x="5638403" y="0"/>
                </a:lnTo>
                <a:cubicBezTo>
                  <a:pt x="5673748" y="0"/>
                  <a:pt x="5702400" y="28652"/>
                  <a:pt x="5702400" y="63997"/>
                </a:cubicBezTo>
                <a:lnTo>
                  <a:pt x="5702400" y="870403"/>
                </a:lnTo>
                <a:cubicBezTo>
                  <a:pt x="5702400" y="905748"/>
                  <a:pt x="5673748" y="934400"/>
                  <a:pt x="5638403" y="934400"/>
                </a:cubicBezTo>
                <a:lnTo>
                  <a:pt x="63997" y="934400"/>
                </a:lnTo>
                <a:cubicBezTo>
                  <a:pt x="28652" y="934400"/>
                  <a:pt x="0" y="905748"/>
                  <a:pt x="0" y="870403"/>
                </a:cubicBezTo>
                <a:lnTo>
                  <a:pt x="0" y="63997"/>
                </a:lnTo>
                <a:cubicBezTo>
                  <a:pt x="0" y="28676"/>
                  <a:pt x="28676" y="0"/>
                  <a:pt x="63997" y="0"/>
                </a:cubicBezTo>
                <a:close/>
              </a:path>
            </a:pathLst>
          </a:custGeom>
          <a:solidFill>
            <a:srgbClr val="8C929D">
              <a:alpha val="10196"/>
            </a:srgbClr>
          </a:solidFill>
          <a:ln w="10160">
            <a:solidFill>
              <a:srgbClr val="8C929D">
                <a:alpha val="2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12600" y="5767594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>
                <a:moveTo>
                  <a:pt x="72422" y="7763"/>
                </a:moveTo>
                <a:cubicBezTo>
                  <a:pt x="72197" y="6244"/>
                  <a:pt x="71044" y="5006"/>
                  <a:pt x="69525" y="4781"/>
                </a:cubicBezTo>
                <a:cubicBezTo>
                  <a:pt x="63309" y="3909"/>
                  <a:pt x="56981" y="5034"/>
                  <a:pt x="51413" y="7988"/>
                </a:cubicBezTo>
                <a:lnTo>
                  <a:pt x="30600" y="19097"/>
                </a:lnTo>
                <a:cubicBezTo>
                  <a:pt x="25059" y="22050"/>
                  <a:pt x="20588" y="26691"/>
                  <a:pt x="17831" y="32344"/>
                </a:cubicBezTo>
                <a:lnTo>
                  <a:pt x="7509" y="53606"/>
                </a:lnTo>
                <a:cubicBezTo>
                  <a:pt x="4753" y="59259"/>
                  <a:pt x="3853" y="65672"/>
                  <a:pt x="4950" y="71859"/>
                </a:cubicBezTo>
                <a:lnTo>
                  <a:pt x="9028" y="95147"/>
                </a:lnTo>
                <a:cubicBezTo>
                  <a:pt x="10125" y="101363"/>
                  <a:pt x="13134" y="107044"/>
                  <a:pt x="17663" y="111431"/>
                </a:cubicBezTo>
                <a:lnTo>
                  <a:pt x="34622" y="127856"/>
                </a:lnTo>
                <a:cubicBezTo>
                  <a:pt x="39150" y="132244"/>
                  <a:pt x="44916" y="135056"/>
                  <a:pt x="51131" y="135928"/>
                </a:cubicBezTo>
                <a:lnTo>
                  <a:pt x="74475" y="139219"/>
                </a:lnTo>
                <a:cubicBezTo>
                  <a:pt x="80691" y="140091"/>
                  <a:pt x="87019" y="138966"/>
                  <a:pt x="92588" y="136013"/>
                </a:cubicBezTo>
                <a:lnTo>
                  <a:pt x="113400" y="124903"/>
                </a:lnTo>
                <a:cubicBezTo>
                  <a:pt x="118941" y="121950"/>
                  <a:pt x="123413" y="117309"/>
                  <a:pt x="126169" y="111628"/>
                </a:cubicBezTo>
                <a:lnTo>
                  <a:pt x="136491" y="90394"/>
                </a:lnTo>
                <a:cubicBezTo>
                  <a:pt x="139247" y="84741"/>
                  <a:pt x="140147" y="78328"/>
                  <a:pt x="139050" y="72141"/>
                </a:cubicBezTo>
                <a:cubicBezTo>
                  <a:pt x="138797" y="70650"/>
                  <a:pt x="137559" y="69525"/>
                  <a:pt x="136069" y="69300"/>
                </a:cubicBezTo>
                <a:cubicBezTo>
                  <a:pt x="121584" y="66994"/>
                  <a:pt x="109969" y="56053"/>
                  <a:pt x="106678" y="41906"/>
                </a:cubicBezTo>
                <a:cubicBezTo>
                  <a:pt x="106172" y="39769"/>
                  <a:pt x="104428" y="38137"/>
                  <a:pt x="102263" y="37800"/>
                </a:cubicBezTo>
                <a:cubicBezTo>
                  <a:pt x="86906" y="35353"/>
                  <a:pt x="74784" y="23175"/>
                  <a:pt x="72394" y="7763"/>
                </a:cubicBezTo>
                <a:close/>
                <a:moveTo>
                  <a:pt x="58500" y="40500"/>
                </a:moveTo>
                <a:cubicBezTo>
                  <a:pt x="63467" y="40500"/>
                  <a:pt x="67500" y="44533"/>
                  <a:pt x="67500" y="49500"/>
                </a:cubicBezTo>
                <a:cubicBezTo>
                  <a:pt x="67500" y="54467"/>
                  <a:pt x="63467" y="58500"/>
                  <a:pt x="58500" y="58500"/>
                </a:cubicBezTo>
                <a:cubicBezTo>
                  <a:pt x="53533" y="58500"/>
                  <a:pt x="49500" y="54467"/>
                  <a:pt x="49500" y="49500"/>
                </a:cubicBezTo>
                <a:cubicBezTo>
                  <a:pt x="49500" y="44533"/>
                  <a:pt x="53533" y="40500"/>
                  <a:pt x="58500" y="40500"/>
                </a:cubicBezTo>
                <a:close/>
                <a:moveTo>
                  <a:pt x="40500" y="94500"/>
                </a:moveTo>
                <a:cubicBezTo>
                  <a:pt x="40500" y="89533"/>
                  <a:pt x="44533" y="85500"/>
                  <a:pt x="49500" y="85500"/>
                </a:cubicBezTo>
                <a:cubicBezTo>
                  <a:pt x="54467" y="85500"/>
                  <a:pt x="58500" y="89533"/>
                  <a:pt x="58500" y="94500"/>
                </a:cubicBezTo>
                <a:cubicBezTo>
                  <a:pt x="58500" y="99467"/>
                  <a:pt x="54467" y="103500"/>
                  <a:pt x="49500" y="103500"/>
                </a:cubicBezTo>
                <a:cubicBezTo>
                  <a:pt x="44533" y="103500"/>
                  <a:pt x="40500" y="99467"/>
                  <a:pt x="40500" y="94500"/>
                </a:cubicBezTo>
                <a:close/>
                <a:moveTo>
                  <a:pt x="103500" y="76500"/>
                </a:moveTo>
                <a:cubicBezTo>
                  <a:pt x="108467" y="76500"/>
                  <a:pt x="112500" y="80533"/>
                  <a:pt x="112500" y="85500"/>
                </a:cubicBezTo>
                <a:cubicBezTo>
                  <a:pt x="112500" y="90467"/>
                  <a:pt x="108467" y="94500"/>
                  <a:pt x="103500" y="94500"/>
                </a:cubicBezTo>
                <a:cubicBezTo>
                  <a:pt x="98533" y="94500"/>
                  <a:pt x="94500" y="90467"/>
                  <a:pt x="94500" y="85500"/>
                </a:cubicBezTo>
                <a:cubicBezTo>
                  <a:pt x="94500" y="80533"/>
                  <a:pt x="98533" y="76500"/>
                  <a:pt x="103500" y="76500"/>
                </a:cubicBezTo>
                <a:close/>
              </a:path>
            </a:pathLst>
          </a:custGeom>
          <a:solidFill>
            <a:srgbClr val="F48120"/>
          </a:solidFill>
          <a:ln/>
        </p:spPr>
      </p:sp>
      <p:sp>
        <p:nvSpPr>
          <p:cNvPr id="75" name="Text 73"/>
          <p:cNvSpPr/>
          <p:nvPr/>
        </p:nvSpPr>
        <p:spPr>
          <a:xfrm>
            <a:off x="6476600" y="5727594"/>
            <a:ext cx="5328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0F2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Smoothing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292600" y="6015594"/>
            <a:ext cx="5504000" cy="38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00A4E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__cf_bm</a:t>
            </a:r>
            <a:pPr>
              <a:lnSpc>
                <a:spcPct val="130000"/>
              </a:lnSpc>
            </a:pPr>
            <a:r>
              <a:rPr lang="en-US" sz="1008" dirty="0">
                <a:solidFill>
                  <a:srgbClr val="8C929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cookie smooths scores across user sessions, reducing false positives for legitimate users.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Cloudflare Threat Detection</dc:title>
  <dc:subject>Cloudflare Threat Detection</dc:subject>
  <dc:creator>Kimi</dc:creator>
  <cp:lastModifiedBy>Kimi</cp:lastModifiedBy>
  <cp:revision>1</cp:revision>
  <dcterms:created xsi:type="dcterms:W3CDTF">2026-02-05T05:40:25Z</dcterms:created>
  <dcterms:modified xsi:type="dcterms:W3CDTF">2026-02-05T05:40:25Z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{"Label":"Cloudflare Threat Detection","ContentProducer":"001191110108MACG2KBH8F10000","ProduceID":"19c2b43c-2c62-8cac-8000-000042bb5297","ReservedCode1":"","ContentPropagator":"001191110108MACG2KBH8F20000","PropagateID":"19c2b43c-2c62-8cac-8000-000042bb5297","ReservedCode2":""}</vt:lpwstr>
  </property>
</Properties>
</file>