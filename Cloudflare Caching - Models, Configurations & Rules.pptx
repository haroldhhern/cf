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embeddedFontLst>
    <p:embeddedFont>
      <p:font typeface="Quattrocento Sans" charset="-122" pitchFamily="34"/>
      <p:regular r:id="rId23"/>
    </p:embeddedFont>
    <p:embeddedFont>
      <p:font typeface="Liter" charset="-122" pitchFamily="34"/>
      <p:regular r:id="rId24"/>
    </p:embeddedFont>
    <p:embeddedFont>
      <p:font typeface="MiSans" charset="-122" pitchFamily="34"/>
      <p:regular r:id="rId25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font" Target="fonts/font1.fntdata"/><Relationship Id="rId24" Type="http://schemas.openxmlformats.org/officeDocument/2006/relationships/font" Target="fonts/font2.fntdata"/><Relationship Id="rId25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edia.istockphoto.com/09ff630d004a2b075c042c57275ca46b7981d71b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F48120">
                  <a:alpha val="80000"/>
                </a:srgbClr>
              </a:gs>
              <a:gs pos="50000">
                <a:srgbClr val="1D1F2B">
                  <a:alpha val="90000"/>
                </a:srgbClr>
              </a:gs>
              <a:gs pos="100000">
                <a:srgbClr val="1D1F2B"/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381000"/>
            <a:ext cx="1847850" cy="419100"/>
          </a:xfrm>
          <a:custGeom>
            <a:avLst/>
            <a:gdLst/>
            <a:ahLst/>
            <a:cxnLst/>
            <a:rect l="l" t="t" r="r" b="b"/>
            <a:pathLst>
              <a:path w="1847850" h="419100">
                <a:moveTo>
                  <a:pt x="76201" y="0"/>
                </a:moveTo>
                <a:lnTo>
                  <a:pt x="1771649" y="0"/>
                </a:lnTo>
                <a:cubicBezTo>
                  <a:pt x="1813734" y="0"/>
                  <a:pt x="1847850" y="34116"/>
                  <a:pt x="1847850" y="76201"/>
                </a:cubicBezTo>
                <a:lnTo>
                  <a:pt x="1847850" y="342899"/>
                </a:lnTo>
                <a:cubicBezTo>
                  <a:pt x="1847850" y="384984"/>
                  <a:pt x="1813734" y="419100"/>
                  <a:pt x="1771649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5" name="Text 2"/>
          <p:cNvSpPr/>
          <p:nvPr/>
        </p:nvSpPr>
        <p:spPr>
          <a:xfrm>
            <a:off x="533400" y="495300"/>
            <a:ext cx="162913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spc="68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TECHNICAL GUIDE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028700"/>
            <a:ext cx="4191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Cloudflare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Caching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289560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3162300"/>
            <a:ext cx="39909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Models, Configurations &amp; Rules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23863" y="622935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71438"/>
                </a:lnTo>
                <a:cubicBezTo>
                  <a:pt x="0" y="87198"/>
                  <a:pt x="12814" y="100013"/>
                  <a:pt x="28575" y="100013"/>
                </a:cubicBezTo>
                <a:lnTo>
                  <a:pt x="171450" y="100013"/>
                </a:lnTo>
                <a:cubicBezTo>
                  <a:pt x="187211" y="100013"/>
                  <a:pt x="200025" y="87198"/>
                  <a:pt x="200025" y="71438"/>
                </a:cubicBezTo>
                <a:lnTo>
                  <a:pt x="200025" y="42863"/>
                </a:lnTo>
                <a:cubicBezTo>
                  <a:pt x="200025" y="27102"/>
                  <a:pt x="187211" y="14288"/>
                  <a:pt x="171450" y="14288"/>
                </a:cubicBezTo>
                <a:lnTo>
                  <a:pt x="28575" y="14288"/>
                </a:lnTo>
                <a:close/>
                <a:moveTo>
                  <a:pt x="125016" y="46434"/>
                </a:moveTo>
                <a:cubicBezTo>
                  <a:pt x="130930" y="46434"/>
                  <a:pt x="135731" y="51236"/>
                  <a:pt x="135731" y="57150"/>
                </a:cubicBezTo>
                <a:cubicBezTo>
                  <a:pt x="135731" y="63064"/>
                  <a:pt x="130930" y="67866"/>
                  <a:pt x="125016" y="67866"/>
                </a:cubicBezTo>
                <a:cubicBezTo>
                  <a:pt x="119102" y="67866"/>
                  <a:pt x="114300" y="63064"/>
                  <a:pt x="114300" y="57150"/>
                </a:cubicBezTo>
                <a:cubicBezTo>
                  <a:pt x="114300" y="51236"/>
                  <a:pt x="119102" y="46434"/>
                  <a:pt x="125016" y="46434"/>
                </a:cubicBezTo>
                <a:close/>
                <a:moveTo>
                  <a:pt x="150019" y="57150"/>
                </a:moveTo>
                <a:cubicBezTo>
                  <a:pt x="150019" y="51236"/>
                  <a:pt x="154820" y="46434"/>
                  <a:pt x="160734" y="46434"/>
                </a:cubicBezTo>
                <a:cubicBezTo>
                  <a:pt x="166648" y="46434"/>
                  <a:pt x="171450" y="51236"/>
                  <a:pt x="171450" y="57150"/>
                </a:cubicBezTo>
                <a:cubicBezTo>
                  <a:pt x="171450" y="63064"/>
                  <a:pt x="166648" y="67866"/>
                  <a:pt x="160734" y="67866"/>
                </a:cubicBezTo>
                <a:cubicBezTo>
                  <a:pt x="154820" y="67866"/>
                  <a:pt x="150019" y="63064"/>
                  <a:pt x="150019" y="57150"/>
                </a:cubicBezTo>
                <a:close/>
                <a:moveTo>
                  <a:pt x="28575" y="128588"/>
                </a:moveTo>
                <a:cubicBezTo>
                  <a:pt x="12814" y="128588"/>
                  <a:pt x="0" y="141402"/>
                  <a:pt x="0" y="157163"/>
                </a:cubicBez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171450" y="214313"/>
                </a:lnTo>
                <a:cubicBezTo>
                  <a:pt x="187211" y="214313"/>
                  <a:pt x="200025" y="201498"/>
                  <a:pt x="200025" y="185738"/>
                </a:cubicBezTo>
                <a:lnTo>
                  <a:pt x="200025" y="157163"/>
                </a:lnTo>
                <a:cubicBezTo>
                  <a:pt x="200025" y="141402"/>
                  <a:pt x="187211" y="128588"/>
                  <a:pt x="171450" y="128588"/>
                </a:cubicBezTo>
                <a:lnTo>
                  <a:pt x="28575" y="128588"/>
                </a:lnTo>
                <a:close/>
                <a:moveTo>
                  <a:pt x="125016" y="160734"/>
                </a:moveTo>
                <a:cubicBezTo>
                  <a:pt x="130930" y="160734"/>
                  <a:pt x="135731" y="165536"/>
                  <a:pt x="135731" y="171450"/>
                </a:cubicBezTo>
                <a:cubicBezTo>
                  <a:pt x="135731" y="177364"/>
                  <a:pt x="130930" y="182166"/>
                  <a:pt x="125016" y="182166"/>
                </a:cubicBezTo>
                <a:cubicBezTo>
                  <a:pt x="119102" y="182166"/>
                  <a:pt x="114300" y="177364"/>
                  <a:pt x="114300" y="171450"/>
                </a:cubicBezTo>
                <a:cubicBezTo>
                  <a:pt x="114300" y="165536"/>
                  <a:pt x="119102" y="160734"/>
                  <a:pt x="125016" y="160734"/>
                </a:cubicBezTo>
                <a:close/>
                <a:moveTo>
                  <a:pt x="150019" y="171450"/>
                </a:moveTo>
                <a:cubicBezTo>
                  <a:pt x="150019" y="165536"/>
                  <a:pt x="154820" y="160734"/>
                  <a:pt x="160734" y="160734"/>
                </a:cubicBezTo>
                <a:cubicBezTo>
                  <a:pt x="166648" y="160734"/>
                  <a:pt x="171450" y="165536"/>
                  <a:pt x="171450" y="171450"/>
                </a:cubicBezTo>
                <a:cubicBezTo>
                  <a:pt x="171450" y="177364"/>
                  <a:pt x="166648" y="182166"/>
                  <a:pt x="160734" y="182166"/>
                </a:cubicBezTo>
                <a:cubicBezTo>
                  <a:pt x="154820" y="182166"/>
                  <a:pt x="150019" y="177364"/>
                  <a:pt x="150019" y="171450"/>
                </a:cubicBez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10" name="Text 7"/>
          <p:cNvSpPr/>
          <p:nvPr/>
        </p:nvSpPr>
        <p:spPr>
          <a:xfrm>
            <a:off x="819150" y="6210300"/>
            <a:ext cx="3514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Optimize Performance with Intelligent Caching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F481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PRESENTATION 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D1F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524000"/>
            <a:ext cx="5543550" cy="1066800"/>
          </a:xfrm>
          <a:custGeom>
            <a:avLst/>
            <a:gdLst/>
            <a:ahLst/>
            <a:cxnLst/>
            <a:rect l="l" t="t" r="r" b="b"/>
            <a:pathLst>
              <a:path w="5543550" h="1066800">
                <a:moveTo>
                  <a:pt x="0" y="0"/>
                </a:moveTo>
                <a:lnTo>
                  <a:pt x="5467348" y="0"/>
                </a:lnTo>
                <a:cubicBezTo>
                  <a:pt x="5509433" y="0"/>
                  <a:pt x="5543550" y="34117"/>
                  <a:pt x="5543550" y="76202"/>
                </a:cubicBezTo>
                <a:lnTo>
                  <a:pt x="5543550" y="990598"/>
                </a:lnTo>
                <a:cubicBezTo>
                  <a:pt x="5543550" y="1032683"/>
                  <a:pt x="5509433" y="1066800"/>
                  <a:pt x="5467348" y="1066800"/>
                </a:cubicBezTo>
                <a:lnTo>
                  <a:pt x="0" y="10668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524000"/>
            <a:ext cx="38100" cy="1066800"/>
          </a:xfrm>
          <a:custGeom>
            <a:avLst/>
            <a:gdLst/>
            <a:ahLst/>
            <a:cxnLst/>
            <a:rect l="l" t="t" r="r" b="b"/>
            <a:pathLst>
              <a:path w="38100" h="1066800">
                <a:moveTo>
                  <a:pt x="0" y="0"/>
                </a:moveTo>
                <a:lnTo>
                  <a:pt x="38100" y="0"/>
                </a:lnTo>
                <a:lnTo>
                  <a:pt x="38100" y="1066800"/>
                </a:lnTo>
                <a:lnTo>
                  <a:pt x="0" y="1066800"/>
                </a:lnTo>
                <a:lnTo>
                  <a:pt x="0" y="0"/>
                </a:ln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6" name="Shape 4"/>
          <p:cNvSpPr/>
          <p:nvPr/>
        </p:nvSpPr>
        <p:spPr>
          <a:xfrm>
            <a:off x="647700" y="17526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7" name="Text 5"/>
          <p:cNvSpPr/>
          <p:nvPr/>
        </p:nvSpPr>
        <p:spPr>
          <a:xfrm>
            <a:off x="590550" y="175260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33500" y="1752600"/>
            <a:ext cx="36385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D1F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to Cloudflare Caching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33500" y="2133481"/>
            <a:ext cx="3600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CDN fundamentals and caching basics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67450" y="1524000"/>
            <a:ext cx="5543550" cy="1066800"/>
          </a:xfrm>
          <a:custGeom>
            <a:avLst/>
            <a:gdLst/>
            <a:ahLst/>
            <a:cxnLst/>
            <a:rect l="l" t="t" r="r" b="b"/>
            <a:pathLst>
              <a:path w="5543550" h="1066800">
                <a:moveTo>
                  <a:pt x="0" y="0"/>
                </a:moveTo>
                <a:lnTo>
                  <a:pt x="5467348" y="0"/>
                </a:lnTo>
                <a:cubicBezTo>
                  <a:pt x="5509433" y="0"/>
                  <a:pt x="5543550" y="34117"/>
                  <a:pt x="5543550" y="76202"/>
                </a:cubicBezTo>
                <a:lnTo>
                  <a:pt x="5543550" y="990598"/>
                </a:lnTo>
                <a:cubicBezTo>
                  <a:pt x="5543550" y="1032683"/>
                  <a:pt x="5509433" y="1066800"/>
                  <a:pt x="5467348" y="1066800"/>
                </a:cubicBezTo>
                <a:lnTo>
                  <a:pt x="0" y="10668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1" name="Shape 9"/>
          <p:cNvSpPr/>
          <p:nvPr/>
        </p:nvSpPr>
        <p:spPr>
          <a:xfrm>
            <a:off x="6267450" y="1524000"/>
            <a:ext cx="38100" cy="1066800"/>
          </a:xfrm>
          <a:custGeom>
            <a:avLst/>
            <a:gdLst/>
            <a:ahLst/>
            <a:cxnLst/>
            <a:rect l="l" t="t" r="r" b="b"/>
            <a:pathLst>
              <a:path w="38100" h="1066800">
                <a:moveTo>
                  <a:pt x="0" y="0"/>
                </a:moveTo>
                <a:lnTo>
                  <a:pt x="38100" y="0"/>
                </a:lnTo>
                <a:lnTo>
                  <a:pt x="38100" y="1066800"/>
                </a:lnTo>
                <a:lnTo>
                  <a:pt x="0" y="1066800"/>
                </a:lnTo>
                <a:lnTo>
                  <a:pt x="0" y="0"/>
                </a:lnTo>
                <a:close/>
              </a:path>
            </a:pathLst>
          </a:custGeom>
          <a:solidFill>
            <a:srgbClr val="00A4B5"/>
          </a:solidFill>
          <a:ln/>
        </p:spPr>
      </p:sp>
      <p:sp>
        <p:nvSpPr>
          <p:cNvPr id="12" name="Shape 10"/>
          <p:cNvSpPr/>
          <p:nvPr/>
        </p:nvSpPr>
        <p:spPr>
          <a:xfrm>
            <a:off x="6515100" y="17526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00A4B5"/>
          </a:solidFill>
          <a:ln/>
        </p:spPr>
      </p:sp>
      <p:sp>
        <p:nvSpPr>
          <p:cNvPr id="13" name="Text 11"/>
          <p:cNvSpPr/>
          <p:nvPr/>
        </p:nvSpPr>
        <p:spPr>
          <a:xfrm>
            <a:off x="6457950" y="175260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200900" y="1752600"/>
            <a:ext cx="3409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D1F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Default Cache Behavior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200900" y="2133481"/>
            <a:ext cx="3371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Cloudflare caches by default and TTL values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00050" y="2819281"/>
            <a:ext cx="5543550" cy="1066800"/>
          </a:xfrm>
          <a:custGeom>
            <a:avLst/>
            <a:gdLst/>
            <a:ahLst/>
            <a:cxnLst/>
            <a:rect l="l" t="t" r="r" b="b"/>
            <a:pathLst>
              <a:path w="5543550" h="1066800">
                <a:moveTo>
                  <a:pt x="0" y="0"/>
                </a:moveTo>
                <a:lnTo>
                  <a:pt x="5467348" y="0"/>
                </a:lnTo>
                <a:cubicBezTo>
                  <a:pt x="5509433" y="0"/>
                  <a:pt x="5543550" y="34117"/>
                  <a:pt x="5543550" y="76202"/>
                </a:cubicBezTo>
                <a:lnTo>
                  <a:pt x="5543550" y="990598"/>
                </a:lnTo>
                <a:cubicBezTo>
                  <a:pt x="5543550" y="1032683"/>
                  <a:pt x="5509433" y="1066800"/>
                  <a:pt x="5467348" y="1066800"/>
                </a:cubicBezTo>
                <a:lnTo>
                  <a:pt x="0" y="10668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7" name="Shape 15"/>
          <p:cNvSpPr/>
          <p:nvPr/>
        </p:nvSpPr>
        <p:spPr>
          <a:xfrm>
            <a:off x="400050" y="2819281"/>
            <a:ext cx="38100" cy="1066800"/>
          </a:xfrm>
          <a:custGeom>
            <a:avLst/>
            <a:gdLst/>
            <a:ahLst/>
            <a:cxnLst/>
            <a:rect l="l" t="t" r="r" b="b"/>
            <a:pathLst>
              <a:path w="38100" h="1066800">
                <a:moveTo>
                  <a:pt x="0" y="0"/>
                </a:moveTo>
                <a:lnTo>
                  <a:pt x="38100" y="0"/>
                </a:lnTo>
                <a:lnTo>
                  <a:pt x="38100" y="1066800"/>
                </a:lnTo>
                <a:lnTo>
                  <a:pt x="0" y="1066800"/>
                </a:lnTo>
                <a:lnTo>
                  <a:pt x="0" y="0"/>
                </a:ln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18" name="Shape 16"/>
          <p:cNvSpPr/>
          <p:nvPr/>
        </p:nvSpPr>
        <p:spPr>
          <a:xfrm>
            <a:off x="647700" y="304788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19" name="Text 17"/>
          <p:cNvSpPr/>
          <p:nvPr/>
        </p:nvSpPr>
        <p:spPr>
          <a:xfrm>
            <a:off x="590550" y="3047881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33500" y="3047881"/>
            <a:ext cx="33718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D1F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Cache Levels &amp; Configuration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33500" y="3428762"/>
            <a:ext cx="3333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Query string handling and browser cache settings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67450" y="2819281"/>
            <a:ext cx="5543550" cy="1066800"/>
          </a:xfrm>
          <a:custGeom>
            <a:avLst/>
            <a:gdLst/>
            <a:ahLst/>
            <a:cxnLst/>
            <a:rect l="l" t="t" r="r" b="b"/>
            <a:pathLst>
              <a:path w="5543550" h="1066800">
                <a:moveTo>
                  <a:pt x="0" y="0"/>
                </a:moveTo>
                <a:lnTo>
                  <a:pt x="5467348" y="0"/>
                </a:lnTo>
                <a:cubicBezTo>
                  <a:pt x="5509433" y="0"/>
                  <a:pt x="5543550" y="34117"/>
                  <a:pt x="5543550" y="76202"/>
                </a:cubicBezTo>
                <a:lnTo>
                  <a:pt x="5543550" y="990598"/>
                </a:lnTo>
                <a:cubicBezTo>
                  <a:pt x="5543550" y="1032683"/>
                  <a:pt x="5509433" y="1066800"/>
                  <a:pt x="5467348" y="1066800"/>
                </a:cubicBezTo>
                <a:lnTo>
                  <a:pt x="0" y="10668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23" name="Shape 21"/>
          <p:cNvSpPr/>
          <p:nvPr/>
        </p:nvSpPr>
        <p:spPr>
          <a:xfrm>
            <a:off x="6267450" y="2819281"/>
            <a:ext cx="38100" cy="1066800"/>
          </a:xfrm>
          <a:custGeom>
            <a:avLst/>
            <a:gdLst/>
            <a:ahLst/>
            <a:cxnLst/>
            <a:rect l="l" t="t" r="r" b="b"/>
            <a:pathLst>
              <a:path w="38100" h="1066800">
                <a:moveTo>
                  <a:pt x="0" y="0"/>
                </a:moveTo>
                <a:lnTo>
                  <a:pt x="38100" y="0"/>
                </a:lnTo>
                <a:lnTo>
                  <a:pt x="38100" y="1066800"/>
                </a:lnTo>
                <a:lnTo>
                  <a:pt x="0" y="1066800"/>
                </a:lnTo>
                <a:lnTo>
                  <a:pt x="0" y="0"/>
                </a:lnTo>
                <a:close/>
              </a:path>
            </a:pathLst>
          </a:custGeom>
          <a:solidFill>
            <a:srgbClr val="00A4B5"/>
          </a:solidFill>
          <a:ln/>
        </p:spPr>
      </p:sp>
      <p:sp>
        <p:nvSpPr>
          <p:cNvPr id="24" name="Shape 22"/>
          <p:cNvSpPr/>
          <p:nvPr/>
        </p:nvSpPr>
        <p:spPr>
          <a:xfrm>
            <a:off x="6515100" y="304788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00A4B5"/>
          </a:solidFill>
          <a:ln/>
        </p:spPr>
      </p:sp>
      <p:sp>
        <p:nvSpPr>
          <p:cNvPr id="25" name="Text 23"/>
          <p:cNvSpPr/>
          <p:nvPr/>
        </p:nvSpPr>
        <p:spPr>
          <a:xfrm>
            <a:off x="6457950" y="3047881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200900" y="3047881"/>
            <a:ext cx="3143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D1F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Cache Rules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200900" y="3428762"/>
            <a:ext cx="3105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Fine-grained control with modern rule system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00050" y="4114562"/>
            <a:ext cx="5543550" cy="1066800"/>
          </a:xfrm>
          <a:custGeom>
            <a:avLst/>
            <a:gdLst/>
            <a:ahLst/>
            <a:cxnLst/>
            <a:rect l="l" t="t" r="r" b="b"/>
            <a:pathLst>
              <a:path w="5543550" h="1066800">
                <a:moveTo>
                  <a:pt x="0" y="0"/>
                </a:moveTo>
                <a:lnTo>
                  <a:pt x="5467348" y="0"/>
                </a:lnTo>
                <a:cubicBezTo>
                  <a:pt x="5509433" y="0"/>
                  <a:pt x="5543550" y="34117"/>
                  <a:pt x="5543550" y="76202"/>
                </a:cubicBezTo>
                <a:lnTo>
                  <a:pt x="5543550" y="990598"/>
                </a:lnTo>
                <a:cubicBezTo>
                  <a:pt x="5543550" y="1032683"/>
                  <a:pt x="5509433" y="1066800"/>
                  <a:pt x="5467348" y="1066800"/>
                </a:cubicBezTo>
                <a:lnTo>
                  <a:pt x="0" y="10668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29" name="Shape 27"/>
          <p:cNvSpPr/>
          <p:nvPr/>
        </p:nvSpPr>
        <p:spPr>
          <a:xfrm>
            <a:off x="400050" y="4114562"/>
            <a:ext cx="38100" cy="1066800"/>
          </a:xfrm>
          <a:custGeom>
            <a:avLst/>
            <a:gdLst/>
            <a:ahLst/>
            <a:cxnLst/>
            <a:rect l="l" t="t" r="r" b="b"/>
            <a:pathLst>
              <a:path w="38100" h="1066800">
                <a:moveTo>
                  <a:pt x="0" y="0"/>
                </a:moveTo>
                <a:lnTo>
                  <a:pt x="38100" y="0"/>
                </a:lnTo>
                <a:lnTo>
                  <a:pt x="38100" y="1066800"/>
                </a:lnTo>
                <a:lnTo>
                  <a:pt x="0" y="1066800"/>
                </a:lnTo>
                <a:lnTo>
                  <a:pt x="0" y="0"/>
                </a:ln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30" name="Shape 28"/>
          <p:cNvSpPr/>
          <p:nvPr/>
        </p:nvSpPr>
        <p:spPr>
          <a:xfrm>
            <a:off x="647700" y="4343162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31" name="Text 29"/>
          <p:cNvSpPr/>
          <p:nvPr/>
        </p:nvSpPr>
        <p:spPr>
          <a:xfrm>
            <a:off x="590550" y="4343162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333500" y="4343162"/>
            <a:ext cx="32289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D1F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Page Rules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333500" y="4724043"/>
            <a:ext cx="3190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Classic approach to URL-based caching control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267450" y="4114562"/>
            <a:ext cx="5543550" cy="1066800"/>
          </a:xfrm>
          <a:custGeom>
            <a:avLst/>
            <a:gdLst/>
            <a:ahLst/>
            <a:cxnLst/>
            <a:rect l="l" t="t" r="r" b="b"/>
            <a:pathLst>
              <a:path w="5543550" h="1066800">
                <a:moveTo>
                  <a:pt x="0" y="0"/>
                </a:moveTo>
                <a:lnTo>
                  <a:pt x="5467348" y="0"/>
                </a:lnTo>
                <a:cubicBezTo>
                  <a:pt x="5509433" y="0"/>
                  <a:pt x="5543550" y="34117"/>
                  <a:pt x="5543550" y="76202"/>
                </a:cubicBezTo>
                <a:lnTo>
                  <a:pt x="5543550" y="990598"/>
                </a:lnTo>
                <a:cubicBezTo>
                  <a:pt x="5543550" y="1032683"/>
                  <a:pt x="5509433" y="1066800"/>
                  <a:pt x="5467348" y="1066800"/>
                </a:cubicBezTo>
                <a:lnTo>
                  <a:pt x="0" y="10668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35" name="Shape 33"/>
          <p:cNvSpPr/>
          <p:nvPr/>
        </p:nvSpPr>
        <p:spPr>
          <a:xfrm>
            <a:off x="6267450" y="4114562"/>
            <a:ext cx="38100" cy="1066800"/>
          </a:xfrm>
          <a:custGeom>
            <a:avLst/>
            <a:gdLst/>
            <a:ahLst/>
            <a:cxnLst/>
            <a:rect l="l" t="t" r="r" b="b"/>
            <a:pathLst>
              <a:path w="38100" h="1066800">
                <a:moveTo>
                  <a:pt x="0" y="0"/>
                </a:moveTo>
                <a:lnTo>
                  <a:pt x="38100" y="0"/>
                </a:lnTo>
                <a:lnTo>
                  <a:pt x="38100" y="1066800"/>
                </a:lnTo>
                <a:lnTo>
                  <a:pt x="0" y="1066800"/>
                </a:lnTo>
                <a:lnTo>
                  <a:pt x="0" y="0"/>
                </a:lnTo>
                <a:close/>
              </a:path>
            </a:pathLst>
          </a:custGeom>
          <a:solidFill>
            <a:srgbClr val="00A4B5"/>
          </a:solidFill>
          <a:ln/>
        </p:spPr>
      </p:sp>
      <p:sp>
        <p:nvSpPr>
          <p:cNvPr id="36" name="Shape 34"/>
          <p:cNvSpPr/>
          <p:nvPr/>
        </p:nvSpPr>
        <p:spPr>
          <a:xfrm>
            <a:off x="6515100" y="4343162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00A4B5"/>
          </a:solidFill>
          <a:ln/>
        </p:spPr>
      </p:sp>
      <p:sp>
        <p:nvSpPr>
          <p:cNvPr id="37" name="Text 35"/>
          <p:cNvSpPr/>
          <p:nvPr/>
        </p:nvSpPr>
        <p:spPr>
          <a:xfrm>
            <a:off x="6457950" y="4343162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200900" y="4343162"/>
            <a:ext cx="3143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D1F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Practices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200900" y="4724043"/>
            <a:ext cx="3105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Optimization strategies and recommendations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D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anptech.com.au/947ea50c3da1a4973dbf0cabadaedea66ee08297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7813" b="7813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D1F2B"/>
              </a:gs>
              <a:gs pos="50000">
                <a:srgbClr val="1D1F2B">
                  <a:alpha val="9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1743195"/>
            <a:ext cx="1800225" cy="533400"/>
          </a:xfrm>
          <a:custGeom>
            <a:avLst/>
            <a:gdLst/>
            <a:ahLst/>
            <a:cxnLst/>
            <a:rect l="l" t="t" r="r" b="b"/>
            <a:pathLst>
              <a:path w="1800225" h="533400">
                <a:moveTo>
                  <a:pt x="76202" y="0"/>
                </a:moveTo>
                <a:lnTo>
                  <a:pt x="1724023" y="0"/>
                </a:lnTo>
                <a:cubicBezTo>
                  <a:pt x="1766108" y="0"/>
                  <a:pt x="1800225" y="34117"/>
                  <a:pt x="1800225" y="76202"/>
                </a:cubicBezTo>
                <a:lnTo>
                  <a:pt x="1800225" y="457198"/>
                </a:lnTo>
                <a:cubicBezTo>
                  <a:pt x="1800225" y="499283"/>
                  <a:pt x="1766108" y="533400"/>
                  <a:pt x="1724023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5" name="Text 2"/>
          <p:cNvSpPr/>
          <p:nvPr/>
        </p:nvSpPr>
        <p:spPr>
          <a:xfrm>
            <a:off x="609600" y="1880354"/>
            <a:ext cx="1458039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spc="9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505075"/>
            <a:ext cx="11715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to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Cloudflare Caching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4162425"/>
            <a:ext cx="1524000" cy="38100"/>
          </a:xfrm>
          <a:custGeom>
            <a:avLst/>
            <a:gdLst/>
            <a:ahLst/>
            <a:cxnLst/>
            <a:rect l="l" t="t" r="r" b="b"/>
            <a:pathLst>
              <a:path w="1524000" h="38100">
                <a:moveTo>
                  <a:pt x="0" y="0"/>
                </a:moveTo>
                <a:lnTo>
                  <a:pt x="1524000" y="0"/>
                </a:lnTo>
                <a:lnTo>
                  <a:pt x="1524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4505325"/>
            <a:ext cx="65151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the fundamentals of Cloudflare's CDN caching system and how it accelerates content delivery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F481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FUNDAMENTALS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D1F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Cloudflare Caching?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295400"/>
            <a:ext cx="5581650" cy="1543050"/>
          </a:xfrm>
          <a:custGeom>
            <a:avLst/>
            <a:gdLst/>
            <a:ahLst/>
            <a:cxnLst/>
            <a:rect l="l" t="t" r="r" b="b"/>
            <a:pathLst>
              <a:path w="5581650" h="1543050">
                <a:moveTo>
                  <a:pt x="38100" y="0"/>
                </a:moveTo>
                <a:lnTo>
                  <a:pt x="5467356" y="0"/>
                </a:lnTo>
                <a:cubicBezTo>
                  <a:pt x="5530437" y="0"/>
                  <a:pt x="5581650" y="51213"/>
                  <a:pt x="5581650" y="114294"/>
                </a:cubicBezTo>
                <a:lnTo>
                  <a:pt x="5581650" y="1428756"/>
                </a:lnTo>
                <a:cubicBezTo>
                  <a:pt x="5581650" y="1491837"/>
                  <a:pt x="5530437" y="1543050"/>
                  <a:pt x="5467356" y="1543050"/>
                </a:cubicBezTo>
                <a:lnTo>
                  <a:pt x="38100" y="1543050"/>
                </a:lnTo>
                <a:cubicBezTo>
                  <a:pt x="17072" y="1543050"/>
                  <a:pt x="0" y="1525978"/>
                  <a:pt x="0" y="1504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F48120">
                  <a:alpha val="10000"/>
                </a:srgbClr>
              </a:gs>
              <a:gs pos="100000">
                <a:srgbClr val="F48120">
                  <a:alpha val="5000"/>
                </a:srgbClr>
              </a:gs>
            </a:gsLst>
            <a:lin ang="2700000" scaled="1"/>
          </a:gradFill>
          <a:ln/>
        </p:spPr>
      </p:sp>
      <p:sp>
        <p:nvSpPr>
          <p:cNvPr id="5" name="Shape 3"/>
          <p:cNvSpPr/>
          <p:nvPr/>
        </p:nvSpPr>
        <p:spPr>
          <a:xfrm>
            <a:off x="400050" y="1295400"/>
            <a:ext cx="38100" cy="1543050"/>
          </a:xfrm>
          <a:custGeom>
            <a:avLst/>
            <a:gdLst/>
            <a:ahLst/>
            <a:cxnLst/>
            <a:rect l="l" t="t" r="r" b="b"/>
            <a:pathLst>
              <a:path w="38100" h="1543050">
                <a:moveTo>
                  <a:pt x="38100" y="0"/>
                </a:moveTo>
                <a:lnTo>
                  <a:pt x="38100" y="0"/>
                </a:lnTo>
                <a:lnTo>
                  <a:pt x="38100" y="1543050"/>
                </a:lnTo>
                <a:lnTo>
                  <a:pt x="38100" y="1543050"/>
                </a:lnTo>
                <a:cubicBezTo>
                  <a:pt x="17072" y="1543050"/>
                  <a:pt x="0" y="1525978"/>
                  <a:pt x="0" y="1504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6" name="Shape 4"/>
          <p:cNvSpPr/>
          <p:nvPr/>
        </p:nvSpPr>
        <p:spPr>
          <a:xfrm>
            <a:off x="647700" y="1524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7" name="Shape 5"/>
          <p:cNvSpPr/>
          <p:nvPr/>
        </p:nvSpPr>
        <p:spPr>
          <a:xfrm>
            <a:off x="792956" y="16573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257300" y="1524000"/>
            <a:ext cx="4591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F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57300" y="1866900"/>
            <a:ext cx="45720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641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Cloudflare stores copies of your website content on servers in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3641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275+ data centers worldwide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3641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. When users request content, it's served from the nearest location instead of your origin server.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00050" y="3124200"/>
            <a:ext cx="5581650" cy="1543050"/>
          </a:xfrm>
          <a:custGeom>
            <a:avLst/>
            <a:gdLst/>
            <a:ahLst/>
            <a:cxnLst/>
            <a:rect l="l" t="t" r="r" b="b"/>
            <a:pathLst>
              <a:path w="5581650" h="1543050">
                <a:moveTo>
                  <a:pt x="38100" y="0"/>
                </a:moveTo>
                <a:lnTo>
                  <a:pt x="5467356" y="0"/>
                </a:lnTo>
                <a:cubicBezTo>
                  <a:pt x="5530437" y="0"/>
                  <a:pt x="5581650" y="51213"/>
                  <a:pt x="5581650" y="114294"/>
                </a:cubicBezTo>
                <a:lnTo>
                  <a:pt x="5581650" y="1428756"/>
                </a:lnTo>
                <a:cubicBezTo>
                  <a:pt x="5581650" y="1491837"/>
                  <a:pt x="5530437" y="1543050"/>
                  <a:pt x="5467356" y="1543050"/>
                </a:cubicBezTo>
                <a:lnTo>
                  <a:pt x="38100" y="1543050"/>
                </a:lnTo>
                <a:cubicBezTo>
                  <a:pt x="17072" y="1543050"/>
                  <a:pt x="0" y="1525978"/>
                  <a:pt x="0" y="1504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00A4B5">
                  <a:alpha val="10000"/>
                </a:srgbClr>
              </a:gs>
              <a:gs pos="100000">
                <a:srgbClr val="00A4B5">
                  <a:alpha val="5000"/>
                </a:srgbClr>
              </a:gs>
            </a:gsLst>
            <a:lin ang="2700000" scaled="1"/>
          </a:gradFill>
          <a:ln/>
        </p:spPr>
      </p:sp>
      <p:sp>
        <p:nvSpPr>
          <p:cNvPr id="11" name="Shape 9"/>
          <p:cNvSpPr/>
          <p:nvPr/>
        </p:nvSpPr>
        <p:spPr>
          <a:xfrm>
            <a:off x="400050" y="3124200"/>
            <a:ext cx="38100" cy="1543050"/>
          </a:xfrm>
          <a:custGeom>
            <a:avLst/>
            <a:gdLst/>
            <a:ahLst/>
            <a:cxnLst/>
            <a:rect l="l" t="t" r="r" b="b"/>
            <a:pathLst>
              <a:path w="38100" h="1543050">
                <a:moveTo>
                  <a:pt x="38100" y="0"/>
                </a:moveTo>
                <a:lnTo>
                  <a:pt x="38100" y="0"/>
                </a:lnTo>
                <a:lnTo>
                  <a:pt x="38100" y="1543050"/>
                </a:lnTo>
                <a:lnTo>
                  <a:pt x="38100" y="1543050"/>
                </a:lnTo>
                <a:cubicBezTo>
                  <a:pt x="17072" y="1543050"/>
                  <a:pt x="0" y="1525978"/>
                  <a:pt x="0" y="1504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A4B5"/>
          </a:solidFill>
          <a:ln/>
        </p:spPr>
      </p:sp>
      <p:sp>
        <p:nvSpPr>
          <p:cNvPr id="12" name="Shape 10"/>
          <p:cNvSpPr/>
          <p:nvPr/>
        </p:nvSpPr>
        <p:spPr>
          <a:xfrm>
            <a:off x="647700" y="3352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00A4B5"/>
          </a:solidFill>
          <a:ln/>
        </p:spPr>
      </p:sp>
      <p:sp>
        <p:nvSpPr>
          <p:cNvPr id="13" name="Shape 11"/>
          <p:cNvSpPr/>
          <p:nvPr/>
        </p:nvSpPr>
        <p:spPr>
          <a:xfrm>
            <a:off x="792956" y="34861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26057" y="-3683"/>
                </a:moveTo>
                <a:cubicBezTo>
                  <a:pt x="130485" y="-484"/>
                  <a:pt x="132122" y="5321"/>
                  <a:pt x="130113" y="10381"/>
                </a:cubicBezTo>
                <a:lnTo>
                  <a:pt x="100943" y="83344"/>
                </a:lnTo>
                <a:lnTo>
                  <a:pt x="154781" y="83344"/>
                </a:lnTo>
                <a:cubicBezTo>
                  <a:pt x="159804" y="83344"/>
                  <a:pt x="164269" y="86469"/>
                  <a:pt x="165981" y="91194"/>
                </a:cubicBezTo>
                <a:cubicBezTo>
                  <a:pt x="167692" y="95920"/>
                  <a:pt x="166241" y="101203"/>
                  <a:pt x="162409" y="104403"/>
                </a:cubicBezTo>
                <a:lnTo>
                  <a:pt x="55252" y="193700"/>
                </a:lnTo>
                <a:cubicBezTo>
                  <a:pt x="51048" y="197197"/>
                  <a:pt x="45058" y="197383"/>
                  <a:pt x="40630" y="194183"/>
                </a:cubicBezTo>
                <a:cubicBezTo>
                  <a:pt x="36202" y="190984"/>
                  <a:pt x="34565" y="185179"/>
                  <a:pt x="36575" y="180119"/>
                </a:cubicBezTo>
                <a:lnTo>
                  <a:pt x="65745" y="107156"/>
                </a:lnTo>
                <a:lnTo>
                  <a:pt x="11906" y="107156"/>
                </a:lnTo>
                <a:cubicBezTo>
                  <a:pt x="6883" y="107156"/>
                  <a:pt x="2418" y="104031"/>
                  <a:pt x="707" y="99306"/>
                </a:cubicBezTo>
                <a:cubicBezTo>
                  <a:pt x="-1005" y="94580"/>
                  <a:pt x="446" y="89297"/>
                  <a:pt x="4279" y="86097"/>
                </a:cubicBezTo>
                <a:lnTo>
                  <a:pt x="111435" y="-3200"/>
                </a:lnTo>
                <a:cubicBezTo>
                  <a:pt x="115639" y="-6697"/>
                  <a:pt x="121630" y="-6883"/>
                  <a:pt x="126057" y="-368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257300" y="3352800"/>
            <a:ext cx="4591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F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Benefits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57300" y="3695700"/>
            <a:ext cx="45720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3641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Reduced latency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3641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by serving content geographically closer to users.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3641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Lower origin server load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3641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as cached content doesn't require origin processing.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00050" y="4953000"/>
            <a:ext cx="5581650" cy="1295400"/>
          </a:xfrm>
          <a:custGeom>
            <a:avLst/>
            <a:gdLst/>
            <a:ahLst/>
            <a:cxnLst/>
            <a:rect l="l" t="t" r="r" b="b"/>
            <a:pathLst>
              <a:path w="5581650" h="1295400">
                <a:moveTo>
                  <a:pt x="38100" y="0"/>
                </a:moveTo>
                <a:lnTo>
                  <a:pt x="5467344" y="0"/>
                </a:lnTo>
                <a:cubicBezTo>
                  <a:pt x="5530473" y="0"/>
                  <a:pt x="5581650" y="51177"/>
                  <a:pt x="5581650" y="114306"/>
                </a:cubicBezTo>
                <a:lnTo>
                  <a:pt x="5581650" y="1181094"/>
                </a:lnTo>
                <a:cubicBezTo>
                  <a:pt x="5581650" y="1244223"/>
                  <a:pt x="5530473" y="1295400"/>
                  <a:pt x="5467344" y="1295400"/>
                </a:cubicBezTo>
                <a:lnTo>
                  <a:pt x="38100" y="1295400"/>
                </a:lnTo>
                <a:cubicBezTo>
                  <a:pt x="17072" y="1295400"/>
                  <a:pt x="0" y="1278328"/>
                  <a:pt x="0" y="1257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F48120">
                  <a:alpha val="10000"/>
                </a:srgbClr>
              </a:gs>
              <a:gs pos="100000">
                <a:srgbClr val="F48120">
                  <a:alpha val="5000"/>
                </a:srgbClr>
              </a:gs>
            </a:gsLst>
            <a:lin ang="2700000" scaled="1"/>
          </a:gradFill>
          <a:ln/>
        </p:spPr>
      </p:sp>
      <p:sp>
        <p:nvSpPr>
          <p:cNvPr id="17" name="Shape 15"/>
          <p:cNvSpPr/>
          <p:nvPr/>
        </p:nvSpPr>
        <p:spPr>
          <a:xfrm>
            <a:off x="400050" y="4953000"/>
            <a:ext cx="38100" cy="1295400"/>
          </a:xfrm>
          <a:custGeom>
            <a:avLst/>
            <a:gdLst/>
            <a:ahLst/>
            <a:cxnLst/>
            <a:rect l="l" t="t" r="r" b="b"/>
            <a:pathLst>
              <a:path w="38100" h="1295400">
                <a:moveTo>
                  <a:pt x="38100" y="0"/>
                </a:moveTo>
                <a:lnTo>
                  <a:pt x="38100" y="0"/>
                </a:lnTo>
                <a:lnTo>
                  <a:pt x="38100" y="1295400"/>
                </a:lnTo>
                <a:lnTo>
                  <a:pt x="38100" y="1295400"/>
                </a:lnTo>
                <a:cubicBezTo>
                  <a:pt x="17072" y="1295400"/>
                  <a:pt x="0" y="1278328"/>
                  <a:pt x="0" y="1257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18" name="Shape 16"/>
          <p:cNvSpPr/>
          <p:nvPr/>
        </p:nvSpPr>
        <p:spPr>
          <a:xfrm>
            <a:off x="647700" y="5181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19" name="Shape 17"/>
          <p:cNvSpPr/>
          <p:nvPr/>
        </p:nvSpPr>
        <p:spPr>
          <a:xfrm>
            <a:off x="781050" y="53149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1257300" y="5181600"/>
            <a:ext cx="4591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F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DDoS Protection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57300" y="5524500"/>
            <a:ext cx="4572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641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Caching provides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3641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automatic DDoS mitigation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3641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by absorbing traffic at the edge, protecting your origin server from overwhelming requests.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10300" y="1295400"/>
            <a:ext cx="5600700" cy="2219325"/>
          </a:xfrm>
          <a:custGeom>
            <a:avLst/>
            <a:gdLst/>
            <a:ahLst/>
            <a:cxnLst/>
            <a:rect l="l" t="t" r="r" b="b"/>
            <a:pathLst>
              <a:path w="5600700" h="2219325">
                <a:moveTo>
                  <a:pt x="114295" y="0"/>
                </a:moveTo>
                <a:lnTo>
                  <a:pt x="5486405" y="0"/>
                </a:lnTo>
                <a:cubicBezTo>
                  <a:pt x="5549528" y="0"/>
                  <a:pt x="5600700" y="51172"/>
                  <a:pt x="5600700" y="114295"/>
                </a:cubicBezTo>
                <a:lnTo>
                  <a:pt x="5600700" y="2105030"/>
                </a:lnTo>
                <a:cubicBezTo>
                  <a:pt x="5600700" y="2168153"/>
                  <a:pt x="5549528" y="2219325"/>
                  <a:pt x="5486405" y="2219325"/>
                </a:cubicBezTo>
                <a:lnTo>
                  <a:pt x="114295" y="2219325"/>
                </a:lnTo>
                <a:cubicBezTo>
                  <a:pt x="51172" y="2219325"/>
                  <a:pt x="0" y="2168153"/>
                  <a:pt x="0" y="2105030"/>
                </a:cubicBezTo>
                <a:lnTo>
                  <a:pt x="0" y="114295"/>
                </a:lnTo>
                <a:cubicBezTo>
                  <a:pt x="0" y="51172"/>
                  <a:pt x="51172" y="0"/>
                  <a:pt x="114295" y="0"/>
                </a:cubicBezTo>
                <a:close/>
              </a:path>
            </a:pathLst>
          </a:custGeom>
          <a:solidFill>
            <a:srgbClr val="1D1F2B"/>
          </a:solidFill>
          <a:ln/>
        </p:spPr>
      </p:sp>
      <p:sp>
        <p:nvSpPr>
          <p:cNvPr id="23" name="Shape 21"/>
          <p:cNvSpPr/>
          <p:nvPr/>
        </p:nvSpPr>
        <p:spPr>
          <a:xfrm>
            <a:off x="6467475" y="158484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3808" y="2322"/>
                </a:moveTo>
                <a:cubicBezTo>
                  <a:pt x="110460" y="-759"/>
                  <a:pt x="118140" y="-759"/>
                  <a:pt x="124792" y="2322"/>
                </a:cubicBezTo>
                <a:lnTo>
                  <a:pt x="222394" y="47417"/>
                </a:lnTo>
                <a:cubicBezTo>
                  <a:pt x="226189" y="49158"/>
                  <a:pt x="228600" y="52953"/>
                  <a:pt x="228600" y="57150"/>
                </a:cubicBezTo>
                <a:cubicBezTo>
                  <a:pt x="228600" y="61347"/>
                  <a:pt x="226189" y="65142"/>
                  <a:pt x="222394" y="66883"/>
                </a:cubicBezTo>
                <a:lnTo>
                  <a:pt x="124792" y="111978"/>
                </a:lnTo>
                <a:cubicBezTo>
                  <a:pt x="118140" y="115059"/>
                  <a:pt x="110460" y="115059"/>
                  <a:pt x="103808" y="111978"/>
                </a:cubicBezTo>
                <a:lnTo>
                  <a:pt x="6206" y="66883"/>
                </a:lnTo>
                <a:cubicBezTo>
                  <a:pt x="2411" y="65097"/>
                  <a:pt x="0" y="61302"/>
                  <a:pt x="0" y="57150"/>
                </a:cubicBezTo>
                <a:cubicBezTo>
                  <a:pt x="0" y="52998"/>
                  <a:pt x="2411" y="49158"/>
                  <a:pt x="6206" y="47417"/>
                </a:cubicBezTo>
                <a:lnTo>
                  <a:pt x="103808" y="2322"/>
                </a:lnTo>
                <a:close/>
                <a:moveTo>
                  <a:pt x="21476" y="97512"/>
                </a:moveTo>
                <a:lnTo>
                  <a:pt x="94833" y="131400"/>
                </a:lnTo>
                <a:cubicBezTo>
                  <a:pt x="107201" y="137115"/>
                  <a:pt x="121444" y="137115"/>
                  <a:pt x="133811" y="131400"/>
                </a:cubicBezTo>
                <a:lnTo>
                  <a:pt x="207169" y="97512"/>
                </a:lnTo>
                <a:lnTo>
                  <a:pt x="222394" y="104567"/>
                </a:lnTo>
                <a:cubicBezTo>
                  <a:pt x="226189" y="106308"/>
                  <a:pt x="228600" y="110103"/>
                  <a:pt x="228600" y="114300"/>
                </a:cubicBezTo>
                <a:cubicBezTo>
                  <a:pt x="228600" y="118497"/>
                  <a:pt x="226189" y="122292"/>
                  <a:pt x="222394" y="124033"/>
                </a:cubicBezTo>
                <a:lnTo>
                  <a:pt x="124792" y="169128"/>
                </a:lnTo>
                <a:cubicBezTo>
                  <a:pt x="118140" y="172209"/>
                  <a:pt x="110460" y="172209"/>
                  <a:pt x="103808" y="169128"/>
                </a:cubicBezTo>
                <a:lnTo>
                  <a:pt x="6206" y="124033"/>
                </a:lnTo>
                <a:cubicBezTo>
                  <a:pt x="2411" y="122247"/>
                  <a:pt x="0" y="118452"/>
                  <a:pt x="0" y="114300"/>
                </a:cubicBezTo>
                <a:cubicBezTo>
                  <a:pt x="0" y="110148"/>
                  <a:pt x="2411" y="106308"/>
                  <a:pt x="6206" y="104567"/>
                </a:cubicBezTo>
                <a:lnTo>
                  <a:pt x="21431" y="97512"/>
                </a:lnTo>
                <a:close/>
                <a:moveTo>
                  <a:pt x="6206" y="161717"/>
                </a:moveTo>
                <a:lnTo>
                  <a:pt x="21431" y="154662"/>
                </a:lnTo>
                <a:lnTo>
                  <a:pt x="94789" y="188550"/>
                </a:lnTo>
                <a:cubicBezTo>
                  <a:pt x="107156" y="194265"/>
                  <a:pt x="121399" y="194265"/>
                  <a:pt x="133767" y="188550"/>
                </a:cubicBezTo>
                <a:lnTo>
                  <a:pt x="207124" y="154662"/>
                </a:lnTo>
                <a:lnTo>
                  <a:pt x="222349" y="161717"/>
                </a:lnTo>
                <a:cubicBezTo>
                  <a:pt x="226144" y="163458"/>
                  <a:pt x="228555" y="167253"/>
                  <a:pt x="228555" y="171450"/>
                </a:cubicBezTo>
                <a:cubicBezTo>
                  <a:pt x="228555" y="175647"/>
                  <a:pt x="226144" y="179442"/>
                  <a:pt x="222349" y="181183"/>
                </a:cubicBezTo>
                <a:lnTo>
                  <a:pt x="124748" y="226278"/>
                </a:lnTo>
                <a:cubicBezTo>
                  <a:pt x="118095" y="229359"/>
                  <a:pt x="110416" y="229359"/>
                  <a:pt x="103763" y="226278"/>
                </a:cubicBezTo>
                <a:lnTo>
                  <a:pt x="6206" y="181183"/>
                </a:lnTo>
                <a:cubicBezTo>
                  <a:pt x="2411" y="179397"/>
                  <a:pt x="0" y="175602"/>
                  <a:pt x="0" y="171450"/>
                </a:cubicBezTo>
                <a:cubicBezTo>
                  <a:pt x="0" y="167298"/>
                  <a:pt x="2411" y="163458"/>
                  <a:pt x="6206" y="161717"/>
                </a:cubicBez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24" name="Text 22"/>
          <p:cNvSpPr/>
          <p:nvPr/>
        </p:nvSpPr>
        <p:spPr>
          <a:xfrm>
            <a:off x="6724650" y="1546861"/>
            <a:ext cx="4972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 Types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38900" y="209919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26" name="Shape 24"/>
          <p:cNvSpPr/>
          <p:nvPr/>
        </p:nvSpPr>
        <p:spPr>
          <a:xfrm>
            <a:off x="6584156" y="223254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1776" y="26082"/>
                </a:moveTo>
                <a:cubicBezTo>
                  <a:pt x="167097" y="29952"/>
                  <a:pt x="168287" y="37393"/>
                  <a:pt x="164418" y="42714"/>
                </a:cubicBezTo>
                <a:lnTo>
                  <a:pt x="69168" y="173682"/>
                </a:lnTo>
                <a:cubicBezTo>
                  <a:pt x="67121" y="176510"/>
                  <a:pt x="63959" y="178259"/>
                  <a:pt x="60461" y="178557"/>
                </a:cubicBezTo>
                <a:cubicBezTo>
                  <a:pt x="56964" y="178854"/>
                  <a:pt x="53578" y="177552"/>
                  <a:pt x="51122" y="175096"/>
                </a:cubicBezTo>
                <a:lnTo>
                  <a:pt x="3497" y="127471"/>
                </a:lnTo>
                <a:cubicBezTo>
                  <a:pt x="-1153" y="122820"/>
                  <a:pt x="-1153" y="115267"/>
                  <a:pt x="3497" y="110617"/>
                </a:cubicBezTo>
                <a:cubicBezTo>
                  <a:pt x="8148" y="105966"/>
                  <a:pt x="15701" y="105966"/>
                  <a:pt x="20352" y="110617"/>
                </a:cubicBezTo>
                <a:lnTo>
                  <a:pt x="58117" y="148382"/>
                </a:lnTo>
                <a:lnTo>
                  <a:pt x="145182" y="28687"/>
                </a:lnTo>
                <a:cubicBezTo>
                  <a:pt x="149051" y="23366"/>
                  <a:pt x="156493" y="22175"/>
                  <a:pt x="161813" y="2604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7048500" y="2080140"/>
            <a:ext cx="3590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Static Content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048500" y="2346840"/>
            <a:ext cx="3581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Images, CSS, JavaScript, fonts — cacheable by default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38900" y="278499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0A4B5"/>
          </a:solidFill>
          <a:ln/>
        </p:spPr>
      </p:sp>
      <p:sp>
        <p:nvSpPr>
          <p:cNvPr id="30" name="Shape 28"/>
          <p:cNvSpPr/>
          <p:nvPr/>
        </p:nvSpPr>
        <p:spPr>
          <a:xfrm>
            <a:off x="6596063" y="291834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20501" y="27310"/>
                </a:moveTo>
                <a:cubicBezTo>
                  <a:pt x="15850" y="22659"/>
                  <a:pt x="8297" y="22659"/>
                  <a:pt x="3646" y="27310"/>
                </a:cubicBezTo>
                <a:cubicBezTo>
                  <a:pt x="-1005" y="31961"/>
                  <a:pt x="-1005" y="39514"/>
                  <a:pt x="3646" y="44165"/>
                </a:cubicBezTo>
                <a:lnTo>
                  <a:pt x="54769" y="95250"/>
                </a:lnTo>
                <a:lnTo>
                  <a:pt x="3683" y="146372"/>
                </a:lnTo>
                <a:cubicBezTo>
                  <a:pt x="-967" y="151023"/>
                  <a:pt x="-967" y="158576"/>
                  <a:pt x="3683" y="163227"/>
                </a:cubicBezTo>
                <a:cubicBezTo>
                  <a:pt x="8334" y="167878"/>
                  <a:pt x="15887" y="167878"/>
                  <a:pt x="20538" y="163227"/>
                </a:cubicBezTo>
                <a:lnTo>
                  <a:pt x="71624" y="112105"/>
                </a:lnTo>
                <a:lnTo>
                  <a:pt x="122746" y="163190"/>
                </a:lnTo>
                <a:cubicBezTo>
                  <a:pt x="127397" y="167841"/>
                  <a:pt x="134950" y="167841"/>
                  <a:pt x="139601" y="163190"/>
                </a:cubicBezTo>
                <a:cubicBezTo>
                  <a:pt x="144252" y="158539"/>
                  <a:pt x="144252" y="150986"/>
                  <a:pt x="139601" y="146335"/>
                </a:cubicBezTo>
                <a:lnTo>
                  <a:pt x="88478" y="95250"/>
                </a:lnTo>
                <a:lnTo>
                  <a:pt x="139564" y="44128"/>
                </a:lnTo>
                <a:cubicBezTo>
                  <a:pt x="144214" y="39477"/>
                  <a:pt x="144214" y="31924"/>
                  <a:pt x="139564" y="27273"/>
                </a:cubicBezTo>
                <a:cubicBezTo>
                  <a:pt x="134913" y="22622"/>
                  <a:pt x="127360" y="22622"/>
                  <a:pt x="122709" y="27273"/>
                </a:cubicBezTo>
                <a:lnTo>
                  <a:pt x="71624" y="78395"/>
                </a:lnTo>
                <a:lnTo>
                  <a:pt x="20501" y="2731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7048500" y="2765940"/>
            <a:ext cx="3524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Dynamic Content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048500" y="3032640"/>
            <a:ext cx="3514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HTML, JSON, API responses — not cached by default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217920" y="3749040"/>
            <a:ext cx="5587365" cy="2491740"/>
          </a:xfrm>
          <a:custGeom>
            <a:avLst/>
            <a:gdLst/>
            <a:ahLst/>
            <a:cxnLst/>
            <a:rect l="l" t="t" r="r" b="b"/>
            <a:pathLst>
              <a:path w="5587365" h="2491740">
                <a:moveTo>
                  <a:pt x="114296" y="0"/>
                </a:moveTo>
                <a:lnTo>
                  <a:pt x="5473069" y="0"/>
                </a:lnTo>
                <a:cubicBezTo>
                  <a:pt x="5536193" y="0"/>
                  <a:pt x="5587365" y="51172"/>
                  <a:pt x="5587365" y="114296"/>
                </a:cubicBezTo>
                <a:lnTo>
                  <a:pt x="5587365" y="2377444"/>
                </a:lnTo>
                <a:cubicBezTo>
                  <a:pt x="5587365" y="2440568"/>
                  <a:pt x="5536193" y="2491740"/>
                  <a:pt x="5473069" y="2491740"/>
                </a:cubicBezTo>
                <a:lnTo>
                  <a:pt x="114296" y="2491740"/>
                </a:lnTo>
                <a:cubicBezTo>
                  <a:pt x="51172" y="2491740"/>
                  <a:pt x="0" y="2440568"/>
                  <a:pt x="0" y="2377444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F9FAFB"/>
          </a:solidFill>
          <a:ln w="20320">
            <a:solidFill>
              <a:srgbClr val="E5E7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77953" y="402336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83344" y="59531"/>
                </a:moveTo>
                <a:cubicBezTo>
                  <a:pt x="83344" y="52960"/>
                  <a:pt x="88679" y="47625"/>
                  <a:pt x="95250" y="47625"/>
                </a:cubicBezTo>
                <a:cubicBezTo>
                  <a:pt x="101821" y="47625"/>
                  <a:pt x="107156" y="52960"/>
                  <a:pt x="107156" y="59531"/>
                </a:cubicBezTo>
                <a:cubicBezTo>
                  <a:pt x="107156" y="66102"/>
                  <a:pt x="101821" y="71438"/>
                  <a:pt x="95250" y="71438"/>
                </a:cubicBezTo>
                <a:cubicBezTo>
                  <a:pt x="88679" y="71438"/>
                  <a:pt x="83344" y="66102"/>
                  <a:pt x="83344" y="59531"/>
                </a:cubicBezTo>
                <a:close/>
                <a:moveTo>
                  <a:pt x="80367" y="83344"/>
                </a:moveTo>
                <a:lnTo>
                  <a:pt x="98227" y="83344"/>
                </a:lnTo>
                <a:cubicBezTo>
                  <a:pt x="103175" y="83344"/>
                  <a:pt x="107156" y="87325"/>
                  <a:pt x="107156" y="92273"/>
                </a:cubicBezTo>
                <a:lnTo>
                  <a:pt x="107156" y="125016"/>
                </a:lnTo>
                <a:lnTo>
                  <a:pt x="110133" y="125016"/>
                </a:lnTo>
                <a:cubicBezTo>
                  <a:pt x="115081" y="125016"/>
                  <a:pt x="119063" y="128997"/>
                  <a:pt x="119063" y="133945"/>
                </a:cubicBezTo>
                <a:cubicBezTo>
                  <a:pt x="119063" y="138894"/>
                  <a:pt x="115081" y="142875"/>
                  <a:pt x="110133" y="142875"/>
                </a:cubicBezTo>
                <a:lnTo>
                  <a:pt x="80367" y="142875"/>
                </a:lnTo>
                <a:cubicBezTo>
                  <a:pt x="75419" y="142875"/>
                  <a:pt x="71438" y="138894"/>
                  <a:pt x="71438" y="133945"/>
                </a:cubicBezTo>
                <a:cubicBezTo>
                  <a:pt x="71438" y="128997"/>
                  <a:pt x="75419" y="125016"/>
                  <a:pt x="80367" y="125016"/>
                </a:cubicBezTo>
                <a:lnTo>
                  <a:pt x="89297" y="125016"/>
                </a:lnTo>
                <a:lnTo>
                  <a:pt x="89297" y="101203"/>
                </a:lnTo>
                <a:lnTo>
                  <a:pt x="80367" y="101203"/>
                </a:lnTo>
                <a:cubicBezTo>
                  <a:pt x="75419" y="101203"/>
                  <a:pt x="71438" y="97222"/>
                  <a:pt x="71438" y="92273"/>
                </a:cubicBezTo>
                <a:cubicBezTo>
                  <a:pt x="71438" y="87325"/>
                  <a:pt x="75419" y="83344"/>
                  <a:pt x="80367" y="83344"/>
                </a:cubicBez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35" name="Text 33"/>
          <p:cNvSpPr/>
          <p:nvPr/>
        </p:nvSpPr>
        <p:spPr>
          <a:xfrm>
            <a:off x="6692265" y="3985261"/>
            <a:ext cx="4972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F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Factors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501765" y="4442461"/>
            <a:ext cx="95250" cy="152400"/>
          </a:xfrm>
          <a:custGeom>
            <a:avLst/>
            <a:gdLst/>
            <a:ahLst/>
            <a:cxnLst/>
            <a:rect l="l" t="t" r="r" b="b"/>
            <a:pathLst>
              <a:path w="95250" h="152400">
                <a:moveTo>
                  <a:pt x="92601" y="69473"/>
                </a:moveTo>
                <a:cubicBezTo>
                  <a:pt x="96322" y="73194"/>
                  <a:pt x="96322" y="79236"/>
                  <a:pt x="92601" y="82957"/>
                </a:cubicBezTo>
                <a:lnTo>
                  <a:pt x="35451" y="140107"/>
                </a:lnTo>
                <a:cubicBezTo>
                  <a:pt x="31730" y="143828"/>
                  <a:pt x="25688" y="143828"/>
                  <a:pt x="21967" y="140107"/>
                </a:cubicBezTo>
                <a:cubicBezTo>
                  <a:pt x="18246" y="136386"/>
                  <a:pt x="18246" y="130344"/>
                  <a:pt x="21967" y="126623"/>
                </a:cubicBezTo>
                <a:lnTo>
                  <a:pt x="72390" y="76200"/>
                </a:lnTo>
                <a:lnTo>
                  <a:pt x="21997" y="25777"/>
                </a:lnTo>
                <a:cubicBezTo>
                  <a:pt x="18276" y="22056"/>
                  <a:pt x="18276" y="16014"/>
                  <a:pt x="21997" y="12293"/>
                </a:cubicBezTo>
                <a:cubicBezTo>
                  <a:pt x="25718" y="8573"/>
                  <a:pt x="31760" y="8573"/>
                  <a:pt x="35481" y="12293"/>
                </a:cubicBezTo>
                <a:lnTo>
                  <a:pt x="92631" y="69443"/>
                </a:ln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37" name="Text 35"/>
          <p:cNvSpPr/>
          <p:nvPr/>
        </p:nvSpPr>
        <p:spPr>
          <a:xfrm>
            <a:off x="6720840" y="4404361"/>
            <a:ext cx="1924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641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Caching levels configuration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501765" y="4785361"/>
            <a:ext cx="95250" cy="152400"/>
          </a:xfrm>
          <a:custGeom>
            <a:avLst/>
            <a:gdLst/>
            <a:ahLst/>
            <a:cxnLst/>
            <a:rect l="l" t="t" r="r" b="b"/>
            <a:pathLst>
              <a:path w="95250" h="152400">
                <a:moveTo>
                  <a:pt x="92601" y="69473"/>
                </a:moveTo>
                <a:cubicBezTo>
                  <a:pt x="96322" y="73194"/>
                  <a:pt x="96322" y="79236"/>
                  <a:pt x="92601" y="82957"/>
                </a:cubicBezTo>
                <a:lnTo>
                  <a:pt x="35451" y="140107"/>
                </a:lnTo>
                <a:cubicBezTo>
                  <a:pt x="31730" y="143828"/>
                  <a:pt x="25688" y="143828"/>
                  <a:pt x="21967" y="140107"/>
                </a:cubicBezTo>
                <a:cubicBezTo>
                  <a:pt x="18246" y="136386"/>
                  <a:pt x="18246" y="130344"/>
                  <a:pt x="21967" y="126623"/>
                </a:cubicBezTo>
                <a:lnTo>
                  <a:pt x="72390" y="76200"/>
                </a:lnTo>
                <a:lnTo>
                  <a:pt x="21997" y="25777"/>
                </a:lnTo>
                <a:cubicBezTo>
                  <a:pt x="18276" y="22056"/>
                  <a:pt x="18276" y="16014"/>
                  <a:pt x="21997" y="12293"/>
                </a:cubicBezTo>
                <a:cubicBezTo>
                  <a:pt x="25718" y="8573"/>
                  <a:pt x="31760" y="8573"/>
                  <a:pt x="35481" y="12293"/>
                </a:cubicBezTo>
                <a:lnTo>
                  <a:pt x="92631" y="69443"/>
                </a:ln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39" name="Text 37"/>
          <p:cNvSpPr/>
          <p:nvPr/>
        </p:nvSpPr>
        <p:spPr>
          <a:xfrm>
            <a:off x="6720840" y="4747261"/>
            <a:ext cx="1619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641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File extension matching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501765" y="5128261"/>
            <a:ext cx="95250" cy="152400"/>
          </a:xfrm>
          <a:custGeom>
            <a:avLst/>
            <a:gdLst/>
            <a:ahLst/>
            <a:cxnLst/>
            <a:rect l="l" t="t" r="r" b="b"/>
            <a:pathLst>
              <a:path w="95250" h="152400">
                <a:moveTo>
                  <a:pt x="92601" y="69473"/>
                </a:moveTo>
                <a:cubicBezTo>
                  <a:pt x="96322" y="73194"/>
                  <a:pt x="96322" y="79236"/>
                  <a:pt x="92601" y="82957"/>
                </a:cubicBezTo>
                <a:lnTo>
                  <a:pt x="35451" y="140107"/>
                </a:lnTo>
                <a:cubicBezTo>
                  <a:pt x="31730" y="143828"/>
                  <a:pt x="25688" y="143828"/>
                  <a:pt x="21967" y="140107"/>
                </a:cubicBezTo>
                <a:cubicBezTo>
                  <a:pt x="18246" y="136386"/>
                  <a:pt x="18246" y="130344"/>
                  <a:pt x="21967" y="126623"/>
                </a:cubicBezTo>
                <a:lnTo>
                  <a:pt x="72390" y="76200"/>
                </a:lnTo>
                <a:lnTo>
                  <a:pt x="21997" y="25777"/>
                </a:lnTo>
                <a:cubicBezTo>
                  <a:pt x="18276" y="22056"/>
                  <a:pt x="18276" y="16014"/>
                  <a:pt x="21997" y="12293"/>
                </a:cubicBezTo>
                <a:cubicBezTo>
                  <a:pt x="25718" y="8573"/>
                  <a:pt x="31760" y="8573"/>
                  <a:pt x="35481" y="12293"/>
                </a:cubicBezTo>
                <a:lnTo>
                  <a:pt x="92631" y="69443"/>
                </a:ln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41" name="Text 39"/>
          <p:cNvSpPr/>
          <p:nvPr/>
        </p:nvSpPr>
        <p:spPr>
          <a:xfrm>
            <a:off x="6720840" y="5090161"/>
            <a:ext cx="148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641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Query string handling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501765" y="5471161"/>
            <a:ext cx="95250" cy="152400"/>
          </a:xfrm>
          <a:custGeom>
            <a:avLst/>
            <a:gdLst/>
            <a:ahLst/>
            <a:cxnLst/>
            <a:rect l="l" t="t" r="r" b="b"/>
            <a:pathLst>
              <a:path w="95250" h="152400">
                <a:moveTo>
                  <a:pt x="92601" y="69473"/>
                </a:moveTo>
                <a:cubicBezTo>
                  <a:pt x="96322" y="73194"/>
                  <a:pt x="96322" y="79236"/>
                  <a:pt x="92601" y="82957"/>
                </a:cubicBezTo>
                <a:lnTo>
                  <a:pt x="35451" y="140107"/>
                </a:lnTo>
                <a:cubicBezTo>
                  <a:pt x="31730" y="143828"/>
                  <a:pt x="25688" y="143828"/>
                  <a:pt x="21967" y="140107"/>
                </a:cubicBezTo>
                <a:cubicBezTo>
                  <a:pt x="18246" y="136386"/>
                  <a:pt x="18246" y="130344"/>
                  <a:pt x="21967" y="126623"/>
                </a:cubicBezTo>
                <a:lnTo>
                  <a:pt x="72390" y="76200"/>
                </a:lnTo>
                <a:lnTo>
                  <a:pt x="21997" y="25777"/>
                </a:lnTo>
                <a:cubicBezTo>
                  <a:pt x="18276" y="22056"/>
                  <a:pt x="18276" y="16014"/>
                  <a:pt x="21997" y="12293"/>
                </a:cubicBezTo>
                <a:cubicBezTo>
                  <a:pt x="25718" y="8573"/>
                  <a:pt x="31760" y="8573"/>
                  <a:pt x="35481" y="12293"/>
                </a:cubicBezTo>
                <a:lnTo>
                  <a:pt x="92631" y="69443"/>
                </a:ln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43" name="Text 41"/>
          <p:cNvSpPr/>
          <p:nvPr/>
        </p:nvSpPr>
        <p:spPr>
          <a:xfrm>
            <a:off x="6720840" y="5433061"/>
            <a:ext cx="2009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641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Origin cache-control headers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501765" y="5814061"/>
            <a:ext cx="95250" cy="152400"/>
          </a:xfrm>
          <a:custGeom>
            <a:avLst/>
            <a:gdLst/>
            <a:ahLst/>
            <a:cxnLst/>
            <a:rect l="l" t="t" r="r" b="b"/>
            <a:pathLst>
              <a:path w="95250" h="152400">
                <a:moveTo>
                  <a:pt x="92601" y="69473"/>
                </a:moveTo>
                <a:cubicBezTo>
                  <a:pt x="96322" y="73194"/>
                  <a:pt x="96322" y="79236"/>
                  <a:pt x="92601" y="82957"/>
                </a:cubicBezTo>
                <a:lnTo>
                  <a:pt x="35451" y="140107"/>
                </a:lnTo>
                <a:cubicBezTo>
                  <a:pt x="31730" y="143828"/>
                  <a:pt x="25688" y="143828"/>
                  <a:pt x="21967" y="140107"/>
                </a:cubicBezTo>
                <a:cubicBezTo>
                  <a:pt x="18246" y="136386"/>
                  <a:pt x="18246" y="130344"/>
                  <a:pt x="21967" y="126623"/>
                </a:cubicBezTo>
                <a:lnTo>
                  <a:pt x="72390" y="76200"/>
                </a:lnTo>
                <a:lnTo>
                  <a:pt x="21997" y="25777"/>
                </a:lnTo>
                <a:cubicBezTo>
                  <a:pt x="18276" y="22056"/>
                  <a:pt x="18276" y="16014"/>
                  <a:pt x="21997" y="12293"/>
                </a:cubicBezTo>
                <a:cubicBezTo>
                  <a:pt x="25718" y="8573"/>
                  <a:pt x="31760" y="8573"/>
                  <a:pt x="35481" y="12293"/>
                </a:cubicBezTo>
                <a:lnTo>
                  <a:pt x="92631" y="69443"/>
                </a:ln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45" name="Text 43"/>
          <p:cNvSpPr/>
          <p:nvPr/>
        </p:nvSpPr>
        <p:spPr>
          <a:xfrm>
            <a:off x="6720840" y="5775961"/>
            <a:ext cx="1838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641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Cache rules and page rules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F481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CACHING ARCHITECTURE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D1F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Caching Models: Edge vs Browser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57300"/>
            <a:ext cx="5600700" cy="2628900"/>
          </a:xfrm>
          <a:custGeom>
            <a:avLst/>
            <a:gdLst/>
            <a:ahLst/>
            <a:cxnLst/>
            <a:rect l="l" t="t" r="r" b="b"/>
            <a:pathLst>
              <a:path w="5600700" h="2628900">
                <a:moveTo>
                  <a:pt x="114305" y="0"/>
                </a:moveTo>
                <a:lnTo>
                  <a:pt x="5486395" y="0"/>
                </a:lnTo>
                <a:cubicBezTo>
                  <a:pt x="5549524" y="0"/>
                  <a:pt x="5600700" y="51176"/>
                  <a:pt x="5600700" y="114305"/>
                </a:cubicBezTo>
                <a:lnTo>
                  <a:pt x="5600700" y="2514595"/>
                </a:lnTo>
                <a:cubicBezTo>
                  <a:pt x="5600700" y="2577724"/>
                  <a:pt x="5549524" y="2628900"/>
                  <a:pt x="5486395" y="2628900"/>
                </a:cubicBezTo>
                <a:lnTo>
                  <a:pt x="114305" y="2628900"/>
                </a:lnTo>
                <a:cubicBezTo>
                  <a:pt x="51176" y="2628900"/>
                  <a:pt x="0" y="2577724"/>
                  <a:pt x="0" y="2514595"/>
                </a:cubicBezTo>
                <a:lnTo>
                  <a:pt x="0" y="114305"/>
                </a:lnTo>
                <a:cubicBezTo>
                  <a:pt x="0" y="51176"/>
                  <a:pt x="51176" y="0"/>
                  <a:pt x="114305" y="0"/>
                </a:cubicBezTo>
                <a:close/>
              </a:path>
            </a:pathLst>
          </a:custGeom>
          <a:gradFill rotWithShape="1" flip="none">
            <a:gsLst>
              <a:gs pos="0">
                <a:srgbClr val="F48120"/>
              </a:gs>
              <a:gs pos="100000">
                <a:srgbClr val="F48120">
                  <a:alpha val="80000"/>
                </a:srgbClr>
              </a:gs>
            </a:gsLst>
            <a:lin ang="2700000" scaled="1"/>
          </a:gradFill>
          <a:ln/>
        </p:spPr>
      </p:sp>
      <p:sp>
        <p:nvSpPr>
          <p:cNvPr id="5" name="Shape 3"/>
          <p:cNvSpPr/>
          <p:nvPr/>
        </p:nvSpPr>
        <p:spPr>
          <a:xfrm>
            <a:off x="609600" y="14859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76288" y="16383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71438"/>
                </a:lnTo>
                <a:cubicBezTo>
                  <a:pt x="0" y="87198"/>
                  <a:pt x="12814" y="100013"/>
                  <a:pt x="28575" y="100013"/>
                </a:cubicBezTo>
                <a:lnTo>
                  <a:pt x="171450" y="100013"/>
                </a:lnTo>
                <a:cubicBezTo>
                  <a:pt x="187211" y="100013"/>
                  <a:pt x="200025" y="87198"/>
                  <a:pt x="200025" y="71438"/>
                </a:cubicBezTo>
                <a:lnTo>
                  <a:pt x="200025" y="42863"/>
                </a:lnTo>
                <a:cubicBezTo>
                  <a:pt x="200025" y="27102"/>
                  <a:pt x="187211" y="14288"/>
                  <a:pt x="171450" y="14288"/>
                </a:cubicBezTo>
                <a:lnTo>
                  <a:pt x="28575" y="14288"/>
                </a:lnTo>
                <a:close/>
                <a:moveTo>
                  <a:pt x="125016" y="46434"/>
                </a:moveTo>
                <a:cubicBezTo>
                  <a:pt x="130930" y="46434"/>
                  <a:pt x="135731" y="51236"/>
                  <a:pt x="135731" y="57150"/>
                </a:cubicBezTo>
                <a:cubicBezTo>
                  <a:pt x="135731" y="63064"/>
                  <a:pt x="130930" y="67866"/>
                  <a:pt x="125016" y="67866"/>
                </a:cubicBezTo>
                <a:cubicBezTo>
                  <a:pt x="119102" y="67866"/>
                  <a:pt x="114300" y="63064"/>
                  <a:pt x="114300" y="57150"/>
                </a:cubicBezTo>
                <a:cubicBezTo>
                  <a:pt x="114300" y="51236"/>
                  <a:pt x="119102" y="46434"/>
                  <a:pt x="125016" y="46434"/>
                </a:cubicBezTo>
                <a:close/>
                <a:moveTo>
                  <a:pt x="150019" y="57150"/>
                </a:moveTo>
                <a:cubicBezTo>
                  <a:pt x="150019" y="51236"/>
                  <a:pt x="154820" y="46434"/>
                  <a:pt x="160734" y="46434"/>
                </a:cubicBezTo>
                <a:cubicBezTo>
                  <a:pt x="166648" y="46434"/>
                  <a:pt x="171450" y="51236"/>
                  <a:pt x="171450" y="57150"/>
                </a:cubicBezTo>
                <a:cubicBezTo>
                  <a:pt x="171450" y="63064"/>
                  <a:pt x="166648" y="67866"/>
                  <a:pt x="160734" y="67866"/>
                </a:cubicBezTo>
                <a:cubicBezTo>
                  <a:pt x="154820" y="67866"/>
                  <a:pt x="150019" y="63064"/>
                  <a:pt x="150019" y="57150"/>
                </a:cubicBezTo>
                <a:close/>
                <a:moveTo>
                  <a:pt x="28575" y="128588"/>
                </a:moveTo>
                <a:cubicBezTo>
                  <a:pt x="12814" y="128588"/>
                  <a:pt x="0" y="141402"/>
                  <a:pt x="0" y="157163"/>
                </a:cubicBez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171450" y="214313"/>
                </a:lnTo>
                <a:cubicBezTo>
                  <a:pt x="187211" y="214313"/>
                  <a:pt x="200025" y="201498"/>
                  <a:pt x="200025" y="185738"/>
                </a:cubicBezTo>
                <a:lnTo>
                  <a:pt x="200025" y="157163"/>
                </a:lnTo>
                <a:cubicBezTo>
                  <a:pt x="200025" y="141402"/>
                  <a:pt x="187211" y="128588"/>
                  <a:pt x="171450" y="128588"/>
                </a:cubicBezTo>
                <a:lnTo>
                  <a:pt x="28575" y="128588"/>
                </a:lnTo>
                <a:close/>
                <a:moveTo>
                  <a:pt x="125016" y="160734"/>
                </a:moveTo>
                <a:cubicBezTo>
                  <a:pt x="130930" y="160734"/>
                  <a:pt x="135731" y="165536"/>
                  <a:pt x="135731" y="171450"/>
                </a:cubicBezTo>
                <a:cubicBezTo>
                  <a:pt x="135731" y="177364"/>
                  <a:pt x="130930" y="182166"/>
                  <a:pt x="125016" y="182166"/>
                </a:cubicBezTo>
                <a:cubicBezTo>
                  <a:pt x="119102" y="182166"/>
                  <a:pt x="114300" y="177364"/>
                  <a:pt x="114300" y="171450"/>
                </a:cubicBezTo>
                <a:cubicBezTo>
                  <a:pt x="114300" y="165536"/>
                  <a:pt x="119102" y="160734"/>
                  <a:pt x="125016" y="160734"/>
                </a:cubicBezTo>
                <a:close/>
                <a:moveTo>
                  <a:pt x="150019" y="171450"/>
                </a:moveTo>
                <a:cubicBezTo>
                  <a:pt x="150019" y="165536"/>
                  <a:pt x="154820" y="160734"/>
                  <a:pt x="160734" y="160734"/>
                </a:cubicBezTo>
                <a:cubicBezTo>
                  <a:pt x="166648" y="160734"/>
                  <a:pt x="171450" y="165536"/>
                  <a:pt x="171450" y="171450"/>
                </a:cubicBezTo>
                <a:cubicBezTo>
                  <a:pt x="171450" y="177364"/>
                  <a:pt x="166648" y="182166"/>
                  <a:pt x="160734" y="182166"/>
                </a:cubicBezTo>
                <a:cubicBezTo>
                  <a:pt x="154820" y="182166"/>
                  <a:pt x="150019" y="177364"/>
                  <a:pt x="150019" y="17145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257300" y="1600200"/>
            <a:ext cx="1514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Edge Caching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09600" y="2171700"/>
            <a:ext cx="52197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Content stored on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Cloudflare's global CDN servers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(275+ data centers). Serves content from the nearest location to the user.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8650" y="2857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876300" y="28194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Controlled by Edge Cache TTL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8650" y="31623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876300" y="3124200"/>
            <a:ext cx="213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 visible in response headers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8650" y="34671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876300" y="3429000"/>
            <a:ext cx="2476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Minimum: 2 hours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10300" y="1257300"/>
            <a:ext cx="5600700" cy="2628900"/>
          </a:xfrm>
          <a:custGeom>
            <a:avLst/>
            <a:gdLst/>
            <a:ahLst/>
            <a:cxnLst/>
            <a:rect l="l" t="t" r="r" b="b"/>
            <a:pathLst>
              <a:path w="5600700" h="2628900">
                <a:moveTo>
                  <a:pt x="114305" y="0"/>
                </a:moveTo>
                <a:lnTo>
                  <a:pt x="5486395" y="0"/>
                </a:lnTo>
                <a:cubicBezTo>
                  <a:pt x="5549524" y="0"/>
                  <a:pt x="5600700" y="51176"/>
                  <a:pt x="5600700" y="114305"/>
                </a:cubicBezTo>
                <a:lnTo>
                  <a:pt x="5600700" y="2514595"/>
                </a:lnTo>
                <a:cubicBezTo>
                  <a:pt x="5600700" y="2577724"/>
                  <a:pt x="5549524" y="2628900"/>
                  <a:pt x="5486395" y="2628900"/>
                </a:cubicBezTo>
                <a:lnTo>
                  <a:pt x="114305" y="2628900"/>
                </a:lnTo>
                <a:cubicBezTo>
                  <a:pt x="51176" y="2628900"/>
                  <a:pt x="0" y="2577724"/>
                  <a:pt x="0" y="2514595"/>
                </a:cubicBezTo>
                <a:lnTo>
                  <a:pt x="0" y="114305"/>
                </a:lnTo>
                <a:cubicBezTo>
                  <a:pt x="0" y="51176"/>
                  <a:pt x="51176" y="0"/>
                  <a:pt x="114305" y="0"/>
                </a:cubicBezTo>
                <a:close/>
              </a:path>
            </a:pathLst>
          </a:custGeom>
          <a:gradFill rotWithShape="1" flip="none">
            <a:gsLst>
              <a:gs pos="0">
                <a:srgbClr val="00A4B5"/>
              </a:gs>
              <a:gs pos="100000">
                <a:srgbClr val="00A4B5">
                  <a:alpha val="80000"/>
                </a:srgbClr>
              </a:gs>
            </a:gsLst>
            <a:lin ang="2700000" scaled="1"/>
          </a:gradFill>
          <a:ln/>
        </p:spPr>
      </p:sp>
      <p:sp>
        <p:nvSpPr>
          <p:cNvPr id="16" name="Shape 14"/>
          <p:cNvSpPr/>
          <p:nvPr/>
        </p:nvSpPr>
        <p:spPr>
          <a:xfrm>
            <a:off x="6438900" y="14859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591300" y="1638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157163"/>
                </a:lnTo>
                <a:cubicBezTo>
                  <a:pt x="0" y="172923"/>
                  <a:pt x="12814" y="185738"/>
                  <a:pt x="28575" y="185738"/>
                </a:cubicBezTo>
                <a:lnTo>
                  <a:pt x="92869" y="185738"/>
                </a:lnTo>
                <a:lnTo>
                  <a:pt x="85725" y="207169"/>
                </a:lnTo>
                <a:lnTo>
                  <a:pt x="53578" y="207169"/>
                </a:lnTo>
                <a:cubicBezTo>
                  <a:pt x="47640" y="207169"/>
                  <a:pt x="42863" y="211946"/>
                  <a:pt x="42863" y="217884"/>
                </a:cubicBezTo>
                <a:cubicBezTo>
                  <a:pt x="42863" y="223823"/>
                  <a:pt x="47640" y="228600"/>
                  <a:pt x="53578" y="228600"/>
                </a:cubicBezTo>
                <a:lnTo>
                  <a:pt x="175022" y="228600"/>
                </a:lnTo>
                <a:cubicBezTo>
                  <a:pt x="180960" y="228600"/>
                  <a:pt x="185738" y="223823"/>
                  <a:pt x="185738" y="217884"/>
                </a:cubicBezTo>
                <a:cubicBezTo>
                  <a:pt x="185738" y="211946"/>
                  <a:pt x="180960" y="207169"/>
                  <a:pt x="175022" y="207169"/>
                </a:cubicBezTo>
                <a:lnTo>
                  <a:pt x="142875" y="207169"/>
                </a:lnTo>
                <a:lnTo>
                  <a:pt x="135731" y="185738"/>
                </a:lnTo>
                <a:lnTo>
                  <a:pt x="200025" y="185738"/>
                </a:lnTo>
                <a:cubicBezTo>
                  <a:pt x="215786" y="185738"/>
                  <a:pt x="228600" y="172923"/>
                  <a:pt x="228600" y="157163"/>
                </a:cubicBezTo>
                <a:lnTo>
                  <a:pt x="228600" y="42863"/>
                </a:lnTo>
                <a:cubicBezTo>
                  <a:pt x="228600" y="27102"/>
                  <a:pt x="215786" y="14288"/>
                  <a:pt x="200025" y="14288"/>
                </a:cubicBezTo>
                <a:lnTo>
                  <a:pt x="28575" y="14288"/>
                </a:lnTo>
                <a:close/>
                <a:moveTo>
                  <a:pt x="42863" y="42863"/>
                </a:moveTo>
                <a:lnTo>
                  <a:pt x="185738" y="42863"/>
                </a:lnTo>
                <a:cubicBezTo>
                  <a:pt x="193640" y="42863"/>
                  <a:pt x="200025" y="49247"/>
                  <a:pt x="200025" y="57150"/>
                </a:cubicBezTo>
                <a:lnTo>
                  <a:pt x="200025" y="128588"/>
                </a:lnTo>
                <a:cubicBezTo>
                  <a:pt x="200025" y="136490"/>
                  <a:pt x="193640" y="142875"/>
                  <a:pt x="185738" y="142875"/>
                </a:cubicBezTo>
                <a:lnTo>
                  <a:pt x="42863" y="142875"/>
                </a:lnTo>
                <a:cubicBezTo>
                  <a:pt x="34960" y="142875"/>
                  <a:pt x="28575" y="136490"/>
                  <a:pt x="28575" y="128588"/>
                </a:cubicBezTo>
                <a:lnTo>
                  <a:pt x="28575" y="57150"/>
                </a:lnTo>
                <a:cubicBezTo>
                  <a:pt x="28575" y="49247"/>
                  <a:pt x="34960" y="42863"/>
                  <a:pt x="42863" y="4286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7086600" y="1600200"/>
            <a:ext cx="1828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Browser Caching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38900" y="2171700"/>
            <a:ext cx="52197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Content stored in the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user's web browser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Eliminates network requests entirely for repeat visits.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57950" y="2857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6705600" y="28194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Controlled by Browser Cache TTL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57950" y="31623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6705600" y="3124200"/>
            <a:ext cx="2247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Visible in Cache-Control headers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57950" y="34671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705600" y="3429000"/>
            <a:ext cx="1781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Default: 4 hours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81000" y="4076700"/>
            <a:ext cx="11430000" cy="1981200"/>
          </a:xfrm>
          <a:custGeom>
            <a:avLst/>
            <a:gdLst/>
            <a:ahLst/>
            <a:cxnLst/>
            <a:rect l="l" t="t" r="r" b="b"/>
            <a:pathLst>
              <a:path w="11430000" h="1981200">
                <a:moveTo>
                  <a:pt x="114295" y="0"/>
                </a:moveTo>
                <a:lnTo>
                  <a:pt x="11315705" y="0"/>
                </a:lnTo>
                <a:cubicBezTo>
                  <a:pt x="11378786" y="0"/>
                  <a:pt x="11430000" y="51214"/>
                  <a:pt x="11430000" y="114295"/>
                </a:cubicBezTo>
                <a:lnTo>
                  <a:pt x="11430000" y="1866905"/>
                </a:lnTo>
                <a:cubicBezTo>
                  <a:pt x="11430000" y="1929986"/>
                  <a:pt x="11378786" y="1981200"/>
                  <a:pt x="11315705" y="1981200"/>
                </a:cubicBezTo>
                <a:lnTo>
                  <a:pt x="114295" y="1981200"/>
                </a:lnTo>
                <a:cubicBezTo>
                  <a:pt x="51214" y="1981200"/>
                  <a:pt x="0" y="1929986"/>
                  <a:pt x="0" y="1866905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1D1F2B"/>
          </a:solidFill>
          <a:ln/>
        </p:spPr>
      </p:sp>
      <p:sp>
        <p:nvSpPr>
          <p:cNvPr id="27" name="Shape 25"/>
          <p:cNvSpPr/>
          <p:nvPr/>
        </p:nvSpPr>
        <p:spPr>
          <a:xfrm>
            <a:off x="633413" y="43434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29766"/>
                </a:moveTo>
                <a:cubicBezTo>
                  <a:pt x="0" y="19906"/>
                  <a:pt x="8000" y="11906"/>
                  <a:pt x="17859" y="11906"/>
                </a:cubicBezTo>
                <a:lnTo>
                  <a:pt x="53578" y="11906"/>
                </a:lnTo>
                <a:cubicBezTo>
                  <a:pt x="63438" y="11906"/>
                  <a:pt x="71438" y="19906"/>
                  <a:pt x="71438" y="29766"/>
                </a:cubicBezTo>
                <a:lnTo>
                  <a:pt x="71438" y="35719"/>
                </a:lnTo>
                <a:lnTo>
                  <a:pt x="119063" y="35719"/>
                </a:lnTo>
                <a:lnTo>
                  <a:pt x="119063" y="29766"/>
                </a:lnTo>
                <a:cubicBezTo>
                  <a:pt x="119063" y="19906"/>
                  <a:pt x="127062" y="11906"/>
                  <a:pt x="136922" y="11906"/>
                </a:cubicBezTo>
                <a:lnTo>
                  <a:pt x="172641" y="11906"/>
                </a:lnTo>
                <a:cubicBezTo>
                  <a:pt x="182500" y="11906"/>
                  <a:pt x="190500" y="19906"/>
                  <a:pt x="190500" y="29766"/>
                </a:cubicBezTo>
                <a:lnTo>
                  <a:pt x="190500" y="65484"/>
                </a:lnTo>
                <a:cubicBezTo>
                  <a:pt x="190500" y="75344"/>
                  <a:pt x="182500" y="83344"/>
                  <a:pt x="172641" y="83344"/>
                </a:cubicBezTo>
                <a:lnTo>
                  <a:pt x="136922" y="83344"/>
                </a:lnTo>
                <a:cubicBezTo>
                  <a:pt x="127062" y="83344"/>
                  <a:pt x="119063" y="75344"/>
                  <a:pt x="119063" y="65484"/>
                </a:cubicBezTo>
                <a:lnTo>
                  <a:pt x="119063" y="59531"/>
                </a:lnTo>
                <a:lnTo>
                  <a:pt x="71438" y="59531"/>
                </a:lnTo>
                <a:lnTo>
                  <a:pt x="71438" y="65484"/>
                </a:lnTo>
                <a:cubicBezTo>
                  <a:pt x="71438" y="68200"/>
                  <a:pt x="70805" y="70805"/>
                  <a:pt x="69726" y="73112"/>
                </a:cubicBezTo>
                <a:lnTo>
                  <a:pt x="95250" y="107156"/>
                </a:lnTo>
                <a:lnTo>
                  <a:pt x="125016" y="107156"/>
                </a:lnTo>
                <a:cubicBezTo>
                  <a:pt x="134875" y="107156"/>
                  <a:pt x="142875" y="115156"/>
                  <a:pt x="142875" y="125016"/>
                </a:cubicBezTo>
                <a:lnTo>
                  <a:pt x="142875" y="160734"/>
                </a:lnTo>
                <a:cubicBezTo>
                  <a:pt x="142875" y="170594"/>
                  <a:pt x="134875" y="178594"/>
                  <a:pt x="125016" y="178594"/>
                </a:cubicBezTo>
                <a:lnTo>
                  <a:pt x="89297" y="178594"/>
                </a:lnTo>
                <a:cubicBezTo>
                  <a:pt x="79437" y="178594"/>
                  <a:pt x="71438" y="170594"/>
                  <a:pt x="71438" y="160734"/>
                </a:cubicBezTo>
                <a:lnTo>
                  <a:pt x="71438" y="125016"/>
                </a:lnTo>
                <a:cubicBezTo>
                  <a:pt x="71438" y="122300"/>
                  <a:pt x="72070" y="119695"/>
                  <a:pt x="73149" y="117388"/>
                </a:cubicBezTo>
                <a:lnTo>
                  <a:pt x="47625" y="83344"/>
                </a:lnTo>
                <a:lnTo>
                  <a:pt x="17859" y="83344"/>
                </a:lnTo>
                <a:cubicBezTo>
                  <a:pt x="8000" y="83344"/>
                  <a:pt x="0" y="75344"/>
                  <a:pt x="0" y="65484"/>
                </a:cubicBezTo>
                <a:lnTo>
                  <a:pt x="0" y="29766"/>
                </a:ln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28" name="Text 26"/>
          <p:cNvSpPr/>
          <p:nvPr/>
        </p:nvSpPr>
        <p:spPr>
          <a:xfrm>
            <a:off x="847725" y="4305300"/>
            <a:ext cx="10829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Request Flow Diagram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09600" y="48196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30" name="Shape 28"/>
          <p:cNvSpPr/>
          <p:nvPr/>
        </p:nvSpPr>
        <p:spPr>
          <a:xfrm>
            <a:off x="814388" y="501015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00013" y="110728"/>
                </a:moveTo>
                <a:cubicBezTo>
                  <a:pt x="129583" y="110728"/>
                  <a:pt x="153591" y="86721"/>
                  <a:pt x="153591" y="57150"/>
                </a:cubicBezTo>
                <a:cubicBezTo>
                  <a:pt x="153591" y="27579"/>
                  <a:pt x="129583" y="3572"/>
                  <a:pt x="100013" y="3572"/>
                </a:cubicBezTo>
                <a:cubicBezTo>
                  <a:pt x="70442" y="3572"/>
                  <a:pt x="46434" y="27579"/>
                  <a:pt x="46434" y="57150"/>
                </a:cubicBezTo>
                <a:cubicBezTo>
                  <a:pt x="46434" y="86721"/>
                  <a:pt x="70442" y="110728"/>
                  <a:pt x="100012" y="110728"/>
                </a:cubicBezTo>
                <a:close/>
                <a:moveTo>
                  <a:pt x="86752" y="135731"/>
                </a:moveTo>
                <a:cubicBezTo>
                  <a:pt x="42773" y="135731"/>
                  <a:pt x="7144" y="171361"/>
                  <a:pt x="7144" y="215339"/>
                </a:cubicBezTo>
                <a:cubicBezTo>
                  <a:pt x="7144" y="222662"/>
                  <a:pt x="13082" y="228600"/>
                  <a:pt x="20404" y="228600"/>
                </a:cubicBezTo>
                <a:lnTo>
                  <a:pt x="179621" y="228600"/>
                </a:lnTo>
                <a:cubicBezTo>
                  <a:pt x="186943" y="228600"/>
                  <a:pt x="192881" y="222662"/>
                  <a:pt x="192881" y="215339"/>
                </a:cubicBezTo>
                <a:cubicBezTo>
                  <a:pt x="192881" y="171361"/>
                  <a:pt x="157252" y="135731"/>
                  <a:pt x="113273" y="135731"/>
                </a:cubicBezTo>
                <a:lnTo>
                  <a:pt x="86752" y="13573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571500" y="550545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2383869" y="51625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33" name="Shape 31"/>
          <p:cNvSpPr/>
          <p:nvPr/>
        </p:nvSpPr>
        <p:spPr>
          <a:xfrm>
            <a:off x="3972282" y="47244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00A4B5"/>
          </a:solidFill>
          <a:ln/>
        </p:spPr>
      </p:sp>
      <p:sp>
        <p:nvSpPr>
          <p:cNvPr id="34" name="Shape 32"/>
          <p:cNvSpPr/>
          <p:nvPr/>
        </p:nvSpPr>
        <p:spPr>
          <a:xfrm>
            <a:off x="4162782" y="49149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157163"/>
                </a:lnTo>
                <a:cubicBezTo>
                  <a:pt x="0" y="172923"/>
                  <a:pt x="12814" y="185738"/>
                  <a:pt x="28575" y="185738"/>
                </a:cubicBezTo>
                <a:lnTo>
                  <a:pt x="92869" y="185738"/>
                </a:lnTo>
                <a:lnTo>
                  <a:pt x="85725" y="207169"/>
                </a:lnTo>
                <a:lnTo>
                  <a:pt x="53578" y="207169"/>
                </a:lnTo>
                <a:cubicBezTo>
                  <a:pt x="47640" y="207169"/>
                  <a:pt x="42863" y="211946"/>
                  <a:pt x="42863" y="217884"/>
                </a:cubicBezTo>
                <a:cubicBezTo>
                  <a:pt x="42863" y="223823"/>
                  <a:pt x="47640" y="228600"/>
                  <a:pt x="53578" y="228600"/>
                </a:cubicBezTo>
                <a:lnTo>
                  <a:pt x="175022" y="228600"/>
                </a:lnTo>
                <a:cubicBezTo>
                  <a:pt x="180960" y="228600"/>
                  <a:pt x="185738" y="223823"/>
                  <a:pt x="185738" y="217884"/>
                </a:cubicBezTo>
                <a:cubicBezTo>
                  <a:pt x="185738" y="211946"/>
                  <a:pt x="180960" y="207169"/>
                  <a:pt x="175022" y="207169"/>
                </a:cubicBezTo>
                <a:lnTo>
                  <a:pt x="142875" y="207169"/>
                </a:lnTo>
                <a:lnTo>
                  <a:pt x="135731" y="185738"/>
                </a:lnTo>
                <a:lnTo>
                  <a:pt x="200025" y="185738"/>
                </a:lnTo>
                <a:cubicBezTo>
                  <a:pt x="215786" y="185738"/>
                  <a:pt x="228600" y="172923"/>
                  <a:pt x="228600" y="157163"/>
                </a:cubicBezTo>
                <a:lnTo>
                  <a:pt x="228600" y="42863"/>
                </a:lnTo>
                <a:cubicBezTo>
                  <a:pt x="228600" y="27102"/>
                  <a:pt x="215786" y="14288"/>
                  <a:pt x="200025" y="14288"/>
                </a:cubicBezTo>
                <a:lnTo>
                  <a:pt x="28575" y="14288"/>
                </a:lnTo>
                <a:close/>
                <a:moveTo>
                  <a:pt x="42863" y="42863"/>
                </a:moveTo>
                <a:lnTo>
                  <a:pt x="185738" y="42863"/>
                </a:lnTo>
                <a:cubicBezTo>
                  <a:pt x="193640" y="42863"/>
                  <a:pt x="200025" y="49247"/>
                  <a:pt x="200025" y="57150"/>
                </a:cubicBezTo>
                <a:lnTo>
                  <a:pt x="200025" y="128588"/>
                </a:lnTo>
                <a:cubicBezTo>
                  <a:pt x="200025" y="136490"/>
                  <a:pt x="193640" y="142875"/>
                  <a:pt x="185738" y="142875"/>
                </a:cubicBezTo>
                <a:lnTo>
                  <a:pt x="42863" y="142875"/>
                </a:lnTo>
                <a:cubicBezTo>
                  <a:pt x="34960" y="142875"/>
                  <a:pt x="28575" y="136490"/>
                  <a:pt x="28575" y="128588"/>
                </a:cubicBezTo>
                <a:lnTo>
                  <a:pt x="28575" y="57150"/>
                </a:lnTo>
                <a:cubicBezTo>
                  <a:pt x="28575" y="49247"/>
                  <a:pt x="34960" y="42863"/>
                  <a:pt x="42863" y="4286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3739039" y="5410200"/>
            <a:ext cx="1076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Browser Cache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3743801" y="5638800"/>
            <a:ext cx="1066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Check First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941933" y="51625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38" name="Shape 36"/>
          <p:cNvSpPr/>
          <p:nvPr/>
        </p:nvSpPr>
        <p:spPr>
          <a:xfrm>
            <a:off x="7441882" y="47244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39" name="Shape 37"/>
          <p:cNvSpPr/>
          <p:nvPr/>
        </p:nvSpPr>
        <p:spPr>
          <a:xfrm>
            <a:off x="7646670" y="49149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71438"/>
                </a:lnTo>
                <a:cubicBezTo>
                  <a:pt x="0" y="87198"/>
                  <a:pt x="12814" y="100013"/>
                  <a:pt x="28575" y="100013"/>
                </a:cubicBezTo>
                <a:lnTo>
                  <a:pt x="171450" y="100013"/>
                </a:lnTo>
                <a:cubicBezTo>
                  <a:pt x="187211" y="100013"/>
                  <a:pt x="200025" y="87198"/>
                  <a:pt x="200025" y="71438"/>
                </a:cubicBezTo>
                <a:lnTo>
                  <a:pt x="200025" y="42863"/>
                </a:lnTo>
                <a:cubicBezTo>
                  <a:pt x="200025" y="27102"/>
                  <a:pt x="187211" y="14288"/>
                  <a:pt x="171450" y="14288"/>
                </a:cubicBezTo>
                <a:lnTo>
                  <a:pt x="28575" y="14288"/>
                </a:lnTo>
                <a:close/>
                <a:moveTo>
                  <a:pt x="125016" y="46434"/>
                </a:moveTo>
                <a:cubicBezTo>
                  <a:pt x="130930" y="46434"/>
                  <a:pt x="135731" y="51236"/>
                  <a:pt x="135731" y="57150"/>
                </a:cubicBezTo>
                <a:cubicBezTo>
                  <a:pt x="135731" y="63064"/>
                  <a:pt x="130930" y="67866"/>
                  <a:pt x="125016" y="67866"/>
                </a:cubicBezTo>
                <a:cubicBezTo>
                  <a:pt x="119102" y="67866"/>
                  <a:pt x="114300" y="63064"/>
                  <a:pt x="114300" y="57150"/>
                </a:cubicBezTo>
                <a:cubicBezTo>
                  <a:pt x="114300" y="51236"/>
                  <a:pt x="119102" y="46434"/>
                  <a:pt x="125016" y="46434"/>
                </a:cubicBezTo>
                <a:close/>
                <a:moveTo>
                  <a:pt x="150019" y="57150"/>
                </a:moveTo>
                <a:cubicBezTo>
                  <a:pt x="150019" y="51236"/>
                  <a:pt x="154820" y="46434"/>
                  <a:pt x="160734" y="46434"/>
                </a:cubicBezTo>
                <a:cubicBezTo>
                  <a:pt x="166648" y="46434"/>
                  <a:pt x="171450" y="51236"/>
                  <a:pt x="171450" y="57150"/>
                </a:cubicBezTo>
                <a:cubicBezTo>
                  <a:pt x="171450" y="63064"/>
                  <a:pt x="166648" y="67866"/>
                  <a:pt x="160734" y="67866"/>
                </a:cubicBezTo>
                <a:cubicBezTo>
                  <a:pt x="154820" y="67866"/>
                  <a:pt x="150019" y="63064"/>
                  <a:pt x="150019" y="57150"/>
                </a:cubicBezTo>
                <a:close/>
                <a:moveTo>
                  <a:pt x="28575" y="128588"/>
                </a:moveTo>
                <a:cubicBezTo>
                  <a:pt x="12814" y="128588"/>
                  <a:pt x="0" y="141402"/>
                  <a:pt x="0" y="157163"/>
                </a:cubicBez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171450" y="214313"/>
                </a:lnTo>
                <a:cubicBezTo>
                  <a:pt x="187211" y="214313"/>
                  <a:pt x="200025" y="201498"/>
                  <a:pt x="200025" y="185738"/>
                </a:cubicBezTo>
                <a:lnTo>
                  <a:pt x="200025" y="157163"/>
                </a:lnTo>
                <a:cubicBezTo>
                  <a:pt x="200025" y="141402"/>
                  <a:pt x="187211" y="128588"/>
                  <a:pt x="171450" y="128588"/>
                </a:cubicBezTo>
                <a:lnTo>
                  <a:pt x="28575" y="128588"/>
                </a:lnTo>
                <a:close/>
                <a:moveTo>
                  <a:pt x="125016" y="160734"/>
                </a:moveTo>
                <a:cubicBezTo>
                  <a:pt x="130930" y="160734"/>
                  <a:pt x="135731" y="165536"/>
                  <a:pt x="135731" y="171450"/>
                </a:cubicBezTo>
                <a:cubicBezTo>
                  <a:pt x="135731" y="177364"/>
                  <a:pt x="130930" y="182166"/>
                  <a:pt x="125016" y="182166"/>
                </a:cubicBezTo>
                <a:cubicBezTo>
                  <a:pt x="119102" y="182166"/>
                  <a:pt x="114300" y="177364"/>
                  <a:pt x="114300" y="171450"/>
                </a:cubicBezTo>
                <a:cubicBezTo>
                  <a:pt x="114300" y="165536"/>
                  <a:pt x="119102" y="160734"/>
                  <a:pt x="125016" y="160734"/>
                </a:cubicBezTo>
                <a:close/>
                <a:moveTo>
                  <a:pt x="150019" y="171450"/>
                </a:moveTo>
                <a:cubicBezTo>
                  <a:pt x="150019" y="165536"/>
                  <a:pt x="154820" y="160734"/>
                  <a:pt x="160734" y="160734"/>
                </a:cubicBezTo>
                <a:cubicBezTo>
                  <a:pt x="166648" y="160734"/>
                  <a:pt x="171450" y="165536"/>
                  <a:pt x="171450" y="171450"/>
                </a:cubicBezTo>
                <a:cubicBezTo>
                  <a:pt x="171450" y="177364"/>
                  <a:pt x="166648" y="182166"/>
                  <a:pt x="160734" y="182166"/>
                </a:cubicBezTo>
                <a:cubicBezTo>
                  <a:pt x="154820" y="182166"/>
                  <a:pt x="150019" y="177364"/>
                  <a:pt x="150019" y="17145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7297103" y="5410200"/>
            <a:ext cx="895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Edge Cache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301865" y="5638800"/>
            <a:ext cx="885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Check Second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9322951" y="51625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43" name="Shape 41"/>
          <p:cNvSpPr/>
          <p:nvPr/>
        </p:nvSpPr>
        <p:spPr>
          <a:xfrm>
            <a:off x="10844451" y="47244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6A7282"/>
          </a:solidFill>
          <a:ln/>
        </p:spPr>
      </p:sp>
      <p:sp>
        <p:nvSpPr>
          <p:cNvPr id="44" name="Shape 42"/>
          <p:cNvSpPr/>
          <p:nvPr/>
        </p:nvSpPr>
        <p:spPr>
          <a:xfrm>
            <a:off x="11049238" y="49149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00025" y="91886"/>
                </a:moveTo>
                <a:cubicBezTo>
                  <a:pt x="193417" y="96262"/>
                  <a:pt x="185827" y="99789"/>
                  <a:pt x="177924" y="102602"/>
                </a:cubicBezTo>
                <a:cubicBezTo>
                  <a:pt x="156939" y="110103"/>
                  <a:pt x="129391" y="114300"/>
                  <a:pt x="100013" y="114300"/>
                </a:cubicBezTo>
                <a:cubicBezTo>
                  <a:pt x="70634" y="114300"/>
                  <a:pt x="43041" y="110058"/>
                  <a:pt x="22101" y="102602"/>
                </a:cubicBezTo>
                <a:cubicBezTo>
                  <a:pt x="14243" y="99789"/>
                  <a:pt x="6608" y="96262"/>
                  <a:pt x="0" y="91886"/>
                </a:cubicBezTo>
                <a:lnTo>
                  <a:pt x="0" y="128588"/>
                </a:lnTo>
                <a:cubicBezTo>
                  <a:pt x="0" y="148322"/>
                  <a:pt x="44782" y="164306"/>
                  <a:pt x="100013" y="164306"/>
                </a:cubicBezTo>
                <a:cubicBezTo>
                  <a:pt x="155243" y="164306"/>
                  <a:pt x="200025" y="148322"/>
                  <a:pt x="200025" y="128588"/>
                </a:cubicBezTo>
                <a:lnTo>
                  <a:pt x="200025" y="91886"/>
                </a:lnTo>
                <a:close/>
                <a:moveTo>
                  <a:pt x="200025" y="57150"/>
                </a:moveTo>
                <a:lnTo>
                  <a:pt x="200025" y="35719"/>
                </a:lnTo>
                <a:cubicBezTo>
                  <a:pt x="200025" y="15984"/>
                  <a:pt x="155243" y="0"/>
                  <a:pt x="100013" y="0"/>
                </a:cubicBezTo>
                <a:cubicBezTo>
                  <a:pt x="44782" y="0"/>
                  <a:pt x="0" y="15984"/>
                  <a:pt x="0" y="35719"/>
                </a:cubicBezTo>
                <a:lnTo>
                  <a:pt x="0" y="57150"/>
                </a:lnTo>
                <a:cubicBezTo>
                  <a:pt x="0" y="76885"/>
                  <a:pt x="44782" y="92869"/>
                  <a:pt x="100013" y="92869"/>
                </a:cubicBezTo>
                <a:cubicBezTo>
                  <a:pt x="155243" y="92869"/>
                  <a:pt x="200025" y="76885"/>
                  <a:pt x="200025" y="57150"/>
                </a:cubicBezTo>
                <a:close/>
                <a:moveTo>
                  <a:pt x="177924" y="174040"/>
                </a:moveTo>
                <a:cubicBezTo>
                  <a:pt x="156984" y="181496"/>
                  <a:pt x="129436" y="185738"/>
                  <a:pt x="100013" y="185738"/>
                </a:cubicBezTo>
                <a:cubicBezTo>
                  <a:pt x="70589" y="185738"/>
                  <a:pt x="43041" y="181496"/>
                  <a:pt x="22101" y="174040"/>
                </a:cubicBezTo>
                <a:cubicBezTo>
                  <a:pt x="14243" y="171227"/>
                  <a:pt x="6608" y="167700"/>
                  <a:pt x="0" y="163324"/>
                </a:cubicBezTo>
                <a:lnTo>
                  <a:pt x="0" y="192881"/>
                </a:lnTo>
                <a:cubicBezTo>
                  <a:pt x="0" y="212616"/>
                  <a:pt x="44782" y="228600"/>
                  <a:pt x="100013" y="228600"/>
                </a:cubicBezTo>
                <a:cubicBezTo>
                  <a:pt x="155243" y="228600"/>
                  <a:pt x="200025" y="212616"/>
                  <a:pt x="200025" y="192881"/>
                </a:cubicBezTo>
                <a:lnTo>
                  <a:pt x="200025" y="163324"/>
                </a:lnTo>
                <a:cubicBezTo>
                  <a:pt x="193417" y="167700"/>
                  <a:pt x="185827" y="171227"/>
                  <a:pt x="177924" y="17404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10678120" y="5410200"/>
            <a:ext cx="942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Origin Server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0682883" y="5638800"/>
            <a:ext cx="933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Last Resort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D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edia.istockphoto.com/09ff630d004a2b075c042c57275ca46b7981d71b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D1F2B"/>
              </a:gs>
              <a:gs pos="50000">
                <a:srgbClr val="1D1F2B">
                  <a:alpha val="9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1743194"/>
            <a:ext cx="1847850" cy="533400"/>
          </a:xfrm>
          <a:custGeom>
            <a:avLst/>
            <a:gdLst/>
            <a:ahLst/>
            <a:cxnLst/>
            <a:rect l="l" t="t" r="r" b="b"/>
            <a:pathLst>
              <a:path w="1847850" h="533400">
                <a:moveTo>
                  <a:pt x="76202" y="0"/>
                </a:moveTo>
                <a:lnTo>
                  <a:pt x="1771648" y="0"/>
                </a:lnTo>
                <a:cubicBezTo>
                  <a:pt x="1813733" y="0"/>
                  <a:pt x="1847850" y="34117"/>
                  <a:pt x="1847850" y="76202"/>
                </a:cubicBezTo>
                <a:lnTo>
                  <a:pt x="1847850" y="457198"/>
                </a:lnTo>
                <a:cubicBezTo>
                  <a:pt x="1847850" y="499283"/>
                  <a:pt x="1813733" y="533400"/>
                  <a:pt x="177164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0A4B5"/>
          </a:solidFill>
          <a:ln/>
        </p:spPr>
      </p:sp>
      <p:sp>
        <p:nvSpPr>
          <p:cNvPr id="5" name="Text 2"/>
          <p:cNvSpPr/>
          <p:nvPr/>
        </p:nvSpPr>
        <p:spPr>
          <a:xfrm>
            <a:off x="609600" y="1880355"/>
            <a:ext cx="1501973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spc="9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02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505075"/>
            <a:ext cx="11715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Default Cache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Behavior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4162425"/>
            <a:ext cx="1524000" cy="38100"/>
          </a:xfrm>
          <a:custGeom>
            <a:avLst/>
            <a:gdLst/>
            <a:ahLst/>
            <a:cxnLst/>
            <a:rect l="l" t="t" r="r" b="b"/>
            <a:pathLst>
              <a:path w="1524000" h="38100">
                <a:moveTo>
                  <a:pt x="0" y="0"/>
                </a:moveTo>
                <a:lnTo>
                  <a:pt x="1524000" y="0"/>
                </a:lnTo>
                <a:lnTo>
                  <a:pt x="1524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A4B5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4505325"/>
            <a:ext cx="65151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what Cloudflare caches automatically and the default time-to-live settings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spc="50" kern="0" dirty="0">
                <a:solidFill>
                  <a:srgbClr val="F481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DEFAULT BEHAVIOR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1D1F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Default Cached File Extensions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952500"/>
            <a:ext cx="11628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Cloudflare caches these file types automatically based on extension (not MIME type)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675" y="1304925"/>
            <a:ext cx="2808288" cy="577850"/>
          </a:xfrm>
          <a:custGeom>
            <a:avLst/>
            <a:gdLst/>
            <a:ahLst/>
            <a:cxnLst/>
            <a:rect l="l" t="t" r="r" b="b"/>
            <a:pathLst>
              <a:path w="2808288" h="577850">
                <a:moveTo>
                  <a:pt x="63500" y="0"/>
                </a:moveTo>
                <a:lnTo>
                  <a:pt x="2744788" y="0"/>
                </a:lnTo>
                <a:cubicBezTo>
                  <a:pt x="2779858" y="0"/>
                  <a:pt x="2808288" y="28430"/>
                  <a:pt x="2808288" y="63500"/>
                </a:cubicBezTo>
                <a:lnTo>
                  <a:pt x="2808288" y="514350"/>
                </a:lnTo>
                <a:cubicBezTo>
                  <a:pt x="2808288" y="549420"/>
                  <a:pt x="2779858" y="577850"/>
                  <a:pt x="2744788" y="577850"/>
                </a:cubicBezTo>
                <a:lnTo>
                  <a:pt x="63500" y="577850"/>
                </a:lnTo>
                <a:cubicBezTo>
                  <a:pt x="28430" y="577850"/>
                  <a:pt x="0" y="549420"/>
                  <a:pt x="0" y="5143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F48120">
              <a:alpha val="10196"/>
            </a:srgbClr>
          </a:solidFill>
          <a:ln w="10160">
            <a:solidFill>
              <a:srgbClr val="F48120">
                <a:alpha val="30196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3381" y="1403352"/>
            <a:ext cx="2682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F481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7Z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91319" y="1625602"/>
            <a:ext cx="2667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Archive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33738" y="1304925"/>
            <a:ext cx="2808288" cy="577850"/>
          </a:xfrm>
          <a:custGeom>
            <a:avLst/>
            <a:gdLst/>
            <a:ahLst/>
            <a:cxnLst/>
            <a:rect l="l" t="t" r="r" b="b"/>
            <a:pathLst>
              <a:path w="2808288" h="577850">
                <a:moveTo>
                  <a:pt x="63500" y="0"/>
                </a:moveTo>
                <a:lnTo>
                  <a:pt x="2744788" y="0"/>
                </a:lnTo>
                <a:cubicBezTo>
                  <a:pt x="2779858" y="0"/>
                  <a:pt x="2808288" y="28430"/>
                  <a:pt x="2808288" y="63500"/>
                </a:cubicBezTo>
                <a:lnTo>
                  <a:pt x="2808288" y="514350"/>
                </a:lnTo>
                <a:cubicBezTo>
                  <a:pt x="2808288" y="549420"/>
                  <a:pt x="2779858" y="577850"/>
                  <a:pt x="2744788" y="577850"/>
                </a:cubicBezTo>
                <a:lnTo>
                  <a:pt x="63500" y="577850"/>
                </a:lnTo>
                <a:cubicBezTo>
                  <a:pt x="28430" y="577850"/>
                  <a:pt x="0" y="549420"/>
                  <a:pt x="0" y="5143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F48120">
              <a:alpha val="10196"/>
            </a:srgbClr>
          </a:solidFill>
          <a:ln w="10160">
            <a:solidFill>
              <a:srgbClr val="F48120">
                <a:alpha val="30196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6444" y="1403352"/>
            <a:ext cx="2682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F481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AVI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304381" y="1625602"/>
            <a:ext cx="2667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Video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46800" y="1304925"/>
            <a:ext cx="2808288" cy="577850"/>
          </a:xfrm>
          <a:custGeom>
            <a:avLst/>
            <a:gdLst/>
            <a:ahLst/>
            <a:cxnLst/>
            <a:rect l="l" t="t" r="r" b="b"/>
            <a:pathLst>
              <a:path w="2808288" h="577850">
                <a:moveTo>
                  <a:pt x="63500" y="0"/>
                </a:moveTo>
                <a:lnTo>
                  <a:pt x="2744788" y="0"/>
                </a:lnTo>
                <a:cubicBezTo>
                  <a:pt x="2779858" y="0"/>
                  <a:pt x="2808288" y="28430"/>
                  <a:pt x="2808288" y="63500"/>
                </a:cubicBezTo>
                <a:lnTo>
                  <a:pt x="2808288" y="514350"/>
                </a:lnTo>
                <a:cubicBezTo>
                  <a:pt x="2808288" y="549420"/>
                  <a:pt x="2779858" y="577850"/>
                  <a:pt x="2744788" y="577850"/>
                </a:cubicBezTo>
                <a:lnTo>
                  <a:pt x="63500" y="577850"/>
                </a:lnTo>
                <a:cubicBezTo>
                  <a:pt x="28430" y="577850"/>
                  <a:pt x="0" y="549420"/>
                  <a:pt x="0" y="5143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F48120">
              <a:alpha val="10196"/>
            </a:srgbClr>
          </a:solidFill>
          <a:ln w="10160">
            <a:solidFill>
              <a:srgbClr val="F48120">
                <a:alpha val="30196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09506" y="1403352"/>
            <a:ext cx="2682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F481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AVIF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17444" y="1625602"/>
            <a:ext cx="2667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Image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059863" y="1304925"/>
            <a:ext cx="2808288" cy="577850"/>
          </a:xfrm>
          <a:custGeom>
            <a:avLst/>
            <a:gdLst/>
            <a:ahLst/>
            <a:cxnLst/>
            <a:rect l="l" t="t" r="r" b="b"/>
            <a:pathLst>
              <a:path w="2808288" h="577850">
                <a:moveTo>
                  <a:pt x="63500" y="0"/>
                </a:moveTo>
                <a:lnTo>
                  <a:pt x="2744788" y="0"/>
                </a:lnTo>
                <a:cubicBezTo>
                  <a:pt x="2779858" y="0"/>
                  <a:pt x="2808288" y="28430"/>
                  <a:pt x="2808288" y="63500"/>
                </a:cubicBezTo>
                <a:lnTo>
                  <a:pt x="2808288" y="514350"/>
                </a:lnTo>
                <a:cubicBezTo>
                  <a:pt x="2808288" y="549420"/>
                  <a:pt x="2779858" y="577850"/>
                  <a:pt x="2744788" y="577850"/>
                </a:cubicBezTo>
                <a:lnTo>
                  <a:pt x="63500" y="577850"/>
                </a:lnTo>
                <a:cubicBezTo>
                  <a:pt x="28430" y="577850"/>
                  <a:pt x="0" y="549420"/>
                  <a:pt x="0" y="5143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F48120">
              <a:alpha val="10196"/>
            </a:srgbClr>
          </a:solidFill>
          <a:ln w="10160">
            <a:solidFill>
              <a:srgbClr val="F48120">
                <a:alpha val="30196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22569" y="1403352"/>
            <a:ext cx="2682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F481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APK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30507" y="1625602"/>
            <a:ext cx="2667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Android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20675" y="1984376"/>
            <a:ext cx="2808288" cy="577850"/>
          </a:xfrm>
          <a:custGeom>
            <a:avLst/>
            <a:gdLst/>
            <a:ahLst/>
            <a:cxnLst/>
            <a:rect l="l" t="t" r="r" b="b"/>
            <a:pathLst>
              <a:path w="2808288" h="577850">
                <a:moveTo>
                  <a:pt x="63500" y="0"/>
                </a:moveTo>
                <a:lnTo>
                  <a:pt x="2744788" y="0"/>
                </a:lnTo>
                <a:cubicBezTo>
                  <a:pt x="2779858" y="0"/>
                  <a:pt x="2808288" y="28430"/>
                  <a:pt x="2808288" y="63500"/>
                </a:cubicBezTo>
                <a:lnTo>
                  <a:pt x="2808288" y="514350"/>
                </a:lnTo>
                <a:cubicBezTo>
                  <a:pt x="2808288" y="549420"/>
                  <a:pt x="2779858" y="577850"/>
                  <a:pt x="2744788" y="577850"/>
                </a:cubicBezTo>
                <a:lnTo>
                  <a:pt x="63500" y="577850"/>
                </a:lnTo>
                <a:cubicBezTo>
                  <a:pt x="28430" y="577850"/>
                  <a:pt x="0" y="549420"/>
                  <a:pt x="0" y="5143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F48120">
              <a:alpha val="10196"/>
            </a:srgbClr>
          </a:solidFill>
          <a:ln w="10160">
            <a:solidFill>
              <a:srgbClr val="F48120">
                <a:alpha val="30196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3381" y="2082799"/>
            <a:ext cx="2682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F481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91319" y="2305049"/>
            <a:ext cx="2667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Binary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233738" y="1984376"/>
            <a:ext cx="2808288" cy="577850"/>
          </a:xfrm>
          <a:custGeom>
            <a:avLst/>
            <a:gdLst/>
            <a:ahLst/>
            <a:cxnLst/>
            <a:rect l="l" t="t" r="r" b="b"/>
            <a:pathLst>
              <a:path w="2808288" h="577850">
                <a:moveTo>
                  <a:pt x="63500" y="0"/>
                </a:moveTo>
                <a:lnTo>
                  <a:pt x="2744788" y="0"/>
                </a:lnTo>
                <a:cubicBezTo>
                  <a:pt x="2779858" y="0"/>
                  <a:pt x="2808288" y="28430"/>
                  <a:pt x="2808288" y="63500"/>
                </a:cubicBezTo>
                <a:lnTo>
                  <a:pt x="2808288" y="514350"/>
                </a:lnTo>
                <a:cubicBezTo>
                  <a:pt x="2808288" y="549420"/>
                  <a:pt x="2779858" y="577850"/>
                  <a:pt x="2744788" y="577850"/>
                </a:cubicBezTo>
                <a:lnTo>
                  <a:pt x="63500" y="577850"/>
                </a:lnTo>
                <a:cubicBezTo>
                  <a:pt x="28430" y="577850"/>
                  <a:pt x="0" y="549420"/>
                  <a:pt x="0" y="5143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F48120">
              <a:alpha val="10196"/>
            </a:srgbClr>
          </a:solidFill>
          <a:ln w="10160">
            <a:solidFill>
              <a:srgbClr val="F48120">
                <a:alpha val="30196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6444" y="2082799"/>
            <a:ext cx="2682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F481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BMP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304381" y="2305049"/>
            <a:ext cx="2667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Image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46800" y="1984376"/>
            <a:ext cx="2808288" cy="577850"/>
          </a:xfrm>
          <a:custGeom>
            <a:avLst/>
            <a:gdLst/>
            <a:ahLst/>
            <a:cxnLst/>
            <a:rect l="l" t="t" r="r" b="b"/>
            <a:pathLst>
              <a:path w="2808288" h="577850">
                <a:moveTo>
                  <a:pt x="63500" y="0"/>
                </a:moveTo>
                <a:lnTo>
                  <a:pt x="2744788" y="0"/>
                </a:lnTo>
                <a:cubicBezTo>
                  <a:pt x="2779858" y="0"/>
                  <a:pt x="2808288" y="28430"/>
                  <a:pt x="2808288" y="63500"/>
                </a:cubicBezTo>
                <a:lnTo>
                  <a:pt x="2808288" y="514350"/>
                </a:lnTo>
                <a:cubicBezTo>
                  <a:pt x="2808288" y="549420"/>
                  <a:pt x="2779858" y="577850"/>
                  <a:pt x="2744788" y="577850"/>
                </a:cubicBezTo>
                <a:lnTo>
                  <a:pt x="63500" y="577850"/>
                </a:lnTo>
                <a:cubicBezTo>
                  <a:pt x="28430" y="577850"/>
                  <a:pt x="0" y="549420"/>
                  <a:pt x="0" y="5143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F48120">
              <a:alpha val="10196"/>
            </a:srgbClr>
          </a:solidFill>
          <a:ln w="10160">
            <a:solidFill>
              <a:srgbClr val="F48120">
                <a:alpha val="30196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09506" y="2082799"/>
            <a:ext cx="2682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F481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BZ2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217444" y="2305049"/>
            <a:ext cx="2667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Archive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059863" y="1984376"/>
            <a:ext cx="2808288" cy="577850"/>
          </a:xfrm>
          <a:custGeom>
            <a:avLst/>
            <a:gdLst/>
            <a:ahLst/>
            <a:cxnLst/>
            <a:rect l="l" t="t" r="r" b="b"/>
            <a:pathLst>
              <a:path w="2808288" h="577850">
                <a:moveTo>
                  <a:pt x="63500" y="0"/>
                </a:moveTo>
                <a:lnTo>
                  <a:pt x="2744788" y="0"/>
                </a:lnTo>
                <a:cubicBezTo>
                  <a:pt x="2779858" y="0"/>
                  <a:pt x="2808288" y="28430"/>
                  <a:pt x="2808288" y="63500"/>
                </a:cubicBezTo>
                <a:lnTo>
                  <a:pt x="2808288" y="514350"/>
                </a:lnTo>
                <a:cubicBezTo>
                  <a:pt x="2808288" y="549420"/>
                  <a:pt x="2779858" y="577850"/>
                  <a:pt x="2744788" y="577850"/>
                </a:cubicBezTo>
                <a:lnTo>
                  <a:pt x="63500" y="577850"/>
                </a:lnTo>
                <a:cubicBezTo>
                  <a:pt x="28430" y="577850"/>
                  <a:pt x="0" y="549420"/>
                  <a:pt x="0" y="5143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F48120">
              <a:alpha val="10196"/>
            </a:srgbClr>
          </a:solidFill>
          <a:ln w="10160">
            <a:solidFill>
              <a:srgbClr val="F48120">
                <a:alpha val="30196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22569" y="2082799"/>
            <a:ext cx="2682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F481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CLASS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130507" y="2305049"/>
            <a:ext cx="2667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Java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20675" y="2663827"/>
            <a:ext cx="2808288" cy="577850"/>
          </a:xfrm>
          <a:custGeom>
            <a:avLst/>
            <a:gdLst/>
            <a:ahLst/>
            <a:cxnLst/>
            <a:rect l="l" t="t" r="r" b="b"/>
            <a:pathLst>
              <a:path w="2808288" h="577850">
                <a:moveTo>
                  <a:pt x="63500" y="0"/>
                </a:moveTo>
                <a:lnTo>
                  <a:pt x="2744788" y="0"/>
                </a:lnTo>
                <a:cubicBezTo>
                  <a:pt x="2779858" y="0"/>
                  <a:pt x="2808288" y="28430"/>
                  <a:pt x="2808288" y="63500"/>
                </a:cubicBezTo>
                <a:lnTo>
                  <a:pt x="2808288" y="514350"/>
                </a:lnTo>
                <a:cubicBezTo>
                  <a:pt x="2808288" y="549420"/>
                  <a:pt x="2779858" y="577850"/>
                  <a:pt x="2744788" y="577850"/>
                </a:cubicBezTo>
                <a:lnTo>
                  <a:pt x="63500" y="577850"/>
                </a:lnTo>
                <a:cubicBezTo>
                  <a:pt x="28430" y="577850"/>
                  <a:pt x="0" y="549420"/>
                  <a:pt x="0" y="5143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00A4B5">
              <a:alpha val="10196"/>
            </a:srgbClr>
          </a:solidFill>
          <a:ln w="10160">
            <a:solidFill>
              <a:srgbClr val="00A4B5">
                <a:alpha val="30196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3381" y="2762250"/>
            <a:ext cx="2682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00A4B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CSS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91319" y="2984500"/>
            <a:ext cx="2667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Stylesheet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233738" y="2663827"/>
            <a:ext cx="2808288" cy="577850"/>
          </a:xfrm>
          <a:custGeom>
            <a:avLst/>
            <a:gdLst/>
            <a:ahLst/>
            <a:cxnLst/>
            <a:rect l="l" t="t" r="r" b="b"/>
            <a:pathLst>
              <a:path w="2808288" h="577850">
                <a:moveTo>
                  <a:pt x="63500" y="0"/>
                </a:moveTo>
                <a:lnTo>
                  <a:pt x="2744788" y="0"/>
                </a:lnTo>
                <a:cubicBezTo>
                  <a:pt x="2779858" y="0"/>
                  <a:pt x="2808288" y="28430"/>
                  <a:pt x="2808288" y="63500"/>
                </a:cubicBezTo>
                <a:lnTo>
                  <a:pt x="2808288" y="514350"/>
                </a:lnTo>
                <a:cubicBezTo>
                  <a:pt x="2808288" y="549420"/>
                  <a:pt x="2779858" y="577850"/>
                  <a:pt x="2744788" y="577850"/>
                </a:cubicBezTo>
                <a:lnTo>
                  <a:pt x="63500" y="577850"/>
                </a:lnTo>
                <a:cubicBezTo>
                  <a:pt x="28430" y="577850"/>
                  <a:pt x="0" y="549420"/>
                  <a:pt x="0" y="5143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F48120">
              <a:alpha val="10196"/>
            </a:srgbClr>
          </a:solidFill>
          <a:ln w="10160">
            <a:solidFill>
              <a:srgbClr val="F48120">
                <a:alpha val="30196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96444" y="2762250"/>
            <a:ext cx="2682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F481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CSV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304381" y="2984500"/>
            <a:ext cx="2667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146800" y="2663827"/>
            <a:ext cx="2808288" cy="577850"/>
          </a:xfrm>
          <a:custGeom>
            <a:avLst/>
            <a:gdLst/>
            <a:ahLst/>
            <a:cxnLst/>
            <a:rect l="l" t="t" r="r" b="b"/>
            <a:pathLst>
              <a:path w="2808288" h="577850">
                <a:moveTo>
                  <a:pt x="63500" y="0"/>
                </a:moveTo>
                <a:lnTo>
                  <a:pt x="2744788" y="0"/>
                </a:lnTo>
                <a:cubicBezTo>
                  <a:pt x="2779858" y="0"/>
                  <a:pt x="2808288" y="28430"/>
                  <a:pt x="2808288" y="63500"/>
                </a:cubicBezTo>
                <a:lnTo>
                  <a:pt x="2808288" y="514350"/>
                </a:lnTo>
                <a:cubicBezTo>
                  <a:pt x="2808288" y="549420"/>
                  <a:pt x="2779858" y="577850"/>
                  <a:pt x="2744788" y="577850"/>
                </a:cubicBezTo>
                <a:lnTo>
                  <a:pt x="63500" y="577850"/>
                </a:lnTo>
                <a:cubicBezTo>
                  <a:pt x="28430" y="577850"/>
                  <a:pt x="0" y="549420"/>
                  <a:pt x="0" y="5143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F48120">
              <a:alpha val="10196"/>
            </a:srgbClr>
          </a:solidFill>
          <a:ln w="10160">
            <a:solidFill>
              <a:srgbClr val="F48120">
                <a:alpha val="30196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09506" y="2762250"/>
            <a:ext cx="2682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F481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217444" y="2984500"/>
            <a:ext cx="2667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Document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9059863" y="2663827"/>
            <a:ext cx="2808288" cy="577850"/>
          </a:xfrm>
          <a:custGeom>
            <a:avLst/>
            <a:gdLst/>
            <a:ahLst/>
            <a:cxnLst/>
            <a:rect l="l" t="t" r="r" b="b"/>
            <a:pathLst>
              <a:path w="2808288" h="577850">
                <a:moveTo>
                  <a:pt x="63500" y="0"/>
                </a:moveTo>
                <a:lnTo>
                  <a:pt x="2744788" y="0"/>
                </a:lnTo>
                <a:cubicBezTo>
                  <a:pt x="2779858" y="0"/>
                  <a:pt x="2808288" y="28430"/>
                  <a:pt x="2808288" y="63500"/>
                </a:cubicBezTo>
                <a:lnTo>
                  <a:pt x="2808288" y="514350"/>
                </a:lnTo>
                <a:cubicBezTo>
                  <a:pt x="2808288" y="549420"/>
                  <a:pt x="2779858" y="577850"/>
                  <a:pt x="2744788" y="577850"/>
                </a:cubicBezTo>
                <a:lnTo>
                  <a:pt x="63500" y="577850"/>
                </a:lnTo>
                <a:cubicBezTo>
                  <a:pt x="28430" y="577850"/>
                  <a:pt x="0" y="549420"/>
                  <a:pt x="0" y="5143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F48120">
              <a:alpha val="10196"/>
            </a:srgbClr>
          </a:solidFill>
          <a:ln w="10160">
            <a:solidFill>
              <a:srgbClr val="F48120">
                <a:alpha val="30196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22569" y="2762250"/>
            <a:ext cx="2682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F481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DOCX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130507" y="2984500"/>
            <a:ext cx="2667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Document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20675" y="3343277"/>
            <a:ext cx="2808288" cy="577850"/>
          </a:xfrm>
          <a:custGeom>
            <a:avLst/>
            <a:gdLst/>
            <a:ahLst/>
            <a:cxnLst/>
            <a:rect l="l" t="t" r="r" b="b"/>
            <a:pathLst>
              <a:path w="2808288" h="577850">
                <a:moveTo>
                  <a:pt x="63500" y="0"/>
                </a:moveTo>
                <a:lnTo>
                  <a:pt x="2744788" y="0"/>
                </a:lnTo>
                <a:cubicBezTo>
                  <a:pt x="2779858" y="0"/>
                  <a:pt x="2808288" y="28430"/>
                  <a:pt x="2808288" y="63500"/>
                </a:cubicBezTo>
                <a:lnTo>
                  <a:pt x="2808288" y="514350"/>
                </a:lnTo>
                <a:cubicBezTo>
                  <a:pt x="2808288" y="549420"/>
                  <a:pt x="2779858" y="577850"/>
                  <a:pt x="2744788" y="577850"/>
                </a:cubicBezTo>
                <a:lnTo>
                  <a:pt x="63500" y="577850"/>
                </a:lnTo>
                <a:cubicBezTo>
                  <a:pt x="28430" y="577850"/>
                  <a:pt x="0" y="549420"/>
                  <a:pt x="0" y="5143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F48120">
              <a:alpha val="10196"/>
            </a:srgbClr>
          </a:solidFill>
          <a:ln w="10160">
            <a:solidFill>
              <a:srgbClr val="F48120">
                <a:alpha val="30196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83381" y="3441701"/>
            <a:ext cx="2682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F481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DMG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391319" y="3663951"/>
            <a:ext cx="2667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macOS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3233738" y="3343277"/>
            <a:ext cx="2808288" cy="577850"/>
          </a:xfrm>
          <a:custGeom>
            <a:avLst/>
            <a:gdLst/>
            <a:ahLst/>
            <a:cxnLst/>
            <a:rect l="l" t="t" r="r" b="b"/>
            <a:pathLst>
              <a:path w="2808288" h="577850">
                <a:moveTo>
                  <a:pt x="63500" y="0"/>
                </a:moveTo>
                <a:lnTo>
                  <a:pt x="2744788" y="0"/>
                </a:lnTo>
                <a:cubicBezTo>
                  <a:pt x="2779858" y="0"/>
                  <a:pt x="2808288" y="28430"/>
                  <a:pt x="2808288" y="63500"/>
                </a:cubicBezTo>
                <a:lnTo>
                  <a:pt x="2808288" y="514350"/>
                </a:lnTo>
                <a:cubicBezTo>
                  <a:pt x="2808288" y="549420"/>
                  <a:pt x="2779858" y="577850"/>
                  <a:pt x="2744788" y="577850"/>
                </a:cubicBezTo>
                <a:lnTo>
                  <a:pt x="63500" y="577850"/>
                </a:lnTo>
                <a:cubicBezTo>
                  <a:pt x="28430" y="577850"/>
                  <a:pt x="0" y="549420"/>
                  <a:pt x="0" y="5143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F48120">
              <a:alpha val="10196"/>
            </a:srgbClr>
          </a:solidFill>
          <a:ln w="10160">
            <a:solidFill>
              <a:srgbClr val="F48120">
                <a:alpha val="30196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96444" y="3441701"/>
            <a:ext cx="2682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F481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EJS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3304381" y="3663951"/>
            <a:ext cx="2667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Template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146800" y="3343277"/>
            <a:ext cx="2808288" cy="577850"/>
          </a:xfrm>
          <a:custGeom>
            <a:avLst/>
            <a:gdLst/>
            <a:ahLst/>
            <a:cxnLst/>
            <a:rect l="l" t="t" r="r" b="b"/>
            <a:pathLst>
              <a:path w="2808288" h="577850">
                <a:moveTo>
                  <a:pt x="63500" y="0"/>
                </a:moveTo>
                <a:lnTo>
                  <a:pt x="2744788" y="0"/>
                </a:lnTo>
                <a:cubicBezTo>
                  <a:pt x="2779858" y="0"/>
                  <a:pt x="2808288" y="28430"/>
                  <a:pt x="2808288" y="63500"/>
                </a:cubicBezTo>
                <a:lnTo>
                  <a:pt x="2808288" y="514350"/>
                </a:lnTo>
                <a:cubicBezTo>
                  <a:pt x="2808288" y="549420"/>
                  <a:pt x="2779858" y="577850"/>
                  <a:pt x="2744788" y="577850"/>
                </a:cubicBezTo>
                <a:lnTo>
                  <a:pt x="63500" y="577850"/>
                </a:lnTo>
                <a:cubicBezTo>
                  <a:pt x="28430" y="577850"/>
                  <a:pt x="0" y="549420"/>
                  <a:pt x="0" y="5143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F48120">
              <a:alpha val="10196"/>
            </a:srgbClr>
          </a:solidFill>
          <a:ln w="10160">
            <a:solidFill>
              <a:srgbClr val="F48120">
                <a:alpha val="30196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09506" y="3441701"/>
            <a:ext cx="2682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F481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EOT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217444" y="3663951"/>
            <a:ext cx="2667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Font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9059863" y="3343277"/>
            <a:ext cx="2808288" cy="577850"/>
          </a:xfrm>
          <a:custGeom>
            <a:avLst/>
            <a:gdLst/>
            <a:ahLst/>
            <a:cxnLst/>
            <a:rect l="l" t="t" r="r" b="b"/>
            <a:pathLst>
              <a:path w="2808288" h="577850">
                <a:moveTo>
                  <a:pt x="63500" y="0"/>
                </a:moveTo>
                <a:lnTo>
                  <a:pt x="2744788" y="0"/>
                </a:lnTo>
                <a:cubicBezTo>
                  <a:pt x="2779858" y="0"/>
                  <a:pt x="2808288" y="28430"/>
                  <a:pt x="2808288" y="63500"/>
                </a:cubicBezTo>
                <a:lnTo>
                  <a:pt x="2808288" y="514350"/>
                </a:lnTo>
                <a:cubicBezTo>
                  <a:pt x="2808288" y="549420"/>
                  <a:pt x="2779858" y="577850"/>
                  <a:pt x="2744788" y="577850"/>
                </a:cubicBezTo>
                <a:lnTo>
                  <a:pt x="63500" y="577850"/>
                </a:lnTo>
                <a:cubicBezTo>
                  <a:pt x="28430" y="577850"/>
                  <a:pt x="0" y="549420"/>
                  <a:pt x="0" y="5143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F48120">
              <a:alpha val="10196"/>
            </a:srgbClr>
          </a:solidFill>
          <a:ln w="10160">
            <a:solidFill>
              <a:srgbClr val="F48120">
                <a:alpha val="30196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122569" y="3441701"/>
            <a:ext cx="2682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F481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EPS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9130507" y="3663951"/>
            <a:ext cx="2667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Image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320675" y="4022724"/>
            <a:ext cx="2808288" cy="577850"/>
          </a:xfrm>
          <a:custGeom>
            <a:avLst/>
            <a:gdLst/>
            <a:ahLst/>
            <a:cxnLst/>
            <a:rect l="l" t="t" r="r" b="b"/>
            <a:pathLst>
              <a:path w="2808288" h="577850">
                <a:moveTo>
                  <a:pt x="63500" y="0"/>
                </a:moveTo>
                <a:lnTo>
                  <a:pt x="2744788" y="0"/>
                </a:lnTo>
                <a:cubicBezTo>
                  <a:pt x="2779858" y="0"/>
                  <a:pt x="2808288" y="28430"/>
                  <a:pt x="2808288" y="63500"/>
                </a:cubicBezTo>
                <a:lnTo>
                  <a:pt x="2808288" y="514350"/>
                </a:lnTo>
                <a:cubicBezTo>
                  <a:pt x="2808288" y="549420"/>
                  <a:pt x="2779858" y="577850"/>
                  <a:pt x="2744788" y="577850"/>
                </a:cubicBezTo>
                <a:lnTo>
                  <a:pt x="63500" y="577850"/>
                </a:lnTo>
                <a:cubicBezTo>
                  <a:pt x="28430" y="577850"/>
                  <a:pt x="0" y="549420"/>
                  <a:pt x="0" y="5143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F48120">
              <a:alpha val="10196"/>
            </a:srgbClr>
          </a:solidFill>
          <a:ln w="10160">
            <a:solidFill>
              <a:srgbClr val="F48120">
                <a:alpha val="30196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83381" y="4121152"/>
            <a:ext cx="2682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F481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EXE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391319" y="4343402"/>
            <a:ext cx="2667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Executable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3233738" y="4022724"/>
            <a:ext cx="2808288" cy="577850"/>
          </a:xfrm>
          <a:custGeom>
            <a:avLst/>
            <a:gdLst/>
            <a:ahLst/>
            <a:cxnLst/>
            <a:rect l="l" t="t" r="r" b="b"/>
            <a:pathLst>
              <a:path w="2808288" h="577850">
                <a:moveTo>
                  <a:pt x="63500" y="0"/>
                </a:moveTo>
                <a:lnTo>
                  <a:pt x="2744788" y="0"/>
                </a:lnTo>
                <a:cubicBezTo>
                  <a:pt x="2779858" y="0"/>
                  <a:pt x="2808288" y="28430"/>
                  <a:pt x="2808288" y="63500"/>
                </a:cubicBezTo>
                <a:lnTo>
                  <a:pt x="2808288" y="514350"/>
                </a:lnTo>
                <a:cubicBezTo>
                  <a:pt x="2808288" y="549420"/>
                  <a:pt x="2779858" y="577850"/>
                  <a:pt x="2744788" y="577850"/>
                </a:cubicBezTo>
                <a:lnTo>
                  <a:pt x="63500" y="577850"/>
                </a:lnTo>
                <a:cubicBezTo>
                  <a:pt x="28430" y="577850"/>
                  <a:pt x="0" y="549420"/>
                  <a:pt x="0" y="5143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F48120">
              <a:alpha val="10196"/>
            </a:srgbClr>
          </a:solidFill>
          <a:ln w="10160">
            <a:solidFill>
              <a:srgbClr val="F48120">
                <a:alpha val="30196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296444" y="4121152"/>
            <a:ext cx="2682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F481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FLAC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3304381" y="4343402"/>
            <a:ext cx="2667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Audio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146800" y="4022724"/>
            <a:ext cx="2808288" cy="577850"/>
          </a:xfrm>
          <a:custGeom>
            <a:avLst/>
            <a:gdLst/>
            <a:ahLst/>
            <a:cxnLst/>
            <a:rect l="l" t="t" r="r" b="b"/>
            <a:pathLst>
              <a:path w="2808288" h="577850">
                <a:moveTo>
                  <a:pt x="63500" y="0"/>
                </a:moveTo>
                <a:lnTo>
                  <a:pt x="2744788" y="0"/>
                </a:lnTo>
                <a:cubicBezTo>
                  <a:pt x="2779858" y="0"/>
                  <a:pt x="2808288" y="28430"/>
                  <a:pt x="2808288" y="63500"/>
                </a:cubicBezTo>
                <a:lnTo>
                  <a:pt x="2808288" y="514350"/>
                </a:lnTo>
                <a:cubicBezTo>
                  <a:pt x="2808288" y="549420"/>
                  <a:pt x="2779858" y="577850"/>
                  <a:pt x="2744788" y="577850"/>
                </a:cubicBezTo>
                <a:lnTo>
                  <a:pt x="63500" y="577850"/>
                </a:lnTo>
                <a:cubicBezTo>
                  <a:pt x="28430" y="577850"/>
                  <a:pt x="0" y="549420"/>
                  <a:pt x="0" y="5143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F48120">
              <a:alpha val="10196"/>
            </a:srgbClr>
          </a:solidFill>
          <a:ln w="10160">
            <a:solidFill>
              <a:srgbClr val="F48120">
                <a:alpha val="30196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209506" y="4121152"/>
            <a:ext cx="2682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F481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GIF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217444" y="4343402"/>
            <a:ext cx="2667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Image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9059863" y="4022724"/>
            <a:ext cx="2808288" cy="577850"/>
          </a:xfrm>
          <a:custGeom>
            <a:avLst/>
            <a:gdLst/>
            <a:ahLst/>
            <a:cxnLst/>
            <a:rect l="l" t="t" r="r" b="b"/>
            <a:pathLst>
              <a:path w="2808288" h="577850">
                <a:moveTo>
                  <a:pt x="63500" y="0"/>
                </a:moveTo>
                <a:lnTo>
                  <a:pt x="2744788" y="0"/>
                </a:lnTo>
                <a:cubicBezTo>
                  <a:pt x="2779858" y="0"/>
                  <a:pt x="2808288" y="28430"/>
                  <a:pt x="2808288" y="63500"/>
                </a:cubicBezTo>
                <a:lnTo>
                  <a:pt x="2808288" y="514350"/>
                </a:lnTo>
                <a:cubicBezTo>
                  <a:pt x="2808288" y="549420"/>
                  <a:pt x="2779858" y="577850"/>
                  <a:pt x="2744788" y="577850"/>
                </a:cubicBezTo>
                <a:lnTo>
                  <a:pt x="63500" y="577850"/>
                </a:lnTo>
                <a:cubicBezTo>
                  <a:pt x="28430" y="577850"/>
                  <a:pt x="0" y="549420"/>
                  <a:pt x="0" y="5143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F48120">
              <a:alpha val="10196"/>
            </a:srgbClr>
          </a:solidFill>
          <a:ln w="10160">
            <a:solidFill>
              <a:srgbClr val="F48120">
                <a:alpha val="30196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122569" y="4121152"/>
            <a:ext cx="2682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F481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GZ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9130507" y="4343402"/>
            <a:ext cx="2667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Archive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320675" y="4702175"/>
            <a:ext cx="2808288" cy="577850"/>
          </a:xfrm>
          <a:custGeom>
            <a:avLst/>
            <a:gdLst/>
            <a:ahLst/>
            <a:cxnLst/>
            <a:rect l="l" t="t" r="r" b="b"/>
            <a:pathLst>
              <a:path w="2808288" h="577850">
                <a:moveTo>
                  <a:pt x="63500" y="0"/>
                </a:moveTo>
                <a:lnTo>
                  <a:pt x="2744788" y="0"/>
                </a:lnTo>
                <a:cubicBezTo>
                  <a:pt x="2779858" y="0"/>
                  <a:pt x="2808288" y="28430"/>
                  <a:pt x="2808288" y="63500"/>
                </a:cubicBezTo>
                <a:lnTo>
                  <a:pt x="2808288" y="514350"/>
                </a:lnTo>
                <a:cubicBezTo>
                  <a:pt x="2808288" y="549420"/>
                  <a:pt x="2779858" y="577850"/>
                  <a:pt x="2744788" y="577850"/>
                </a:cubicBezTo>
                <a:lnTo>
                  <a:pt x="63500" y="577850"/>
                </a:lnTo>
                <a:cubicBezTo>
                  <a:pt x="28430" y="577850"/>
                  <a:pt x="0" y="549420"/>
                  <a:pt x="0" y="5143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F48120">
              <a:alpha val="10196"/>
            </a:srgbClr>
          </a:solidFill>
          <a:ln w="10160">
            <a:solidFill>
              <a:srgbClr val="F48120">
                <a:alpha val="30196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83381" y="4800602"/>
            <a:ext cx="2682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F481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ICO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391319" y="5022852"/>
            <a:ext cx="2667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Icon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3233738" y="4702175"/>
            <a:ext cx="2808288" cy="577850"/>
          </a:xfrm>
          <a:custGeom>
            <a:avLst/>
            <a:gdLst/>
            <a:ahLst/>
            <a:cxnLst/>
            <a:rect l="l" t="t" r="r" b="b"/>
            <a:pathLst>
              <a:path w="2808288" h="577850">
                <a:moveTo>
                  <a:pt x="63500" y="0"/>
                </a:moveTo>
                <a:lnTo>
                  <a:pt x="2744788" y="0"/>
                </a:lnTo>
                <a:cubicBezTo>
                  <a:pt x="2779858" y="0"/>
                  <a:pt x="2808288" y="28430"/>
                  <a:pt x="2808288" y="63500"/>
                </a:cubicBezTo>
                <a:lnTo>
                  <a:pt x="2808288" y="514350"/>
                </a:lnTo>
                <a:cubicBezTo>
                  <a:pt x="2808288" y="549420"/>
                  <a:pt x="2779858" y="577850"/>
                  <a:pt x="2744788" y="577850"/>
                </a:cubicBezTo>
                <a:lnTo>
                  <a:pt x="63500" y="577850"/>
                </a:lnTo>
                <a:cubicBezTo>
                  <a:pt x="28430" y="577850"/>
                  <a:pt x="0" y="549420"/>
                  <a:pt x="0" y="5143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F48120">
              <a:alpha val="10196"/>
            </a:srgbClr>
          </a:solidFill>
          <a:ln w="10160">
            <a:solidFill>
              <a:srgbClr val="F48120">
                <a:alpha val="30196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296444" y="4800602"/>
            <a:ext cx="2682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F481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ISO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3304381" y="5022852"/>
            <a:ext cx="2667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Disk Image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6146800" y="4702175"/>
            <a:ext cx="2808288" cy="577850"/>
          </a:xfrm>
          <a:custGeom>
            <a:avLst/>
            <a:gdLst/>
            <a:ahLst/>
            <a:cxnLst/>
            <a:rect l="l" t="t" r="r" b="b"/>
            <a:pathLst>
              <a:path w="2808288" h="577850">
                <a:moveTo>
                  <a:pt x="63500" y="0"/>
                </a:moveTo>
                <a:lnTo>
                  <a:pt x="2744788" y="0"/>
                </a:lnTo>
                <a:cubicBezTo>
                  <a:pt x="2779858" y="0"/>
                  <a:pt x="2808288" y="28430"/>
                  <a:pt x="2808288" y="63500"/>
                </a:cubicBezTo>
                <a:lnTo>
                  <a:pt x="2808288" y="514350"/>
                </a:lnTo>
                <a:cubicBezTo>
                  <a:pt x="2808288" y="549420"/>
                  <a:pt x="2779858" y="577850"/>
                  <a:pt x="2744788" y="577850"/>
                </a:cubicBezTo>
                <a:lnTo>
                  <a:pt x="63500" y="577850"/>
                </a:lnTo>
                <a:cubicBezTo>
                  <a:pt x="28430" y="577850"/>
                  <a:pt x="0" y="549420"/>
                  <a:pt x="0" y="5143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F48120">
              <a:alpha val="10196"/>
            </a:srgbClr>
          </a:solidFill>
          <a:ln w="10160">
            <a:solidFill>
              <a:srgbClr val="F48120">
                <a:alpha val="30196"/>
              </a:srgbClr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209506" y="4800602"/>
            <a:ext cx="2682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F481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JAR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6217444" y="5022852"/>
            <a:ext cx="2667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Java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9059863" y="4702175"/>
            <a:ext cx="2808288" cy="577850"/>
          </a:xfrm>
          <a:custGeom>
            <a:avLst/>
            <a:gdLst/>
            <a:ahLst/>
            <a:cxnLst/>
            <a:rect l="l" t="t" r="r" b="b"/>
            <a:pathLst>
              <a:path w="2808288" h="577850">
                <a:moveTo>
                  <a:pt x="63500" y="0"/>
                </a:moveTo>
                <a:lnTo>
                  <a:pt x="2744788" y="0"/>
                </a:lnTo>
                <a:cubicBezTo>
                  <a:pt x="2779858" y="0"/>
                  <a:pt x="2808288" y="28430"/>
                  <a:pt x="2808288" y="63500"/>
                </a:cubicBezTo>
                <a:lnTo>
                  <a:pt x="2808288" y="514350"/>
                </a:lnTo>
                <a:cubicBezTo>
                  <a:pt x="2808288" y="549420"/>
                  <a:pt x="2779858" y="577850"/>
                  <a:pt x="2744788" y="577850"/>
                </a:cubicBezTo>
                <a:lnTo>
                  <a:pt x="63500" y="577850"/>
                </a:lnTo>
                <a:cubicBezTo>
                  <a:pt x="28430" y="577850"/>
                  <a:pt x="0" y="549420"/>
                  <a:pt x="0" y="5143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00A4B5">
              <a:alpha val="10196"/>
            </a:srgbClr>
          </a:solidFill>
          <a:ln w="10160">
            <a:solidFill>
              <a:srgbClr val="00A4B5">
                <a:alpha val="30196"/>
              </a:srgbClr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122569" y="4800602"/>
            <a:ext cx="2682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00A4B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JPG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9130507" y="5022852"/>
            <a:ext cx="2667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Image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320675" y="5381626"/>
            <a:ext cx="2808288" cy="577850"/>
          </a:xfrm>
          <a:custGeom>
            <a:avLst/>
            <a:gdLst/>
            <a:ahLst/>
            <a:cxnLst/>
            <a:rect l="l" t="t" r="r" b="b"/>
            <a:pathLst>
              <a:path w="2808288" h="577850">
                <a:moveTo>
                  <a:pt x="63500" y="0"/>
                </a:moveTo>
                <a:lnTo>
                  <a:pt x="2744788" y="0"/>
                </a:lnTo>
                <a:cubicBezTo>
                  <a:pt x="2779858" y="0"/>
                  <a:pt x="2808288" y="28430"/>
                  <a:pt x="2808288" y="63500"/>
                </a:cubicBezTo>
                <a:lnTo>
                  <a:pt x="2808288" y="514350"/>
                </a:lnTo>
                <a:cubicBezTo>
                  <a:pt x="2808288" y="549420"/>
                  <a:pt x="2779858" y="577850"/>
                  <a:pt x="2744788" y="577850"/>
                </a:cubicBezTo>
                <a:lnTo>
                  <a:pt x="63500" y="577850"/>
                </a:lnTo>
                <a:cubicBezTo>
                  <a:pt x="28430" y="577850"/>
                  <a:pt x="0" y="549420"/>
                  <a:pt x="0" y="5143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00A4B5">
              <a:alpha val="10196"/>
            </a:srgbClr>
          </a:solidFill>
          <a:ln w="10160">
            <a:solidFill>
              <a:srgbClr val="00A4B5">
                <a:alpha val="30196"/>
              </a:srgbClr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83381" y="5480049"/>
            <a:ext cx="2682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00A4B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JPEG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391319" y="5702299"/>
            <a:ext cx="2667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Image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3233738" y="5381626"/>
            <a:ext cx="2808288" cy="577850"/>
          </a:xfrm>
          <a:custGeom>
            <a:avLst/>
            <a:gdLst/>
            <a:ahLst/>
            <a:cxnLst/>
            <a:rect l="l" t="t" r="r" b="b"/>
            <a:pathLst>
              <a:path w="2808288" h="577850">
                <a:moveTo>
                  <a:pt x="63500" y="0"/>
                </a:moveTo>
                <a:lnTo>
                  <a:pt x="2744788" y="0"/>
                </a:lnTo>
                <a:cubicBezTo>
                  <a:pt x="2779858" y="0"/>
                  <a:pt x="2808288" y="28430"/>
                  <a:pt x="2808288" y="63500"/>
                </a:cubicBezTo>
                <a:lnTo>
                  <a:pt x="2808288" y="514350"/>
                </a:lnTo>
                <a:cubicBezTo>
                  <a:pt x="2808288" y="549420"/>
                  <a:pt x="2779858" y="577850"/>
                  <a:pt x="2744788" y="577850"/>
                </a:cubicBezTo>
                <a:lnTo>
                  <a:pt x="63500" y="577850"/>
                </a:lnTo>
                <a:cubicBezTo>
                  <a:pt x="28430" y="577850"/>
                  <a:pt x="0" y="549420"/>
                  <a:pt x="0" y="5143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00A4B5">
              <a:alpha val="10196"/>
            </a:srgbClr>
          </a:solidFill>
          <a:ln w="10160">
            <a:solidFill>
              <a:srgbClr val="00A4B5">
                <a:alpha val="30196"/>
              </a:srgbClr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296444" y="5480049"/>
            <a:ext cx="2682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00A4B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JS</a:t>
            </a:r>
            <a:endParaRPr lang="en-US" sz="1600" dirty="0"/>
          </a:p>
        </p:txBody>
      </p:sp>
      <p:sp>
        <p:nvSpPr>
          <p:cNvPr id="82" name="Text 80"/>
          <p:cNvSpPr/>
          <p:nvPr/>
        </p:nvSpPr>
        <p:spPr>
          <a:xfrm>
            <a:off x="3304381" y="5702299"/>
            <a:ext cx="2667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JavaScript</a:t>
            </a:r>
            <a:endParaRPr lang="en-US" sz="1600" dirty="0"/>
          </a:p>
        </p:txBody>
      </p:sp>
      <p:sp>
        <p:nvSpPr>
          <p:cNvPr id="83" name="Shape 81"/>
          <p:cNvSpPr/>
          <p:nvPr/>
        </p:nvSpPr>
        <p:spPr>
          <a:xfrm>
            <a:off x="6146800" y="5381626"/>
            <a:ext cx="2808288" cy="577850"/>
          </a:xfrm>
          <a:custGeom>
            <a:avLst/>
            <a:gdLst/>
            <a:ahLst/>
            <a:cxnLst/>
            <a:rect l="l" t="t" r="r" b="b"/>
            <a:pathLst>
              <a:path w="2808288" h="577850">
                <a:moveTo>
                  <a:pt x="63500" y="0"/>
                </a:moveTo>
                <a:lnTo>
                  <a:pt x="2744788" y="0"/>
                </a:lnTo>
                <a:cubicBezTo>
                  <a:pt x="2779858" y="0"/>
                  <a:pt x="2808288" y="28430"/>
                  <a:pt x="2808288" y="63500"/>
                </a:cubicBezTo>
                <a:lnTo>
                  <a:pt x="2808288" y="514350"/>
                </a:lnTo>
                <a:cubicBezTo>
                  <a:pt x="2808288" y="549420"/>
                  <a:pt x="2779858" y="577850"/>
                  <a:pt x="2744788" y="577850"/>
                </a:cubicBezTo>
                <a:lnTo>
                  <a:pt x="63500" y="577850"/>
                </a:lnTo>
                <a:cubicBezTo>
                  <a:pt x="28430" y="577850"/>
                  <a:pt x="0" y="549420"/>
                  <a:pt x="0" y="5143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F48120">
              <a:alpha val="10196"/>
            </a:srgbClr>
          </a:solidFill>
          <a:ln w="10160">
            <a:solidFill>
              <a:srgbClr val="F48120">
                <a:alpha val="30196"/>
              </a:srgbClr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209506" y="5480049"/>
            <a:ext cx="2682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F481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MID</a:t>
            </a:r>
            <a:endParaRPr lang="en-US" sz="1600" dirty="0"/>
          </a:p>
        </p:txBody>
      </p:sp>
      <p:sp>
        <p:nvSpPr>
          <p:cNvPr id="85" name="Text 83"/>
          <p:cNvSpPr/>
          <p:nvPr/>
        </p:nvSpPr>
        <p:spPr>
          <a:xfrm>
            <a:off x="6217444" y="5702299"/>
            <a:ext cx="2667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Audio</a:t>
            </a:r>
            <a:endParaRPr lang="en-US" sz="1600" dirty="0"/>
          </a:p>
        </p:txBody>
      </p:sp>
      <p:sp>
        <p:nvSpPr>
          <p:cNvPr id="86" name="Shape 84"/>
          <p:cNvSpPr/>
          <p:nvPr/>
        </p:nvSpPr>
        <p:spPr>
          <a:xfrm>
            <a:off x="9059863" y="5381626"/>
            <a:ext cx="2808288" cy="577850"/>
          </a:xfrm>
          <a:custGeom>
            <a:avLst/>
            <a:gdLst/>
            <a:ahLst/>
            <a:cxnLst/>
            <a:rect l="l" t="t" r="r" b="b"/>
            <a:pathLst>
              <a:path w="2808288" h="577850">
                <a:moveTo>
                  <a:pt x="63500" y="0"/>
                </a:moveTo>
                <a:lnTo>
                  <a:pt x="2744788" y="0"/>
                </a:lnTo>
                <a:cubicBezTo>
                  <a:pt x="2779858" y="0"/>
                  <a:pt x="2808288" y="28430"/>
                  <a:pt x="2808288" y="63500"/>
                </a:cubicBezTo>
                <a:lnTo>
                  <a:pt x="2808288" y="514350"/>
                </a:lnTo>
                <a:cubicBezTo>
                  <a:pt x="2808288" y="549420"/>
                  <a:pt x="2779858" y="577850"/>
                  <a:pt x="2744788" y="577850"/>
                </a:cubicBezTo>
                <a:lnTo>
                  <a:pt x="63500" y="577850"/>
                </a:lnTo>
                <a:cubicBezTo>
                  <a:pt x="28430" y="577850"/>
                  <a:pt x="0" y="549420"/>
                  <a:pt x="0" y="5143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F48120">
              <a:alpha val="10196"/>
            </a:srgbClr>
          </a:solidFill>
          <a:ln w="10160">
            <a:solidFill>
              <a:srgbClr val="F48120">
                <a:alpha val="30196"/>
              </a:srgbClr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9122569" y="5480049"/>
            <a:ext cx="2682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F481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MIDI</a:t>
            </a:r>
            <a:endParaRPr lang="en-US" sz="1600" dirty="0"/>
          </a:p>
        </p:txBody>
      </p:sp>
      <p:sp>
        <p:nvSpPr>
          <p:cNvPr id="88" name="Text 86"/>
          <p:cNvSpPr/>
          <p:nvPr/>
        </p:nvSpPr>
        <p:spPr>
          <a:xfrm>
            <a:off x="9130507" y="5702299"/>
            <a:ext cx="2667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Audio</a:t>
            </a:r>
            <a:endParaRPr lang="en-US" sz="1600" dirty="0"/>
          </a:p>
        </p:txBody>
      </p:sp>
      <p:sp>
        <p:nvSpPr>
          <p:cNvPr id="89" name="Shape 87"/>
          <p:cNvSpPr/>
          <p:nvPr/>
        </p:nvSpPr>
        <p:spPr>
          <a:xfrm>
            <a:off x="320675" y="6061077"/>
            <a:ext cx="2808288" cy="577850"/>
          </a:xfrm>
          <a:custGeom>
            <a:avLst/>
            <a:gdLst/>
            <a:ahLst/>
            <a:cxnLst/>
            <a:rect l="l" t="t" r="r" b="b"/>
            <a:pathLst>
              <a:path w="2808288" h="577850">
                <a:moveTo>
                  <a:pt x="63500" y="0"/>
                </a:moveTo>
                <a:lnTo>
                  <a:pt x="2744788" y="0"/>
                </a:lnTo>
                <a:cubicBezTo>
                  <a:pt x="2779858" y="0"/>
                  <a:pt x="2808288" y="28430"/>
                  <a:pt x="2808288" y="63500"/>
                </a:cubicBezTo>
                <a:lnTo>
                  <a:pt x="2808288" y="514350"/>
                </a:lnTo>
                <a:cubicBezTo>
                  <a:pt x="2808288" y="549420"/>
                  <a:pt x="2779858" y="577850"/>
                  <a:pt x="2744788" y="577850"/>
                </a:cubicBezTo>
                <a:lnTo>
                  <a:pt x="63500" y="577850"/>
                </a:lnTo>
                <a:cubicBezTo>
                  <a:pt x="28430" y="577850"/>
                  <a:pt x="0" y="549420"/>
                  <a:pt x="0" y="5143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F48120">
              <a:alpha val="10196"/>
            </a:srgbClr>
          </a:solidFill>
          <a:ln w="10160">
            <a:solidFill>
              <a:srgbClr val="F48120">
                <a:alpha val="30196"/>
              </a:srgbClr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83381" y="6159500"/>
            <a:ext cx="2682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F481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MKV</a:t>
            </a:r>
            <a:endParaRPr lang="en-US" sz="1600" dirty="0"/>
          </a:p>
        </p:txBody>
      </p:sp>
      <p:sp>
        <p:nvSpPr>
          <p:cNvPr id="91" name="Text 89"/>
          <p:cNvSpPr/>
          <p:nvPr/>
        </p:nvSpPr>
        <p:spPr>
          <a:xfrm>
            <a:off x="391319" y="6381750"/>
            <a:ext cx="2667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Video</a:t>
            </a:r>
            <a:endParaRPr lang="en-US" sz="1600" dirty="0"/>
          </a:p>
        </p:txBody>
      </p:sp>
      <p:sp>
        <p:nvSpPr>
          <p:cNvPr id="92" name="Shape 90"/>
          <p:cNvSpPr/>
          <p:nvPr/>
        </p:nvSpPr>
        <p:spPr>
          <a:xfrm>
            <a:off x="3233738" y="6061077"/>
            <a:ext cx="2808288" cy="577850"/>
          </a:xfrm>
          <a:custGeom>
            <a:avLst/>
            <a:gdLst/>
            <a:ahLst/>
            <a:cxnLst/>
            <a:rect l="l" t="t" r="r" b="b"/>
            <a:pathLst>
              <a:path w="2808288" h="577850">
                <a:moveTo>
                  <a:pt x="63500" y="0"/>
                </a:moveTo>
                <a:lnTo>
                  <a:pt x="2744788" y="0"/>
                </a:lnTo>
                <a:cubicBezTo>
                  <a:pt x="2779858" y="0"/>
                  <a:pt x="2808288" y="28430"/>
                  <a:pt x="2808288" y="63500"/>
                </a:cubicBezTo>
                <a:lnTo>
                  <a:pt x="2808288" y="514350"/>
                </a:lnTo>
                <a:cubicBezTo>
                  <a:pt x="2808288" y="549420"/>
                  <a:pt x="2779858" y="577850"/>
                  <a:pt x="2744788" y="577850"/>
                </a:cubicBezTo>
                <a:lnTo>
                  <a:pt x="63500" y="577850"/>
                </a:lnTo>
                <a:cubicBezTo>
                  <a:pt x="28430" y="577850"/>
                  <a:pt x="0" y="549420"/>
                  <a:pt x="0" y="5143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F48120">
              <a:alpha val="10196"/>
            </a:srgbClr>
          </a:solidFill>
          <a:ln w="10160">
            <a:solidFill>
              <a:srgbClr val="F48120">
                <a:alpha val="30196"/>
              </a:srgbClr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3296444" y="6159500"/>
            <a:ext cx="2682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F481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MP3</a:t>
            </a:r>
            <a:endParaRPr lang="en-US" sz="1600" dirty="0"/>
          </a:p>
        </p:txBody>
      </p:sp>
      <p:sp>
        <p:nvSpPr>
          <p:cNvPr id="94" name="Text 92"/>
          <p:cNvSpPr/>
          <p:nvPr/>
        </p:nvSpPr>
        <p:spPr>
          <a:xfrm>
            <a:off x="3304381" y="6381750"/>
            <a:ext cx="2667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Audio</a:t>
            </a:r>
            <a:endParaRPr lang="en-US" sz="1600" dirty="0"/>
          </a:p>
        </p:txBody>
      </p:sp>
      <p:sp>
        <p:nvSpPr>
          <p:cNvPr id="95" name="Shape 93"/>
          <p:cNvSpPr/>
          <p:nvPr/>
        </p:nvSpPr>
        <p:spPr>
          <a:xfrm>
            <a:off x="6146800" y="6061077"/>
            <a:ext cx="2808288" cy="577850"/>
          </a:xfrm>
          <a:custGeom>
            <a:avLst/>
            <a:gdLst/>
            <a:ahLst/>
            <a:cxnLst/>
            <a:rect l="l" t="t" r="r" b="b"/>
            <a:pathLst>
              <a:path w="2808288" h="577850">
                <a:moveTo>
                  <a:pt x="63500" y="0"/>
                </a:moveTo>
                <a:lnTo>
                  <a:pt x="2744788" y="0"/>
                </a:lnTo>
                <a:cubicBezTo>
                  <a:pt x="2779858" y="0"/>
                  <a:pt x="2808288" y="28430"/>
                  <a:pt x="2808288" y="63500"/>
                </a:cubicBezTo>
                <a:lnTo>
                  <a:pt x="2808288" y="514350"/>
                </a:lnTo>
                <a:cubicBezTo>
                  <a:pt x="2808288" y="549420"/>
                  <a:pt x="2779858" y="577850"/>
                  <a:pt x="2744788" y="577850"/>
                </a:cubicBezTo>
                <a:lnTo>
                  <a:pt x="63500" y="577850"/>
                </a:lnTo>
                <a:cubicBezTo>
                  <a:pt x="28430" y="577850"/>
                  <a:pt x="0" y="549420"/>
                  <a:pt x="0" y="5143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F48120">
              <a:alpha val="10196"/>
            </a:srgbClr>
          </a:solidFill>
          <a:ln w="10160">
            <a:solidFill>
              <a:srgbClr val="F48120">
                <a:alpha val="30196"/>
              </a:srgbClr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6209506" y="6159500"/>
            <a:ext cx="2682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F481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MP4</a:t>
            </a:r>
            <a:endParaRPr lang="en-US" sz="1600" dirty="0"/>
          </a:p>
        </p:txBody>
      </p:sp>
      <p:sp>
        <p:nvSpPr>
          <p:cNvPr id="97" name="Text 95"/>
          <p:cNvSpPr/>
          <p:nvPr/>
        </p:nvSpPr>
        <p:spPr>
          <a:xfrm>
            <a:off x="6217444" y="6381750"/>
            <a:ext cx="2667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Video</a:t>
            </a:r>
            <a:endParaRPr lang="en-US" sz="1600" dirty="0"/>
          </a:p>
        </p:txBody>
      </p:sp>
      <p:sp>
        <p:nvSpPr>
          <p:cNvPr id="98" name="Shape 96"/>
          <p:cNvSpPr/>
          <p:nvPr/>
        </p:nvSpPr>
        <p:spPr>
          <a:xfrm>
            <a:off x="9059863" y="6061077"/>
            <a:ext cx="2808288" cy="577850"/>
          </a:xfrm>
          <a:custGeom>
            <a:avLst/>
            <a:gdLst/>
            <a:ahLst/>
            <a:cxnLst/>
            <a:rect l="l" t="t" r="r" b="b"/>
            <a:pathLst>
              <a:path w="2808288" h="577850">
                <a:moveTo>
                  <a:pt x="63500" y="0"/>
                </a:moveTo>
                <a:lnTo>
                  <a:pt x="2744788" y="0"/>
                </a:lnTo>
                <a:cubicBezTo>
                  <a:pt x="2779858" y="0"/>
                  <a:pt x="2808288" y="28430"/>
                  <a:pt x="2808288" y="63500"/>
                </a:cubicBezTo>
                <a:lnTo>
                  <a:pt x="2808288" y="514350"/>
                </a:lnTo>
                <a:cubicBezTo>
                  <a:pt x="2808288" y="549420"/>
                  <a:pt x="2779858" y="577850"/>
                  <a:pt x="2744788" y="577850"/>
                </a:cubicBezTo>
                <a:lnTo>
                  <a:pt x="63500" y="577850"/>
                </a:lnTo>
                <a:cubicBezTo>
                  <a:pt x="28430" y="577850"/>
                  <a:pt x="0" y="549420"/>
                  <a:pt x="0" y="5143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F48120">
              <a:alpha val="10196"/>
            </a:srgbClr>
          </a:solidFill>
          <a:ln w="10160">
            <a:solidFill>
              <a:srgbClr val="F48120">
                <a:alpha val="30196"/>
              </a:srgbClr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9122569" y="6159500"/>
            <a:ext cx="2682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F481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OGG</a:t>
            </a:r>
            <a:endParaRPr lang="en-US" sz="1600" dirty="0"/>
          </a:p>
        </p:txBody>
      </p:sp>
      <p:sp>
        <p:nvSpPr>
          <p:cNvPr id="100" name="Text 98"/>
          <p:cNvSpPr/>
          <p:nvPr/>
        </p:nvSpPr>
        <p:spPr>
          <a:xfrm>
            <a:off x="9130507" y="6381750"/>
            <a:ext cx="2667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Audio</a:t>
            </a:r>
            <a:endParaRPr lang="en-US" sz="1600" dirty="0"/>
          </a:p>
        </p:txBody>
      </p:sp>
      <p:sp>
        <p:nvSpPr>
          <p:cNvPr id="101" name="Shape 99"/>
          <p:cNvSpPr/>
          <p:nvPr/>
        </p:nvSpPr>
        <p:spPr>
          <a:xfrm>
            <a:off x="320675" y="6740527"/>
            <a:ext cx="2808288" cy="577850"/>
          </a:xfrm>
          <a:custGeom>
            <a:avLst/>
            <a:gdLst/>
            <a:ahLst/>
            <a:cxnLst/>
            <a:rect l="l" t="t" r="r" b="b"/>
            <a:pathLst>
              <a:path w="2808288" h="577850">
                <a:moveTo>
                  <a:pt x="63500" y="0"/>
                </a:moveTo>
                <a:lnTo>
                  <a:pt x="2744788" y="0"/>
                </a:lnTo>
                <a:cubicBezTo>
                  <a:pt x="2779858" y="0"/>
                  <a:pt x="2808288" y="28430"/>
                  <a:pt x="2808288" y="63500"/>
                </a:cubicBezTo>
                <a:lnTo>
                  <a:pt x="2808288" y="514350"/>
                </a:lnTo>
                <a:cubicBezTo>
                  <a:pt x="2808288" y="549420"/>
                  <a:pt x="2779858" y="577850"/>
                  <a:pt x="2744788" y="577850"/>
                </a:cubicBezTo>
                <a:lnTo>
                  <a:pt x="63500" y="577850"/>
                </a:lnTo>
                <a:cubicBezTo>
                  <a:pt x="28430" y="577850"/>
                  <a:pt x="0" y="549420"/>
                  <a:pt x="0" y="5143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F48120">
              <a:alpha val="10196"/>
            </a:srgbClr>
          </a:solidFill>
          <a:ln w="10160">
            <a:solidFill>
              <a:srgbClr val="F48120">
                <a:alpha val="30196"/>
              </a:srgbClr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383381" y="6838951"/>
            <a:ext cx="2682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F481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OTF</a:t>
            </a:r>
            <a:endParaRPr lang="en-US" sz="1600" dirty="0"/>
          </a:p>
        </p:txBody>
      </p:sp>
      <p:sp>
        <p:nvSpPr>
          <p:cNvPr id="103" name="Text 101"/>
          <p:cNvSpPr/>
          <p:nvPr/>
        </p:nvSpPr>
        <p:spPr>
          <a:xfrm>
            <a:off x="391319" y="7061201"/>
            <a:ext cx="2667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Font</a:t>
            </a:r>
            <a:endParaRPr lang="en-US" sz="1600" dirty="0"/>
          </a:p>
        </p:txBody>
      </p:sp>
      <p:sp>
        <p:nvSpPr>
          <p:cNvPr id="104" name="Shape 102"/>
          <p:cNvSpPr/>
          <p:nvPr/>
        </p:nvSpPr>
        <p:spPr>
          <a:xfrm>
            <a:off x="3233738" y="6740527"/>
            <a:ext cx="2808288" cy="577850"/>
          </a:xfrm>
          <a:custGeom>
            <a:avLst/>
            <a:gdLst/>
            <a:ahLst/>
            <a:cxnLst/>
            <a:rect l="l" t="t" r="r" b="b"/>
            <a:pathLst>
              <a:path w="2808288" h="577850">
                <a:moveTo>
                  <a:pt x="63500" y="0"/>
                </a:moveTo>
                <a:lnTo>
                  <a:pt x="2744788" y="0"/>
                </a:lnTo>
                <a:cubicBezTo>
                  <a:pt x="2779858" y="0"/>
                  <a:pt x="2808288" y="28430"/>
                  <a:pt x="2808288" y="63500"/>
                </a:cubicBezTo>
                <a:lnTo>
                  <a:pt x="2808288" y="514350"/>
                </a:lnTo>
                <a:cubicBezTo>
                  <a:pt x="2808288" y="549420"/>
                  <a:pt x="2779858" y="577850"/>
                  <a:pt x="2744788" y="577850"/>
                </a:cubicBezTo>
                <a:lnTo>
                  <a:pt x="63500" y="577850"/>
                </a:lnTo>
                <a:cubicBezTo>
                  <a:pt x="28430" y="577850"/>
                  <a:pt x="0" y="549420"/>
                  <a:pt x="0" y="5143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F48120">
              <a:alpha val="10196"/>
            </a:srgbClr>
          </a:solidFill>
          <a:ln w="10160">
            <a:solidFill>
              <a:srgbClr val="F48120">
                <a:alpha val="30196"/>
              </a:srgbClr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3296444" y="6838951"/>
            <a:ext cx="2682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F481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PDF</a:t>
            </a:r>
            <a:endParaRPr lang="en-US" sz="1600" dirty="0"/>
          </a:p>
        </p:txBody>
      </p:sp>
      <p:sp>
        <p:nvSpPr>
          <p:cNvPr id="106" name="Text 104"/>
          <p:cNvSpPr/>
          <p:nvPr/>
        </p:nvSpPr>
        <p:spPr>
          <a:xfrm>
            <a:off x="3304381" y="7061201"/>
            <a:ext cx="2667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Document</a:t>
            </a:r>
            <a:endParaRPr lang="en-US" sz="1600" dirty="0"/>
          </a:p>
        </p:txBody>
      </p:sp>
      <p:sp>
        <p:nvSpPr>
          <p:cNvPr id="107" name="Shape 105"/>
          <p:cNvSpPr/>
          <p:nvPr/>
        </p:nvSpPr>
        <p:spPr>
          <a:xfrm>
            <a:off x="6146800" y="6740527"/>
            <a:ext cx="2808288" cy="577850"/>
          </a:xfrm>
          <a:custGeom>
            <a:avLst/>
            <a:gdLst/>
            <a:ahLst/>
            <a:cxnLst/>
            <a:rect l="l" t="t" r="r" b="b"/>
            <a:pathLst>
              <a:path w="2808288" h="577850">
                <a:moveTo>
                  <a:pt x="63500" y="0"/>
                </a:moveTo>
                <a:lnTo>
                  <a:pt x="2744788" y="0"/>
                </a:lnTo>
                <a:cubicBezTo>
                  <a:pt x="2779858" y="0"/>
                  <a:pt x="2808288" y="28430"/>
                  <a:pt x="2808288" y="63500"/>
                </a:cubicBezTo>
                <a:lnTo>
                  <a:pt x="2808288" y="514350"/>
                </a:lnTo>
                <a:cubicBezTo>
                  <a:pt x="2808288" y="549420"/>
                  <a:pt x="2779858" y="577850"/>
                  <a:pt x="2744788" y="577850"/>
                </a:cubicBezTo>
                <a:lnTo>
                  <a:pt x="63500" y="577850"/>
                </a:lnTo>
                <a:cubicBezTo>
                  <a:pt x="28430" y="577850"/>
                  <a:pt x="0" y="549420"/>
                  <a:pt x="0" y="5143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F48120">
              <a:alpha val="10196"/>
            </a:srgbClr>
          </a:solidFill>
          <a:ln w="10160">
            <a:solidFill>
              <a:srgbClr val="F48120">
                <a:alpha val="30196"/>
              </a:srgbClr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6209506" y="6838951"/>
            <a:ext cx="2682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F481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PICT</a:t>
            </a:r>
            <a:endParaRPr lang="en-US" sz="1600" dirty="0"/>
          </a:p>
        </p:txBody>
      </p:sp>
      <p:sp>
        <p:nvSpPr>
          <p:cNvPr id="109" name="Text 107"/>
          <p:cNvSpPr/>
          <p:nvPr/>
        </p:nvSpPr>
        <p:spPr>
          <a:xfrm>
            <a:off x="6217444" y="7061201"/>
            <a:ext cx="2667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Image</a:t>
            </a:r>
            <a:endParaRPr lang="en-US" sz="1600" dirty="0"/>
          </a:p>
        </p:txBody>
      </p:sp>
      <p:sp>
        <p:nvSpPr>
          <p:cNvPr id="110" name="Shape 108"/>
          <p:cNvSpPr/>
          <p:nvPr/>
        </p:nvSpPr>
        <p:spPr>
          <a:xfrm>
            <a:off x="9059863" y="6740527"/>
            <a:ext cx="2808288" cy="577850"/>
          </a:xfrm>
          <a:custGeom>
            <a:avLst/>
            <a:gdLst/>
            <a:ahLst/>
            <a:cxnLst/>
            <a:rect l="l" t="t" r="r" b="b"/>
            <a:pathLst>
              <a:path w="2808288" h="577850">
                <a:moveTo>
                  <a:pt x="63500" y="0"/>
                </a:moveTo>
                <a:lnTo>
                  <a:pt x="2744788" y="0"/>
                </a:lnTo>
                <a:cubicBezTo>
                  <a:pt x="2779858" y="0"/>
                  <a:pt x="2808288" y="28430"/>
                  <a:pt x="2808288" y="63500"/>
                </a:cubicBezTo>
                <a:lnTo>
                  <a:pt x="2808288" y="514350"/>
                </a:lnTo>
                <a:cubicBezTo>
                  <a:pt x="2808288" y="549420"/>
                  <a:pt x="2779858" y="577850"/>
                  <a:pt x="2744788" y="577850"/>
                </a:cubicBezTo>
                <a:lnTo>
                  <a:pt x="63500" y="577850"/>
                </a:lnTo>
                <a:cubicBezTo>
                  <a:pt x="28430" y="577850"/>
                  <a:pt x="0" y="549420"/>
                  <a:pt x="0" y="5143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F48120">
              <a:alpha val="10196"/>
            </a:srgbClr>
          </a:solidFill>
          <a:ln w="10160">
            <a:solidFill>
              <a:srgbClr val="F48120">
                <a:alpha val="30196"/>
              </a:srgbClr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9122569" y="6838951"/>
            <a:ext cx="2682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F481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PLS</a:t>
            </a:r>
            <a:endParaRPr lang="en-US" sz="1600" dirty="0"/>
          </a:p>
        </p:txBody>
      </p:sp>
      <p:sp>
        <p:nvSpPr>
          <p:cNvPr id="112" name="Text 110"/>
          <p:cNvSpPr/>
          <p:nvPr/>
        </p:nvSpPr>
        <p:spPr>
          <a:xfrm>
            <a:off x="9130507" y="7061201"/>
            <a:ext cx="2667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Playlist</a:t>
            </a:r>
            <a:endParaRPr lang="en-US" sz="1600" dirty="0"/>
          </a:p>
        </p:txBody>
      </p:sp>
      <p:sp>
        <p:nvSpPr>
          <p:cNvPr id="113" name="Shape 111"/>
          <p:cNvSpPr/>
          <p:nvPr/>
        </p:nvSpPr>
        <p:spPr>
          <a:xfrm>
            <a:off x="320675" y="7419974"/>
            <a:ext cx="2808288" cy="577850"/>
          </a:xfrm>
          <a:custGeom>
            <a:avLst/>
            <a:gdLst/>
            <a:ahLst/>
            <a:cxnLst/>
            <a:rect l="l" t="t" r="r" b="b"/>
            <a:pathLst>
              <a:path w="2808288" h="577850">
                <a:moveTo>
                  <a:pt x="63500" y="0"/>
                </a:moveTo>
                <a:lnTo>
                  <a:pt x="2744788" y="0"/>
                </a:lnTo>
                <a:cubicBezTo>
                  <a:pt x="2779858" y="0"/>
                  <a:pt x="2808288" y="28430"/>
                  <a:pt x="2808288" y="63500"/>
                </a:cubicBezTo>
                <a:lnTo>
                  <a:pt x="2808288" y="514350"/>
                </a:lnTo>
                <a:cubicBezTo>
                  <a:pt x="2808288" y="549420"/>
                  <a:pt x="2779858" y="577850"/>
                  <a:pt x="2744788" y="577850"/>
                </a:cubicBezTo>
                <a:lnTo>
                  <a:pt x="63500" y="577850"/>
                </a:lnTo>
                <a:cubicBezTo>
                  <a:pt x="28430" y="577850"/>
                  <a:pt x="0" y="549420"/>
                  <a:pt x="0" y="5143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00A4B5">
              <a:alpha val="10196"/>
            </a:srgbClr>
          </a:solidFill>
          <a:ln w="10160">
            <a:solidFill>
              <a:srgbClr val="00A4B5">
                <a:alpha val="30196"/>
              </a:srgbClr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383381" y="7518402"/>
            <a:ext cx="2682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00A4B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PNG</a:t>
            </a:r>
            <a:endParaRPr lang="en-US" sz="1600" dirty="0"/>
          </a:p>
        </p:txBody>
      </p:sp>
      <p:sp>
        <p:nvSpPr>
          <p:cNvPr id="115" name="Text 113"/>
          <p:cNvSpPr/>
          <p:nvPr/>
        </p:nvSpPr>
        <p:spPr>
          <a:xfrm>
            <a:off x="391319" y="7740652"/>
            <a:ext cx="2667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Image</a:t>
            </a:r>
            <a:endParaRPr lang="en-US" sz="1600" dirty="0"/>
          </a:p>
        </p:txBody>
      </p:sp>
      <p:sp>
        <p:nvSpPr>
          <p:cNvPr id="116" name="Shape 114"/>
          <p:cNvSpPr/>
          <p:nvPr/>
        </p:nvSpPr>
        <p:spPr>
          <a:xfrm>
            <a:off x="3233738" y="7419974"/>
            <a:ext cx="2808288" cy="577850"/>
          </a:xfrm>
          <a:custGeom>
            <a:avLst/>
            <a:gdLst/>
            <a:ahLst/>
            <a:cxnLst/>
            <a:rect l="l" t="t" r="r" b="b"/>
            <a:pathLst>
              <a:path w="2808288" h="577850">
                <a:moveTo>
                  <a:pt x="63500" y="0"/>
                </a:moveTo>
                <a:lnTo>
                  <a:pt x="2744788" y="0"/>
                </a:lnTo>
                <a:cubicBezTo>
                  <a:pt x="2779858" y="0"/>
                  <a:pt x="2808288" y="28430"/>
                  <a:pt x="2808288" y="63500"/>
                </a:cubicBezTo>
                <a:lnTo>
                  <a:pt x="2808288" y="514350"/>
                </a:lnTo>
                <a:cubicBezTo>
                  <a:pt x="2808288" y="549420"/>
                  <a:pt x="2779858" y="577850"/>
                  <a:pt x="2744788" y="577850"/>
                </a:cubicBezTo>
                <a:lnTo>
                  <a:pt x="63500" y="577850"/>
                </a:lnTo>
                <a:cubicBezTo>
                  <a:pt x="28430" y="577850"/>
                  <a:pt x="0" y="549420"/>
                  <a:pt x="0" y="5143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F48120">
              <a:alpha val="10196"/>
            </a:srgbClr>
          </a:solidFill>
          <a:ln w="10160">
            <a:solidFill>
              <a:srgbClr val="F48120">
                <a:alpha val="30196"/>
              </a:srgbClr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3296444" y="7518402"/>
            <a:ext cx="2682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F481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PPT</a:t>
            </a:r>
            <a:endParaRPr lang="en-US" sz="1600" dirty="0"/>
          </a:p>
        </p:txBody>
      </p:sp>
      <p:sp>
        <p:nvSpPr>
          <p:cNvPr id="118" name="Text 116"/>
          <p:cNvSpPr/>
          <p:nvPr/>
        </p:nvSpPr>
        <p:spPr>
          <a:xfrm>
            <a:off x="3304381" y="7740652"/>
            <a:ext cx="2667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Presentation</a:t>
            </a:r>
            <a:endParaRPr lang="en-US" sz="1600" dirty="0"/>
          </a:p>
        </p:txBody>
      </p:sp>
      <p:sp>
        <p:nvSpPr>
          <p:cNvPr id="119" name="Shape 117"/>
          <p:cNvSpPr/>
          <p:nvPr/>
        </p:nvSpPr>
        <p:spPr>
          <a:xfrm>
            <a:off x="6146800" y="7419974"/>
            <a:ext cx="2808288" cy="577850"/>
          </a:xfrm>
          <a:custGeom>
            <a:avLst/>
            <a:gdLst/>
            <a:ahLst/>
            <a:cxnLst/>
            <a:rect l="l" t="t" r="r" b="b"/>
            <a:pathLst>
              <a:path w="2808288" h="577850">
                <a:moveTo>
                  <a:pt x="63500" y="0"/>
                </a:moveTo>
                <a:lnTo>
                  <a:pt x="2744788" y="0"/>
                </a:lnTo>
                <a:cubicBezTo>
                  <a:pt x="2779858" y="0"/>
                  <a:pt x="2808288" y="28430"/>
                  <a:pt x="2808288" y="63500"/>
                </a:cubicBezTo>
                <a:lnTo>
                  <a:pt x="2808288" y="514350"/>
                </a:lnTo>
                <a:cubicBezTo>
                  <a:pt x="2808288" y="549420"/>
                  <a:pt x="2779858" y="577850"/>
                  <a:pt x="2744788" y="577850"/>
                </a:cubicBezTo>
                <a:lnTo>
                  <a:pt x="63500" y="577850"/>
                </a:lnTo>
                <a:cubicBezTo>
                  <a:pt x="28430" y="577850"/>
                  <a:pt x="0" y="549420"/>
                  <a:pt x="0" y="5143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F48120">
              <a:alpha val="10196"/>
            </a:srgbClr>
          </a:solidFill>
          <a:ln w="10160">
            <a:solidFill>
              <a:srgbClr val="F48120">
                <a:alpha val="30196"/>
              </a:srgbClr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6209506" y="7518402"/>
            <a:ext cx="2682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F481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PPTX</a:t>
            </a:r>
            <a:endParaRPr lang="en-US" sz="1600" dirty="0"/>
          </a:p>
        </p:txBody>
      </p:sp>
      <p:sp>
        <p:nvSpPr>
          <p:cNvPr id="121" name="Text 119"/>
          <p:cNvSpPr/>
          <p:nvPr/>
        </p:nvSpPr>
        <p:spPr>
          <a:xfrm>
            <a:off x="6217444" y="7740652"/>
            <a:ext cx="2667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Presentation</a:t>
            </a:r>
            <a:endParaRPr lang="en-US" sz="1600" dirty="0"/>
          </a:p>
        </p:txBody>
      </p:sp>
      <p:sp>
        <p:nvSpPr>
          <p:cNvPr id="122" name="Shape 120"/>
          <p:cNvSpPr/>
          <p:nvPr/>
        </p:nvSpPr>
        <p:spPr>
          <a:xfrm>
            <a:off x="9059863" y="7419974"/>
            <a:ext cx="2808288" cy="577850"/>
          </a:xfrm>
          <a:custGeom>
            <a:avLst/>
            <a:gdLst/>
            <a:ahLst/>
            <a:cxnLst/>
            <a:rect l="l" t="t" r="r" b="b"/>
            <a:pathLst>
              <a:path w="2808288" h="577850">
                <a:moveTo>
                  <a:pt x="63500" y="0"/>
                </a:moveTo>
                <a:lnTo>
                  <a:pt x="2744788" y="0"/>
                </a:lnTo>
                <a:cubicBezTo>
                  <a:pt x="2779858" y="0"/>
                  <a:pt x="2808288" y="28430"/>
                  <a:pt x="2808288" y="63500"/>
                </a:cubicBezTo>
                <a:lnTo>
                  <a:pt x="2808288" y="514350"/>
                </a:lnTo>
                <a:cubicBezTo>
                  <a:pt x="2808288" y="549420"/>
                  <a:pt x="2779858" y="577850"/>
                  <a:pt x="2744788" y="577850"/>
                </a:cubicBezTo>
                <a:lnTo>
                  <a:pt x="63500" y="577850"/>
                </a:lnTo>
                <a:cubicBezTo>
                  <a:pt x="28430" y="577850"/>
                  <a:pt x="0" y="549420"/>
                  <a:pt x="0" y="5143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F48120">
              <a:alpha val="10196"/>
            </a:srgbClr>
          </a:solidFill>
          <a:ln w="10160">
            <a:solidFill>
              <a:srgbClr val="F48120">
                <a:alpha val="30196"/>
              </a:srgbClr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9122569" y="7518402"/>
            <a:ext cx="2682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F481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PS</a:t>
            </a:r>
            <a:endParaRPr lang="en-US" sz="1600" dirty="0"/>
          </a:p>
        </p:txBody>
      </p:sp>
      <p:sp>
        <p:nvSpPr>
          <p:cNvPr id="124" name="Text 122"/>
          <p:cNvSpPr/>
          <p:nvPr/>
        </p:nvSpPr>
        <p:spPr>
          <a:xfrm>
            <a:off x="9130507" y="7740652"/>
            <a:ext cx="2667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PostScript</a:t>
            </a:r>
            <a:endParaRPr lang="en-US" sz="1600" dirty="0"/>
          </a:p>
        </p:txBody>
      </p:sp>
      <p:sp>
        <p:nvSpPr>
          <p:cNvPr id="125" name="Shape 123"/>
          <p:cNvSpPr/>
          <p:nvPr/>
        </p:nvSpPr>
        <p:spPr>
          <a:xfrm>
            <a:off x="320675" y="8099425"/>
            <a:ext cx="2808288" cy="577850"/>
          </a:xfrm>
          <a:custGeom>
            <a:avLst/>
            <a:gdLst/>
            <a:ahLst/>
            <a:cxnLst/>
            <a:rect l="l" t="t" r="r" b="b"/>
            <a:pathLst>
              <a:path w="2808288" h="577850">
                <a:moveTo>
                  <a:pt x="63500" y="0"/>
                </a:moveTo>
                <a:lnTo>
                  <a:pt x="2744788" y="0"/>
                </a:lnTo>
                <a:cubicBezTo>
                  <a:pt x="2779858" y="0"/>
                  <a:pt x="2808288" y="28430"/>
                  <a:pt x="2808288" y="63500"/>
                </a:cubicBezTo>
                <a:lnTo>
                  <a:pt x="2808288" y="514350"/>
                </a:lnTo>
                <a:cubicBezTo>
                  <a:pt x="2808288" y="549420"/>
                  <a:pt x="2779858" y="577850"/>
                  <a:pt x="2744788" y="577850"/>
                </a:cubicBezTo>
                <a:lnTo>
                  <a:pt x="63500" y="577850"/>
                </a:lnTo>
                <a:cubicBezTo>
                  <a:pt x="28430" y="577850"/>
                  <a:pt x="0" y="549420"/>
                  <a:pt x="0" y="5143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F48120">
              <a:alpha val="10196"/>
            </a:srgbClr>
          </a:solidFill>
          <a:ln w="10160">
            <a:solidFill>
              <a:srgbClr val="F48120">
                <a:alpha val="30196"/>
              </a:srgbClr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383381" y="8197852"/>
            <a:ext cx="2682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F481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RAR</a:t>
            </a:r>
            <a:endParaRPr lang="en-US" sz="1600" dirty="0"/>
          </a:p>
        </p:txBody>
      </p:sp>
      <p:sp>
        <p:nvSpPr>
          <p:cNvPr id="127" name="Text 125"/>
          <p:cNvSpPr/>
          <p:nvPr/>
        </p:nvSpPr>
        <p:spPr>
          <a:xfrm>
            <a:off x="391319" y="8420102"/>
            <a:ext cx="2667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Archive</a:t>
            </a:r>
            <a:endParaRPr lang="en-US" sz="1600" dirty="0"/>
          </a:p>
        </p:txBody>
      </p:sp>
      <p:sp>
        <p:nvSpPr>
          <p:cNvPr id="128" name="Shape 126"/>
          <p:cNvSpPr/>
          <p:nvPr/>
        </p:nvSpPr>
        <p:spPr>
          <a:xfrm>
            <a:off x="3233738" y="8099425"/>
            <a:ext cx="2808288" cy="577850"/>
          </a:xfrm>
          <a:custGeom>
            <a:avLst/>
            <a:gdLst/>
            <a:ahLst/>
            <a:cxnLst/>
            <a:rect l="l" t="t" r="r" b="b"/>
            <a:pathLst>
              <a:path w="2808288" h="577850">
                <a:moveTo>
                  <a:pt x="63500" y="0"/>
                </a:moveTo>
                <a:lnTo>
                  <a:pt x="2744788" y="0"/>
                </a:lnTo>
                <a:cubicBezTo>
                  <a:pt x="2779858" y="0"/>
                  <a:pt x="2808288" y="28430"/>
                  <a:pt x="2808288" y="63500"/>
                </a:cubicBezTo>
                <a:lnTo>
                  <a:pt x="2808288" y="514350"/>
                </a:lnTo>
                <a:cubicBezTo>
                  <a:pt x="2808288" y="549420"/>
                  <a:pt x="2779858" y="577850"/>
                  <a:pt x="2744788" y="577850"/>
                </a:cubicBezTo>
                <a:lnTo>
                  <a:pt x="63500" y="577850"/>
                </a:lnTo>
                <a:cubicBezTo>
                  <a:pt x="28430" y="577850"/>
                  <a:pt x="0" y="549420"/>
                  <a:pt x="0" y="5143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00A4B5">
              <a:alpha val="10196"/>
            </a:srgbClr>
          </a:solidFill>
          <a:ln w="10160">
            <a:solidFill>
              <a:srgbClr val="00A4B5">
                <a:alpha val="30196"/>
              </a:srgbClr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3296444" y="8197852"/>
            <a:ext cx="2682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00A4B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SVG</a:t>
            </a:r>
            <a:endParaRPr lang="en-US" sz="1600" dirty="0"/>
          </a:p>
        </p:txBody>
      </p:sp>
      <p:sp>
        <p:nvSpPr>
          <p:cNvPr id="130" name="Text 128"/>
          <p:cNvSpPr/>
          <p:nvPr/>
        </p:nvSpPr>
        <p:spPr>
          <a:xfrm>
            <a:off x="3304381" y="8420102"/>
            <a:ext cx="2667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Vector</a:t>
            </a:r>
            <a:endParaRPr lang="en-US" sz="1600" dirty="0"/>
          </a:p>
        </p:txBody>
      </p:sp>
      <p:sp>
        <p:nvSpPr>
          <p:cNvPr id="131" name="Shape 129"/>
          <p:cNvSpPr/>
          <p:nvPr/>
        </p:nvSpPr>
        <p:spPr>
          <a:xfrm>
            <a:off x="6146800" y="8099425"/>
            <a:ext cx="2808288" cy="577850"/>
          </a:xfrm>
          <a:custGeom>
            <a:avLst/>
            <a:gdLst/>
            <a:ahLst/>
            <a:cxnLst/>
            <a:rect l="l" t="t" r="r" b="b"/>
            <a:pathLst>
              <a:path w="2808288" h="577850">
                <a:moveTo>
                  <a:pt x="63500" y="0"/>
                </a:moveTo>
                <a:lnTo>
                  <a:pt x="2744788" y="0"/>
                </a:lnTo>
                <a:cubicBezTo>
                  <a:pt x="2779858" y="0"/>
                  <a:pt x="2808288" y="28430"/>
                  <a:pt x="2808288" y="63500"/>
                </a:cubicBezTo>
                <a:lnTo>
                  <a:pt x="2808288" y="514350"/>
                </a:lnTo>
                <a:cubicBezTo>
                  <a:pt x="2808288" y="549420"/>
                  <a:pt x="2779858" y="577850"/>
                  <a:pt x="2744788" y="577850"/>
                </a:cubicBezTo>
                <a:lnTo>
                  <a:pt x="63500" y="577850"/>
                </a:lnTo>
                <a:cubicBezTo>
                  <a:pt x="28430" y="577850"/>
                  <a:pt x="0" y="549420"/>
                  <a:pt x="0" y="5143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00A4B5">
              <a:alpha val="10196"/>
            </a:srgbClr>
          </a:solidFill>
          <a:ln w="10160">
            <a:solidFill>
              <a:srgbClr val="00A4B5">
                <a:alpha val="30196"/>
              </a:srgbClr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6209506" y="8197852"/>
            <a:ext cx="2682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00A4B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SVGZ</a:t>
            </a:r>
            <a:endParaRPr lang="en-US" sz="1600" dirty="0"/>
          </a:p>
        </p:txBody>
      </p:sp>
      <p:sp>
        <p:nvSpPr>
          <p:cNvPr id="133" name="Text 131"/>
          <p:cNvSpPr/>
          <p:nvPr/>
        </p:nvSpPr>
        <p:spPr>
          <a:xfrm>
            <a:off x="6217444" y="8420102"/>
            <a:ext cx="2667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Vector</a:t>
            </a:r>
            <a:endParaRPr lang="en-US" sz="1600" dirty="0"/>
          </a:p>
        </p:txBody>
      </p:sp>
      <p:sp>
        <p:nvSpPr>
          <p:cNvPr id="134" name="Shape 132"/>
          <p:cNvSpPr/>
          <p:nvPr/>
        </p:nvSpPr>
        <p:spPr>
          <a:xfrm>
            <a:off x="9059863" y="8099425"/>
            <a:ext cx="2808288" cy="577850"/>
          </a:xfrm>
          <a:custGeom>
            <a:avLst/>
            <a:gdLst/>
            <a:ahLst/>
            <a:cxnLst/>
            <a:rect l="l" t="t" r="r" b="b"/>
            <a:pathLst>
              <a:path w="2808288" h="577850">
                <a:moveTo>
                  <a:pt x="63500" y="0"/>
                </a:moveTo>
                <a:lnTo>
                  <a:pt x="2744788" y="0"/>
                </a:lnTo>
                <a:cubicBezTo>
                  <a:pt x="2779858" y="0"/>
                  <a:pt x="2808288" y="28430"/>
                  <a:pt x="2808288" y="63500"/>
                </a:cubicBezTo>
                <a:lnTo>
                  <a:pt x="2808288" y="514350"/>
                </a:lnTo>
                <a:cubicBezTo>
                  <a:pt x="2808288" y="549420"/>
                  <a:pt x="2779858" y="577850"/>
                  <a:pt x="2744788" y="577850"/>
                </a:cubicBezTo>
                <a:lnTo>
                  <a:pt x="63500" y="577850"/>
                </a:lnTo>
                <a:cubicBezTo>
                  <a:pt x="28430" y="577850"/>
                  <a:pt x="0" y="549420"/>
                  <a:pt x="0" y="5143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F48120">
              <a:alpha val="10196"/>
            </a:srgbClr>
          </a:solidFill>
          <a:ln w="10160">
            <a:solidFill>
              <a:srgbClr val="F48120">
                <a:alpha val="30196"/>
              </a:srgbClr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9122569" y="8197852"/>
            <a:ext cx="2682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F481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SWF</a:t>
            </a:r>
            <a:endParaRPr lang="en-US" sz="1600" dirty="0"/>
          </a:p>
        </p:txBody>
      </p:sp>
      <p:sp>
        <p:nvSpPr>
          <p:cNvPr id="136" name="Text 134"/>
          <p:cNvSpPr/>
          <p:nvPr/>
        </p:nvSpPr>
        <p:spPr>
          <a:xfrm>
            <a:off x="9130507" y="8420102"/>
            <a:ext cx="2667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Flash</a:t>
            </a:r>
            <a:endParaRPr lang="en-US" sz="1600" dirty="0"/>
          </a:p>
        </p:txBody>
      </p:sp>
      <p:sp>
        <p:nvSpPr>
          <p:cNvPr id="137" name="Shape 135"/>
          <p:cNvSpPr/>
          <p:nvPr/>
        </p:nvSpPr>
        <p:spPr>
          <a:xfrm>
            <a:off x="320675" y="8778876"/>
            <a:ext cx="2808288" cy="577850"/>
          </a:xfrm>
          <a:custGeom>
            <a:avLst/>
            <a:gdLst/>
            <a:ahLst/>
            <a:cxnLst/>
            <a:rect l="l" t="t" r="r" b="b"/>
            <a:pathLst>
              <a:path w="2808288" h="577850">
                <a:moveTo>
                  <a:pt x="63500" y="0"/>
                </a:moveTo>
                <a:lnTo>
                  <a:pt x="2744788" y="0"/>
                </a:lnTo>
                <a:cubicBezTo>
                  <a:pt x="2779858" y="0"/>
                  <a:pt x="2808288" y="28430"/>
                  <a:pt x="2808288" y="63500"/>
                </a:cubicBezTo>
                <a:lnTo>
                  <a:pt x="2808288" y="514350"/>
                </a:lnTo>
                <a:cubicBezTo>
                  <a:pt x="2808288" y="549420"/>
                  <a:pt x="2779858" y="577850"/>
                  <a:pt x="2744788" y="577850"/>
                </a:cubicBezTo>
                <a:lnTo>
                  <a:pt x="63500" y="577850"/>
                </a:lnTo>
                <a:cubicBezTo>
                  <a:pt x="28430" y="577850"/>
                  <a:pt x="0" y="549420"/>
                  <a:pt x="0" y="5143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F48120">
              <a:alpha val="10196"/>
            </a:srgbClr>
          </a:solidFill>
          <a:ln w="10160">
            <a:solidFill>
              <a:srgbClr val="F48120">
                <a:alpha val="30196"/>
              </a:srgbClr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383381" y="8877299"/>
            <a:ext cx="2682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F481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TAR</a:t>
            </a:r>
            <a:endParaRPr lang="en-US" sz="1600" dirty="0"/>
          </a:p>
        </p:txBody>
      </p:sp>
      <p:sp>
        <p:nvSpPr>
          <p:cNvPr id="139" name="Text 137"/>
          <p:cNvSpPr/>
          <p:nvPr/>
        </p:nvSpPr>
        <p:spPr>
          <a:xfrm>
            <a:off x="391319" y="9099549"/>
            <a:ext cx="2667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Archive</a:t>
            </a:r>
            <a:endParaRPr lang="en-US" sz="1600" dirty="0"/>
          </a:p>
        </p:txBody>
      </p:sp>
      <p:sp>
        <p:nvSpPr>
          <p:cNvPr id="140" name="Shape 138"/>
          <p:cNvSpPr/>
          <p:nvPr/>
        </p:nvSpPr>
        <p:spPr>
          <a:xfrm>
            <a:off x="3233738" y="8778876"/>
            <a:ext cx="2808288" cy="577850"/>
          </a:xfrm>
          <a:custGeom>
            <a:avLst/>
            <a:gdLst/>
            <a:ahLst/>
            <a:cxnLst/>
            <a:rect l="l" t="t" r="r" b="b"/>
            <a:pathLst>
              <a:path w="2808288" h="577850">
                <a:moveTo>
                  <a:pt x="63500" y="0"/>
                </a:moveTo>
                <a:lnTo>
                  <a:pt x="2744788" y="0"/>
                </a:lnTo>
                <a:cubicBezTo>
                  <a:pt x="2779858" y="0"/>
                  <a:pt x="2808288" y="28430"/>
                  <a:pt x="2808288" y="63500"/>
                </a:cubicBezTo>
                <a:lnTo>
                  <a:pt x="2808288" y="514350"/>
                </a:lnTo>
                <a:cubicBezTo>
                  <a:pt x="2808288" y="549420"/>
                  <a:pt x="2779858" y="577850"/>
                  <a:pt x="2744788" y="577850"/>
                </a:cubicBezTo>
                <a:lnTo>
                  <a:pt x="63500" y="577850"/>
                </a:lnTo>
                <a:cubicBezTo>
                  <a:pt x="28430" y="577850"/>
                  <a:pt x="0" y="549420"/>
                  <a:pt x="0" y="5143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F48120">
              <a:alpha val="10196"/>
            </a:srgbClr>
          </a:solidFill>
          <a:ln w="10160">
            <a:solidFill>
              <a:srgbClr val="F48120">
                <a:alpha val="30196"/>
              </a:srgbClr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3296444" y="8877299"/>
            <a:ext cx="2682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F481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TIF</a:t>
            </a:r>
            <a:endParaRPr lang="en-US" sz="1600" dirty="0"/>
          </a:p>
        </p:txBody>
      </p:sp>
      <p:sp>
        <p:nvSpPr>
          <p:cNvPr id="142" name="Text 140"/>
          <p:cNvSpPr/>
          <p:nvPr/>
        </p:nvSpPr>
        <p:spPr>
          <a:xfrm>
            <a:off x="3304381" y="9099549"/>
            <a:ext cx="2667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Image</a:t>
            </a:r>
            <a:endParaRPr lang="en-US" sz="1600" dirty="0"/>
          </a:p>
        </p:txBody>
      </p:sp>
      <p:sp>
        <p:nvSpPr>
          <p:cNvPr id="143" name="Shape 141"/>
          <p:cNvSpPr/>
          <p:nvPr/>
        </p:nvSpPr>
        <p:spPr>
          <a:xfrm>
            <a:off x="6146800" y="8778876"/>
            <a:ext cx="2808288" cy="577850"/>
          </a:xfrm>
          <a:custGeom>
            <a:avLst/>
            <a:gdLst/>
            <a:ahLst/>
            <a:cxnLst/>
            <a:rect l="l" t="t" r="r" b="b"/>
            <a:pathLst>
              <a:path w="2808288" h="577850">
                <a:moveTo>
                  <a:pt x="63500" y="0"/>
                </a:moveTo>
                <a:lnTo>
                  <a:pt x="2744788" y="0"/>
                </a:lnTo>
                <a:cubicBezTo>
                  <a:pt x="2779858" y="0"/>
                  <a:pt x="2808288" y="28430"/>
                  <a:pt x="2808288" y="63500"/>
                </a:cubicBezTo>
                <a:lnTo>
                  <a:pt x="2808288" y="514350"/>
                </a:lnTo>
                <a:cubicBezTo>
                  <a:pt x="2808288" y="549420"/>
                  <a:pt x="2779858" y="577850"/>
                  <a:pt x="2744788" y="577850"/>
                </a:cubicBezTo>
                <a:lnTo>
                  <a:pt x="63500" y="577850"/>
                </a:lnTo>
                <a:cubicBezTo>
                  <a:pt x="28430" y="577850"/>
                  <a:pt x="0" y="549420"/>
                  <a:pt x="0" y="5143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F48120">
              <a:alpha val="10196"/>
            </a:srgbClr>
          </a:solidFill>
          <a:ln w="10160">
            <a:solidFill>
              <a:srgbClr val="F48120">
                <a:alpha val="30196"/>
              </a:srgbClr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6209506" y="8877299"/>
            <a:ext cx="2682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F481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TIFF</a:t>
            </a:r>
            <a:endParaRPr lang="en-US" sz="1600" dirty="0"/>
          </a:p>
        </p:txBody>
      </p:sp>
      <p:sp>
        <p:nvSpPr>
          <p:cNvPr id="145" name="Text 143"/>
          <p:cNvSpPr/>
          <p:nvPr/>
        </p:nvSpPr>
        <p:spPr>
          <a:xfrm>
            <a:off x="6217444" y="9099549"/>
            <a:ext cx="2667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Image</a:t>
            </a:r>
            <a:endParaRPr lang="en-US" sz="1600" dirty="0"/>
          </a:p>
        </p:txBody>
      </p:sp>
      <p:sp>
        <p:nvSpPr>
          <p:cNvPr id="146" name="Shape 144"/>
          <p:cNvSpPr/>
          <p:nvPr/>
        </p:nvSpPr>
        <p:spPr>
          <a:xfrm>
            <a:off x="9059863" y="8778876"/>
            <a:ext cx="2808288" cy="577850"/>
          </a:xfrm>
          <a:custGeom>
            <a:avLst/>
            <a:gdLst/>
            <a:ahLst/>
            <a:cxnLst/>
            <a:rect l="l" t="t" r="r" b="b"/>
            <a:pathLst>
              <a:path w="2808288" h="577850">
                <a:moveTo>
                  <a:pt x="63500" y="0"/>
                </a:moveTo>
                <a:lnTo>
                  <a:pt x="2744788" y="0"/>
                </a:lnTo>
                <a:cubicBezTo>
                  <a:pt x="2779858" y="0"/>
                  <a:pt x="2808288" y="28430"/>
                  <a:pt x="2808288" y="63500"/>
                </a:cubicBezTo>
                <a:lnTo>
                  <a:pt x="2808288" y="514350"/>
                </a:lnTo>
                <a:cubicBezTo>
                  <a:pt x="2808288" y="549420"/>
                  <a:pt x="2779858" y="577850"/>
                  <a:pt x="2744788" y="577850"/>
                </a:cubicBezTo>
                <a:lnTo>
                  <a:pt x="63500" y="577850"/>
                </a:lnTo>
                <a:cubicBezTo>
                  <a:pt x="28430" y="577850"/>
                  <a:pt x="0" y="549420"/>
                  <a:pt x="0" y="5143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F48120">
              <a:alpha val="10196"/>
            </a:srgbClr>
          </a:solidFill>
          <a:ln w="10160">
            <a:solidFill>
              <a:srgbClr val="F48120">
                <a:alpha val="30196"/>
              </a:srgbClr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9122569" y="8877299"/>
            <a:ext cx="2682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F481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TTF</a:t>
            </a:r>
            <a:endParaRPr lang="en-US" sz="1600" dirty="0"/>
          </a:p>
        </p:txBody>
      </p:sp>
      <p:sp>
        <p:nvSpPr>
          <p:cNvPr id="148" name="Text 146"/>
          <p:cNvSpPr/>
          <p:nvPr/>
        </p:nvSpPr>
        <p:spPr>
          <a:xfrm>
            <a:off x="9130507" y="9099549"/>
            <a:ext cx="2667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Font</a:t>
            </a:r>
            <a:endParaRPr lang="en-US" sz="1600" dirty="0"/>
          </a:p>
        </p:txBody>
      </p:sp>
      <p:sp>
        <p:nvSpPr>
          <p:cNvPr id="149" name="Shape 147"/>
          <p:cNvSpPr/>
          <p:nvPr/>
        </p:nvSpPr>
        <p:spPr>
          <a:xfrm>
            <a:off x="320675" y="9458327"/>
            <a:ext cx="2808288" cy="577850"/>
          </a:xfrm>
          <a:custGeom>
            <a:avLst/>
            <a:gdLst/>
            <a:ahLst/>
            <a:cxnLst/>
            <a:rect l="l" t="t" r="r" b="b"/>
            <a:pathLst>
              <a:path w="2808288" h="577850">
                <a:moveTo>
                  <a:pt x="63500" y="0"/>
                </a:moveTo>
                <a:lnTo>
                  <a:pt x="2744788" y="0"/>
                </a:lnTo>
                <a:cubicBezTo>
                  <a:pt x="2779858" y="0"/>
                  <a:pt x="2808288" y="28430"/>
                  <a:pt x="2808288" y="63500"/>
                </a:cubicBezTo>
                <a:lnTo>
                  <a:pt x="2808288" y="514350"/>
                </a:lnTo>
                <a:cubicBezTo>
                  <a:pt x="2808288" y="549420"/>
                  <a:pt x="2779858" y="577850"/>
                  <a:pt x="2744788" y="577850"/>
                </a:cubicBezTo>
                <a:lnTo>
                  <a:pt x="63500" y="577850"/>
                </a:lnTo>
                <a:cubicBezTo>
                  <a:pt x="28430" y="577850"/>
                  <a:pt x="0" y="549420"/>
                  <a:pt x="0" y="5143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00A4B5">
              <a:alpha val="10196"/>
            </a:srgbClr>
          </a:solidFill>
          <a:ln w="10160">
            <a:solidFill>
              <a:srgbClr val="00A4B5">
                <a:alpha val="30196"/>
              </a:srgbClr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383381" y="9556750"/>
            <a:ext cx="2682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00A4B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WEBM</a:t>
            </a:r>
            <a:endParaRPr lang="en-US" sz="1600" dirty="0"/>
          </a:p>
        </p:txBody>
      </p:sp>
      <p:sp>
        <p:nvSpPr>
          <p:cNvPr id="151" name="Text 149"/>
          <p:cNvSpPr/>
          <p:nvPr/>
        </p:nvSpPr>
        <p:spPr>
          <a:xfrm>
            <a:off x="391319" y="9779000"/>
            <a:ext cx="2667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Video</a:t>
            </a:r>
            <a:endParaRPr lang="en-US" sz="1600" dirty="0"/>
          </a:p>
        </p:txBody>
      </p:sp>
      <p:sp>
        <p:nvSpPr>
          <p:cNvPr id="152" name="Shape 150"/>
          <p:cNvSpPr/>
          <p:nvPr/>
        </p:nvSpPr>
        <p:spPr>
          <a:xfrm>
            <a:off x="3233738" y="9458327"/>
            <a:ext cx="2808288" cy="577850"/>
          </a:xfrm>
          <a:custGeom>
            <a:avLst/>
            <a:gdLst/>
            <a:ahLst/>
            <a:cxnLst/>
            <a:rect l="l" t="t" r="r" b="b"/>
            <a:pathLst>
              <a:path w="2808288" h="577850">
                <a:moveTo>
                  <a:pt x="63500" y="0"/>
                </a:moveTo>
                <a:lnTo>
                  <a:pt x="2744788" y="0"/>
                </a:lnTo>
                <a:cubicBezTo>
                  <a:pt x="2779858" y="0"/>
                  <a:pt x="2808288" y="28430"/>
                  <a:pt x="2808288" y="63500"/>
                </a:cubicBezTo>
                <a:lnTo>
                  <a:pt x="2808288" y="514350"/>
                </a:lnTo>
                <a:cubicBezTo>
                  <a:pt x="2808288" y="549420"/>
                  <a:pt x="2779858" y="577850"/>
                  <a:pt x="2744788" y="577850"/>
                </a:cubicBezTo>
                <a:lnTo>
                  <a:pt x="63500" y="577850"/>
                </a:lnTo>
                <a:cubicBezTo>
                  <a:pt x="28430" y="577850"/>
                  <a:pt x="0" y="549420"/>
                  <a:pt x="0" y="5143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00A4B5">
              <a:alpha val="10196"/>
            </a:srgbClr>
          </a:solidFill>
          <a:ln w="10160">
            <a:solidFill>
              <a:srgbClr val="00A4B5">
                <a:alpha val="30196"/>
              </a:srgbClr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3296444" y="9556750"/>
            <a:ext cx="2682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00A4B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WEBP</a:t>
            </a:r>
            <a:endParaRPr lang="en-US" sz="1600" dirty="0"/>
          </a:p>
        </p:txBody>
      </p:sp>
      <p:sp>
        <p:nvSpPr>
          <p:cNvPr id="154" name="Text 152"/>
          <p:cNvSpPr/>
          <p:nvPr/>
        </p:nvSpPr>
        <p:spPr>
          <a:xfrm>
            <a:off x="3304381" y="9779000"/>
            <a:ext cx="2667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Image</a:t>
            </a:r>
            <a:endParaRPr lang="en-US" sz="1600" dirty="0"/>
          </a:p>
        </p:txBody>
      </p:sp>
      <p:sp>
        <p:nvSpPr>
          <p:cNvPr id="155" name="Shape 153"/>
          <p:cNvSpPr/>
          <p:nvPr/>
        </p:nvSpPr>
        <p:spPr>
          <a:xfrm>
            <a:off x="6146800" y="9458327"/>
            <a:ext cx="2808288" cy="577850"/>
          </a:xfrm>
          <a:custGeom>
            <a:avLst/>
            <a:gdLst/>
            <a:ahLst/>
            <a:cxnLst/>
            <a:rect l="l" t="t" r="r" b="b"/>
            <a:pathLst>
              <a:path w="2808288" h="577850">
                <a:moveTo>
                  <a:pt x="63500" y="0"/>
                </a:moveTo>
                <a:lnTo>
                  <a:pt x="2744788" y="0"/>
                </a:lnTo>
                <a:cubicBezTo>
                  <a:pt x="2779858" y="0"/>
                  <a:pt x="2808288" y="28430"/>
                  <a:pt x="2808288" y="63500"/>
                </a:cubicBezTo>
                <a:lnTo>
                  <a:pt x="2808288" y="514350"/>
                </a:lnTo>
                <a:cubicBezTo>
                  <a:pt x="2808288" y="549420"/>
                  <a:pt x="2779858" y="577850"/>
                  <a:pt x="2744788" y="577850"/>
                </a:cubicBezTo>
                <a:lnTo>
                  <a:pt x="63500" y="577850"/>
                </a:lnTo>
                <a:cubicBezTo>
                  <a:pt x="28430" y="577850"/>
                  <a:pt x="0" y="549420"/>
                  <a:pt x="0" y="5143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F48120">
              <a:alpha val="10196"/>
            </a:srgbClr>
          </a:solidFill>
          <a:ln w="10160">
            <a:solidFill>
              <a:srgbClr val="F48120">
                <a:alpha val="30196"/>
              </a:srgbClr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6209506" y="9556750"/>
            <a:ext cx="2682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F481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WOFF</a:t>
            </a:r>
            <a:endParaRPr lang="en-US" sz="1600" dirty="0"/>
          </a:p>
        </p:txBody>
      </p:sp>
      <p:sp>
        <p:nvSpPr>
          <p:cNvPr id="157" name="Text 155"/>
          <p:cNvSpPr/>
          <p:nvPr/>
        </p:nvSpPr>
        <p:spPr>
          <a:xfrm>
            <a:off x="6217444" y="9779000"/>
            <a:ext cx="2667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Font</a:t>
            </a:r>
            <a:endParaRPr lang="en-US" sz="1600" dirty="0"/>
          </a:p>
        </p:txBody>
      </p:sp>
      <p:sp>
        <p:nvSpPr>
          <p:cNvPr id="158" name="Shape 156"/>
          <p:cNvSpPr/>
          <p:nvPr/>
        </p:nvSpPr>
        <p:spPr>
          <a:xfrm>
            <a:off x="9059863" y="9458327"/>
            <a:ext cx="2808288" cy="577850"/>
          </a:xfrm>
          <a:custGeom>
            <a:avLst/>
            <a:gdLst/>
            <a:ahLst/>
            <a:cxnLst/>
            <a:rect l="l" t="t" r="r" b="b"/>
            <a:pathLst>
              <a:path w="2808288" h="577850">
                <a:moveTo>
                  <a:pt x="63500" y="0"/>
                </a:moveTo>
                <a:lnTo>
                  <a:pt x="2744788" y="0"/>
                </a:lnTo>
                <a:cubicBezTo>
                  <a:pt x="2779858" y="0"/>
                  <a:pt x="2808288" y="28430"/>
                  <a:pt x="2808288" y="63500"/>
                </a:cubicBezTo>
                <a:lnTo>
                  <a:pt x="2808288" y="514350"/>
                </a:lnTo>
                <a:cubicBezTo>
                  <a:pt x="2808288" y="549420"/>
                  <a:pt x="2779858" y="577850"/>
                  <a:pt x="2744788" y="577850"/>
                </a:cubicBezTo>
                <a:lnTo>
                  <a:pt x="63500" y="577850"/>
                </a:lnTo>
                <a:cubicBezTo>
                  <a:pt x="28430" y="577850"/>
                  <a:pt x="0" y="549420"/>
                  <a:pt x="0" y="5143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F48120">
              <a:alpha val="10196"/>
            </a:srgbClr>
          </a:solidFill>
          <a:ln w="10160">
            <a:solidFill>
              <a:srgbClr val="F48120">
                <a:alpha val="30196"/>
              </a:srgbClr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9122569" y="9556750"/>
            <a:ext cx="2682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F481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WOFF2</a:t>
            </a:r>
            <a:endParaRPr lang="en-US" sz="1600" dirty="0"/>
          </a:p>
        </p:txBody>
      </p:sp>
      <p:sp>
        <p:nvSpPr>
          <p:cNvPr id="160" name="Text 158"/>
          <p:cNvSpPr/>
          <p:nvPr/>
        </p:nvSpPr>
        <p:spPr>
          <a:xfrm>
            <a:off x="9130507" y="9779000"/>
            <a:ext cx="2667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Font</a:t>
            </a:r>
            <a:endParaRPr lang="en-US" sz="1600" dirty="0"/>
          </a:p>
        </p:txBody>
      </p:sp>
      <p:sp>
        <p:nvSpPr>
          <p:cNvPr id="161" name="Shape 159"/>
          <p:cNvSpPr/>
          <p:nvPr/>
        </p:nvSpPr>
        <p:spPr>
          <a:xfrm>
            <a:off x="320675" y="10137777"/>
            <a:ext cx="2808288" cy="577850"/>
          </a:xfrm>
          <a:custGeom>
            <a:avLst/>
            <a:gdLst/>
            <a:ahLst/>
            <a:cxnLst/>
            <a:rect l="l" t="t" r="r" b="b"/>
            <a:pathLst>
              <a:path w="2808288" h="577850">
                <a:moveTo>
                  <a:pt x="63500" y="0"/>
                </a:moveTo>
                <a:lnTo>
                  <a:pt x="2744788" y="0"/>
                </a:lnTo>
                <a:cubicBezTo>
                  <a:pt x="2779858" y="0"/>
                  <a:pt x="2808288" y="28430"/>
                  <a:pt x="2808288" y="63500"/>
                </a:cubicBezTo>
                <a:lnTo>
                  <a:pt x="2808288" y="514350"/>
                </a:lnTo>
                <a:cubicBezTo>
                  <a:pt x="2808288" y="549420"/>
                  <a:pt x="2779858" y="577850"/>
                  <a:pt x="2744788" y="577850"/>
                </a:cubicBezTo>
                <a:lnTo>
                  <a:pt x="63500" y="577850"/>
                </a:lnTo>
                <a:cubicBezTo>
                  <a:pt x="28430" y="577850"/>
                  <a:pt x="0" y="549420"/>
                  <a:pt x="0" y="5143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F48120">
              <a:alpha val="10196"/>
            </a:srgbClr>
          </a:solidFill>
          <a:ln w="10160">
            <a:solidFill>
              <a:srgbClr val="F48120">
                <a:alpha val="30196"/>
              </a:srgbClr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383381" y="10236201"/>
            <a:ext cx="2682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F481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XLS</a:t>
            </a:r>
            <a:endParaRPr lang="en-US" sz="1600" dirty="0"/>
          </a:p>
        </p:txBody>
      </p:sp>
      <p:sp>
        <p:nvSpPr>
          <p:cNvPr id="163" name="Text 161"/>
          <p:cNvSpPr/>
          <p:nvPr/>
        </p:nvSpPr>
        <p:spPr>
          <a:xfrm>
            <a:off x="391319" y="10458451"/>
            <a:ext cx="2667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Spreadsheet</a:t>
            </a:r>
            <a:endParaRPr lang="en-US" sz="1600" dirty="0"/>
          </a:p>
        </p:txBody>
      </p:sp>
      <p:sp>
        <p:nvSpPr>
          <p:cNvPr id="164" name="Shape 162"/>
          <p:cNvSpPr/>
          <p:nvPr/>
        </p:nvSpPr>
        <p:spPr>
          <a:xfrm>
            <a:off x="3233738" y="10137777"/>
            <a:ext cx="2808288" cy="577850"/>
          </a:xfrm>
          <a:custGeom>
            <a:avLst/>
            <a:gdLst/>
            <a:ahLst/>
            <a:cxnLst/>
            <a:rect l="l" t="t" r="r" b="b"/>
            <a:pathLst>
              <a:path w="2808288" h="577850">
                <a:moveTo>
                  <a:pt x="63500" y="0"/>
                </a:moveTo>
                <a:lnTo>
                  <a:pt x="2744788" y="0"/>
                </a:lnTo>
                <a:cubicBezTo>
                  <a:pt x="2779858" y="0"/>
                  <a:pt x="2808288" y="28430"/>
                  <a:pt x="2808288" y="63500"/>
                </a:cubicBezTo>
                <a:lnTo>
                  <a:pt x="2808288" y="514350"/>
                </a:lnTo>
                <a:cubicBezTo>
                  <a:pt x="2808288" y="549420"/>
                  <a:pt x="2779858" y="577850"/>
                  <a:pt x="2744788" y="577850"/>
                </a:cubicBezTo>
                <a:lnTo>
                  <a:pt x="63500" y="577850"/>
                </a:lnTo>
                <a:cubicBezTo>
                  <a:pt x="28430" y="577850"/>
                  <a:pt x="0" y="549420"/>
                  <a:pt x="0" y="5143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F48120">
              <a:alpha val="10196"/>
            </a:srgbClr>
          </a:solidFill>
          <a:ln w="10160">
            <a:solidFill>
              <a:srgbClr val="F48120">
                <a:alpha val="30196"/>
              </a:srgbClr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3296444" y="10236201"/>
            <a:ext cx="2682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F481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XLSX</a:t>
            </a:r>
            <a:endParaRPr lang="en-US" sz="1600" dirty="0"/>
          </a:p>
        </p:txBody>
      </p:sp>
      <p:sp>
        <p:nvSpPr>
          <p:cNvPr id="166" name="Text 164"/>
          <p:cNvSpPr/>
          <p:nvPr/>
        </p:nvSpPr>
        <p:spPr>
          <a:xfrm>
            <a:off x="3304381" y="10458451"/>
            <a:ext cx="2667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Spreadsheet</a:t>
            </a:r>
            <a:endParaRPr lang="en-US" sz="1600" dirty="0"/>
          </a:p>
        </p:txBody>
      </p:sp>
      <p:sp>
        <p:nvSpPr>
          <p:cNvPr id="167" name="Shape 165"/>
          <p:cNvSpPr/>
          <p:nvPr/>
        </p:nvSpPr>
        <p:spPr>
          <a:xfrm>
            <a:off x="6146800" y="10137777"/>
            <a:ext cx="2808288" cy="577850"/>
          </a:xfrm>
          <a:custGeom>
            <a:avLst/>
            <a:gdLst/>
            <a:ahLst/>
            <a:cxnLst/>
            <a:rect l="l" t="t" r="r" b="b"/>
            <a:pathLst>
              <a:path w="2808288" h="577850">
                <a:moveTo>
                  <a:pt x="63500" y="0"/>
                </a:moveTo>
                <a:lnTo>
                  <a:pt x="2744788" y="0"/>
                </a:lnTo>
                <a:cubicBezTo>
                  <a:pt x="2779858" y="0"/>
                  <a:pt x="2808288" y="28430"/>
                  <a:pt x="2808288" y="63500"/>
                </a:cubicBezTo>
                <a:lnTo>
                  <a:pt x="2808288" y="514350"/>
                </a:lnTo>
                <a:cubicBezTo>
                  <a:pt x="2808288" y="549420"/>
                  <a:pt x="2779858" y="577850"/>
                  <a:pt x="2744788" y="577850"/>
                </a:cubicBezTo>
                <a:lnTo>
                  <a:pt x="63500" y="577850"/>
                </a:lnTo>
                <a:cubicBezTo>
                  <a:pt x="28430" y="577850"/>
                  <a:pt x="0" y="549420"/>
                  <a:pt x="0" y="5143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F48120">
              <a:alpha val="10196"/>
            </a:srgbClr>
          </a:solidFill>
          <a:ln w="10160">
            <a:solidFill>
              <a:srgbClr val="F48120">
                <a:alpha val="30196"/>
              </a:srgbClr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6209506" y="10236201"/>
            <a:ext cx="2682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F481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ZIP</a:t>
            </a:r>
            <a:endParaRPr lang="en-US" sz="1600" dirty="0"/>
          </a:p>
        </p:txBody>
      </p:sp>
      <p:sp>
        <p:nvSpPr>
          <p:cNvPr id="169" name="Text 167"/>
          <p:cNvSpPr/>
          <p:nvPr/>
        </p:nvSpPr>
        <p:spPr>
          <a:xfrm>
            <a:off x="6217444" y="10458451"/>
            <a:ext cx="2667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Archive</a:t>
            </a:r>
            <a:endParaRPr lang="en-US" sz="1600" dirty="0"/>
          </a:p>
        </p:txBody>
      </p:sp>
      <p:sp>
        <p:nvSpPr>
          <p:cNvPr id="170" name="Shape 168"/>
          <p:cNvSpPr/>
          <p:nvPr/>
        </p:nvSpPr>
        <p:spPr>
          <a:xfrm>
            <a:off x="9059863" y="10137777"/>
            <a:ext cx="2808288" cy="577850"/>
          </a:xfrm>
          <a:custGeom>
            <a:avLst/>
            <a:gdLst/>
            <a:ahLst/>
            <a:cxnLst/>
            <a:rect l="l" t="t" r="r" b="b"/>
            <a:pathLst>
              <a:path w="2808288" h="577850">
                <a:moveTo>
                  <a:pt x="63500" y="0"/>
                </a:moveTo>
                <a:lnTo>
                  <a:pt x="2744788" y="0"/>
                </a:lnTo>
                <a:cubicBezTo>
                  <a:pt x="2779858" y="0"/>
                  <a:pt x="2808288" y="28430"/>
                  <a:pt x="2808288" y="63500"/>
                </a:cubicBezTo>
                <a:lnTo>
                  <a:pt x="2808288" y="514350"/>
                </a:lnTo>
                <a:cubicBezTo>
                  <a:pt x="2808288" y="549420"/>
                  <a:pt x="2779858" y="577850"/>
                  <a:pt x="2744788" y="577850"/>
                </a:cubicBezTo>
                <a:lnTo>
                  <a:pt x="63500" y="577850"/>
                </a:lnTo>
                <a:cubicBezTo>
                  <a:pt x="28430" y="577850"/>
                  <a:pt x="0" y="549420"/>
                  <a:pt x="0" y="5143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F48120">
              <a:alpha val="10196"/>
            </a:srgbClr>
          </a:solidFill>
          <a:ln w="10160">
            <a:solidFill>
              <a:srgbClr val="F48120">
                <a:alpha val="30196"/>
              </a:srgbClr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9122569" y="10236201"/>
            <a:ext cx="2682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F481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ZST</a:t>
            </a:r>
            <a:endParaRPr lang="en-US" sz="1600" dirty="0"/>
          </a:p>
        </p:txBody>
      </p:sp>
      <p:sp>
        <p:nvSpPr>
          <p:cNvPr id="172" name="Text 170"/>
          <p:cNvSpPr/>
          <p:nvPr/>
        </p:nvSpPr>
        <p:spPr>
          <a:xfrm>
            <a:off x="9130507" y="10458451"/>
            <a:ext cx="2667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Archive</a:t>
            </a:r>
            <a:endParaRPr lang="en-US" sz="1600" dirty="0"/>
          </a:p>
        </p:txBody>
      </p:sp>
      <p:sp>
        <p:nvSpPr>
          <p:cNvPr id="173" name="Shape 171"/>
          <p:cNvSpPr/>
          <p:nvPr/>
        </p:nvSpPr>
        <p:spPr>
          <a:xfrm>
            <a:off x="333375" y="10845799"/>
            <a:ext cx="11541125" cy="666750"/>
          </a:xfrm>
          <a:custGeom>
            <a:avLst/>
            <a:gdLst/>
            <a:ahLst/>
            <a:cxnLst/>
            <a:rect l="l" t="t" r="r" b="b"/>
            <a:pathLst>
              <a:path w="11541125" h="666750">
                <a:moveTo>
                  <a:pt x="0" y="0"/>
                </a:moveTo>
                <a:lnTo>
                  <a:pt x="11477624" y="0"/>
                </a:lnTo>
                <a:cubicBezTo>
                  <a:pt x="11512695" y="0"/>
                  <a:pt x="11541125" y="28430"/>
                  <a:pt x="11541125" y="63501"/>
                </a:cubicBezTo>
                <a:lnTo>
                  <a:pt x="11541125" y="603249"/>
                </a:lnTo>
                <a:cubicBezTo>
                  <a:pt x="11541125" y="638320"/>
                  <a:pt x="11512695" y="666750"/>
                  <a:pt x="11477624" y="666750"/>
                </a:cubicBezTo>
                <a:lnTo>
                  <a:pt x="0" y="666750"/>
                </a:lnTo>
                <a:lnTo>
                  <a:pt x="0" y="0"/>
                </a:lnTo>
                <a:close/>
              </a:path>
            </a:pathLst>
          </a:custGeom>
          <a:solidFill>
            <a:srgbClr val="FEF2F2"/>
          </a:solidFill>
          <a:ln/>
        </p:spPr>
      </p:sp>
      <p:sp>
        <p:nvSpPr>
          <p:cNvPr id="174" name="Shape 172"/>
          <p:cNvSpPr/>
          <p:nvPr/>
        </p:nvSpPr>
        <p:spPr>
          <a:xfrm>
            <a:off x="333375" y="10845799"/>
            <a:ext cx="31750" cy="66675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0" y="666750"/>
                </a:lnTo>
                <a:lnTo>
                  <a:pt x="0" y="0"/>
                </a:ln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175" name="Shape 173"/>
          <p:cNvSpPr/>
          <p:nvPr/>
        </p:nvSpPr>
        <p:spPr>
          <a:xfrm>
            <a:off x="496094" y="11004549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0"/>
                </a:moveTo>
                <a:cubicBezTo>
                  <a:pt x="83933" y="0"/>
                  <a:pt x="88119" y="2511"/>
                  <a:pt x="90289" y="6511"/>
                </a:cubicBezTo>
                <a:lnTo>
                  <a:pt x="157262" y="130535"/>
                </a:lnTo>
                <a:cubicBezTo>
                  <a:pt x="159339" y="134379"/>
                  <a:pt x="159246" y="139030"/>
                  <a:pt x="157014" y="142782"/>
                </a:cubicBezTo>
                <a:cubicBezTo>
                  <a:pt x="154781" y="146534"/>
                  <a:pt x="150719" y="148828"/>
                  <a:pt x="146348" y="148828"/>
                </a:cubicBezTo>
                <a:lnTo>
                  <a:pt x="12402" y="148828"/>
                </a:lnTo>
                <a:cubicBezTo>
                  <a:pt x="8031" y="148828"/>
                  <a:pt x="4000" y="146534"/>
                  <a:pt x="1736" y="142782"/>
                </a:cubicBezTo>
                <a:cubicBezTo>
                  <a:pt x="-527" y="139030"/>
                  <a:pt x="-589" y="134379"/>
                  <a:pt x="1488" y="130535"/>
                </a:cubicBezTo>
                <a:lnTo>
                  <a:pt x="68461" y="6511"/>
                </a:lnTo>
                <a:cubicBezTo>
                  <a:pt x="70631" y="2511"/>
                  <a:pt x="74817" y="0"/>
                  <a:pt x="79375" y="0"/>
                </a:cubicBezTo>
                <a:close/>
                <a:moveTo>
                  <a:pt x="79375" y="52090"/>
                </a:moveTo>
                <a:cubicBezTo>
                  <a:pt x="75251" y="52090"/>
                  <a:pt x="71934" y="55407"/>
                  <a:pt x="71934" y="59531"/>
                </a:cubicBezTo>
                <a:lnTo>
                  <a:pt x="71934" y="94258"/>
                </a:lnTo>
                <a:cubicBezTo>
                  <a:pt x="71934" y="98382"/>
                  <a:pt x="75251" y="101699"/>
                  <a:pt x="79375" y="101699"/>
                </a:cubicBezTo>
                <a:cubicBezTo>
                  <a:pt x="83499" y="101699"/>
                  <a:pt x="86816" y="98382"/>
                  <a:pt x="86816" y="94258"/>
                </a:cubicBezTo>
                <a:lnTo>
                  <a:pt x="86816" y="59531"/>
                </a:lnTo>
                <a:cubicBezTo>
                  <a:pt x="86816" y="55407"/>
                  <a:pt x="83499" y="52090"/>
                  <a:pt x="79375" y="52090"/>
                </a:cubicBezTo>
                <a:close/>
                <a:moveTo>
                  <a:pt x="87654" y="119062"/>
                </a:moveTo>
                <a:cubicBezTo>
                  <a:pt x="87842" y="115990"/>
                  <a:pt x="86309" y="113066"/>
                  <a:pt x="83675" y="111473"/>
                </a:cubicBezTo>
                <a:cubicBezTo>
                  <a:pt x="81041" y="109879"/>
                  <a:pt x="77740" y="109879"/>
                  <a:pt x="75106" y="111473"/>
                </a:cubicBezTo>
                <a:cubicBezTo>
                  <a:pt x="72472" y="113066"/>
                  <a:pt x="70939" y="115990"/>
                  <a:pt x="71127" y="119062"/>
                </a:cubicBezTo>
                <a:cubicBezTo>
                  <a:pt x="70939" y="122135"/>
                  <a:pt x="72472" y="125059"/>
                  <a:pt x="75106" y="126652"/>
                </a:cubicBezTo>
                <a:cubicBezTo>
                  <a:pt x="77740" y="128246"/>
                  <a:pt x="81041" y="128246"/>
                  <a:pt x="83675" y="126652"/>
                </a:cubicBezTo>
                <a:cubicBezTo>
                  <a:pt x="86309" y="125059"/>
                  <a:pt x="87842" y="122135"/>
                  <a:pt x="87654" y="119062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176" name="Text 174"/>
          <p:cNvSpPr/>
          <p:nvPr/>
        </p:nvSpPr>
        <p:spPr>
          <a:xfrm>
            <a:off x="769938" y="10972799"/>
            <a:ext cx="717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C1000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 Cached by Default</a:t>
            </a:r>
            <a:endParaRPr lang="en-US" sz="1600" dirty="0"/>
          </a:p>
        </p:txBody>
      </p:sp>
      <p:sp>
        <p:nvSpPr>
          <p:cNvPr id="177" name="Text 175"/>
          <p:cNvSpPr/>
          <p:nvPr/>
        </p:nvSpPr>
        <p:spPr>
          <a:xfrm>
            <a:off x="769938" y="11195049"/>
            <a:ext cx="717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700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HTML and JSON files are NOT cached by default.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E700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cache these, you need to create a Cache Rule with "Cache Everything" setting.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1512" y="361512"/>
            <a:ext cx="11541278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spc="57" kern="0" dirty="0">
                <a:solidFill>
                  <a:srgbClr val="F481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DEFAULT BEHAVIOR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1512" y="650722"/>
            <a:ext cx="11631656" cy="361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62" b="1" dirty="0">
                <a:solidFill>
                  <a:srgbClr val="1D1F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Default Edge Cache TTL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1512" y="1084537"/>
            <a:ext cx="11550316" cy="253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1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When no cache-control directive or expires header is present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1512" y="1554503"/>
            <a:ext cx="5630553" cy="5305192"/>
          </a:xfrm>
          <a:custGeom>
            <a:avLst/>
            <a:gdLst/>
            <a:ahLst/>
            <a:cxnLst/>
            <a:rect l="l" t="t" r="r" b="b"/>
            <a:pathLst>
              <a:path w="5630553" h="5305192">
                <a:moveTo>
                  <a:pt x="108438" y="0"/>
                </a:moveTo>
                <a:lnTo>
                  <a:pt x="5522115" y="0"/>
                </a:lnTo>
                <a:cubicBezTo>
                  <a:pt x="5582004" y="0"/>
                  <a:pt x="5630553" y="48549"/>
                  <a:pt x="5630553" y="108438"/>
                </a:cubicBezTo>
                <a:lnTo>
                  <a:pt x="5630553" y="5196754"/>
                </a:lnTo>
                <a:cubicBezTo>
                  <a:pt x="5630553" y="5256602"/>
                  <a:pt x="5581964" y="5305192"/>
                  <a:pt x="5522115" y="5305192"/>
                </a:cubicBezTo>
                <a:lnTo>
                  <a:pt x="108438" y="5305192"/>
                </a:lnTo>
                <a:cubicBezTo>
                  <a:pt x="48549" y="5305192"/>
                  <a:pt x="0" y="5256643"/>
                  <a:pt x="0" y="5196754"/>
                </a:cubicBezTo>
                <a:lnTo>
                  <a:pt x="0" y="108438"/>
                </a:lnTo>
                <a:cubicBezTo>
                  <a:pt x="0" y="48589"/>
                  <a:pt x="48589" y="0"/>
                  <a:pt x="108438" y="0"/>
                </a:cubicBezTo>
                <a:close/>
              </a:path>
            </a:pathLst>
          </a:custGeom>
          <a:solidFill>
            <a:srgbClr val="1D1F2B"/>
          </a:solidFill>
          <a:ln/>
        </p:spPr>
      </p:sp>
      <p:sp>
        <p:nvSpPr>
          <p:cNvPr id="6" name="Shape 4"/>
          <p:cNvSpPr/>
          <p:nvPr/>
        </p:nvSpPr>
        <p:spPr>
          <a:xfrm>
            <a:off x="605533" y="1930361"/>
            <a:ext cx="216907" cy="216907"/>
          </a:xfrm>
          <a:custGeom>
            <a:avLst/>
            <a:gdLst/>
            <a:ahLst/>
            <a:cxnLst/>
            <a:rect l="l" t="t" r="r" b="b"/>
            <a:pathLst>
              <a:path w="216907" h="216907">
                <a:moveTo>
                  <a:pt x="108454" y="0"/>
                </a:moveTo>
                <a:cubicBezTo>
                  <a:pt x="168311" y="0"/>
                  <a:pt x="216907" y="48596"/>
                  <a:pt x="216907" y="108454"/>
                </a:cubicBezTo>
                <a:cubicBezTo>
                  <a:pt x="216907" y="168311"/>
                  <a:pt x="168311" y="216907"/>
                  <a:pt x="108454" y="216907"/>
                </a:cubicBezTo>
                <a:cubicBezTo>
                  <a:pt x="48596" y="216907"/>
                  <a:pt x="0" y="168311"/>
                  <a:pt x="0" y="108454"/>
                </a:cubicBezTo>
                <a:cubicBezTo>
                  <a:pt x="0" y="48596"/>
                  <a:pt x="48596" y="0"/>
                  <a:pt x="108454" y="0"/>
                </a:cubicBezTo>
                <a:close/>
                <a:moveTo>
                  <a:pt x="98286" y="50838"/>
                </a:moveTo>
                <a:lnTo>
                  <a:pt x="98286" y="108454"/>
                </a:lnTo>
                <a:cubicBezTo>
                  <a:pt x="98286" y="111843"/>
                  <a:pt x="99981" y="115020"/>
                  <a:pt x="102819" y="116927"/>
                </a:cubicBezTo>
                <a:lnTo>
                  <a:pt x="143489" y="144040"/>
                </a:lnTo>
                <a:cubicBezTo>
                  <a:pt x="148149" y="147175"/>
                  <a:pt x="154462" y="145904"/>
                  <a:pt x="157597" y="141202"/>
                </a:cubicBezTo>
                <a:cubicBezTo>
                  <a:pt x="160732" y="136499"/>
                  <a:pt x="159461" y="130229"/>
                  <a:pt x="154758" y="127094"/>
                </a:cubicBezTo>
                <a:lnTo>
                  <a:pt x="118621" y="103031"/>
                </a:lnTo>
                <a:lnTo>
                  <a:pt x="118621" y="50838"/>
                </a:lnTo>
                <a:cubicBezTo>
                  <a:pt x="118621" y="45203"/>
                  <a:pt x="114088" y="40670"/>
                  <a:pt x="108454" y="40670"/>
                </a:cubicBezTo>
                <a:cubicBezTo>
                  <a:pt x="102819" y="40670"/>
                  <a:pt x="98286" y="45203"/>
                  <a:pt x="98286" y="50838"/>
                </a:cubicBez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7" name="Text 5"/>
          <p:cNvSpPr/>
          <p:nvPr/>
        </p:nvSpPr>
        <p:spPr>
          <a:xfrm>
            <a:off x="849554" y="1894325"/>
            <a:ext cx="5034058" cy="289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Default TTL Values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78420" y="2328025"/>
            <a:ext cx="5196738" cy="723024"/>
          </a:xfrm>
          <a:custGeom>
            <a:avLst/>
            <a:gdLst/>
            <a:ahLst/>
            <a:cxnLst/>
            <a:rect l="l" t="t" r="r" b="b"/>
            <a:pathLst>
              <a:path w="5196738" h="723024">
                <a:moveTo>
                  <a:pt x="72302" y="0"/>
                </a:moveTo>
                <a:lnTo>
                  <a:pt x="5124436" y="0"/>
                </a:lnTo>
                <a:cubicBezTo>
                  <a:pt x="5164367" y="0"/>
                  <a:pt x="5196738" y="32371"/>
                  <a:pt x="5196738" y="72302"/>
                </a:cubicBezTo>
                <a:lnTo>
                  <a:pt x="5196738" y="650722"/>
                </a:lnTo>
                <a:cubicBezTo>
                  <a:pt x="5196738" y="690654"/>
                  <a:pt x="5164367" y="723024"/>
                  <a:pt x="5124436" y="723024"/>
                </a:cubicBezTo>
                <a:lnTo>
                  <a:pt x="72302" y="723024"/>
                </a:lnTo>
                <a:cubicBezTo>
                  <a:pt x="32371" y="723024"/>
                  <a:pt x="0" y="690654"/>
                  <a:pt x="0" y="650722"/>
                </a:cubicBezTo>
                <a:lnTo>
                  <a:pt x="0" y="72302"/>
                </a:lnTo>
                <a:cubicBezTo>
                  <a:pt x="0" y="32371"/>
                  <a:pt x="32371" y="0"/>
                  <a:pt x="7230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23024" y="2472630"/>
            <a:ext cx="433815" cy="433815"/>
          </a:xfrm>
          <a:custGeom>
            <a:avLst/>
            <a:gdLst/>
            <a:ahLst/>
            <a:cxnLst/>
            <a:rect l="l" t="t" r="r" b="b"/>
            <a:pathLst>
              <a:path w="433815" h="433815">
                <a:moveTo>
                  <a:pt x="72304" y="0"/>
                </a:moveTo>
                <a:lnTo>
                  <a:pt x="361511" y="0"/>
                </a:lnTo>
                <a:cubicBezTo>
                  <a:pt x="401443" y="0"/>
                  <a:pt x="433815" y="32372"/>
                  <a:pt x="433815" y="72304"/>
                </a:cubicBezTo>
                <a:lnTo>
                  <a:pt x="433815" y="361511"/>
                </a:lnTo>
                <a:cubicBezTo>
                  <a:pt x="433815" y="401443"/>
                  <a:pt x="401443" y="433815"/>
                  <a:pt x="361511" y="433815"/>
                </a:cubicBezTo>
                <a:lnTo>
                  <a:pt x="72304" y="433815"/>
                </a:lnTo>
                <a:cubicBezTo>
                  <a:pt x="32372" y="433815"/>
                  <a:pt x="0" y="401443"/>
                  <a:pt x="0" y="361511"/>
                </a:cubicBezTo>
                <a:lnTo>
                  <a:pt x="0" y="72304"/>
                </a:lnTo>
                <a:cubicBezTo>
                  <a:pt x="0" y="32372"/>
                  <a:pt x="32372" y="0"/>
                  <a:pt x="72304" y="0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10" name="Text 8"/>
          <p:cNvSpPr/>
          <p:nvPr/>
        </p:nvSpPr>
        <p:spPr>
          <a:xfrm>
            <a:off x="682354" y="2472630"/>
            <a:ext cx="515155" cy="43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8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200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65293" y="2563008"/>
            <a:ext cx="298248" cy="253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00863" y="2544932"/>
            <a:ext cx="831478" cy="289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8" b="1" dirty="0">
                <a:solidFill>
                  <a:srgbClr val="F481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120 min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78420" y="3195654"/>
            <a:ext cx="5196738" cy="723024"/>
          </a:xfrm>
          <a:custGeom>
            <a:avLst/>
            <a:gdLst/>
            <a:ahLst/>
            <a:cxnLst/>
            <a:rect l="l" t="t" r="r" b="b"/>
            <a:pathLst>
              <a:path w="5196738" h="723024">
                <a:moveTo>
                  <a:pt x="72302" y="0"/>
                </a:moveTo>
                <a:lnTo>
                  <a:pt x="5124436" y="0"/>
                </a:lnTo>
                <a:cubicBezTo>
                  <a:pt x="5164367" y="0"/>
                  <a:pt x="5196738" y="32371"/>
                  <a:pt x="5196738" y="72302"/>
                </a:cubicBezTo>
                <a:lnTo>
                  <a:pt x="5196738" y="650722"/>
                </a:lnTo>
                <a:cubicBezTo>
                  <a:pt x="5196738" y="690654"/>
                  <a:pt x="5164367" y="723024"/>
                  <a:pt x="5124436" y="723024"/>
                </a:cubicBezTo>
                <a:lnTo>
                  <a:pt x="72302" y="723024"/>
                </a:lnTo>
                <a:cubicBezTo>
                  <a:pt x="32371" y="723024"/>
                  <a:pt x="0" y="690654"/>
                  <a:pt x="0" y="650722"/>
                </a:cubicBezTo>
                <a:lnTo>
                  <a:pt x="0" y="72302"/>
                </a:lnTo>
                <a:cubicBezTo>
                  <a:pt x="0" y="32371"/>
                  <a:pt x="32371" y="0"/>
                  <a:pt x="7230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23024" y="3340259"/>
            <a:ext cx="433815" cy="433815"/>
          </a:xfrm>
          <a:custGeom>
            <a:avLst/>
            <a:gdLst/>
            <a:ahLst/>
            <a:cxnLst/>
            <a:rect l="l" t="t" r="r" b="b"/>
            <a:pathLst>
              <a:path w="433815" h="433815">
                <a:moveTo>
                  <a:pt x="72304" y="0"/>
                </a:moveTo>
                <a:lnTo>
                  <a:pt x="361511" y="0"/>
                </a:lnTo>
                <a:cubicBezTo>
                  <a:pt x="401443" y="0"/>
                  <a:pt x="433815" y="32372"/>
                  <a:pt x="433815" y="72304"/>
                </a:cubicBezTo>
                <a:lnTo>
                  <a:pt x="433815" y="361511"/>
                </a:lnTo>
                <a:cubicBezTo>
                  <a:pt x="433815" y="401443"/>
                  <a:pt x="401443" y="433815"/>
                  <a:pt x="361511" y="433815"/>
                </a:cubicBezTo>
                <a:lnTo>
                  <a:pt x="72304" y="433815"/>
                </a:lnTo>
                <a:cubicBezTo>
                  <a:pt x="32372" y="433815"/>
                  <a:pt x="0" y="401443"/>
                  <a:pt x="0" y="361511"/>
                </a:cubicBezTo>
                <a:lnTo>
                  <a:pt x="0" y="72304"/>
                </a:lnTo>
                <a:cubicBezTo>
                  <a:pt x="0" y="32372"/>
                  <a:pt x="32372" y="0"/>
                  <a:pt x="72304" y="0"/>
                </a:cubicBezTo>
                <a:close/>
              </a:path>
            </a:pathLst>
          </a:custGeom>
          <a:solidFill>
            <a:srgbClr val="2B7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82354" y="3340259"/>
            <a:ext cx="515155" cy="43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8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206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65293" y="3430637"/>
            <a:ext cx="515155" cy="253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Partial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900863" y="3412562"/>
            <a:ext cx="831478" cy="289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8" b="1" dirty="0">
                <a:solidFill>
                  <a:srgbClr val="F481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120 min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78420" y="4063284"/>
            <a:ext cx="5196738" cy="723024"/>
          </a:xfrm>
          <a:custGeom>
            <a:avLst/>
            <a:gdLst/>
            <a:ahLst/>
            <a:cxnLst/>
            <a:rect l="l" t="t" r="r" b="b"/>
            <a:pathLst>
              <a:path w="5196738" h="723024">
                <a:moveTo>
                  <a:pt x="72302" y="0"/>
                </a:moveTo>
                <a:lnTo>
                  <a:pt x="5124436" y="0"/>
                </a:lnTo>
                <a:cubicBezTo>
                  <a:pt x="5164367" y="0"/>
                  <a:pt x="5196738" y="32371"/>
                  <a:pt x="5196738" y="72302"/>
                </a:cubicBezTo>
                <a:lnTo>
                  <a:pt x="5196738" y="650722"/>
                </a:lnTo>
                <a:cubicBezTo>
                  <a:pt x="5196738" y="690654"/>
                  <a:pt x="5164367" y="723024"/>
                  <a:pt x="5124436" y="723024"/>
                </a:cubicBezTo>
                <a:lnTo>
                  <a:pt x="72302" y="723024"/>
                </a:lnTo>
                <a:cubicBezTo>
                  <a:pt x="32371" y="723024"/>
                  <a:pt x="0" y="690654"/>
                  <a:pt x="0" y="650722"/>
                </a:cubicBezTo>
                <a:lnTo>
                  <a:pt x="0" y="72302"/>
                </a:lnTo>
                <a:cubicBezTo>
                  <a:pt x="0" y="32371"/>
                  <a:pt x="32371" y="0"/>
                  <a:pt x="7230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23024" y="4207889"/>
            <a:ext cx="433815" cy="433815"/>
          </a:xfrm>
          <a:custGeom>
            <a:avLst/>
            <a:gdLst/>
            <a:ahLst/>
            <a:cxnLst/>
            <a:rect l="l" t="t" r="r" b="b"/>
            <a:pathLst>
              <a:path w="433815" h="433815">
                <a:moveTo>
                  <a:pt x="72304" y="0"/>
                </a:moveTo>
                <a:lnTo>
                  <a:pt x="361511" y="0"/>
                </a:lnTo>
                <a:cubicBezTo>
                  <a:pt x="401443" y="0"/>
                  <a:pt x="433815" y="32372"/>
                  <a:pt x="433815" y="72304"/>
                </a:cubicBezTo>
                <a:lnTo>
                  <a:pt x="433815" y="361511"/>
                </a:lnTo>
                <a:cubicBezTo>
                  <a:pt x="433815" y="401443"/>
                  <a:pt x="401443" y="433815"/>
                  <a:pt x="361511" y="433815"/>
                </a:cubicBezTo>
                <a:lnTo>
                  <a:pt x="72304" y="433815"/>
                </a:lnTo>
                <a:cubicBezTo>
                  <a:pt x="32372" y="433815"/>
                  <a:pt x="0" y="401443"/>
                  <a:pt x="0" y="361511"/>
                </a:cubicBezTo>
                <a:lnTo>
                  <a:pt x="0" y="72304"/>
                </a:lnTo>
                <a:cubicBezTo>
                  <a:pt x="0" y="32372"/>
                  <a:pt x="32372" y="0"/>
                  <a:pt x="72304" y="0"/>
                </a:cubicBezTo>
                <a:close/>
              </a:path>
            </a:pathLst>
          </a:custGeom>
          <a:solidFill>
            <a:srgbClr val="AD46FF"/>
          </a:solidFill>
          <a:ln/>
        </p:spPr>
      </p:sp>
      <p:sp>
        <p:nvSpPr>
          <p:cNvPr id="20" name="Text 18"/>
          <p:cNvSpPr/>
          <p:nvPr/>
        </p:nvSpPr>
        <p:spPr>
          <a:xfrm>
            <a:off x="682354" y="4207889"/>
            <a:ext cx="515155" cy="43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8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301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65293" y="4298267"/>
            <a:ext cx="668798" cy="253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Redirect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900863" y="4280191"/>
            <a:ext cx="831478" cy="289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8" b="1" dirty="0">
                <a:solidFill>
                  <a:srgbClr val="F481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120 min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78420" y="4930913"/>
            <a:ext cx="5196738" cy="723024"/>
          </a:xfrm>
          <a:custGeom>
            <a:avLst/>
            <a:gdLst/>
            <a:ahLst/>
            <a:cxnLst/>
            <a:rect l="l" t="t" r="r" b="b"/>
            <a:pathLst>
              <a:path w="5196738" h="723024">
                <a:moveTo>
                  <a:pt x="72302" y="0"/>
                </a:moveTo>
                <a:lnTo>
                  <a:pt x="5124436" y="0"/>
                </a:lnTo>
                <a:cubicBezTo>
                  <a:pt x="5164367" y="0"/>
                  <a:pt x="5196738" y="32371"/>
                  <a:pt x="5196738" y="72302"/>
                </a:cubicBezTo>
                <a:lnTo>
                  <a:pt x="5196738" y="650722"/>
                </a:lnTo>
                <a:cubicBezTo>
                  <a:pt x="5196738" y="690654"/>
                  <a:pt x="5164367" y="723024"/>
                  <a:pt x="5124436" y="723024"/>
                </a:cubicBezTo>
                <a:lnTo>
                  <a:pt x="72302" y="723024"/>
                </a:lnTo>
                <a:cubicBezTo>
                  <a:pt x="32371" y="723024"/>
                  <a:pt x="0" y="690654"/>
                  <a:pt x="0" y="650722"/>
                </a:cubicBezTo>
                <a:lnTo>
                  <a:pt x="0" y="72302"/>
                </a:lnTo>
                <a:cubicBezTo>
                  <a:pt x="0" y="32371"/>
                  <a:pt x="32371" y="0"/>
                  <a:pt x="7230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723024" y="5075518"/>
            <a:ext cx="433815" cy="433815"/>
          </a:xfrm>
          <a:custGeom>
            <a:avLst/>
            <a:gdLst/>
            <a:ahLst/>
            <a:cxnLst/>
            <a:rect l="l" t="t" r="r" b="b"/>
            <a:pathLst>
              <a:path w="433815" h="433815">
                <a:moveTo>
                  <a:pt x="72304" y="0"/>
                </a:moveTo>
                <a:lnTo>
                  <a:pt x="361511" y="0"/>
                </a:lnTo>
                <a:cubicBezTo>
                  <a:pt x="401443" y="0"/>
                  <a:pt x="433815" y="32372"/>
                  <a:pt x="433815" y="72304"/>
                </a:cubicBezTo>
                <a:lnTo>
                  <a:pt x="433815" y="361511"/>
                </a:lnTo>
                <a:cubicBezTo>
                  <a:pt x="433815" y="401443"/>
                  <a:pt x="401443" y="433815"/>
                  <a:pt x="361511" y="433815"/>
                </a:cubicBezTo>
                <a:lnTo>
                  <a:pt x="72304" y="433815"/>
                </a:lnTo>
                <a:cubicBezTo>
                  <a:pt x="32372" y="433815"/>
                  <a:pt x="0" y="401443"/>
                  <a:pt x="0" y="361511"/>
                </a:cubicBezTo>
                <a:lnTo>
                  <a:pt x="0" y="72304"/>
                </a:lnTo>
                <a:cubicBezTo>
                  <a:pt x="0" y="32372"/>
                  <a:pt x="32372" y="0"/>
                  <a:pt x="72304" y="0"/>
                </a:cubicBezTo>
                <a:close/>
              </a:path>
            </a:pathLst>
          </a:custGeom>
          <a:solidFill>
            <a:srgbClr val="F0B100"/>
          </a:solidFill>
          <a:ln/>
        </p:spPr>
      </p:sp>
      <p:sp>
        <p:nvSpPr>
          <p:cNvPr id="25" name="Text 23"/>
          <p:cNvSpPr/>
          <p:nvPr/>
        </p:nvSpPr>
        <p:spPr>
          <a:xfrm>
            <a:off x="686873" y="5075518"/>
            <a:ext cx="506117" cy="43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302/303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65293" y="5165896"/>
            <a:ext cx="668798" cy="253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Redirect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969550" y="5147820"/>
            <a:ext cx="768213" cy="289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8" b="1" dirty="0">
                <a:solidFill>
                  <a:srgbClr val="F481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 min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8420" y="5798542"/>
            <a:ext cx="5196738" cy="723024"/>
          </a:xfrm>
          <a:custGeom>
            <a:avLst/>
            <a:gdLst/>
            <a:ahLst/>
            <a:cxnLst/>
            <a:rect l="l" t="t" r="r" b="b"/>
            <a:pathLst>
              <a:path w="5196738" h="723024">
                <a:moveTo>
                  <a:pt x="72302" y="0"/>
                </a:moveTo>
                <a:lnTo>
                  <a:pt x="5124436" y="0"/>
                </a:lnTo>
                <a:cubicBezTo>
                  <a:pt x="5164367" y="0"/>
                  <a:pt x="5196738" y="32371"/>
                  <a:pt x="5196738" y="72302"/>
                </a:cubicBezTo>
                <a:lnTo>
                  <a:pt x="5196738" y="650722"/>
                </a:lnTo>
                <a:cubicBezTo>
                  <a:pt x="5196738" y="690654"/>
                  <a:pt x="5164367" y="723024"/>
                  <a:pt x="5124436" y="723024"/>
                </a:cubicBezTo>
                <a:lnTo>
                  <a:pt x="72302" y="723024"/>
                </a:lnTo>
                <a:cubicBezTo>
                  <a:pt x="32371" y="723024"/>
                  <a:pt x="0" y="690654"/>
                  <a:pt x="0" y="650722"/>
                </a:cubicBezTo>
                <a:lnTo>
                  <a:pt x="0" y="72302"/>
                </a:lnTo>
                <a:cubicBezTo>
                  <a:pt x="0" y="32371"/>
                  <a:pt x="32371" y="0"/>
                  <a:pt x="7230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723024" y="5943147"/>
            <a:ext cx="433815" cy="433815"/>
          </a:xfrm>
          <a:custGeom>
            <a:avLst/>
            <a:gdLst/>
            <a:ahLst/>
            <a:cxnLst/>
            <a:rect l="l" t="t" r="r" b="b"/>
            <a:pathLst>
              <a:path w="433815" h="433815">
                <a:moveTo>
                  <a:pt x="72304" y="0"/>
                </a:moveTo>
                <a:lnTo>
                  <a:pt x="361511" y="0"/>
                </a:lnTo>
                <a:cubicBezTo>
                  <a:pt x="401443" y="0"/>
                  <a:pt x="433815" y="32372"/>
                  <a:pt x="433815" y="72304"/>
                </a:cubicBezTo>
                <a:lnTo>
                  <a:pt x="433815" y="361511"/>
                </a:lnTo>
                <a:cubicBezTo>
                  <a:pt x="433815" y="401443"/>
                  <a:pt x="401443" y="433815"/>
                  <a:pt x="361511" y="433815"/>
                </a:cubicBezTo>
                <a:lnTo>
                  <a:pt x="72304" y="433815"/>
                </a:lnTo>
                <a:cubicBezTo>
                  <a:pt x="32372" y="433815"/>
                  <a:pt x="0" y="401443"/>
                  <a:pt x="0" y="361511"/>
                </a:cubicBezTo>
                <a:lnTo>
                  <a:pt x="0" y="72304"/>
                </a:lnTo>
                <a:cubicBezTo>
                  <a:pt x="0" y="32372"/>
                  <a:pt x="32372" y="0"/>
                  <a:pt x="72304" y="0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30" name="Text 28"/>
          <p:cNvSpPr/>
          <p:nvPr/>
        </p:nvSpPr>
        <p:spPr>
          <a:xfrm>
            <a:off x="686873" y="5943147"/>
            <a:ext cx="506117" cy="43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404/410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265293" y="6033525"/>
            <a:ext cx="822440" cy="253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 Found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104666" y="6015450"/>
            <a:ext cx="632646" cy="289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8" b="1" dirty="0">
                <a:solidFill>
                  <a:srgbClr val="F481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 min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213153" y="1561733"/>
            <a:ext cx="5608862" cy="2038929"/>
          </a:xfrm>
          <a:custGeom>
            <a:avLst/>
            <a:gdLst/>
            <a:ahLst/>
            <a:cxnLst/>
            <a:rect l="l" t="t" r="r" b="b"/>
            <a:pathLst>
              <a:path w="5608862" h="2038929">
                <a:moveTo>
                  <a:pt x="108451" y="0"/>
                </a:moveTo>
                <a:lnTo>
                  <a:pt x="5500412" y="0"/>
                </a:lnTo>
                <a:cubicBezTo>
                  <a:pt x="5560307" y="0"/>
                  <a:pt x="5608862" y="48555"/>
                  <a:pt x="5608862" y="108451"/>
                </a:cubicBezTo>
                <a:lnTo>
                  <a:pt x="5608862" y="1930478"/>
                </a:lnTo>
                <a:cubicBezTo>
                  <a:pt x="5608862" y="1990374"/>
                  <a:pt x="5560307" y="2038929"/>
                  <a:pt x="5500412" y="2038929"/>
                </a:cubicBezTo>
                <a:lnTo>
                  <a:pt x="108451" y="2038929"/>
                </a:lnTo>
                <a:cubicBezTo>
                  <a:pt x="48555" y="2038929"/>
                  <a:pt x="0" y="1990374"/>
                  <a:pt x="0" y="1930478"/>
                </a:cubicBezTo>
                <a:lnTo>
                  <a:pt x="0" y="108451"/>
                </a:lnTo>
                <a:cubicBezTo>
                  <a:pt x="0" y="48595"/>
                  <a:pt x="48595" y="0"/>
                  <a:pt x="108451" y="0"/>
                </a:cubicBezTo>
                <a:close/>
              </a:path>
            </a:pathLst>
          </a:custGeom>
          <a:solidFill>
            <a:srgbClr val="F9FAFB"/>
          </a:solidFill>
          <a:ln w="20320">
            <a:solidFill>
              <a:srgbClr val="E5E7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59885" y="1822023"/>
            <a:ext cx="180756" cy="180756"/>
          </a:xfrm>
          <a:custGeom>
            <a:avLst/>
            <a:gdLst/>
            <a:ahLst/>
            <a:cxnLst/>
            <a:rect l="l" t="t" r="r" b="b"/>
            <a:pathLst>
              <a:path w="180756" h="180756">
                <a:moveTo>
                  <a:pt x="90378" y="180756"/>
                </a:moveTo>
                <a:cubicBezTo>
                  <a:pt x="140259" y="180756"/>
                  <a:pt x="180756" y="140259"/>
                  <a:pt x="180756" y="90378"/>
                </a:cubicBezTo>
                <a:cubicBezTo>
                  <a:pt x="180756" y="40497"/>
                  <a:pt x="140259" y="0"/>
                  <a:pt x="90378" y="0"/>
                </a:cubicBezTo>
                <a:cubicBezTo>
                  <a:pt x="40497" y="0"/>
                  <a:pt x="0" y="40497"/>
                  <a:pt x="0" y="90378"/>
                </a:cubicBezTo>
                <a:cubicBezTo>
                  <a:pt x="0" y="140259"/>
                  <a:pt x="40497" y="180756"/>
                  <a:pt x="90378" y="180756"/>
                </a:cubicBezTo>
                <a:close/>
                <a:moveTo>
                  <a:pt x="79081" y="56486"/>
                </a:moveTo>
                <a:cubicBezTo>
                  <a:pt x="79081" y="50251"/>
                  <a:pt x="84143" y="45189"/>
                  <a:pt x="90378" y="45189"/>
                </a:cubicBezTo>
                <a:cubicBezTo>
                  <a:pt x="96613" y="45189"/>
                  <a:pt x="101675" y="50251"/>
                  <a:pt x="101675" y="56486"/>
                </a:cubicBezTo>
                <a:cubicBezTo>
                  <a:pt x="101675" y="62721"/>
                  <a:pt x="96613" y="67784"/>
                  <a:pt x="90378" y="67784"/>
                </a:cubicBezTo>
                <a:cubicBezTo>
                  <a:pt x="84143" y="67784"/>
                  <a:pt x="79081" y="62721"/>
                  <a:pt x="79081" y="56486"/>
                </a:cubicBezTo>
                <a:close/>
                <a:moveTo>
                  <a:pt x="76256" y="79081"/>
                </a:moveTo>
                <a:lnTo>
                  <a:pt x="93202" y="79081"/>
                </a:lnTo>
                <a:cubicBezTo>
                  <a:pt x="97898" y="79081"/>
                  <a:pt x="101675" y="82858"/>
                  <a:pt x="101675" y="87554"/>
                </a:cubicBezTo>
                <a:lnTo>
                  <a:pt x="101675" y="118621"/>
                </a:lnTo>
                <a:lnTo>
                  <a:pt x="104500" y="118621"/>
                </a:lnTo>
                <a:cubicBezTo>
                  <a:pt x="109195" y="118621"/>
                  <a:pt x="112973" y="122399"/>
                  <a:pt x="112973" y="127094"/>
                </a:cubicBezTo>
                <a:cubicBezTo>
                  <a:pt x="112973" y="131790"/>
                  <a:pt x="109195" y="135567"/>
                  <a:pt x="104500" y="135567"/>
                </a:cubicBezTo>
                <a:lnTo>
                  <a:pt x="76256" y="135567"/>
                </a:lnTo>
                <a:cubicBezTo>
                  <a:pt x="71561" y="135567"/>
                  <a:pt x="67784" y="131790"/>
                  <a:pt x="67784" y="127094"/>
                </a:cubicBezTo>
                <a:cubicBezTo>
                  <a:pt x="67784" y="122399"/>
                  <a:pt x="71561" y="118621"/>
                  <a:pt x="76256" y="118621"/>
                </a:cubicBezTo>
                <a:lnTo>
                  <a:pt x="84729" y="118621"/>
                </a:lnTo>
                <a:lnTo>
                  <a:pt x="84729" y="96027"/>
                </a:lnTo>
                <a:lnTo>
                  <a:pt x="76256" y="96027"/>
                </a:lnTo>
                <a:cubicBezTo>
                  <a:pt x="71561" y="96027"/>
                  <a:pt x="67784" y="92249"/>
                  <a:pt x="67784" y="87554"/>
                </a:cubicBezTo>
                <a:cubicBezTo>
                  <a:pt x="67784" y="82858"/>
                  <a:pt x="71561" y="79081"/>
                  <a:pt x="76256" y="79081"/>
                </a:cubicBez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35" name="Text 33"/>
          <p:cNvSpPr/>
          <p:nvPr/>
        </p:nvSpPr>
        <p:spPr>
          <a:xfrm>
            <a:off x="6663235" y="1785871"/>
            <a:ext cx="5025020" cy="253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3" b="1" dirty="0">
                <a:solidFill>
                  <a:srgbClr val="1D1F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Important Notes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55366" y="2219686"/>
            <a:ext cx="144605" cy="144605"/>
          </a:xfrm>
          <a:custGeom>
            <a:avLst/>
            <a:gdLst/>
            <a:ahLst/>
            <a:cxnLst/>
            <a:rect l="l" t="t" r="r" b="b"/>
            <a:pathLst>
              <a:path w="144605" h="144605">
                <a:moveTo>
                  <a:pt x="72302" y="144605"/>
                </a:moveTo>
                <a:cubicBezTo>
                  <a:pt x="112207" y="144605"/>
                  <a:pt x="144605" y="112207"/>
                  <a:pt x="144605" y="72302"/>
                </a:cubicBezTo>
                <a:cubicBezTo>
                  <a:pt x="144605" y="32398"/>
                  <a:pt x="112207" y="0"/>
                  <a:pt x="72302" y="0"/>
                </a:cubicBezTo>
                <a:cubicBezTo>
                  <a:pt x="32398" y="0"/>
                  <a:pt x="0" y="32398"/>
                  <a:pt x="0" y="72302"/>
                </a:cubicBezTo>
                <a:cubicBezTo>
                  <a:pt x="0" y="112207"/>
                  <a:pt x="32398" y="144605"/>
                  <a:pt x="72302" y="144605"/>
                </a:cubicBezTo>
                <a:close/>
                <a:moveTo>
                  <a:pt x="96140" y="60073"/>
                </a:moveTo>
                <a:lnTo>
                  <a:pt x="73545" y="96224"/>
                </a:lnTo>
                <a:cubicBezTo>
                  <a:pt x="72359" y="98117"/>
                  <a:pt x="70325" y="99303"/>
                  <a:pt x="68094" y="99416"/>
                </a:cubicBezTo>
                <a:cubicBezTo>
                  <a:pt x="65863" y="99529"/>
                  <a:pt x="63717" y="98512"/>
                  <a:pt x="62389" y="96705"/>
                </a:cubicBezTo>
                <a:lnTo>
                  <a:pt x="48832" y="78629"/>
                </a:lnTo>
                <a:cubicBezTo>
                  <a:pt x="46573" y="75635"/>
                  <a:pt x="47194" y="71399"/>
                  <a:pt x="50188" y="69139"/>
                </a:cubicBezTo>
                <a:cubicBezTo>
                  <a:pt x="53182" y="66880"/>
                  <a:pt x="57418" y="67501"/>
                  <a:pt x="59678" y="70495"/>
                </a:cubicBezTo>
                <a:lnTo>
                  <a:pt x="67303" y="80662"/>
                </a:lnTo>
                <a:lnTo>
                  <a:pt x="84645" y="52899"/>
                </a:lnTo>
                <a:cubicBezTo>
                  <a:pt x="86622" y="49736"/>
                  <a:pt x="90802" y="48748"/>
                  <a:pt x="93993" y="50753"/>
                </a:cubicBezTo>
                <a:cubicBezTo>
                  <a:pt x="97185" y="52758"/>
                  <a:pt x="98145" y="56910"/>
                  <a:pt x="96140" y="60101"/>
                </a:cubicBez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37" name="Text 35"/>
          <p:cNvSpPr/>
          <p:nvPr/>
        </p:nvSpPr>
        <p:spPr>
          <a:xfrm>
            <a:off x="6726500" y="2183535"/>
            <a:ext cx="3036703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3641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other status codes</a:t>
            </a:r>
            <a:pPr>
              <a:lnSpc>
                <a:spcPct val="130000"/>
              </a:lnSpc>
            </a:pPr>
            <a:r>
              <a:rPr lang="en-US" sz="1139" dirty="0">
                <a:solidFill>
                  <a:srgbClr val="3641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are not cached by default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455366" y="2545047"/>
            <a:ext cx="144605" cy="144605"/>
          </a:xfrm>
          <a:custGeom>
            <a:avLst/>
            <a:gdLst/>
            <a:ahLst/>
            <a:cxnLst/>
            <a:rect l="l" t="t" r="r" b="b"/>
            <a:pathLst>
              <a:path w="144605" h="144605">
                <a:moveTo>
                  <a:pt x="72302" y="144605"/>
                </a:moveTo>
                <a:cubicBezTo>
                  <a:pt x="112207" y="144605"/>
                  <a:pt x="144605" y="112207"/>
                  <a:pt x="144605" y="72302"/>
                </a:cubicBezTo>
                <a:cubicBezTo>
                  <a:pt x="144605" y="32398"/>
                  <a:pt x="112207" y="0"/>
                  <a:pt x="72302" y="0"/>
                </a:cubicBezTo>
                <a:cubicBezTo>
                  <a:pt x="32398" y="0"/>
                  <a:pt x="0" y="32398"/>
                  <a:pt x="0" y="72302"/>
                </a:cubicBezTo>
                <a:cubicBezTo>
                  <a:pt x="0" y="112207"/>
                  <a:pt x="32398" y="144605"/>
                  <a:pt x="72302" y="144605"/>
                </a:cubicBezTo>
                <a:close/>
                <a:moveTo>
                  <a:pt x="96140" y="60073"/>
                </a:moveTo>
                <a:lnTo>
                  <a:pt x="73545" y="96224"/>
                </a:lnTo>
                <a:cubicBezTo>
                  <a:pt x="72359" y="98117"/>
                  <a:pt x="70325" y="99303"/>
                  <a:pt x="68094" y="99416"/>
                </a:cubicBezTo>
                <a:cubicBezTo>
                  <a:pt x="65863" y="99529"/>
                  <a:pt x="63717" y="98512"/>
                  <a:pt x="62389" y="96705"/>
                </a:cubicBezTo>
                <a:lnTo>
                  <a:pt x="48832" y="78629"/>
                </a:lnTo>
                <a:cubicBezTo>
                  <a:pt x="46573" y="75635"/>
                  <a:pt x="47194" y="71399"/>
                  <a:pt x="50188" y="69139"/>
                </a:cubicBezTo>
                <a:cubicBezTo>
                  <a:pt x="53182" y="66880"/>
                  <a:pt x="57418" y="67501"/>
                  <a:pt x="59678" y="70495"/>
                </a:cubicBezTo>
                <a:lnTo>
                  <a:pt x="67303" y="80662"/>
                </a:lnTo>
                <a:lnTo>
                  <a:pt x="84645" y="52899"/>
                </a:lnTo>
                <a:cubicBezTo>
                  <a:pt x="86622" y="49736"/>
                  <a:pt x="90802" y="48748"/>
                  <a:pt x="93993" y="50753"/>
                </a:cubicBezTo>
                <a:cubicBezTo>
                  <a:pt x="97185" y="52758"/>
                  <a:pt x="98145" y="56910"/>
                  <a:pt x="96140" y="60101"/>
                </a:cubicBez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39" name="Text 37"/>
          <p:cNvSpPr/>
          <p:nvPr/>
        </p:nvSpPr>
        <p:spPr>
          <a:xfrm>
            <a:off x="6726500" y="2508896"/>
            <a:ext cx="2973438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3641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Origin headers override defaults</a:t>
            </a:r>
            <a:pPr>
              <a:lnSpc>
                <a:spcPct val="130000"/>
              </a:lnSpc>
            </a:pPr>
            <a:r>
              <a:rPr lang="en-US" sz="1139" dirty="0">
                <a:solidFill>
                  <a:srgbClr val="3641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when present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455366" y="2870408"/>
            <a:ext cx="144605" cy="144605"/>
          </a:xfrm>
          <a:custGeom>
            <a:avLst/>
            <a:gdLst/>
            <a:ahLst/>
            <a:cxnLst/>
            <a:rect l="l" t="t" r="r" b="b"/>
            <a:pathLst>
              <a:path w="144605" h="144605">
                <a:moveTo>
                  <a:pt x="72302" y="144605"/>
                </a:moveTo>
                <a:cubicBezTo>
                  <a:pt x="112207" y="144605"/>
                  <a:pt x="144605" y="112207"/>
                  <a:pt x="144605" y="72302"/>
                </a:cubicBezTo>
                <a:cubicBezTo>
                  <a:pt x="144605" y="32398"/>
                  <a:pt x="112207" y="0"/>
                  <a:pt x="72302" y="0"/>
                </a:cubicBezTo>
                <a:cubicBezTo>
                  <a:pt x="32398" y="0"/>
                  <a:pt x="0" y="32398"/>
                  <a:pt x="0" y="72302"/>
                </a:cubicBezTo>
                <a:cubicBezTo>
                  <a:pt x="0" y="112207"/>
                  <a:pt x="32398" y="144605"/>
                  <a:pt x="72302" y="144605"/>
                </a:cubicBezTo>
                <a:close/>
                <a:moveTo>
                  <a:pt x="96140" y="60073"/>
                </a:moveTo>
                <a:lnTo>
                  <a:pt x="73545" y="96224"/>
                </a:lnTo>
                <a:cubicBezTo>
                  <a:pt x="72359" y="98117"/>
                  <a:pt x="70325" y="99303"/>
                  <a:pt x="68094" y="99416"/>
                </a:cubicBezTo>
                <a:cubicBezTo>
                  <a:pt x="65863" y="99529"/>
                  <a:pt x="63717" y="98512"/>
                  <a:pt x="62389" y="96705"/>
                </a:cubicBezTo>
                <a:lnTo>
                  <a:pt x="48832" y="78629"/>
                </a:lnTo>
                <a:cubicBezTo>
                  <a:pt x="46573" y="75635"/>
                  <a:pt x="47194" y="71399"/>
                  <a:pt x="50188" y="69139"/>
                </a:cubicBezTo>
                <a:cubicBezTo>
                  <a:pt x="53182" y="66880"/>
                  <a:pt x="57418" y="67501"/>
                  <a:pt x="59678" y="70495"/>
                </a:cubicBezTo>
                <a:lnTo>
                  <a:pt x="67303" y="80662"/>
                </a:lnTo>
                <a:lnTo>
                  <a:pt x="84645" y="52899"/>
                </a:lnTo>
                <a:cubicBezTo>
                  <a:pt x="86622" y="49736"/>
                  <a:pt x="90802" y="48748"/>
                  <a:pt x="93993" y="50753"/>
                </a:cubicBezTo>
                <a:cubicBezTo>
                  <a:pt x="97185" y="52758"/>
                  <a:pt x="98145" y="56910"/>
                  <a:pt x="96140" y="60101"/>
                </a:cubicBez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41" name="Text 39"/>
          <p:cNvSpPr/>
          <p:nvPr/>
        </p:nvSpPr>
        <p:spPr>
          <a:xfrm>
            <a:off x="6726500" y="2834257"/>
            <a:ext cx="3018627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3641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Cache Rules</a:t>
            </a:r>
            <a:pPr>
              <a:lnSpc>
                <a:spcPct val="130000"/>
              </a:lnSpc>
            </a:pPr>
            <a:r>
              <a:rPr lang="en-US" sz="1139" dirty="0">
                <a:solidFill>
                  <a:srgbClr val="3641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can customize TTL per status code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455366" y="3195769"/>
            <a:ext cx="144605" cy="144605"/>
          </a:xfrm>
          <a:custGeom>
            <a:avLst/>
            <a:gdLst/>
            <a:ahLst/>
            <a:cxnLst/>
            <a:rect l="l" t="t" r="r" b="b"/>
            <a:pathLst>
              <a:path w="144605" h="144605">
                <a:moveTo>
                  <a:pt x="72302" y="144605"/>
                </a:moveTo>
                <a:cubicBezTo>
                  <a:pt x="112207" y="144605"/>
                  <a:pt x="144605" y="112207"/>
                  <a:pt x="144605" y="72302"/>
                </a:cubicBezTo>
                <a:cubicBezTo>
                  <a:pt x="144605" y="32398"/>
                  <a:pt x="112207" y="0"/>
                  <a:pt x="72302" y="0"/>
                </a:cubicBezTo>
                <a:cubicBezTo>
                  <a:pt x="32398" y="0"/>
                  <a:pt x="0" y="32398"/>
                  <a:pt x="0" y="72302"/>
                </a:cubicBezTo>
                <a:cubicBezTo>
                  <a:pt x="0" y="112207"/>
                  <a:pt x="32398" y="144605"/>
                  <a:pt x="72302" y="144605"/>
                </a:cubicBezTo>
                <a:close/>
                <a:moveTo>
                  <a:pt x="96140" y="60073"/>
                </a:moveTo>
                <a:lnTo>
                  <a:pt x="73545" y="96224"/>
                </a:lnTo>
                <a:cubicBezTo>
                  <a:pt x="72359" y="98117"/>
                  <a:pt x="70325" y="99303"/>
                  <a:pt x="68094" y="99416"/>
                </a:cubicBezTo>
                <a:cubicBezTo>
                  <a:pt x="65863" y="99529"/>
                  <a:pt x="63717" y="98512"/>
                  <a:pt x="62389" y="96705"/>
                </a:cubicBezTo>
                <a:lnTo>
                  <a:pt x="48832" y="78629"/>
                </a:lnTo>
                <a:cubicBezTo>
                  <a:pt x="46573" y="75635"/>
                  <a:pt x="47194" y="71399"/>
                  <a:pt x="50188" y="69139"/>
                </a:cubicBezTo>
                <a:cubicBezTo>
                  <a:pt x="53182" y="66880"/>
                  <a:pt x="57418" y="67501"/>
                  <a:pt x="59678" y="70495"/>
                </a:cubicBezTo>
                <a:lnTo>
                  <a:pt x="67303" y="80662"/>
                </a:lnTo>
                <a:lnTo>
                  <a:pt x="84645" y="52899"/>
                </a:lnTo>
                <a:cubicBezTo>
                  <a:pt x="86622" y="49736"/>
                  <a:pt x="90802" y="48748"/>
                  <a:pt x="93993" y="50753"/>
                </a:cubicBezTo>
                <a:cubicBezTo>
                  <a:pt x="97185" y="52758"/>
                  <a:pt x="98145" y="56910"/>
                  <a:pt x="96140" y="60101"/>
                </a:cubicBez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43" name="Text 41"/>
          <p:cNvSpPr/>
          <p:nvPr/>
        </p:nvSpPr>
        <p:spPr>
          <a:xfrm>
            <a:off x="6726500" y="3159618"/>
            <a:ext cx="2729417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3641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Edge TTL</a:t>
            </a:r>
            <a:pPr>
              <a:lnSpc>
                <a:spcPct val="130000"/>
              </a:lnSpc>
            </a:pPr>
            <a:r>
              <a:rPr lang="en-US" sz="1139" dirty="0">
                <a:solidFill>
                  <a:srgbClr val="3641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not visible in response headers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D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edrawcloudpublicus.s3.amazonaws.com/605887dc025a61c40858f6ee3760b866d0abe5d7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18441" b="1844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D1F2B"/>
              </a:gs>
              <a:gs pos="50000">
                <a:srgbClr val="1D1F2B">
                  <a:alpha val="9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1743191"/>
            <a:ext cx="1847850" cy="533400"/>
          </a:xfrm>
          <a:custGeom>
            <a:avLst/>
            <a:gdLst/>
            <a:ahLst/>
            <a:cxnLst/>
            <a:rect l="l" t="t" r="r" b="b"/>
            <a:pathLst>
              <a:path w="1847850" h="533400">
                <a:moveTo>
                  <a:pt x="76202" y="0"/>
                </a:moveTo>
                <a:lnTo>
                  <a:pt x="1771648" y="0"/>
                </a:lnTo>
                <a:cubicBezTo>
                  <a:pt x="1813733" y="0"/>
                  <a:pt x="1847850" y="34117"/>
                  <a:pt x="1847850" y="76202"/>
                </a:cubicBezTo>
                <a:lnTo>
                  <a:pt x="1847850" y="457198"/>
                </a:lnTo>
                <a:cubicBezTo>
                  <a:pt x="1847850" y="499283"/>
                  <a:pt x="1813733" y="533400"/>
                  <a:pt x="177164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5" name="Text 2"/>
          <p:cNvSpPr/>
          <p:nvPr/>
        </p:nvSpPr>
        <p:spPr>
          <a:xfrm>
            <a:off x="609600" y="1880350"/>
            <a:ext cx="1507927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spc="9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03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505075"/>
            <a:ext cx="11715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Cache Levels &amp;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Configuration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4162425"/>
            <a:ext cx="1524000" cy="38100"/>
          </a:xfrm>
          <a:custGeom>
            <a:avLst/>
            <a:gdLst/>
            <a:ahLst/>
            <a:cxnLst/>
            <a:rect l="l" t="t" r="r" b="b"/>
            <a:pathLst>
              <a:path w="1524000" h="38100">
                <a:moveTo>
                  <a:pt x="0" y="0"/>
                </a:moveTo>
                <a:lnTo>
                  <a:pt x="1524000" y="0"/>
                </a:lnTo>
                <a:lnTo>
                  <a:pt x="1524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4505325"/>
            <a:ext cx="65151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Controlling how Cloudflare handles query strings and browser caching settings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spc="50" kern="0" dirty="0">
                <a:solidFill>
                  <a:srgbClr val="F481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CONFIGURATION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1D1F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Cache Level Options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952500"/>
            <a:ext cx="11628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Control how Cloudflare handles URLs with query strings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3850" y="1339850"/>
            <a:ext cx="11545888" cy="2155825"/>
          </a:xfrm>
          <a:custGeom>
            <a:avLst/>
            <a:gdLst/>
            <a:ahLst/>
            <a:cxnLst/>
            <a:rect l="l" t="t" r="r" b="b"/>
            <a:pathLst>
              <a:path w="11545888" h="2155825">
                <a:moveTo>
                  <a:pt x="95244" y="0"/>
                </a:moveTo>
                <a:lnTo>
                  <a:pt x="11450643" y="0"/>
                </a:lnTo>
                <a:cubicBezTo>
                  <a:pt x="11503245" y="0"/>
                  <a:pt x="11545888" y="42642"/>
                  <a:pt x="11545888" y="95244"/>
                </a:cubicBezTo>
                <a:lnTo>
                  <a:pt x="11545888" y="2060581"/>
                </a:lnTo>
                <a:cubicBezTo>
                  <a:pt x="11545888" y="2113147"/>
                  <a:pt x="11503210" y="2155825"/>
                  <a:pt x="11450643" y="2155825"/>
                </a:cubicBezTo>
                <a:lnTo>
                  <a:pt x="95244" y="2155825"/>
                </a:lnTo>
                <a:cubicBezTo>
                  <a:pt x="42642" y="2155825"/>
                  <a:pt x="0" y="2113183"/>
                  <a:pt x="0" y="2060581"/>
                </a:cubicBezTo>
                <a:lnTo>
                  <a:pt x="0" y="95244"/>
                </a:lnTo>
                <a:cubicBezTo>
                  <a:pt x="0" y="42642"/>
                  <a:pt x="42642" y="0"/>
                  <a:pt x="95244" y="0"/>
                </a:cubicBezTo>
                <a:close/>
              </a:path>
            </a:pathLst>
          </a:custGeom>
          <a:solidFill>
            <a:srgbClr val="FFFFFF"/>
          </a:solidFill>
          <a:ln w="2032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30200" y="1346197"/>
            <a:ext cx="11533188" cy="698500"/>
          </a:xfrm>
          <a:custGeom>
            <a:avLst/>
            <a:gdLst/>
            <a:ahLst/>
            <a:cxnLst/>
            <a:rect l="l" t="t" r="r" b="b"/>
            <a:pathLst>
              <a:path w="11533188" h="698500">
                <a:moveTo>
                  <a:pt x="0" y="0"/>
                </a:moveTo>
                <a:lnTo>
                  <a:pt x="11533188" y="0"/>
                </a:lnTo>
                <a:lnTo>
                  <a:pt x="11533188" y="698500"/>
                </a:lnTo>
                <a:lnTo>
                  <a:pt x="0" y="698500"/>
                </a:lnTo>
                <a:lnTo>
                  <a:pt x="0" y="0"/>
                </a:ln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473201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222250" y="0"/>
                </a:moveTo>
                <a:lnTo>
                  <a:pt x="222250" y="0"/>
                </a:lnTo>
                <a:cubicBezTo>
                  <a:pt x="344913" y="0"/>
                  <a:pt x="444500" y="99587"/>
                  <a:pt x="444500" y="222250"/>
                </a:cubicBezTo>
                <a:lnTo>
                  <a:pt x="444500" y="222250"/>
                </a:lnTo>
                <a:cubicBezTo>
                  <a:pt x="444500" y="344913"/>
                  <a:pt x="344913" y="444500"/>
                  <a:pt x="222250" y="444500"/>
                </a:cubicBezTo>
                <a:lnTo>
                  <a:pt x="222250" y="444500"/>
                </a:lnTo>
                <a:cubicBezTo>
                  <a:pt x="99587" y="444500"/>
                  <a:pt x="0" y="344913"/>
                  <a:pt x="0" y="222250"/>
                </a:cubicBezTo>
                <a:lnTo>
                  <a:pt x="0" y="222250"/>
                </a:lnTo>
                <a:cubicBezTo>
                  <a:pt x="0" y="99587"/>
                  <a:pt x="99587" y="0"/>
                  <a:pt x="22225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84200" y="160020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06" y="23812"/>
                </a:moveTo>
                <a:cubicBezTo>
                  <a:pt x="7107" y="23812"/>
                  <a:pt x="2753" y="26715"/>
                  <a:pt x="893" y="31179"/>
                </a:cubicBezTo>
                <a:cubicBezTo>
                  <a:pt x="-967" y="35644"/>
                  <a:pt x="74" y="40742"/>
                  <a:pt x="3497" y="44128"/>
                </a:cubicBezTo>
                <a:lnTo>
                  <a:pt x="71438" y="112105"/>
                </a:lnTo>
                <a:lnTo>
                  <a:pt x="71438" y="154781"/>
                </a:lnTo>
                <a:cubicBezTo>
                  <a:pt x="71438" y="157944"/>
                  <a:pt x="72703" y="160958"/>
                  <a:pt x="74935" y="163190"/>
                </a:cubicBezTo>
                <a:lnTo>
                  <a:pt x="98747" y="187003"/>
                </a:lnTo>
                <a:cubicBezTo>
                  <a:pt x="102171" y="190426"/>
                  <a:pt x="107268" y="191430"/>
                  <a:pt x="111733" y="189570"/>
                </a:cubicBezTo>
                <a:cubicBezTo>
                  <a:pt x="116198" y="187709"/>
                  <a:pt x="119063" y="183393"/>
                  <a:pt x="119063" y="178594"/>
                </a:cubicBezTo>
                <a:lnTo>
                  <a:pt x="119063" y="112105"/>
                </a:lnTo>
                <a:lnTo>
                  <a:pt x="187003" y="44165"/>
                </a:lnTo>
                <a:cubicBezTo>
                  <a:pt x="190426" y="40742"/>
                  <a:pt x="191430" y="35644"/>
                  <a:pt x="189570" y="31179"/>
                </a:cubicBezTo>
                <a:cubicBezTo>
                  <a:pt x="187709" y="26715"/>
                  <a:pt x="183393" y="23812"/>
                  <a:pt x="178594" y="23812"/>
                </a:cubicBezTo>
                <a:lnTo>
                  <a:pt x="11906" y="2381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028700" y="1473201"/>
            <a:ext cx="1444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Query String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28700" y="1727100"/>
            <a:ext cx="141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Most Restrictive Caching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877749" y="1536701"/>
            <a:ext cx="857250" cy="317500"/>
          </a:xfrm>
          <a:custGeom>
            <a:avLst/>
            <a:gdLst/>
            <a:ahLst/>
            <a:cxnLst/>
            <a:rect l="l" t="t" r="r" b="b"/>
            <a:pathLst>
              <a:path w="857250" h="317500">
                <a:moveTo>
                  <a:pt x="63500" y="0"/>
                </a:moveTo>
                <a:lnTo>
                  <a:pt x="793750" y="0"/>
                </a:lnTo>
                <a:cubicBezTo>
                  <a:pt x="828797" y="0"/>
                  <a:pt x="857250" y="28453"/>
                  <a:pt x="857250" y="63500"/>
                </a:cubicBezTo>
                <a:lnTo>
                  <a:pt x="857250" y="254000"/>
                </a:lnTo>
                <a:cubicBezTo>
                  <a:pt x="857250" y="289047"/>
                  <a:pt x="828797" y="317500"/>
                  <a:pt x="79375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0877749" y="1536701"/>
            <a:ext cx="920750" cy="317500"/>
          </a:xfrm>
          <a:prstGeom prst="rect">
            <a:avLst/>
          </a:prstGeom>
          <a:noFill/>
          <a:ln/>
        </p:spPr>
        <p:txBody>
          <a:bodyPr wrap="square" lIns="127000" tIns="63500" rIns="127000" bIns="6350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Basic Level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8950" y="2203451"/>
            <a:ext cx="11279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641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Only caches URLs </a:t>
            </a:r>
            <a:pPr>
              <a:lnSpc>
                <a:spcPct val="130000"/>
              </a:lnSpc>
            </a:pPr>
            <a:r>
              <a:rPr lang="en-US" sz="1000" b="1" dirty="0">
                <a:solidFill>
                  <a:srgbClr val="3641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without query strings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3641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URLs with parameters are never cached.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92125" y="2492376"/>
            <a:ext cx="5538788" cy="577850"/>
          </a:xfrm>
          <a:custGeom>
            <a:avLst/>
            <a:gdLst/>
            <a:ahLst/>
            <a:cxnLst/>
            <a:rect l="l" t="t" r="r" b="b"/>
            <a:pathLst>
              <a:path w="5538788" h="577850">
                <a:moveTo>
                  <a:pt x="63500" y="0"/>
                </a:moveTo>
                <a:lnTo>
                  <a:pt x="5475288" y="0"/>
                </a:lnTo>
                <a:cubicBezTo>
                  <a:pt x="5510358" y="0"/>
                  <a:pt x="5538788" y="28430"/>
                  <a:pt x="5538788" y="63500"/>
                </a:cubicBezTo>
                <a:lnTo>
                  <a:pt x="5538788" y="514350"/>
                </a:lnTo>
                <a:cubicBezTo>
                  <a:pt x="5538788" y="549420"/>
                  <a:pt x="5510358" y="577850"/>
                  <a:pt x="5475288" y="577850"/>
                </a:cubicBezTo>
                <a:lnTo>
                  <a:pt x="63500" y="577850"/>
                </a:lnTo>
                <a:cubicBezTo>
                  <a:pt x="28430" y="577850"/>
                  <a:pt x="0" y="549420"/>
                  <a:pt x="0" y="5143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F0FDF4"/>
          </a:solidFill>
          <a:ln w="10160">
            <a:solidFill>
              <a:srgbClr val="B9F8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0550" y="2590799"/>
            <a:ext cx="5397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0082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Cached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90550" y="2781299"/>
            <a:ext cx="5405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00A63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example.com/image.jpg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62675" y="2492376"/>
            <a:ext cx="5538788" cy="577850"/>
          </a:xfrm>
          <a:custGeom>
            <a:avLst/>
            <a:gdLst/>
            <a:ahLst/>
            <a:cxnLst/>
            <a:rect l="l" t="t" r="r" b="b"/>
            <a:pathLst>
              <a:path w="5538788" h="577850">
                <a:moveTo>
                  <a:pt x="63500" y="0"/>
                </a:moveTo>
                <a:lnTo>
                  <a:pt x="5475288" y="0"/>
                </a:lnTo>
                <a:cubicBezTo>
                  <a:pt x="5510358" y="0"/>
                  <a:pt x="5538788" y="28430"/>
                  <a:pt x="5538788" y="63500"/>
                </a:cubicBezTo>
                <a:lnTo>
                  <a:pt x="5538788" y="514350"/>
                </a:lnTo>
                <a:cubicBezTo>
                  <a:pt x="5538788" y="549420"/>
                  <a:pt x="5510358" y="577850"/>
                  <a:pt x="5475288" y="577850"/>
                </a:cubicBezTo>
                <a:lnTo>
                  <a:pt x="63500" y="577850"/>
                </a:lnTo>
                <a:cubicBezTo>
                  <a:pt x="28430" y="577850"/>
                  <a:pt x="0" y="549420"/>
                  <a:pt x="0" y="5143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FEF2F2"/>
          </a:solidFill>
          <a:ln w="10160">
            <a:solidFill>
              <a:srgbClr val="FFC9C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1100" y="2590799"/>
            <a:ext cx="5397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C1000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✗ Not Cached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61100" y="2781299"/>
            <a:ext cx="5405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7000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example.com/image.jpg?size=large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8950" y="3168648"/>
            <a:ext cx="11271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6A72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for: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6A72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Simple static sites where query strings always indicate dynamic content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23850" y="3632202"/>
            <a:ext cx="11545888" cy="2155825"/>
          </a:xfrm>
          <a:custGeom>
            <a:avLst/>
            <a:gdLst/>
            <a:ahLst/>
            <a:cxnLst/>
            <a:rect l="l" t="t" r="r" b="b"/>
            <a:pathLst>
              <a:path w="11545888" h="2155825">
                <a:moveTo>
                  <a:pt x="95244" y="0"/>
                </a:moveTo>
                <a:lnTo>
                  <a:pt x="11450643" y="0"/>
                </a:lnTo>
                <a:cubicBezTo>
                  <a:pt x="11503245" y="0"/>
                  <a:pt x="11545888" y="42642"/>
                  <a:pt x="11545888" y="95244"/>
                </a:cubicBezTo>
                <a:lnTo>
                  <a:pt x="11545888" y="2060581"/>
                </a:lnTo>
                <a:cubicBezTo>
                  <a:pt x="11545888" y="2113147"/>
                  <a:pt x="11503210" y="2155825"/>
                  <a:pt x="11450643" y="2155825"/>
                </a:cubicBezTo>
                <a:lnTo>
                  <a:pt x="95244" y="2155825"/>
                </a:lnTo>
                <a:cubicBezTo>
                  <a:pt x="42642" y="2155825"/>
                  <a:pt x="0" y="2113183"/>
                  <a:pt x="0" y="2060581"/>
                </a:cubicBezTo>
                <a:lnTo>
                  <a:pt x="0" y="95244"/>
                </a:lnTo>
                <a:cubicBezTo>
                  <a:pt x="0" y="42642"/>
                  <a:pt x="42642" y="0"/>
                  <a:pt x="95244" y="0"/>
                </a:cubicBezTo>
                <a:close/>
              </a:path>
            </a:pathLst>
          </a:custGeom>
          <a:solidFill>
            <a:srgbClr val="FFFFFF"/>
          </a:solidFill>
          <a:ln w="2032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0200" y="3638549"/>
            <a:ext cx="11533188" cy="698500"/>
          </a:xfrm>
          <a:custGeom>
            <a:avLst/>
            <a:gdLst/>
            <a:ahLst/>
            <a:cxnLst/>
            <a:rect l="l" t="t" r="r" b="b"/>
            <a:pathLst>
              <a:path w="11533188" h="698500">
                <a:moveTo>
                  <a:pt x="0" y="0"/>
                </a:moveTo>
                <a:lnTo>
                  <a:pt x="11533188" y="0"/>
                </a:lnTo>
                <a:lnTo>
                  <a:pt x="11533188" y="698500"/>
                </a:lnTo>
                <a:lnTo>
                  <a:pt x="0" y="698500"/>
                </a:lnTo>
                <a:lnTo>
                  <a:pt x="0" y="0"/>
                </a:lnTo>
                <a:close/>
              </a:path>
            </a:pathLst>
          </a:custGeom>
          <a:solidFill>
            <a:srgbClr val="00A4B5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3765549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222250" y="0"/>
                </a:moveTo>
                <a:lnTo>
                  <a:pt x="222250" y="0"/>
                </a:lnTo>
                <a:cubicBezTo>
                  <a:pt x="344913" y="0"/>
                  <a:pt x="444500" y="99587"/>
                  <a:pt x="444500" y="222250"/>
                </a:cubicBezTo>
                <a:lnTo>
                  <a:pt x="444500" y="222250"/>
                </a:lnTo>
                <a:cubicBezTo>
                  <a:pt x="444500" y="344913"/>
                  <a:pt x="344913" y="444500"/>
                  <a:pt x="222250" y="444500"/>
                </a:cubicBezTo>
                <a:lnTo>
                  <a:pt x="222250" y="444500"/>
                </a:lnTo>
                <a:cubicBezTo>
                  <a:pt x="99587" y="444500"/>
                  <a:pt x="0" y="344913"/>
                  <a:pt x="0" y="222250"/>
                </a:cubicBezTo>
                <a:lnTo>
                  <a:pt x="0" y="222250"/>
                </a:lnTo>
                <a:cubicBezTo>
                  <a:pt x="0" y="99587"/>
                  <a:pt x="99587" y="0"/>
                  <a:pt x="22225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596106" y="3892549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1906" y="47625"/>
                </a:moveTo>
                <a:cubicBezTo>
                  <a:pt x="5321" y="47625"/>
                  <a:pt x="0" y="52946"/>
                  <a:pt x="0" y="59531"/>
                </a:cubicBezTo>
                <a:cubicBezTo>
                  <a:pt x="0" y="66117"/>
                  <a:pt x="5321" y="71438"/>
                  <a:pt x="11906" y="71438"/>
                </a:cubicBezTo>
                <a:lnTo>
                  <a:pt x="154781" y="71438"/>
                </a:lnTo>
                <a:cubicBezTo>
                  <a:pt x="161367" y="71438"/>
                  <a:pt x="166688" y="66117"/>
                  <a:pt x="166688" y="59531"/>
                </a:cubicBezTo>
                <a:cubicBezTo>
                  <a:pt x="166688" y="52946"/>
                  <a:pt x="161367" y="47625"/>
                  <a:pt x="154781" y="47625"/>
                </a:cubicBezTo>
                <a:lnTo>
                  <a:pt x="11906" y="47625"/>
                </a:lnTo>
                <a:close/>
                <a:moveTo>
                  <a:pt x="11906" y="119063"/>
                </a:moveTo>
                <a:cubicBezTo>
                  <a:pt x="5321" y="119063"/>
                  <a:pt x="0" y="124383"/>
                  <a:pt x="0" y="130969"/>
                </a:cubicBezTo>
                <a:cubicBezTo>
                  <a:pt x="0" y="137554"/>
                  <a:pt x="5321" y="142875"/>
                  <a:pt x="11906" y="142875"/>
                </a:cubicBezTo>
                <a:lnTo>
                  <a:pt x="154781" y="142875"/>
                </a:lnTo>
                <a:cubicBezTo>
                  <a:pt x="161367" y="142875"/>
                  <a:pt x="166688" y="137554"/>
                  <a:pt x="166688" y="130969"/>
                </a:cubicBezTo>
                <a:cubicBezTo>
                  <a:pt x="166688" y="124383"/>
                  <a:pt x="161367" y="119063"/>
                  <a:pt x="154781" y="119063"/>
                </a:cubicBezTo>
                <a:lnTo>
                  <a:pt x="11906" y="11906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1028700" y="3765549"/>
            <a:ext cx="172243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Ignore Query String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28700" y="4019448"/>
            <a:ext cx="1690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Unified Caching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0615414" y="3829049"/>
            <a:ext cx="1119188" cy="317500"/>
          </a:xfrm>
          <a:custGeom>
            <a:avLst/>
            <a:gdLst/>
            <a:ahLst/>
            <a:cxnLst/>
            <a:rect l="l" t="t" r="r" b="b"/>
            <a:pathLst>
              <a:path w="1119188" h="317500">
                <a:moveTo>
                  <a:pt x="63500" y="0"/>
                </a:moveTo>
                <a:lnTo>
                  <a:pt x="1055688" y="0"/>
                </a:lnTo>
                <a:cubicBezTo>
                  <a:pt x="1090734" y="0"/>
                  <a:pt x="1119188" y="28453"/>
                  <a:pt x="1119188" y="63500"/>
                </a:cubicBezTo>
                <a:lnTo>
                  <a:pt x="1119188" y="254000"/>
                </a:lnTo>
                <a:cubicBezTo>
                  <a:pt x="1119188" y="289047"/>
                  <a:pt x="1090734" y="317500"/>
                  <a:pt x="1055688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10615414" y="3829049"/>
            <a:ext cx="1182688" cy="317500"/>
          </a:xfrm>
          <a:prstGeom prst="rect">
            <a:avLst/>
          </a:prstGeom>
          <a:noFill/>
          <a:ln/>
        </p:spPr>
        <p:txBody>
          <a:bodyPr wrap="square" lIns="127000" tIns="63500" rIns="127000" bIns="6350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Simplified Level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88950" y="4495799"/>
            <a:ext cx="11279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641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Caches resources </a:t>
            </a:r>
            <a:pPr>
              <a:lnSpc>
                <a:spcPct val="130000"/>
              </a:lnSpc>
            </a:pPr>
            <a:r>
              <a:rPr lang="en-US" sz="1000" b="1" dirty="0">
                <a:solidFill>
                  <a:srgbClr val="3641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regardless of query strings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3641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All variations serve the same cached content.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92125" y="4784724"/>
            <a:ext cx="5538788" cy="577850"/>
          </a:xfrm>
          <a:custGeom>
            <a:avLst/>
            <a:gdLst/>
            <a:ahLst/>
            <a:cxnLst/>
            <a:rect l="l" t="t" r="r" b="b"/>
            <a:pathLst>
              <a:path w="5538788" h="577850">
                <a:moveTo>
                  <a:pt x="63500" y="0"/>
                </a:moveTo>
                <a:lnTo>
                  <a:pt x="5475288" y="0"/>
                </a:lnTo>
                <a:cubicBezTo>
                  <a:pt x="5510358" y="0"/>
                  <a:pt x="5538788" y="28430"/>
                  <a:pt x="5538788" y="63500"/>
                </a:cubicBezTo>
                <a:lnTo>
                  <a:pt x="5538788" y="514350"/>
                </a:lnTo>
                <a:cubicBezTo>
                  <a:pt x="5538788" y="549420"/>
                  <a:pt x="5510358" y="577850"/>
                  <a:pt x="5475288" y="577850"/>
                </a:cubicBezTo>
                <a:lnTo>
                  <a:pt x="63500" y="577850"/>
                </a:lnTo>
                <a:cubicBezTo>
                  <a:pt x="28430" y="577850"/>
                  <a:pt x="0" y="549420"/>
                  <a:pt x="0" y="5143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F0FDF4"/>
          </a:solidFill>
          <a:ln w="10160">
            <a:solidFill>
              <a:srgbClr val="B9F8C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0550" y="4883148"/>
            <a:ext cx="5397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0082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Same Cache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90550" y="5073648"/>
            <a:ext cx="5405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00A63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example.com/image.jpg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162675" y="4784724"/>
            <a:ext cx="5538788" cy="577850"/>
          </a:xfrm>
          <a:custGeom>
            <a:avLst/>
            <a:gdLst/>
            <a:ahLst/>
            <a:cxnLst/>
            <a:rect l="l" t="t" r="r" b="b"/>
            <a:pathLst>
              <a:path w="5538788" h="577850">
                <a:moveTo>
                  <a:pt x="63500" y="0"/>
                </a:moveTo>
                <a:lnTo>
                  <a:pt x="5475288" y="0"/>
                </a:lnTo>
                <a:cubicBezTo>
                  <a:pt x="5510358" y="0"/>
                  <a:pt x="5538788" y="28430"/>
                  <a:pt x="5538788" y="63500"/>
                </a:cubicBezTo>
                <a:lnTo>
                  <a:pt x="5538788" y="514350"/>
                </a:lnTo>
                <a:cubicBezTo>
                  <a:pt x="5538788" y="549420"/>
                  <a:pt x="5510358" y="577850"/>
                  <a:pt x="5475288" y="577850"/>
                </a:cubicBezTo>
                <a:lnTo>
                  <a:pt x="63500" y="577850"/>
                </a:lnTo>
                <a:cubicBezTo>
                  <a:pt x="28430" y="577850"/>
                  <a:pt x="0" y="549420"/>
                  <a:pt x="0" y="5143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F0FDF4"/>
          </a:solidFill>
          <a:ln w="10160">
            <a:solidFill>
              <a:srgbClr val="B9F8C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61100" y="4883148"/>
            <a:ext cx="5397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0082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Same Cache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261100" y="5073648"/>
            <a:ext cx="5405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00A63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example.com/image.jpg?size=large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88950" y="5460996"/>
            <a:ext cx="11271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6A72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for: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6A72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URLs with tracking parameters (UTM) that don't change content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23850" y="5924551"/>
            <a:ext cx="11545888" cy="2155825"/>
          </a:xfrm>
          <a:custGeom>
            <a:avLst/>
            <a:gdLst/>
            <a:ahLst/>
            <a:cxnLst/>
            <a:rect l="l" t="t" r="r" b="b"/>
            <a:pathLst>
              <a:path w="11545888" h="2155825">
                <a:moveTo>
                  <a:pt x="95244" y="0"/>
                </a:moveTo>
                <a:lnTo>
                  <a:pt x="11450643" y="0"/>
                </a:lnTo>
                <a:cubicBezTo>
                  <a:pt x="11503245" y="0"/>
                  <a:pt x="11545888" y="42642"/>
                  <a:pt x="11545888" y="95244"/>
                </a:cubicBezTo>
                <a:lnTo>
                  <a:pt x="11545888" y="2060581"/>
                </a:lnTo>
                <a:cubicBezTo>
                  <a:pt x="11545888" y="2113147"/>
                  <a:pt x="11503210" y="2155825"/>
                  <a:pt x="11450643" y="2155825"/>
                </a:cubicBezTo>
                <a:lnTo>
                  <a:pt x="95244" y="2155825"/>
                </a:lnTo>
                <a:cubicBezTo>
                  <a:pt x="42642" y="2155825"/>
                  <a:pt x="0" y="2113183"/>
                  <a:pt x="0" y="2060581"/>
                </a:cubicBezTo>
                <a:lnTo>
                  <a:pt x="0" y="95244"/>
                </a:lnTo>
                <a:cubicBezTo>
                  <a:pt x="0" y="42642"/>
                  <a:pt x="42642" y="0"/>
                  <a:pt x="95244" y="0"/>
                </a:cubicBezTo>
                <a:close/>
              </a:path>
            </a:pathLst>
          </a:custGeom>
          <a:solidFill>
            <a:srgbClr val="FFFFFF"/>
          </a:solidFill>
          <a:ln w="20320">
            <a:solidFill>
              <a:srgbClr val="F4812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30200" y="5930898"/>
            <a:ext cx="11533188" cy="698500"/>
          </a:xfrm>
          <a:custGeom>
            <a:avLst/>
            <a:gdLst/>
            <a:ahLst/>
            <a:cxnLst/>
            <a:rect l="l" t="t" r="r" b="b"/>
            <a:pathLst>
              <a:path w="11533188" h="698500">
                <a:moveTo>
                  <a:pt x="0" y="0"/>
                </a:moveTo>
                <a:lnTo>
                  <a:pt x="11533188" y="0"/>
                </a:lnTo>
                <a:lnTo>
                  <a:pt x="11533188" y="698500"/>
                </a:lnTo>
                <a:lnTo>
                  <a:pt x="0" y="698500"/>
                </a:lnTo>
                <a:lnTo>
                  <a:pt x="0" y="0"/>
                </a:lnTo>
                <a:close/>
              </a:path>
            </a:pathLst>
          </a:custGeom>
          <a:solidFill>
            <a:srgbClr val="1D1F2B"/>
          </a:solidFill>
          <a:ln/>
        </p:spPr>
      </p:sp>
      <p:sp>
        <p:nvSpPr>
          <p:cNvPr id="39" name="Shape 37"/>
          <p:cNvSpPr/>
          <p:nvPr/>
        </p:nvSpPr>
        <p:spPr>
          <a:xfrm>
            <a:off x="457200" y="6057898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222250" y="0"/>
                </a:moveTo>
                <a:lnTo>
                  <a:pt x="222250" y="0"/>
                </a:lnTo>
                <a:cubicBezTo>
                  <a:pt x="344913" y="0"/>
                  <a:pt x="444500" y="99587"/>
                  <a:pt x="444500" y="222250"/>
                </a:cubicBezTo>
                <a:lnTo>
                  <a:pt x="444500" y="222250"/>
                </a:lnTo>
                <a:cubicBezTo>
                  <a:pt x="444500" y="344913"/>
                  <a:pt x="344913" y="444500"/>
                  <a:pt x="222250" y="444500"/>
                </a:cubicBezTo>
                <a:lnTo>
                  <a:pt x="222250" y="444500"/>
                </a:lnTo>
                <a:cubicBezTo>
                  <a:pt x="99587" y="444500"/>
                  <a:pt x="0" y="344913"/>
                  <a:pt x="0" y="222250"/>
                </a:cubicBezTo>
                <a:lnTo>
                  <a:pt x="0" y="222250"/>
                </a:lnTo>
                <a:cubicBezTo>
                  <a:pt x="0" y="99587"/>
                  <a:pt x="99587" y="0"/>
                  <a:pt x="222250" y="0"/>
                </a:cubicBez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40" name="Shape 38"/>
          <p:cNvSpPr/>
          <p:nvPr/>
        </p:nvSpPr>
        <p:spPr>
          <a:xfrm>
            <a:off x="572294" y="6184898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15156" y="-7032"/>
                </a:moveTo>
                <a:cubicBezTo>
                  <a:pt x="113630" y="-10009"/>
                  <a:pt x="110542" y="-11906"/>
                  <a:pt x="107193" y="-11906"/>
                </a:cubicBezTo>
                <a:cubicBezTo>
                  <a:pt x="103845" y="-11906"/>
                  <a:pt x="100757" y="-10009"/>
                  <a:pt x="99231" y="-7032"/>
                </a:cubicBezTo>
                <a:lnTo>
                  <a:pt x="71847" y="46620"/>
                </a:lnTo>
                <a:lnTo>
                  <a:pt x="12353" y="56071"/>
                </a:lnTo>
                <a:cubicBezTo>
                  <a:pt x="9041" y="56592"/>
                  <a:pt x="6288" y="58936"/>
                  <a:pt x="5246" y="62136"/>
                </a:cubicBezTo>
                <a:cubicBezTo>
                  <a:pt x="4204" y="65336"/>
                  <a:pt x="5060" y="68833"/>
                  <a:pt x="7404" y="71214"/>
                </a:cubicBezTo>
                <a:lnTo>
                  <a:pt x="49969" y="113816"/>
                </a:lnTo>
                <a:lnTo>
                  <a:pt x="40593" y="173310"/>
                </a:lnTo>
                <a:cubicBezTo>
                  <a:pt x="40072" y="176622"/>
                  <a:pt x="41449" y="179970"/>
                  <a:pt x="44165" y="181942"/>
                </a:cubicBezTo>
                <a:cubicBezTo>
                  <a:pt x="46881" y="183914"/>
                  <a:pt x="50453" y="184212"/>
                  <a:pt x="53467" y="182687"/>
                </a:cubicBezTo>
                <a:lnTo>
                  <a:pt x="107193" y="155377"/>
                </a:lnTo>
                <a:lnTo>
                  <a:pt x="160883" y="182687"/>
                </a:lnTo>
                <a:cubicBezTo>
                  <a:pt x="163860" y="184212"/>
                  <a:pt x="167469" y="183914"/>
                  <a:pt x="170185" y="181942"/>
                </a:cubicBezTo>
                <a:cubicBezTo>
                  <a:pt x="172901" y="179970"/>
                  <a:pt x="174278" y="176659"/>
                  <a:pt x="173757" y="173310"/>
                </a:cubicBezTo>
                <a:lnTo>
                  <a:pt x="164343" y="113816"/>
                </a:lnTo>
                <a:lnTo>
                  <a:pt x="206908" y="71214"/>
                </a:lnTo>
                <a:cubicBezTo>
                  <a:pt x="209290" y="68833"/>
                  <a:pt x="210108" y="65336"/>
                  <a:pt x="209066" y="62136"/>
                </a:cubicBezTo>
                <a:cubicBezTo>
                  <a:pt x="208025" y="58936"/>
                  <a:pt x="205308" y="56592"/>
                  <a:pt x="201960" y="56071"/>
                </a:cubicBezTo>
                <a:lnTo>
                  <a:pt x="142503" y="46620"/>
                </a:lnTo>
                <a:lnTo>
                  <a:pt x="115156" y="-703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1028700" y="6057898"/>
            <a:ext cx="1714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Standard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028700" y="6311797"/>
            <a:ext cx="1682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Recommended for Most Sites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10566102" y="6121398"/>
            <a:ext cx="1166813" cy="317500"/>
          </a:xfrm>
          <a:custGeom>
            <a:avLst/>
            <a:gdLst/>
            <a:ahLst/>
            <a:cxnLst/>
            <a:rect l="l" t="t" r="r" b="b"/>
            <a:pathLst>
              <a:path w="1166813" h="317500">
                <a:moveTo>
                  <a:pt x="63500" y="0"/>
                </a:moveTo>
                <a:lnTo>
                  <a:pt x="1103313" y="0"/>
                </a:lnTo>
                <a:cubicBezTo>
                  <a:pt x="1138359" y="0"/>
                  <a:pt x="1166813" y="28453"/>
                  <a:pt x="1166813" y="63500"/>
                </a:cubicBezTo>
                <a:lnTo>
                  <a:pt x="1166813" y="254000"/>
                </a:lnTo>
                <a:cubicBezTo>
                  <a:pt x="1166813" y="289047"/>
                  <a:pt x="1138359" y="317500"/>
                  <a:pt x="1103313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44" name="Text 42"/>
          <p:cNvSpPr/>
          <p:nvPr/>
        </p:nvSpPr>
        <p:spPr>
          <a:xfrm>
            <a:off x="10566102" y="6121398"/>
            <a:ext cx="1230313" cy="317500"/>
          </a:xfrm>
          <a:prstGeom prst="rect">
            <a:avLst/>
          </a:prstGeom>
          <a:noFill/>
          <a:ln/>
        </p:spPr>
        <p:txBody>
          <a:bodyPr wrap="square" lIns="127000" tIns="63500" rIns="127000" bIns="6350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Aggressive Level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488950" y="6788148"/>
            <a:ext cx="11279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641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Caches URLs </a:t>
            </a:r>
            <a:pPr>
              <a:lnSpc>
                <a:spcPct val="130000"/>
              </a:lnSpc>
            </a:pPr>
            <a:r>
              <a:rPr lang="en-US" sz="1000" b="1" dirty="0">
                <a:solidFill>
                  <a:srgbClr val="3641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 query strings separately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3641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Each unique URL gets its own cache entry.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492125" y="7077073"/>
            <a:ext cx="5538788" cy="577850"/>
          </a:xfrm>
          <a:custGeom>
            <a:avLst/>
            <a:gdLst/>
            <a:ahLst/>
            <a:cxnLst/>
            <a:rect l="l" t="t" r="r" b="b"/>
            <a:pathLst>
              <a:path w="5538788" h="577850">
                <a:moveTo>
                  <a:pt x="63500" y="0"/>
                </a:moveTo>
                <a:lnTo>
                  <a:pt x="5475288" y="0"/>
                </a:lnTo>
                <a:cubicBezTo>
                  <a:pt x="5510358" y="0"/>
                  <a:pt x="5538788" y="28430"/>
                  <a:pt x="5538788" y="63500"/>
                </a:cubicBezTo>
                <a:lnTo>
                  <a:pt x="5538788" y="514350"/>
                </a:lnTo>
                <a:cubicBezTo>
                  <a:pt x="5538788" y="549420"/>
                  <a:pt x="5510358" y="577850"/>
                  <a:pt x="5475288" y="577850"/>
                </a:cubicBezTo>
                <a:lnTo>
                  <a:pt x="63500" y="577850"/>
                </a:lnTo>
                <a:cubicBezTo>
                  <a:pt x="28430" y="577850"/>
                  <a:pt x="0" y="549420"/>
                  <a:pt x="0" y="5143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F0FDF4"/>
          </a:solidFill>
          <a:ln w="10160">
            <a:solidFill>
              <a:srgbClr val="B9F8C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0550" y="7175496"/>
            <a:ext cx="5397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0082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Separate Cache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90550" y="7365996"/>
            <a:ext cx="5405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00A63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example.com/image.jpg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162675" y="7077073"/>
            <a:ext cx="5538788" cy="577850"/>
          </a:xfrm>
          <a:custGeom>
            <a:avLst/>
            <a:gdLst/>
            <a:ahLst/>
            <a:cxnLst/>
            <a:rect l="l" t="t" r="r" b="b"/>
            <a:pathLst>
              <a:path w="5538788" h="577850">
                <a:moveTo>
                  <a:pt x="63500" y="0"/>
                </a:moveTo>
                <a:lnTo>
                  <a:pt x="5475288" y="0"/>
                </a:lnTo>
                <a:cubicBezTo>
                  <a:pt x="5510358" y="0"/>
                  <a:pt x="5538788" y="28430"/>
                  <a:pt x="5538788" y="63500"/>
                </a:cubicBezTo>
                <a:lnTo>
                  <a:pt x="5538788" y="514350"/>
                </a:lnTo>
                <a:cubicBezTo>
                  <a:pt x="5538788" y="549420"/>
                  <a:pt x="5510358" y="577850"/>
                  <a:pt x="5475288" y="577850"/>
                </a:cubicBezTo>
                <a:lnTo>
                  <a:pt x="63500" y="577850"/>
                </a:lnTo>
                <a:cubicBezTo>
                  <a:pt x="28430" y="577850"/>
                  <a:pt x="0" y="549420"/>
                  <a:pt x="0" y="5143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EFF6FF"/>
          </a:solidFill>
          <a:ln w="10160">
            <a:solidFill>
              <a:srgbClr val="BEDB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61100" y="7175496"/>
            <a:ext cx="5397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1447E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Separate Cache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261100" y="7365996"/>
            <a:ext cx="5405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155D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example.com/image.jpg?size=large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488950" y="7753352"/>
            <a:ext cx="11271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6A72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for: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6A72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Dynamic sites where query strings affect content (e.g., ?page=2, ?category=tech)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3701" y="373701"/>
            <a:ext cx="11519338" cy="2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7" b="1" spc="59" kern="0" dirty="0">
                <a:solidFill>
                  <a:srgbClr val="F481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CONFIGURATION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3701" y="672662"/>
            <a:ext cx="11612763" cy="373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48" b="1" dirty="0">
                <a:solidFill>
                  <a:srgbClr val="1D1F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Browser Cache TTL Settings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73701" y="1121103"/>
            <a:ext cx="11528680" cy="26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4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Control how long visitor browsers keep cached content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73701" y="1532175"/>
            <a:ext cx="5605517" cy="3008294"/>
          </a:xfrm>
          <a:custGeom>
            <a:avLst/>
            <a:gdLst/>
            <a:ahLst/>
            <a:cxnLst/>
            <a:rect l="l" t="t" r="r" b="b"/>
            <a:pathLst>
              <a:path w="5605517" h="3008294">
                <a:moveTo>
                  <a:pt x="112119" y="0"/>
                </a:moveTo>
                <a:lnTo>
                  <a:pt x="5493398" y="0"/>
                </a:lnTo>
                <a:cubicBezTo>
                  <a:pt x="5555320" y="0"/>
                  <a:pt x="5605517" y="50197"/>
                  <a:pt x="5605517" y="112119"/>
                </a:cubicBezTo>
                <a:lnTo>
                  <a:pt x="5605517" y="2896175"/>
                </a:lnTo>
                <a:cubicBezTo>
                  <a:pt x="5605517" y="2958097"/>
                  <a:pt x="5555320" y="3008294"/>
                  <a:pt x="5493398" y="3008294"/>
                </a:cubicBezTo>
                <a:lnTo>
                  <a:pt x="112119" y="3008294"/>
                </a:lnTo>
                <a:cubicBezTo>
                  <a:pt x="50197" y="3008294"/>
                  <a:pt x="0" y="2958097"/>
                  <a:pt x="0" y="2896175"/>
                </a:cubicBezTo>
                <a:lnTo>
                  <a:pt x="0" y="112119"/>
                </a:lnTo>
                <a:cubicBezTo>
                  <a:pt x="0" y="50197"/>
                  <a:pt x="50197" y="0"/>
                  <a:pt x="112119" y="0"/>
                </a:cubicBezTo>
                <a:close/>
              </a:path>
            </a:pathLst>
          </a:custGeom>
          <a:solidFill>
            <a:srgbClr val="1D1F2B"/>
          </a:solidFill>
          <a:ln/>
        </p:spPr>
      </p:sp>
      <p:sp>
        <p:nvSpPr>
          <p:cNvPr id="6" name="Shape 4"/>
          <p:cNvSpPr/>
          <p:nvPr/>
        </p:nvSpPr>
        <p:spPr>
          <a:xfrm>
            <a:off x="625949" y="1821674"/>
            <a:ext cx="224221" cy="224221"/>
          </a:xfrm>
          <a:custGeom>
            <a:avLst/>
            <a:gdLst/>
            <a:ahLst/>
            <a:cxnLst/>
            <a:rect l="l" t="t" r="r" b="b"/>
            <a:pathLst>
              <a:path w="224221" h="224221">
                <a:moveTo>
                  <a:pt x="28028" y="14014"/>
                </a:moveTo>
                <a:cubicBezTo>
                  <a:pt x="12569" y="14014"/>
                  <a:pt x="0" y="26582"/>
                  <a:pt x="0" y="42041"/>
                </a:cubicBezTo>
                <a:lnTo>
                  <a:pt x="0" y="154152"/>
                </a:lnTo>
                <a:cubicBezTo>
                  <a:pt x="0" y="169611"/>
                  <a:pt x="12569" y="182179"/>
                  <a:pt x="28028" y="182179"/>
                </a:cubicBezTo>
                <a:lnTo>
                  <a:pt x="91090" y="182179"/>
                </a:lnTo>
                <a:lnTo>
                  <a:pt x="84083" y="203200"/>
                </a:lnTo>
                <a:lnTo>
                  <a:pt x="52552" y="203200"/>
                </a:lnTo>
                <a:cubicBezTo>
                  <a:pt x="46727" y="203200"/>
                  <a:pt x="42041" y="207886"/>
                  <a:pt x="42041" y="213710"/>
                </a:cubicBezTo>
                <a:cubicBezTo>
                  <a:pt x="42041" y="219535"/>
                  <a:pt x="46727" y="224221"/>
                  <a:pt x="52552" y="224221"/>
                </a:cubicBezTo>
                <a:lnTo>
                  <a:pt x="171669" y="224221"/>
                </a:lnTo>
                <a:cubicBezTo>
                  <a:pt x="177493" y="224221"/>
                  <a:pt x="182179" y="219535"/>
                  <a:pt x="182179" y="213710"/>
                </a:cubicBezTo>
                <a:cubicBezTo>
                  <a:pt x="182179" y="207886"/>
                  <a:pt x="177493" y="203200"/>
                  <a:pt x="171669" y="203200"/>
                </a:cubicBezTo>
                <a:lnTo>
                  <a:pt x="140138" y="203200"/>
                </a:lnTo>
                <a:lnTo>
                  <a:pt x="133131" y="182179"/>
                </a:lnTo>
                <a:lnTo>
                  <a:pt x="196193" y="182179"/>
                </a:lnTo>
                <a:cubicBezTo>
                  <a:pt x="211652" y="182179"/>
                  <a:pt x="224221" y="169611"/>
                  <a:pt x="224221" y="154152"/>
                </a:cubicBezTo>
                <a:lnTo>
                  <a:pt x="224221" y="42041"/>
                </a:lnTo>
                <a:cubicBezTo>
                  <a:pt x="224221" y="26582"/>
                  <a:pt x="211652" y="14014"/>
                  <a:pt x="196193" y="14014"/>
                </a:cubicBezTo>
                <a:lnTo>
                  <a:pt x="28028" y="14014"/>
                </a:lnTo>
                <a:close/>
                <a:moveTo>
                  <a:pt x="42041" y="42041"/>
                </a:moveTo>
                <a:lnTo>
                  <a:pt x="182179" y="42041"/>
                </a:lnTo>
                <a:cubicBezTo>
                  <a:pt x="189931" y="42041"/>
                  <a:pt x="196193" y="48304"/>
                  <a:pt x="196193" y="56055"/>
                </a:cubicBezTo>
                <a:lnTo>
                  <a:pt x="196193" y="126124"/>
                </a:lnTo>
                <a:cubicBezTo>
                  <a:pt x="196193" y="133876"/>
                  <a:pt x="189931" y="140138"/>
                  <a:pt x="182179" y="140138"/>
                </a:cubicBezTo>
                <a:lnTo>
                  <a:pt x="42041" y="140138"/>
                </a:lnTo>
                <a:cubicBezTo>
                  <a:pt x="34290" y="140138"/>
                  <a:pt x="28028" y="133876"/>
                  <a:pt x="28028" y="126124"/>
                </a:cubicBezTo>
                <a:lnTo>
                  <a:pt x="28028" y="56055"/>
                </a:lnTo>
                <a:cubicBezTo>
                  <a:pt x="28028" y="48304"/>
                  <a:pt x="34290" y="42041"/>
                  <a:pt x="42041" y="42041"/>
                </a:cubicBez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7" name="Text 5"/>
          <p:cNvSpPr/>
          <p:nvPr/>
        </p:nvSpPr>
        <p:spPr>
          <a:xfrm>
            <a:off x="878198" y="1784423"/>
            <a:ext cx="4988910" cy="298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6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Browser Cache TTL?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7922" y="2232746"/>
            <a:ext cx="5231816" cy="485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7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Browser Cache TTL tells the </a:t>
            </a:r>
            <a:pPr>
              <a:lnSpc>
                <a:spcPct val="140000"/>
              </a:lnSpc>
            </a:pPr>
            <a:r>
              <a:rPr lang="en-US" sz="117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visitor's web browser</a:t>
            </a:r>
            <a:pPr>
              <a:lnSpc>
                <a:spcPct val="140000"/>
              </a:lnSpc>
            </a:pPr>
            <a:r>
              <a:rPr lang="en-US" sz="1177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how long to keep cached content before requesting a fresh copy from Cloudflare.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7922" y="2868038"/>
            <a:ext cx="5157076" cy="1420064"/>
          </a:xfrm>
          <a:custGeom>
            <a:avLst/>
            <a:gdLst/>
            <a:ahLst/>
            <a:cxnLst/>
            <a:rect l="l" t="t" r="r" b="b"/>
            <a:pathLst>
              <a:path w="5157076" h="1420064">
                <a:moveTo>
                  <a:pt x="74738" y="0"/>
                </a:moveTo>
                <a:lnTo>
                  <a:pt x="5082338" y="0"/>
                </a:lnTo>
                <a:cubicBezTo>
                  <a:pt x="5123615" y="0"/>
                  <a:pt x="5157076" y="33461"/>
                  <a:pt x="5157076" y="74738"/>
                </a:cubicBezTo>
                <a:lnTo>
                  <a:pt x="5157076" y="1345326"/>
                </a:lnTo>
                <a:cubicBezTo>
                  <a:pt x="5157076" y="1386603"/>
                  <a:pt x="5123615" y="1420064"/>
                  <a:pt x="5082338" y="1420064"/>
                </a:cubicBezTo>
                <a:lnTo>
                  <a:pt x="74738" y="1420064"/>
                </a:lnTo>
                <a:cubicBezTo>
                  <a:pt x="33461" y="1420064"/>
                  <a:pt x="0" y="1386603"/>
                  <a:pt x="0" y="1345326"/>
                </a:cubicBezTo>
                <a:lnTo>
                  <a:pt x="0" y="74738"/>
                </a:lnTo>
                <a:cubicBezTo>
                  <a:pt x="0" y="33489"/>
                  <a:pt x="33489" y="0"/>
                  <a:pt x="74738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47402" y="3047416"/>
            <a:ext cx="782787" cy="164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Points: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75430" y="3353849"/>
            <a:ext cx="130795" cy="149480"/>
          </a:xfrm>
          <a:custGeom>
            <a:avLst/>
            <a:gdLst/>
            <a:ahLst/>
            <a:cxnLst/>
            <a:rect l="l" t="t" r="r" b="b"/>
            <a:pathLst>
              <a:path w="130795" h="149480">
                <a:moveTo>
                  <a:pt x="126942" y="20466"/>
                </a:moveTo>
                <a:cubicBezTo>
                  <a:pt x="131117" y="23502"/>
                  <a:pt x="132051" y="29341"/>
                  <a:pt x="129014" y="33516"/>
                </a:cubicBezTo>
                <a:lnTo>
                  <a:pt x="54274" y="136284"/>
                </a:lnTo>
                <a:cubicBezTo>
                  <a:pt x="52669" y="138503"/>
                  <a:pt x="50187" y="139875"/>
                  <a:pt x="47443" y="140109"/>
                </a:cubicBezTo>
                <a:cubicBezTo>
                  <a:pt x="44698" y="140342"/>
                  <a:pt x="42041" y="139320"/>
                  <a:pt x="40114" y="137394"/>
                </a:cubicBezTo>
                <a:lnTo>
                  <a:pt x="2744" y="100023"/>
                </a:lnTo>
                <a:cubicBezTo>
                  <a:pt x="-905" y="96374"/>
                  <a:pt x="-905" y="90447"/>
                  <a:pt x="2744" y="86798"/>
                </a:cubicBezTo>
                <a:cubicBezTo>
                  <a:pt x="6394" y="83149"/>
                  <a:pt x="12320" y="83149"/>
                  <a:pt x="15970" y="86798"/>
                </a:cubicBezTo>
                <a:lnTo>
                  <a:pt x="45603" y="116431"/>
                </a:lnTo>
                <a:lnTo>
                  <a:pt x="113920" y="22510"/>
                </a:lnTo>
                <a:cubicBezTo>
                  <a:pt x="116957" y="18335"/>
                  <a:pt x="122796" y="17400"/>
                  <a:pt x="126971" y="20437"/>
                </a:cubicBez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12" name="Text 10"/>
          <p:cNvSpPr/>
          <p:nvPr/>
        </p:nvSpPr>
        <p:spPr>
          <a:xfrm>
            <a:off x="1008993" y="3316479"/>
            <a:ext cx="3260543" cy="2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7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Visible in Cache-Control headers sent to browser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75430" y="3652810"/>
            <a:ext cx="130795" cy="149480"/>
          </a:xfrm>
          <a:custGeom>
            <a:avLst/>
            <a:gdLst/>
            <a:ahLst/>
            <a:cxnLst/>
            <a:rect l="l" t="t" r="r" b="b"/>
            <a:pathLst>
              <a:path w="130795" h="149480">
                <a:moveTo>
                  <a:pt x="126942" y="20466"/>
                </a:moveTo>
                <a:cubicBezTo>
                  <a:pt x="131117" y="23502"/>
                  <a:pt x="132051" y="29341"/>
                  <a:pt x="129014" y="33516"/>
                </a:cubicBezTo>
                <a:lnTo>
                  <a:pt x="54274" y="136284"/>
                </a:lnTo>
                <a:cubicBezTo>
                  <a:pt x="52669" y="138503"/>
                  <a:pt x="50187" y="139875"/>
                  <a:pt x="47443" y="140109"/>
                </a:cubicBezTo>
                <a:cubicBezTo>
                  <a:pt x="44698" y="140342"/>
                  <a:pt x="42041" y="139320"/>
                  <a:pt x="40114" y="137394"/>
                </a:cubicBezTo>
                <a:lnTo>
                  <a:pt x="2744" y="100023"/>
                </a:lnTo>
                <a:cubicBezTo>
                  <a:pt x="-905" y="96374"/>
                  <a:pt x="-905" y="90447"/>
                  <a:pt x="2744" y="86798"/>
                </a:cubicBezTo>
                <a:cubicBezTo>
                  <a:pt x="6394" y="83149"/>
                  <a:pt x="12320" y="83149"/>
                  <a:pt x="15970" y="86798"/>
                </a:cubicBezTo>
                <a:lnTo>
                  <a:pt x="45603" y="116431"/>
                </a:lnTo>
                <a:lnTo>
                  <a:pt x="113920" y="22510"/>
                </a:lnTo>
                <a:cubicBezTo>
                  <a:pt x="116957" y="18335"/>
                  <a:pt x="122796" y="17400"/>
                  <a:pt x="126971" y="20437"/>
                </a:cubicBez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14" name="Text 12"/>
          <p:cNvSpPr/>
          <p:nvPr/>
        </p:nvSpPr>
        <p:spPr>
          <a:xfrm>
            <a:off x="1008993" y="3615440"/>
            <a:ext cx="1868506" cy="2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7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Default: 4 hours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75430" y="3951771"/>
            <a:ext cx="130795" cy="149480"/>
          </a:xfrm>
          <a:custGeom>
            <a:avLst/>
            <a:gdLst/>
            <a:ahLst/>
            <a:cxnLst/>
            <a:rect l="l" t="t" r="r" b="b"/>
            <a:pathLst>
              <a:path w="130795" h="149480">
                <a:moveTo>
                  <a:pt x="126942" y="20466"/>
                </a:moveTo>
                <a:cubicBezTo>
                  <a:pt x="131117" y="23502"/>
                  <a:pt x="132051" y="29341"/>
                  <a:pt x="129014" y="33516"/>
                </a:cubicBezTo>
                <a:lnTo>
                  <a:pt x="54274" y="136284"/>
                </a:lnTo>
                <a:cubicBezTo>
                  <a:pt x="52669" y="138503"/>
                  <a:pt x="50187" y="139875"/>
                  <a:pt x="47443" y="140109"/>
                </a:cubicBezTo>
                <a:cubicBezTo>
                  <a:pt x="44698" y="140342"/>
                  <a:pt x="42041" y="139320"/>
                  <a:pt x="40114" y="137394"/>
                </a:cubicBezTo>
                <a:lnTo>
                  <a:pt x="2744" y="100023"/>
                </a:lnTo>
                <a:cubicBezTo>
                  <a:pt x="-905" y="96374"/>
                  <a:pt x="-905" y="90447"/>
                  <a:pt x="2744" y="86798"/>
                </a:cubicBezTo>
                <a:cubicBezTo>
                  <a:pt x="6394" y="83149"/>
                  <a:pt x="12320" y="83149"/>
                  <a:pt x="15970" y="86798"/>
                </a:cubicBezTo>
                <a:lnTo>
                  <a:pt x="45603" y="116431"/>
                </a:lnTo>
                <a:lnTo>
                  <a:pt x="113920" y="22510"/>
                </a:lnTo>
                <a:cubicBezTo>
                  <a:pt x="116957" y="18335"/>
                  <a:pt x="122796" y="17400"/>
                  <a:pt x="126971" y="20437"/>
                </a:cubicBez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16" name="Text 14"/>
          <p:cNvSpPr/>
          <p:nvPr/>
        </p:nvSpPr>
        <p:spPr>
          <a:xfrm>
            <a:off x="1008993" y="3914401"/>
            <a:ext cx="1971274" cy="2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7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Minimum: 1 second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92386" y="4727320"/>
            <a:ext cx="5586832" cy="1756395"/>
          </a:xfrm>
          <a:custGeom>
            <a:avLst/>
            <a:gdLst/>
            <a:ahLst/>
            <a:cxnLst/>
            <a:rect l="l" t="t" r="r" b="b"/>
            <a:pathLst>
              <a:path w="5586832" h="1756395">
                <a:moveTo>
                  <a:pt x="37370" y="0"/>
                </a:moveTo>
                <a:lnTo>
                  <a:pt x="5474721" y="0"/>
                </a:lnTo>
                <a:cubicBezTo>
                  <a:pt x="5536639" y="0"/>
                  <a:pt x="5586832" y="50194"/>
                  <a:pt x="5586832" y="112111"/>
                </a:cubicBezTo>
                <a:lnTo>
                  <a:pt x="5586832" y="1644285"/>
                </a:lnTo>
                <a:cubicBezTo>
                  <a:pt x="5586832" y="1706202"/>
                  <a:pt x="5536639" y="1756395"/>
                  <a:pt x="5474721" y="1756395"/>
                </a:cubicBezTo>
                <a:lnTo>
                  <a:pt x="37370" y="1756395"/>
                </a:lnTo>
                <a:cubicBezTo>
                  <a:pt x="16731" y="1756395"/>
                  <a:pt x="0" y="1739664"/>
                  <a:pt x="0" y="1719025"/>
                </a:cubicBezTo>
                <a:lnTo>
                  <a:pt x="0" y="37370"/>
                </a:lnTo>
                <a:cubicBezTo>
                  <a:pt x="0" y="16745"/>
                  <a:pt x="16745" y="0"/>
                  <a:pt x="37370" y="0"/>
                </a:cubicBezTo>
                <a:close/>
              </a:path>
            </a:pathLst>
          </a:custGeom>
          <a:solidFill>
            <a:srgbClr val="F48120">
              <a:alpha val="1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92386" y="4727320"/>
            <a:ext cx="37370" cy="1756395"/>
          </a:xfrm>
          <a:custGeom>
            <a:avLst/>
            <a:gdLst/>
            <a:ahLst/>
            <a:cxnLst/>
            <a:rect l="l" t="t" r="r" b="b"/>
            <a:pathLst>
              <a:path w="37370" h="1756395">
                <a:moveTo>
                  <a:pt x="37370" y="0"/>
                </a:moveTo>
                <a:lnTo>
                  <a:pt x="37370" y="0"/>
                </a:lnTo>
                <a:lnTo>
                  <a:pt x="37370" y="1756395"/>
                </a:lnTo>
                <a:lnTo>
                  <a:pt x="37370" y="1756395"/>
                </a:lnTo>
                <a:cubicBezTo>
                  <a:pt x="16731" y="1756395"/>
                  <a:pt x="0" y="1739664"/>
                  <a:pt x="0" y="1719025"/>
                </a:cubicBezTo>
                <a:lnTo>
                  <a:pt x="0" y="37370"/>
                </a:lnTo>
                <a:cubicBezTo>
                  <a:pt x="0" y="16745"/>
                  <a:pt x="16745" y="0"/>
                  <a:pt x="37370" y="0"/>
                </a:cubicBez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19" name="Shape 17"/>
          <p:cNvSpPr/>
          <p:nvPr/>
        </p:nvSpPr>
        <p:spPr>
          <a:xfrm>
            <a:off x="635292" y="4988910"/>
            <a:ext cx="233563" cy="186851"/>
          </a:xfrm>
          <a:custGeom>
            <a:avLst/>
            <a:gdLst/>
            <a:ahLst/>
            <a:cxnLst/>
            <a:rect l="l" t="t" r="r" b="b"/>
            <a:pathLst>
              <a:path w="233563" h="186851">
                <a:moveTo>
                  <a:pt x="140138" y="11678"/>
                </a:moveTo>
                <a:lnTo>
                  <a:pt x="186851" y="11678"/>
                </a:lnTo>
                <a:cubicBezTo>
                  <a:pt x="193310" y="11678"/>
                  <a:pt x="198529" y="16897"/>
                  <a:pt x="198529" y="23356"/>
                </a:cubicBezTo>
                <a:cubicBezTo>
                  <a:pt x="198529" y="29816"/>
                  <a:pt x="193310" y="35034"/>
                  <a:pt x="186851" y="35034"/>
                </a:cubicBezTo>
                <a:lnTo>
                  <a:pt x="145393" y="35034"/>
                </a:lnTo>
                <a:cubicBezTo>
                  <a:pt x="143495" y="44450"/>
                  <a:pt x="137036" y="52223"/>
                  <a:pt x="128460" y="55946"/>
                </a:cubicBezTo>
                <a:lnTo>
                  <a:pt x="128460" y="163494"/>
                </a:lnTo>
                <a:lnTo>
                  <a:pt x="186851" y="163494"/>
                </a:lnTo>
                <a:cubicBezTo>
                  <a:pt x="193310" y="163494"/>
                  <a:pt x="198529" y="168713"/>
                  <a:pt x="198529" y="175172"/>
                </a:cubicBezTo>
                <a:cubicBezTo>
                  <a:pt x="198529" y="181632"/>
                  <a:pt x="193310" y="186851"/>
                  <a:pt x="186851" y="186851"/>
                </a:cubicBezTo>
                <a:lnTo>
                  <a:pt x="46713" y="186851"/>
                </a:lnTo>
                <a:cubicBezTo>
                  <a:pt x="40253" y="186851"/>
                  <a:pt x="35034" y="181632"/>
                  <a:pt x="35034" y="175172"/>
                </a:cubicBezTo>
                <a:cubicBezTo>
                  <a:pt x="35034" y="168713"/>
                  <a:pt x="40253" y="163494"/>
                  <a:pt x="46713" y="163494"/>
                </a:cubicBezTo>
                <a:lnTo>
                  <a:pt x="105103" y="163494"/>
                </a:lnTo>
                <a:lnTo>
                  <a:pt x="105103" y="55946"/>
                </a:lnTo>
                <a:cubicBezTo>
                  <a:pt x="96527" y="52187"/>
                  <a:pt x="90068" y="44414"/>
                  <a:pt x="88170" y="35034"/>
                </a:cubicBezTo>
                <a:lnTo>
                  <a:pt x="46713" y="35034"/>
                </a:lnTo>
                <a:cubicBezTo>
                  <a:pt x="40253" y="35034"/>
                  <a:pt x="35034" y="29816"/>
                  <a:pt x="35034" y="23356"/>
                </a:cubicBezTo>
                <a:cubicBezTo>
                  <a:pt x="35034" y="16897"/>
                  <a:pt x="40253" y="11678"/>
                  <a:pt x="46713" y="11678"/>
                </a:cubicBezTo>
                <a:lnTo>
                  <a:pt x="93425" y="11678"/>
                </a:lnTo>
                <a:cubicBezTo>
                  <a:pt x="98753" y="4598"/>
                  <a:pt x="107220" y="0"/>
                  <a:pt x="116782" y="0"/>
                </a:cubicBezTo>
                <a:cubicBezTo>
                  <a:pt x="126343" y="0"/>
                  <a:pt x="134810" y="4598"/>
                  <a:pt x="140138" y="11678"/>
                </a:cubicBezTo>
                <a:close/>
                <a:moveTo>
                  <a:pt x="160429" y="116782"/>
                </a:moveTo>
                <a:lnTo>
                  <a:pt x="213272" y="116782"/>
                </a:lnTo>
                <a:lnTo>
                  <a:pt x="186851" y="71456"/>
                </a:lnTo>
                <a:lnTo>
                  <a:pt x="160429" y="116782"/>
                </a:lnTo>
                <a:close/>
                <a:moveTo>
                  <a:pt x="186851" y="151816"/>
                </a:moveTo>
                <a:cubicBezTo>
                  <a:pt x="163896" y="151816"/>
                  <a:pt x="144809" y="139408"/>
                  <a:pt x="140868" y="123022"/>
                </a:cubicBezTo>
                <a:cubicBezTo>
                  <a:pt x="139919" y="119008"/>
                  <a:pt x="141233" y="114884"/>
                  <a:pt x="143313" y="111307"/>
                </a:cubicBezTo>
                <a:lnTo>
                  <a:pt x="178055" y="51749"/>
                </a:lnTo>
                <a:cubicBezTo>
                  <a:pt x="179880" y="48610"/>
                  <a:pt x="183238" y="46713"/>
                  <a:pt x="186851" y="46713"/>
                </a:cubicBezTo>
                <a:cubicBezTo>
                  <a:pt x="190464" y="46713"/>
                  <a:pt x="193821" y="48647"/>
                  <a:pt x="195646" y="51749"/>
                </a:cubicBezTo>
                <a:lnTo>
                  <a:pt x="230388" y="111307"/>
                </a:lnTo>
                <a:cubicBezTo>
                  <a:pt x="232468" y="114884"/>
                  <a:pt x="233782" y="119008"/>
                  <a:pt x="232833" y="123022"/>
                </a:cubicBezTo>
                <a:cubicBezTo>
                  <a:pt x="228892" y="139372"/>
                  <a:pt x="209805" y="151816"/>
                  <a:pt x="186851" y="151816"/>
                </a:cubicBezTo>
                <a:close/>
                <a:moveTo>
                  <a:pt x="46275" y="71456"/>
                </a:moveTo>
                <a:lnTo>
                  <a:pt x="19853" y="116782"/>
                </a:lnTo>
                <a:lnTo>
                  <a:pt x="72733" y="116782"/>
                </a:lnTo>
                <a:lnTo>
                  <a:pt x="46275" y="71456"/>
                </a:lnTo>
                <a:close/>
                <a:moveTo>
                  <a:pt x="328" y="123022"/>
                </a:moveTo>
                <a:cubicBezTo>
                  <a:pt x="-620" y="119008"/>
                  <a:pt x="693" y="114884"/>
                  <a:pt x="2774" y="111307"/>
                </a:cubicBezTo>
                <a:lnTo>
                  <a:pt x="37516" y="51749"/>
                </a:lnTo>
                <a:cubicBezTo>
                  <a:pt x="39341" y="48610"/>
                  <a:pt x="42698" y="46713"/>
                  <a:pt x="46311" y="46713"/>
                </a:cubicBezTo>
                <a:cubicBezTo>
                  <a:pt x="49924" y="46713"/>
                  <a:pt x="53282" y="48647"/>
                  <a:pt x="55106" y="51749"/>
                </a:cubicBezTo>
                <a:lnTo>
                  <a:pt x="89849" y="111307"/>
                </a:lnTo>
                <a:cubicBezTo>
                  <a:pt x="91929" y="114884"/>
                  <a:pt x="93243" y="119008"/>
                  <a:pt x="92294" y="123022"/>
                </a:cubicBezTo>
                <a:cubicBezTo>
                  <a:pt x="88353" y="139372"/>
                  <a:pt x="69266" y="151816"/>
                  <a:pt x="46311" y="151816"/>
                </a:cubicBezTo>
                <a:cubicBezTo>
                  <a:pt x="23356" y="151816"/>
                  <a:pt x="4270" y="139408"/>
                  <a:pt x="328" y="123022"/>
                </a:cubicBez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20" name="Text 18"/>
          <p:cNvSpPr/>
          <p:nvPr/>
        </p:nvSpPr>
        <p:spPr>
          <a:xfrm>
            <a:off x="868855" y="4951540"/>
            <a:ext cx="4979568" cy="26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1" b="1" dirty="0">
                <a:solidFill>
                  <a:srgbClr val="1D1F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vs Freshness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35292" y="5325241"/>
            <a:ext cx="298961" cy="298961"/>
          </a:xfrm>
          <a:custGeom>
            <a:avLst/>
            <a:gdLst/>
            <a:ahLst/>
            <a:cxnLst/>
            <a:rect l="l" t="t" r="r" b="b"/>
            <a:pathLst>
              <a:path w="298961" h="298961">
                <a:moveTo>
                  <a:pt x="149480" y="0"/>
                </a:moveTo>
                <a:lnTo>
                  <a:pt x="149480" y="0"/>
                </a:lnTo>
                <a:cubicBezTo>
                  <a:pt x="231981" y="0"/>
                  <a:pt x="298961" y="66980"/>
                  <a:pt x="298961" y="149480"/>
                </a:cubicBezTo>
                <a:lnTo>
                  <a:pt x="298961" y="149480"/>
                </a:lnTo>
                <a:cubicBezTo>
                  <a:pt x="298961" y="231981"/>
                  <a:pt x="231981" y="298961"/>
                  <a:pt x="149480" y="298961"/>
                </a:cubicBezTo>
                <a:lnTo>
                  <a:pt x="149480" y="298961"/>
                </a:lnTo>
                <a:cubicBezTo>
                  <a:pt x="66980" y="298961"/>
                  <a:pt x="0" y="231981"/>
                  <a:pt x="0" y="149480"/>
                </a:cubicBezTo>
                <a:lnTo>
                  <a:pt x="0" y="149480"/>
                </a:lnTo>
                <a:cubicBezTo>
                  <a:pt x="0" y="66980"/>
                  <a:pt x="66980" y="0"/>
                  <a:pt x="149480" y="0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22" name="Text 20"/>
          <p:cNvSpPr/>
          <p:nvPr/>
        </p:nvSpPr>
        <p:spPr>
          <a:xfrm>
            <a:off x="597922" y="5325241"/>
            <a:ext cx="373701" cy="298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46363" y="5325241"/>
            <a:ext cx="2186152" cy="2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7" b="1" dirty="0">
                <a:solidFill>
                  <a:srgbClr val="1D1F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Longer TTL = Better Performance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46363" y="5549462"/>
            <a:ext cx="2176809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Less frequent requests to Cloudflare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35292" y="5848423"/>
            <a:ext cx="298961" cy="298961"/>
          </a:xfrm>
          <a:custGeom>
            <a:avLst/>
            <a:gdLst/>
            <a:ahLst/>
            <a:cxnLst/>
            <a:rect l="l" t="t" r="r" b="b"/>
            <a:pathLst>
              <a:path w="298961" h="298961">
                <a:moveTo>
                  <a:pt x="149480" y="0"/>
                </a:moveTo>
                <a:lnTo>
                  <a:pt x="149480" y="0"/>
                </a:lnTo>
                <a:cubicBezTo>
                  <a:pt x="231981" y="0"/>
                  <a:pt x="298961" y="66980"/>
                  <a:pt x="298961" y="149480"/>
                </a:cubicBezTo>
                <a:lnTo>
                  <a:pt x="298961" y="149480"/>
                </a:lnTo>
                <a:cubicBezTo>
                  <a:pt x="298961" y="231981"/>
                  <a:pt x="231981" y="298961"/>
                  <a:pt x="149480" y="298961"/>
                </a:cubicBezTo>
                <a:lnTo>
                  <a:pt x="149480" y="298961"/>
                </a:lnTo>
                <a:cubicBezTo>
                  <a:pt x="66980" y="298961"/>
                  <a:pt x="0" y="231981"/>
                  <a:pt x="0" y="149480"/>
                </a:cubicBezTo>
                <a:lnTo>
                  <a:pt x="0" y="149480"/>
                </a:lnTo>
                <a:cubicBezTo>
                  <a:pt x="0" y="66980"/>
                  <a:pt x="66980" y="0"/>
                  <a:pt x="149480" y="0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26" name="Text 24"/>
          <p:cNvSpPr/>
          <p:nvPr/>
        </p:nvSpPr>
        <p:spPr>
          <a:xfrm>
            <a:off x="597922" y="5848423"/>
            <a:ext cx="373701" cy="298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−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46363" y="5848423"/>
            <a:ext cx="1943246" cy="2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7" b="1" dirty="0">
                <a:solidFill>
                  <a:srgbClr val="1D1F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Longer TTL = Stale Content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46363" y="6072644"/>
            <a:ext cx="1933903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Users may see outdated versions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15000" y="1539649"/>
            <a:ext cx="5592438" cy="2808364"/>
          </a:xfrm>
          <a:custGeom>
            <a:avLst/>
            <a:gdLst/>
            <a:ahLst/>
            <a:cxnLst/>
            <a:rect l="l" t="t" r="r" b="b"/>
            <a:pathLst>
              <a:path w="5592438" h="2808364">
                <a:moveTo>
                  <a:pt x="112110" y="0"/>
                </a:moveTo>
                <a:lnTo>
                  <a:pt x="5480328" y="0"/>
                </a:lnTo>
                <a:cubicBezTo>
                  <a:pt x="5542244" y="0"/>
                  <a:pt x="5592438" y="50193"/>
                  <a:pt x="5592438" y="112110"/>
                </a:cubicBezTo>
                <a:lnTo>
                  <a:pt x="5592438" y="2696254"/>
                </a:lnTo>
                <a:cubicBezTo>
                  <a:pt x="5592438" y="2758171"/>
                  <a:pt x="5542244" y="2808364"/>
                  <a:pt x="5480328" y="2808364"/>
                </a:cubicBezTo>
                <a:lnTo>
                  <a:pt x="112110" y="2808364"/>
                </a:lnTo>
                <a:cubicBezTo>
                  <a:pt x="50193" y="2808364"/>
                  <a:pt x="0" y="2758171"/>
                  <a:pt x="0" y="2696254"/>
                </a:cubicBezTo>
                <a:lnTo>
                  <a:pt x="0" y="112110"/>
                </a:lnTo>
                <a:cubicBezTo>
                  <a:pt x="0" y="50235"/>
                  <a:pt x="50235" y="0"/>
                  <a:pt x="112110" y="0"/>
                </a:cubicBezTo>
                <a:close/>
              </a:path>
            </a:pathLst>
          </a:custGeom>
          <a:solidFill>
            <a:srgbClr val="F9FAFB"/>
          </a:solidFill>
          <a:ln w="2032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70052" y="2068430"/>
            <a:ext cx="186851" cy="186851"/>
          </a:xfrm>
          <a:custGeom>
            <a:avLst/>
            <a:gdLst/>
            <a:ahLst/>
            <a:cxnLst/>
            <a:rect l="l" t="t" r="r" b="b"/>
            <a:pathLst>
              <a:path w="186851" h="186851">
                <a:moveTo>
                  <a:pt x="71200" y="3467"/>
                </a:moveTo>
                <a:cubicBezTo>
                  <a:pt x="72295" y="-1934"/>
                  <a:pt x="77076" y="-5839"/>
                  <a:pt x="82623" y="-5839"/>
                </a:cubicBezTo>
                <a:lnTo>
                  <a:pt x="104447" y="-5839"/>
                </a:lnTo>
                <a:cubicBezTo>
                  <a:pt x="109994" y="-5839"/>
                  <a:pt x="114774" y="-1934"/>
                  <a:pt x="115869" y="3467"/>
                </a:cubicBezTo>
                <a:lnTo>
                  <a:pt x="121161" y="29013"/>
                </a:lnTo>
                <a:cubicBezTo>
                  <a:pt x="126307" y="31203"/>
                  <a:pt x="131124" y="34013"/>
                  <a:pt x="135503" y="37334"/>
                </a:cubicBezTo>
                <a:lnTo>
                  <a:pt x="160246" y="29122"/>
                </a:lnTo>
                <a:cubicBezTo>
                  <a:pt x="165501" y="27371"/>
                  <a:pt x="171268" y="29560"/>
                  <a:pt x="174041" y="34378"/>
                </a:cubicBezTo>
                <a:lnTo>
                  <a:pt x="184953" y="53282"/>
                </a:lnTo>
                <a:cubicBezTo>
                  <a:pt x="187726" y="58099"/>
                  <a:pt x="186741" y="64157"/>
                  <a:pt x="182581" y="67843"/>
                </a:cubicBezTo>
                <a:lnTo>
                  <a:pt x="163129" y="85141"/>
                </a:lnTo>
                <a:cubicBezTo>
                  <a:pt x="163458" y="87842"/>
                  <a:pt x="163604" y="90615"/>
                  <a:pt x="163604" y="93425"/>
                </a:cubicBezTo>
                <a:cubicBezTo>
                  <a:pt x="163604" y="96235"/>
                  <a:pt x="163421" y="99009"/>
                  <a:pt x="163129" y="101709"/>
                </a:cubicBezTo>
                <a:lnTo>
                  <a:pt x="182617" y="119044"/>
                </a:lnTo>
                <a:cubicBezTo>
                  <a:pt x="186778" y="122730"/>
                  <a:pt x="187726" y="128825"/>
                  <a:pt x="184989" y="133605"/>
                </a:cubicBezTo>
                <a:lnTo>
                  <a:pt x="174078" y="152509"/>
                </a:lnTo>
                <a:cubicBezTo>
                  <a:pt x="171304" y="157290"/>
                  <a:pt x="165538" y="159516"/>
                  <a:pt x="160283" y="157765"/>
                </a:cubicBezTo>
                <a:lnTo>
                  <a:pt x="135540" y="149553"/>
                </a:lnTo>
                <a:cubicBezTo>
                  <a:pt x="131124" y="152874"/>
                  <a:pt x="126307" y="155648"/>
                  <a:pt x="121197" y="157874"/>
                </a:cubicBezTo>
                <a:lnTo>
                  <a:pt x="115942" y="183384"/>
                </a:lnTo>
                <a:cubicBezTo>
                  <a:pt x="114811" y="188821"/>
                  <a:pt x="110030" y="192690"/>
                  <a:pt x="104520" y="192690"/>
                </a:cubicBezTo>
                <a:lnTo>
                  <a:pt x="82696" y="192690"/>
                </a:lnTo>
                <a:cubicBezTo>
                  <a:pt x="77149" y="192690"/>
                  <a:pt x="72368" y="188785"/>
                  <a:pt x="71273" y="183384"/>
                </a:cubicBezTo>
                <a:lnTo>
                  <a:pt x="66018" y="157874"/>
                </a:lnTo>
                <a:cubicBezTo>
                  <a:pt x="60872" y="155684"/>
                  <a:pt x="56092" y="152874"/>
                  <a:pt x="51676" y="149553"/>
                </a:cubicBezTo>
                <a:lnTo>
                  <a:pt x="26823" y="157765"/>
                </a:lnTo>
                <a:cubicBezTo>
                  <a:pt x="21568" y="159516"/>
                  <a:pt x="15802" y="157327"/>
                  <a:pt x="13028" y="152509"/>
                </a:cubicBezTo>
                <a:lnTo>
                  <a:pt x="2117" y="133605"/>
                </a:lnTo>
                <a:cubicBezTo>
                  <a:pt x="-657" y="128788"/>
                  <a:pt x="328" y="122730"/>
                  <a:pt x="4489" y="119044"/>
                </a:cubicBezTo>
                <a:lnTo>
                  <a:pt x="23977" y="101709"/>
                </a:lnTo>
                <a:cubicBezTo>
                  <a:pt x="23648" y="99009"/>
                  <a:pt x="23502" y="96235"/>
                  <a:pt x="23502" y="93425"/>
                </a:cubicBezTo>
                <a:cubicBezTo>
                  <a:pt x="23502" y="90615"/>
                  <a:pt x="23685" y="87842"/>
                  <a:pt x="23977" y="85141"/>
                </a:cubicBezTo>
                <a:lnTo>
                  <a:pt x="4489" y="67806"/>
                </a:lnTo>
                <a:cubicBezTo>
                  <a:pt x="328" y="64120"/>
                  <a:pt x="-620" y="58026"/>
                  <a:pt x="2117" y="53245"/>
                </a:cubicBezTo>
                <a:lnTo>
                  <a:pt x="13028" y="34341"/>
                </a:lnTo>
                <a:cubicBezTo>
                  <a:pt x="15802" y="29524"/>
                  <a:pt x="21568" y="27334"/>
                  <a:pt x="26823" y="29086"/>
                </a:cubicBezTo>
                <a:lnTo>
                  <a:pt x="51566" y="37297"/>
                </a:lnTo>
                <a:cubicBezTo>
                  <a:pt x="55982" y="33976"/>
                  <a:pt x="60799" y="31203"/>
                  <a:pt x="65909" y="28976"/>
                </a:cubicBezTo>
                <a:lnTo>
                  <a:pt x="71200" y="3467"/>
                </a:lnTo>
                <a:close/>
                <a:moveTo>
                  <a:pt x="93535" y="122621"/>
                </a:moveTo>
                <a:cubicBezTo>
                  <a:pt x="103965" y="122582"/>
                  <a:pt x="113583" y="116981"/>
                  <a:pt x="118764" y="107928"/>
                </a:cubicBezTo>
                <a:cubicBezTo>
                  <a:pt x="123945" y="98876"/>
                  <a:pt x="123904" y="87746"/>
                  <a:pt x="118655" y="78733"/>
                </a:cubicBezTo>
                <a:cubicBezTo>
                  <a:pt x="113405" y="69719"/>
                  <a:pt x="103746" y="64191"/>
                  <a:pt x="93316" y="64230"/>
                </a:cubicBezTo>
                <a:cubicBezTo>
                  <a:pt x="82885" y="64269"/>
                  <a:pt x="73268" y="69870"/>
                  <a:pt x="68087" y="78922"/>
                </a:cubicBezTo>
                <a:cubicBezTo>
                  <a:pt x="62905" y="87975"/>
                  <a:pt x="62947" y="99104"/>
                  <a:pt x="68196" y="108118"/>
                </a:cubicBezTo>
                <a:cubicBezTo>
                  <a:pt x="73445" y="117131"/>
                  <a:pt x="83104" y="122660"/>
                  <a:pt x="93535" y="122621"/>
                </a:cubicBez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31" name="Text 29"/>
          <p:cNvSpPr/>
          <p:nvPr/>
        </p:nvSpPr>
        <p:spPr>
          <a:xfrm>
            <a:off x="6680259" y="2031060"/>
            <a:ext cx="4988910" cy="26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1" b="1" dirty="0">
                <a:solidFill>
                  <a:srgbClr val="1D1F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Available Options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450433" y="2445869"/>
            <a:ext cx="5127180" cy="642766"/>
          </a:xfrm>
          <a:custGeom>
            <a:avLst/>
            <a:gdLst/>
            <a:ahLst/>
            <a:cxnLst/>
            <a:rect l="l" t="t" r="r" b="b"/>
            <a:pathLst>
              <a:path w="5127180" h="642766">
                <a:moveTo>
                  <a:pt x="74741" y="0"/>
                </a:moveTo>
                <a:lnTo>
                  <a:pt x="5052439" y="0"/>
                </a:lnTo>
                <a:cubicBezTo>
                  <a:pt x="5093717" y="0"/>
                  <a:pt x="5127180" y="33463"/>
                  <a:pt x="5127180" y="74741"/>
                </a:cubicBezTo>
                <a:lnTo>
                  <a:pt x="5127180" y="568025"/>
                </a:lnTo>
                <a:cubicBezTo>
                  <a:pt x="5127180" y="609303"/>
                  <a:pt x="5093717" y="642766"/>
                  <a:pt x="5052439" y="642766"/>
                </a:cubicBezTo>
                <a:lnTo>
                  <a:pt x="74741" y="642766"/>
                </a:lnTo>
                <a:cubicBezTo>
                  <a:pt x="33490" y="642766"/>
                  <a:pt x="0" y="609276"/>
                  <a:pt x="0" y="568025"/>
                </a:cubicBezTo>
                <a:lnTo>
                  <a:pt x="0" y="74741"/>
                </a:lnTo>
                <a:cubicBezTo>
                  <a:pt x="0" y="33490"/>
                  <a:pt x="33490" y="0"/>
                  <a:pt x="74741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66280" y="2561723"/>
            <a:ext cx="4970225" cy="2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7" b="1" dirty="0">
                <a:solidFill>
                  <a:srgbClr val="1D1F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Respect Existing Headers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566280" y="2785944"/>
            <a:ext cx="4960883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Cache-Control from origin server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450433" y="3208224"/>
            <a:ext cx="5127180" cy="642766"/>
          </a:xfrm>
          <a:custGeom>
            <a:avLst/>
            <a:gdLst/>
            <a:ahLst/>
            <a:cxnLst/>
            <a:rect l="l" t="t" r="r" b="b"/>
            <a:pathLst>
              <a:path w="5127180" h="642766">
                <a:moveTo>
                  <a:pt x="74741" y="0"/>
                </a:moveTo>
                <a:lnTo>
                  <a:pt x="5052439" y="0"/>
                </a:lnTo>
                <a:cubicBezTo>
                  <a:pt x="5093717" y="0"/>
                  <a:pt x="5127180" y="33463"/>
                  <a:pt x="5127180" y="74741"/>
                </a:cubicBezTo>
                <a:lnTo>
                  <a:pt x="5127180" y="568025"/>
                </a:lnTo>
                <a:cubicBezTo>
                  <a:pt x="5127180" y="609303"/>
                  <a:pt x="5093717" y="642766"/>
                  <a:pt x="5052439" y="642766"/>
                </a:cubicBezTo>
                <a:lnTo>
                  <a:pt x="74741" y="642766"/>
                </a:lnTo>
                <a:cubicBezTo>
                  <a:pt x="33490" y="642766"/>
                  <a:pt x="0" y="609276"/>
                  <a:pt x="0" y="568025"/>
                </a:cubicBezTo>
                <a:lnTo>
                  <a:pt x="0" y="74741"/>
                </a:lnTo>
                <a:cubicBezTo>
                  <a:pt x="0" y="33490"/>
                  <a:pt x="33490" y="0"/>
                  <a:pt x="74741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66280" y="3324070"/>
            <a:ext cx="4970225" cy="2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7" b="1" dirty="0">
                <a:solidFill>
                  <a:srgbClr val="1D1F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30 Minutes - 1 Year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566280" y="3548291"/>
            <a:ext cx="4960883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Fixed time periods (various options)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226211" y="4540469"/>
            <a:ext cx="5586832" cy="1943246"/>
          </a:xfrm>
          <a:custGeom>
            <a:avLst/>
            <a:gdLst/>
            <a:ahLst/>
            <a:cxnLst/>
            <a:rect l="l" t="t" r="r" b="b"/>
            <a:pathLst>
              <a:path w="5586832" h="1943246">
                <a:moveTo>
                  <a:pt x="37370" y="0"/>
                </a:moveTo>
                <a:lnTo>
                  <a:pt x="5474726" y="0"/>
                </a:lnTo>
                <a:cubicBezTo>
                  <a:pt x="5536641" y="0"/>
                  <a:pt x="5586832" y="50192"/>
                  <a:pt x="5586832" y="112106"/>
                </a:cubicBezTo>
                <a:lnTo>
                  <a:pt x="5586832" y="1831140"/>
                </a:lnTo>
                <a:cubicBezTo>
                  <a:pt x="5586832" y="1893054"/>
                  <a:pt x="5536641" y="1943246"/>
                  <a:pt x="5474726" y="1943246"/>
                </a:cubicBezTo>
                <a:lnTo>
                  <a:pt x="37370" y="1943246"/>
                </a:lnTo>
                <a:cubicBezTo>
                  <a:pt x="16731" y="1943246"/>
                  <a:pt x="0" y="1926515"/>
                  <a:pt x="0" y="1905876"/>
                </a:cubicBezTo>
                <a:lnTo>
                  <a:pt x="0" y="37370"/>
                </a:lnTo>
                <a:cubicBezTo>
                  <a:pt x="0" y="16745"/>
                  <a:pt x="16745" y="0"/>
                  <a:pt x="37370" y="0"/>
                </a:cubicBezTo>
                <a:close/>
              </a:path>
            </a:pathLst>
          </a:custGeom>
          <a:solidFill>
            <a:srgbClr val="00A4B5">
              <a:alpha val="10196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226211" y="4540469"/>
            <a:ext cx="37370" cy="1943246"/>
          </a:xfrm>
          <a:custGeom>
            <a:avLst/>
            <a:gdLst/>
            <a:ahLst/>
            <a:cxnLst/>
            <a:rect l="l" t="t" r="r" b="b"/>
            <a:pathLst>
              <a:path w="37370" h="1943246">
                <a:moveTo>
                  <a:pt x="37370" y="0"/>
                </a:moveTo>
                <a:lnTo>
                  <a:pt x="37370" y="0"/>
                </a:lnTo>
                <a:lnTo>
                  <a:pt x="37370" y="1943246"/>
                </a:lnTo>
                <a:lnTo>
                  <a:pt x="37370" y="1943246"/>
                </a:lnTo>
                <a:cubicBezTo>
                  <a:pt x="16731" y="1943246"/>
                  <a:pt x="0" y="1926515"/>
                  <a:pt x="0" y="1905876"/>
                </a:cubicBezTo>
                <a:lnTo>
                  <a:pt x="0" y="37370"/>
                </a:lnTo>
                <a:cubicBezTo>
                  <a:pt x="0" y="16745"/>
                  <a:pt x="16745" y="0"/>
                  <a:pt x="37370" y="0"/>
                </a:cubicBezTo>
                <a:close/>
              </a:path>
            </a:pathLst>
          </a:custGeom>
          <a:solidFill>
            <a:srgbClr val="00A4B5"/>
          </a:solidFill>
          <a:ln/>
        </p:spPr>
      </p:sp>
      <p:sp>
        <p:nvSpPr>
          <p:cNvPr id="40" name="Shape 38"/>
          <p:cNvSpPr/>
          <p:nvPr/>
        </p:nvSpPr>
        <p:spPr>
          <a:xfrm>
            <a:off x="6515830" y="4802060"/>
            <a:ext cx="140138" cy="186851"/>
          </a:xfrm>
          <a:custGeom>
            <a:avLst/>
            <a:gdLst/>
            <a:ahLst/>
            <a:cxnLst/>
            <a:rect l="l" t="t" r="r" b="b"/>
            <a:pathLst>
              <a:path w="140138" h="186851">
                <a:moveTo>
                  <a:pt x="106892" y="140138"/>
                </a:moveTo>
                <a:cubicBezTo>
                  <a:pt x="109556" y="132000"/>
                  <a:pt x="114884" y="124628"/>
                  <a:pt x="120905" y="118278"/>
                </a:cubicBezTo>
                <a:cubicBezTo>
                  <a:pt x="132839" y="105724"/>
                  <a:pt x="140138" y="88754"/>
                  <a:pt x="140138" y="70069"/>
                </a:cubicBezTo>
                <a:cubicBezTo>
                  <a:pt x="140138" y="31385"/>
                  <a:pt x="108753" y="0"/>
                  <a:pt x="70069" y="0"/>
                </a:cubicBezTo>
                <a:cubicBezTo>
                  <a:pt x="31385" y="0"/>
                  <a:pt x="0" y="31385"/>
                  <a:pt x="0" y="70069"/>
                </a:cubicBezTo>
                <a:cubicBezTo>
                  <a:pt x="0" y="88754"/>
                  <a:pt x="7299" y="105724"/>
                  <a:pt x="19232" y="118278"/>
                </a:cubicBezTo>
                <a:cubicBezTo>
                  <a:pt x="25254" y="124628"/>
                  <a:pt x="30619" y="132000"/>
                  <a:pt x="33246" y="140138"/>
                </a:cubicBezTo>
                <a:lnTo>
                  <a:pt x="106855" y="140138"/>
                </a:lnTo>
                <a:close/>
                <a:moveTo>
                  <a:pt x="105103" y="157655"/>
                </a:moveTo>
                <a:lnTo>
                  <a:pt x="35034" y="157655"/>
                </a:lnTo>
                <a:lnTo>
                  <a:pt x="35034" y="163494"/>
                </a:lnTo>
                <a:cubicBezTo>
                  <a:pt x="35034" y="179625"/>
                  <a:pt x="48099" y="192690"/>
                  <a:pt x="64230" y="192690"/>
                </a:cubicBezTo>
                <a:lnTo>
                  <a:pt x="75908" y="192690"/>
                </a:lnTo>
                <a:cubicBezTo>
                  <a:pt x="92039" y="192690"/>
                  <a:pt x="105103" y="179625"/>
                  <a:pt x="105103" y="163494"/>
                </a:cubicBezTo>
                <a:lnTo>
                  <a:pt x="105103" y="157655"/>
                </a:lnTo>
                <a:close/>
                <a:moveTo>
                  <a:pt x="67149" y="40874"/>
                </a:moveTo>
                <a:cubicBezTo>
                  <a:pt x="52625" y="40874"/>
                  <a:pt x="40874" y="52625"/>
                  <a:pt x="40874" y="67149"/>
                </a:cubicBezTo>
                <a:cubicBezTo>
                  <a:pt x="40874" y="72003"/>
                  <a:pt x="36969" y="75908"/>
                  <a:pt x="32115" y="75908"/>
                </a:cubicBezTo>
                <a:cubicBezTo>
                  <a:pt x="27261" y="75908"/>
                  <a:pt x="23356" y="72003"/>
                  <a:pt x="23356" y="67149"/>
                </a:cubicBezTo>
                <a:cubicBezTo>
                  <a:pt x="23356" y="42954"/>
                  <a:pt x="42954" y="23356"/>
                  <a:pt x="67149" y="23356"/>
                </a:cubicBezTo>
                <a:cubicBezTo>
                  <a:pt x="72003" y="23356"/>
                  <a:pt x="75908" y="27261"/>
                  <a:pt x="75908" y="32115"/>
                </a:cubicBezTo>
                <a:cubicBezTo>
                  <a:pt x="75908" y="36969"/>
                  <a:pt x="72003" y="40874"/>
                  <a:pt x="67149" y="40874"/>
                </a:cubicBezTo>
                <a:close/>
              </a:path>
            </a:pathLst>
          </a:custGeom>
          <a:solidFill>
            <a:srgbClr val="00A4B5"/>
          </a:solidFill>
          <a:ln/>
        </p:spPr>
      </p:sp>
      <p:sp>
        <p:nvSpPr>
          <p:cNvPr id="41" name="Text 39"/>
          <p:cNvSpPr/>
          <p:nvPr/>
        </p:nvSpPr>
        <p:spPr>
          <a:xfrm>
            <a:off x="6702680" y="4764690"/>
            <a:ext cx="4979568" cy="26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1" b="1" dirty="0">
                <a:solidFill>
                  <a:srgbClr val="1D1F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Recommendations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515830" y="5175761"/>
            <a:ext cx="93425" cy="149480"/>
          </a:xfrm>
          <a:custGeom>
            <a:avLst/>
            <a:gdLst/>
            <a:ahLst/>
            <a:cxnLst/>
            <a:rect l="l" t="t" r="r" b="b"/>
            <a:pathLst>
              <a:path w="93425" h="149480">
                <a:moveTo>
                  <a:pt x="90827" y="68142"/>
                </a:moveTo>
                <a:cubicBezTo>
                  <a:pt x="94476" y="71791"/>
                  <a:pt x="94476" y="77718"/>
                  <a:pt x="90827" y="81368"/>
                </a:cubicBezTo>
                <a:lnTo>
                  <a:pt x="34772" y="137423"/>
                </a:lnTo>
                <a:cubicBezTo>
                  <a:pt x="31122" y="141072"/>
                  <a:pt x="25196" y="141072"/>
                  <a:pt x="21546" y="137423"/>
                </a:cubicBezTo>
                <a:cubicBezTo>
                  <a:pt x="17897" y="133773"/>
                  <a:pt x="17897" y="127847"/>
                  <a:pt x="21546" y="124197"/>
                </a:cubicBezTo>
                <a:lnTo>
                  <a:pt x="71003" y="74740"/>
                </a:lnTo>
                <a:lnTo>
                  <a:pt x="21575" y="25283"/>
                </a:lnTo>
                <a:cubicBezTo>
                  <a:pt x="17926" y="21634"/>
                  <a:pt x="17926" y="15707"/>
                  <a:pt x="21575" y="12058"/>
                </a:cubicBezTo>
                <a:cubicBezTo>
                  <a:pt x="25225" y="8408"/>
                  <a:pt x="31151" y="8408"/>
                  <a:pt x="34801" y="12058"/>
                </a:cubicBezTo>
                <a:lnTo>
                  <a:pt x="90856" y="68113"/>
                </a:lnTo>
                <a:close/>
              </a:path>
            </a:pathLst>
          </a:custGeom>
          <a:solidFill>
            <a:srgbClr val="00A4B5"/>
          </a:solidFill>
          <a:ln/>
        </p:spPr>
      </p:sp>
      <p:sp>
        <p:nvSpPr>
          <p:cNvPr id="43" name="Text 41"/>
          <p:cNvSpPr/>
          <p:nvPr/>
        </p:nvSpPr>
        <p:spPr>
          <a:xfrm>
            <a:off x="6730708" y="5138391"/>
            <a:ext cx="2728018" cy="2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7" b="1" dirty="0">
                <a:solidFill>
                  <a:srgbClr val="3641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Static assets:</a:t>
            </a:r>
            <a:pPr>
              <a:lnSpc>
                <a:spcPct val="130000"/>
              </a:lnSpc>
            </a:pPr>
            <a:r>
              <a:rPr lang="en-US" sz="1177" dirty="0">
                <a:solidFill>
                  <a:srgbClr val="3641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1 year (versioned filenames)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515830" y="5474722"/>
            <a:ext cx="93425" cy="149480"/>
          </a:xfrm>
          <a:custGeom>
            <a:avLst/>
            <a:gdLst/>
            <a:ahLst/>
            <a:cxnLst/>
            <a:rect l="l" t="t" r="r" b="b"/>
            <a:pathLst>
              <a:path w="93425" h="149480">
                <a:moveTo>
                  <a:pt x="90827" y="68142"/>
                </a:moveTo>
                <a:cubicBezTo>
                  <a:pt x="94476" y="71791"/>
                  <a:pt x="94476" y="77718"/>
                  <a:pt x="90827" y="81368"/>
                </a:cubicBezTo>
                <a:lnTo>
                  <a:pt x="34772" y="137423"/>
                </a:lnTo>
                <a:cubicBezTo>
                  <a:pt x="31122" y="141072"/>
                  <a:pt x="25196" y="141072"/>
                  <a:pt x="21546" y="137423"/>
                </a:cubicBezTo>
                <a:cubicBezTo>
                  <a:pt x="17897" y="133773"/>
                  <a:pt x="17897" y="127847"/>
                  <a:pt x="21546" y="124197"/>
                </a:cubicBezTo>
                <a:lnTo>
                  <a:pt x="71003" y="74740"/>
                </a:lnTo>
                <a:lnTo>
                  <a:pt x="21575" y="25283"/>
                </a:lnTo>
                <a:cubicBezTo>
                  <a:pt x="17926" y="21634"/>
                  <a:pt x="17926" y="15707"/>
                  <a:pt x="21575" y="12058"/>
                </a:cubicBezTo>
                <a:cubicBezTo>
                  <a:pt x="25225" y="8408"/>
                  <a:pt x="31151" y="8408"/>
                  <a:pt x="34801" y="12058"/>
                </a:cubicBezTo>
                <a:lnTo>
                  <a:pt x="90856" y="68113"/>
                </a:lnTo>
                <a:close/>
              </a:path>
            </a:pathLst>
          </a:custGeom>
          <a:solidFill>
            <a:srgbClr val="00A4B5"/>
          </a:solidFill>
          <a:ln/>
        </p:spPr>
      </p:sp>
      <p:sp>
        <p:nvSpPr>
          <p:cNvPr id="45" name="Text 43"/>
          <p:cNvSpPr/>
          <p:nvPr/>
        </p:nvSpPr>
        <p:spPr>
          <a:xfrm>
            <a:off x="6730708" y="5437352"/>
            <a:ext cx="1672313" cy="2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7" b="1" dirty="0">
                <a:solidFill>
                  <a:srgbClr val="3641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CSS/JS:</a:t>
            </a:r>
            <a:pPr>
              <a:lnSpc>
                <a:spcPct val="130000"/>
              </a:lnSpc>
            </a:pPr>
            <a:r>
              <a:rPr lang="en-US" sz="1177" dirty="0">
                <a:solidFill>
                  <a:srgbClr val="3641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1 month to 1 year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515830" y="5773683"/>
            <a:ext cx="93425" cy="149480"/>
          </a:xfrm>
          <a:custGeom>
            <a:avLst/>
            <a:gdLst/>
            <a:ahLst/>
            <a:cxnLst/>
            <a:rect l="l" t="t" r="r" b="b"/>
            <a:pathLst>
              <a:path w="93425" h="149480">
                <a:moveTo>
                  <a:pt x="90827" y="68142"/>
                </a:moveTo>
                <a:cubicBezTo>
                  <a:pt x="94476" y="71791"/>
                  <a:pt x="94476" y="77718"/>
                  <a:pt x="90827" y="81368"/>
                </a:cubicBezTo>
                <a:lnTo>
                  <a:pt x="34772" y="137423"/>
                </a:lnTo>
                <a:cubicBezTo>
                  <a:pt x="31122" y="141072"/>
                  <a:pt x="25196" y="141072"/>
                  <a:pt x="21546" y="137423"/>
                </a:cubicBezTo>
                <a:cubicBezTo>
                  <a:pt x="17897" y="133773"/>
                  <a:pt x="17897" y="127847"/>
                  <a:pt x="21546" y="124197"/>
                </a:cubicBezTo>
                <a:lnTo>
                  <a:pt x="71003" y="74740"/>
                </a:lnTo>
                <a:lnTo>
                  <a:pt x="21575" y="25283"/>
                </a:lnTo>
                <a:cubicBezTo>
                  <a:pt x="17926" y="21634"/>
                  <a:pt x="17926" y="15707"/>
                  <a:pt x="21575" y="12058"/>
                </a:cubicBezTo>
                <a:cubicBezTo>
                  <a:pt x="25225" y="8408"/>
                  <a:pt x="31151" y="8408"/>
                  <a:pt x="34801" y="12058"/>
                </a:cubicBezTo>
                <a:lnTo>
                  <a:pt x="90856" y="68113"/>
                </a:lnTo>
                <a:close/>
              </a:path>
            </a:pathLst>
          </a:custGeom>
          <a:solidFill>
            <a:srgbClr val="00A4B5"/>
          </a:solidFill>
          <a:ln/>
        </p:spPr>
      </p:sp>
      <p:sp>
        <p:nvSpPr>
          <p:cNvPr id="47" name="Text 45"/>
          <p:cNvSpPr/>
          <p:nvPr/>
        </p:nvSpPr>
        <p:spPr>
          <a:xfrm>
            <a:off x="6730708" y="5736313"/>
            <a:ext cx="1924561" cy="2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7" b="1" dirty="0">
                <a:solidFill>
                  <a:srgbClr val="3641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Images:</a:t>
            </a:r>
            <a:pPr>
              <a:lnSpc>
                <a:spcPct val="130000"/>
              </a:lnSpc>
            </a:pPr>
            <a:r>
              <a:rPr lang="en-US" sz="1177" dirty="0">
                <a:solidFill>
                  <a:srgbClr val="3641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1 month to 6 months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515830" y="6072644"/>
            <a:ext cx="93425" cy="149480"/>
          </a:xfrm>
          <a:custGeom>
            <a:avLst/>
            <a:gdLst/>
            <a:ahLst/>
            <a:cxnLst/>
            <a:rect l="l" t="t" r="r" b="b"/>
            <a:pathLst>
              <a:path w="93425" h="149480">
                <a:moveTo>
                  <a:pt x="90827" y="68142"/>
                </a:moveTo>
                <a:cubicBezTo>
                  <a:pt x="94476" y="71791"/>
                  <a:pt x="94476" y="77718"/>
                  <a:pt x="90827" y="81368"/>
                </a:cubicBezTo>
                <a:lnTo>
                  <a:pt x="34772" y="137423"/>
                </a:lnTo>
                <a:cubicBezTo>
                  <a:pt x="31122" y="141072"/>
                  <a:pt x="25196" y="141072"/>
                  <a:pt x="21546" y="137423"/>
                </a:cubicBezTo>
                <a:cubicBezTo>
                  <a:pt x="17897" y="133773"/>
                  <a:pt x="17897" y="127847"/>
                  <a:pt x="21546" y="124197"/>
                </a:cubicBezTo>
                <a:lnTo>
                  <a:pt x="71003" y="74740"/>
                </a:lnTo>
                <a:lnTo>
                  <a:pt x="21575" y="25283"/>
                </a:lnTo>
                <a:cubicBezTo>
                  <a:pt x="17926" y="21634"/>
                  <a:pt x="17926" y="15707"/>
                  <a:pt x="21575" y="12058"/>
                </a:cubicBezTo>
                <a:cubicBezTo>
                  <a:pt x="25225" y="8408"/>
                  <a:pt x="31151" y="8408"/>
                  <a:pt x="34801" y="12058"/>
                </a:cubicBezTo>
                <a:lnTo>
                  <a:pt x="90856" y="68113"/>
                </a:lnTo>
                <a:close/>
              </a:path>
            </a:pathLst>
          </a:custGeom>
          <a:solidFill>
            <a:srgbClr val="00A4B5"/>
          </a:solidFill>
          <a:ln/>
        </p:spPr>
      </p:sp>
      <p:sp>
        <p:nvSpPr>
          <p:cNvPr id="49" name="Text 47"/>
          <p:cNvSpPr/>
          <p:nvPr/>
        </p:nvSpPr>
        <p:spPr>
          <a:xfrm>
            <a:off x="6730708" y="6035274"/>
            <a:ext cx="2849471" cy="2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7" b="1" dirty="0">
                <a:solidFill>
                  <a:srgbClr val="3641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Dynamic content:</a:t>
            </a:r>
            <a:pPr>
              <a:lnSpc>
                <a:spcPct val="130000"/>
              </a:lnSpc>
            </a:pPr>
            <a:r>
              <a:rPr lang="en-US" sz="1177" dirty="0">
                <a:solidFill>
                  <a:srgbClr val="3641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Respect existing headers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D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nfo.teledynamics.com/0d0ef124c07c88aa4ac0415ba67d32ae695c5393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7009" b="7009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D1F2B"/>
              </a:gs>
              <a:gs pos="50000">
                <a:srgbClr val="1D1F2B">
                  <a:alpha val="9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2100374"/>
            <a:ext cx="1847850" cy="533400"/>
          </a:xfrm>
          <a:custGeom>
            <a:avLst/>
            <a:gdLst/>
            <a:ahLst/>
            <a:cxnLst/>
            <a:rect l="l" t="t" r="r" b="b"/>
            <a:pathLst>
              <a:path w="1847850" h="533400">
                <a:moveTo>
                  <a:pt x="76202" y="0"/>
                </a:moveTo>
                <a:lnTo>
                  <a:pt x="1771648" y="0"/>
                </a:lnTo>
                <a:cubicBezTo>
                  <a:pt x="1813733" y="0"/>
                  <a:pt x="1847850" y="34117"/>
                  <a:pt x="1847850" y="76202"/>
                </a:cubicBezTo>
                <a:lnTo>
                  <a:pt x="1847850" y="457198"/>
                </a:lnTo>
                <a:cubicBezTo>
                  <a:pt x="1847850" y="499283"/>
                  <a:pt x="1813733" y="533400"/>
                  <a:pt x="177164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0A4B5"/>
          </a:solidFill>
          <a:ln/>
        </p:spPr>
      </p:sp>
      <p:sp>
        <p:nvSpPr>
          <p:cNvPr id="5" name="Text 2"/>
          <p:cNvSpPr/>
          <p:nvPr/>
        </p:nvSpPr>
        <p:spPr>
          <a:xfrm>
            <a:off x="609600" y="2237538"/>
            <a:ext cx="1501735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spc="9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04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862263"/>
            <a:ext cx="1171575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Cache Rules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3805237"/>
            <a:ext cx="1524000" cy="38100"/>
          </a:xfrm>
          <a:custGeom>
            <a:avLst/>
            <a:gdLst/>
            <a:ahLst/>
            <a:cxnLst/>
            <a:rect l="l" t="t" r="r" b="b"/>
            <a:pathLst>
              <a:path w="1524000" h="38100">
                <a:moveTo>
                  <a:pt x="0" y="0"/>
                </a:moveTo>
                <a:lnTo>
                  <a:pt x="1524000" y="0"/>
                </a:lnTo>
                <a:lnTo>
                  <a:pt x="1524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A4B5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4148137"/>
            <a:ext cx="65151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Fine-grained control over caching behavior with modern rule-based configuration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5872" y="345872"/>
            <a:ext cx="11569430" cy="207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9" b="1" spc="54" kern="0" dirty="0">
                <a:solidFill>
                  <a:srgbClr val="F481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CACHE RULES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5872" y="622570"/>
            <a:ext cx="11655898" cy="345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51" b="1" dirty="0">
                <a:solidFill>
                  <a:srgbClr val="1D1F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Cache Rules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45872" y="1037617"/>
            <a:ext cx="11578077" cy="242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6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Modern approach to fine-grained caching control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5872" y="1418077"/>
            <a:ext cx="5646366" cy="2732391"/>
          </a:xfrm>
          <a:custGeom>
            <a:avLst/>
            <a:gdLst/>
            <a:ahLst/>
            <a:cxnLst/>
            <a:rect l="l" t="t" r="r" b="b"/>
            <a:pathLst>
              <a:path w="5646366" h="2732391">
                <a:moveTo>
                  <a:pt x="103749" y="0"/>
                </a:moveTo>
                <a:lnTo>
                  <a:pt x="5542617" y="0"/>
                </a:lnTo>
                <a:cubicBezTo>
                  <a:pt x="5599916" y="0"/>
                  <a:pt x="5646366" y="46450"/>
                  <a:pt x="5646366" y="103749"/>
                </a:cubicBezTo>
                <a:lnTo>
                  <a:pt x="5646366" y="2628643"/>
                </a:lnTo>
                <a:cubicBezTo>
                  <a:pt x="5646366" y="2685942"/>
                  <a:pt x="5599916" y="2732391"/>
                  <a:pt x="5542617" y="2732391"/>
                </a:cubicBezTo>
                <a:lnTo>
                  <a:pt x="103749" y="2732391"/>
                </a:lnTo>
                <a:cubicBezTo>
                  <a:pt x="46450" y="2732391"/>
                  <a:pt x="0" y="2685942"/>
                  <a:pt x="0" y="2628643"/>
                </a:cubicBezTo>
                <a:lnTo>
                  <a:pt x="0" y="103749"/>
                </a:lnTo>
                <a:cubicBezTo>
                  <a:pt x="0" y="46488"/>
                  <a:pt x="46488" y="0"/>
                  <a:pt x="103749" y="0"/>
                </a:cubicBezTo>
                <a:close/>
              </a:path>
            </a:pathLst>
          </a:custGeom>
          <a:gradFill rotWithShape="1" flip="none">
            <a:gsLst>
              <a:gs pos="0">
                <a:srgbClr val="F48120"/>
              </a:gs>
              <a:gs pos="100000">
                <a:srgbClr val="F48120">
                  <a:alpha val="80000"/>
                </a:srgbClr>
              </a:gs>
            </a:gsLst>
            <a:lin ang="270000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579336" y="1660077"/>
            <a:ext cx="207523" cy="207523"/>
          </a:xfrm>
          <a:custGeom>
            <a:avLst/>
            <a:gdLst/>
            <a:ahLst/>
            <a:cxnLst/>
            <a:rect l="l" t="t" r="r" b="b"/>
            <a:pathLst>
              <a:path w="207523" h="207523">
                <a:moveTo>
                  <a:pt x="12970" y="25940"/>
                </a:moveTo>
                <a:cubicBezTo>
                  <a:pt x="5796" y="25940"/>
                  <a:pt x="0" y="31736"/>
                  <a:pt x="0" y="38911"/>
                </a:cubicBezTo>
                <a:cubicBezTo>
                  <a:pt x="0" y="46085"/>
                  <a:pt x="5796" y="51881"/>
                  <a:pt x="12970" y="51881"/>
                </a:cubicBezTo>
                <a:lnTo>
                  <a:pt x="48111" y="51881"/>
                </a:lnTo>
                <a:cubicBezTo>
                  <a:pt x="53097" y="63351"/>
                  <a:pt x="64527" y="71336"/>
                  <a:pt x="77821" y="71336"/>
                </a:cubicBezTo>
                <a:cubicBezTo>
                  <a:pt x="91116" y="71336"/>
                  <a:pt x="102546" y="63351"/>
                  <a:pt x="107531" y="51881"/>
                </a:cubicBezTo>
                <a:lnTo>
                  <a:pt x="194553" y="51881"/>
                </a:lnTo>
                <a:cubicBezTo>
                  <a:pt x="201727" y="51881"/>
                  <a:pt x="207523" y="46085"/>
                  <a:pt x="207523" y="38911"/>
                </a:cubicBezTo>
                <a:cubicBezTo>
                  <a:pt x="207523" y="31736"/>
                  <a:pt x="201727" y="25940"/>
                  <a:pt x="194553" y="25940"/>
                </a:cubicBezTo>
                <a:lnTo>
                  <a:pt x="107531" y="25940"/>
                </a:lnTo>
                <a:cubicBezTo>
                  <a:pt x="102546" y="14470"/>
                  <a:pt x="91116" y="6485"/>
                  <a:pt x="77821" y="6485"/>
                </a:cubicBezTo>
                <a:cubicBezTo>
                  <a:pt x="64527" y="6485"/>
                  <a:pt x="53097" y="14470"/>
                  <a:pt x="48111" y="25940"/>
                </a:cubicBezTo>
                <a:lnTo>
                  <a:pt x="12970" y="25940"/>
                </a:lnTo>
                <a:close/>
                <a:moveTo>
                  <a:pt x="12970" y="90791"/>
                </a:moveTo>
                <a:cubicBezTo>
                  <a:pt x="5796" y="90791"/>
                  <a:pt x="0" y="96588"/>
                  <a:pt x="0" y="103762"/>
                </a:cubicBezTo>
                <a:cubicBezTo>
                  <a:pt x="0" y="110936"/>
                  <a:pt x="5796" y="116732"/>
                  <a:pt x="12970" y="116732"/>
                </a:cubicBezTo>
                <a:lnTo>
                  <a:pt x="112962" y="116732"/>
                </a:lnTo>
                <a:cubicBezTo>
                  <a:pt x="117948" y="128202"/>
                  <a:pt x="129378" y="136187"/>
                  <a:pt x="142672" y="136187"/>
                </a:cubicBezTo>
                <a:cubicBezTo>
                  <a:pt x="155967" y="136187"/>
                  <a:pt x="167397" y="128202"/>
                  <a:pt x="172382" y="116732"/>
                </a:cubicBezTo>
                <a:lnTo>
                  <a:pt x="194553" y="116732"/>
                </a:lnTo>
                <a:cubicBezTo>
                  <a:pt x="201727" y="116732"/>
                  <a:pt x="207523" y="110936"/>
                  <a:pt x="207523" y="103762"/>
                </a:cubicBezTo>
                <a:cubicBezTo>
                  <a:pt x="207523" y="96588"/>
                  <a:pt x="201727" y="90791"/>
                  <a:pt x="194553" y="90791"/>
                </a:cubicBezTo>
                <a:lnTo>
                  <a:pt x="172382" y="90791"/>
                </a:lnTo>
                <a:cubicBezTo>
                  <a:pt x="167397" y="79321"/>
                  <a:pt x="155967" y="71336"/>
                  <a:pt x="142672" y="71336"/>
                </a:cubicBezTo>
                <a:cubicBezTo>
                  <a:pt x="129378" y="71336"/>
                  <a:pt x="117948" y="79321"/>
                  <a:pt x="112962" y="90791"/>
                </a:cubicBezTo>
                <a:lnTo>
                  <a:pt x="12970" y="90791"/>
                </a:lnTo>
                <a:close/>
                <a:moveTo>
                  <a:pt x="12970" y="155643"/>
                </a:moveTo>
                <a:cubicBezTo>
                  <a:pt x="5796" y="155643"/>
                  <a:pt x="0" y="161439"/>
                  <a:pt x="0" y="168613"/>
                </a:cubicBezTo>
                <a:cubicBezTo>
                  <a:pt x="0" y="175787"/>
                  <a:pt x="5796" y="181583"/>
                  <a:pt x="12970" y="181583"/>
                </a:cubicBezTo>
                <a:lnTo>
                  <a:pt x="35141" y="181583"/>
                </a:lnTo>
                <a:cubicBezTo>
                  <a:pt x="40127" y="193054"/>
                  <a:pt x="51557" y="201038"/>
                  <a:pt x="64851" y="201038"/>
                </a:cubicBezTo>
                <a:cubicBezTo>
                  <a:pt x="78146" y="201038"/>
                  <a:pt x="89576" y="193054"/>
                  <a:pt x="94561" y="181583"/>
                </a:cubicBezTo>
                <a:lnTo>
                  <a:pt x="194553" y="181583"/>
                </a:lnTo>
                <a:cubicBezTo>
                  <a:pt x="201727" y="181583"/>
                  <a:pt x="207523" y="175787"/>
                  <a:pt x="207523" y="168613"/>
                </a:cubicBezTo>
                <a:cubicBezTo>
                  <a:pt x="207523" y="161439"/>
                  <a:pt x="201727" y="155643"/>
                  <a:pt x="194553" y="155643"/>
                </a:cubicBezTo>
                <a:lnTo>
                  <a:pt x="94561" y="155643"/>
                </a:lnTo>
                <a:cubicBezTo>
                  <a:pt x="89576" y="144172"/>
                  <a:pt x="78146" y="136187"/>
                  <a:pt x="64851" y="136187"/>
                </a:cubicBezTo>
                <a:cubicBezTo>
                  <a:pt x="51557" y="136187"/>
                  <a:pt x="40127" y="144172"/>
                  <a:pt x="35141" y="155643"/>
                </a:cubicBezTo>
                <a:lnTo>
                  <a:pt x="12970" y="15564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812800" y="1625600"/>
            <a:ext cx="5075677" cy="276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4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Are Cache Rules?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53396" y="2040537"/>
            <a:ext cx="5300494" cy="449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9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Cache Rules are Cloudflare's </a:t>
            </a:r>
            <a:pPr>
              <a:lnSpc>
                <a:spcPct val="140000"/>
              </a:lnSpc>
            </a:pPr>
            <a:r>
              <a:rPr lang="en-US" sz="108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modern rule system</a:t>
            </a:r>
            <a:pPr>
              <a:lnSpc>
                <a:spcPct val="140000"/>
              </a:lnSpc>
            </a:pPr>
            <a:r>
              <a:rPr lang="en-US" sz="1089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gives you precise control over which resources are cached and for how long, based on various matching criteria.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53396" y="2628520"/>
            <a:ext cx="5231319" cy="1314315"/>
          </a:xfrm>
          <a:custGeom>
            <a:avLst/>
            <a:gdLst/>
            <a:ahLst/>
            <a:cxnLst/>
            <a:rect l="l" t="t" r="r" b="b"/>
            <a:pathLst>
              <a:path w="5231319" h="1314315">
                <a:moveTo>
                  <a:pt x="69172" y="0"/>
                </a:moveTo>
                <a:lnTo>
                  <a:pt x="5162147" y="0"/>
                </a:lnTo>
                <a:cubicBezTo>
                  <a:pt x="5200350" y="0"/>
                  <a:pt x="5231319" y="30970"/>
                  <a:pt x="5231319" y="69172"/>
                </a:cubicBezTo>
                <a:lnTo>
                  <a:pt x="5231319" y="1245143"/>
                </a:lnTo>
                <a:cubicBezTo>
                  <a:pt x="5231319" y="1283345"/>
                  <a:pt x="5200350" y="1314315"/>
                  <a:pt x="5162147" y="1314315"/>
                </a:cubicBezTo>
                <a:lnTo>
                  <a:pt x="69172" y="1314315"/>
                </a:lnTo>
                <a:cubicBezTo>
                  <a:pt x="30970" y="1314315"/>
                  <a:pt x="0" y="1283345"/>
                  <a:pt x="0" y="1245143"/>
                </a:cubicBezTo>
                <a:lnTo>
                  <a:pt x="0" y="69172"/>
                </a:lnTo>
                <a:cubicBezTo>
                  <a:pt x="0" y="30970"/>
                  <a:pt x="30970" y="0"/>
                  <a:pt x="6917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91745" y="2766869"/>
            <a:ext cx="5023796" cy="207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Benefits: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17685" y="3078154"/>
            <a:ext cx="121055" cy="138349"/>
          </a:xfrm>
          <a:custGeom>
            <a:avLst/>
            <a:gdLst/>
            <a:ahLst/>
            <a:cxnLst/>
            <a:rect l="l" t="t" r="r" b="b"/>
            <a:pathLst>
              <a:path w="121055" h="138349">
                <a:moveTo>
                  <a:pt x="117489" y="18942"/>
                </a:moveTo>
                <a:cubicBezTo>
                  <a:pt x="121353" y="21752"/>
                  <a:pt x="122217" y="27156"/>
                  <a:pt x="119407" y="31020"/>
                </a:cubicBezTo>
                <a:lnTo>
                  <a:pt x="50233" y="126135"/>
                </a:lnTo>
                <a:cubicBezTo>
                  <a:pt x="48746" y="128189"/>
                  <a:pt x="46450" y="129459"/>
                  <a:pt x="43910" y="129675"/>
                </a:cubicBezTo>
                <a:cubicBezTo>
                  <a:pt x="41370" y="129891"/>
                  <a:pt x="38911" y="128946"/>
                  <a:pt x="37127" y="127162"/>
                </a:cubicBezTo>
                <a:lnTo>
                  <a:pt x="2540" y="92575"/>
                </a:lnTo>
                <a:cubicBezTo>
                  <a:pt x="-838" y="89197"/>
                  <a:pt x="-838" y="83712"/>
                  <a:pt x="2540" y="80334"/>
                </a:cubicBezTo>
                <a:cubicBezTo>
                  <a:pt x="5918" y="76957"/>
                  <a:pt x="11403" y="76957"/>
                  <a:pt x="14781" y="80334"/>
                </a:cubicBezTo>
                <a:lnTo>
                  <a:pt x="42207" y="107761"/>
                </a:lnTo>
                <a:lnTo>
                  <a:pt x="105437" y="20833"/>
                </a:lnTo>
                <a:cubicBezTo>
                  <a:pt x="108247" y="16969"/>
                  <a:pt x="113651" y="16105"/>
                  <a:pt x="117516" y="1891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933855" y="3043567"/>
            <a:ext cx="1824477" cy="207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9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More flexible than Page Rules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17685" y="3354852"/>
            <a:ext cx="121055" cy="138349"/>
          </a:xfrm>
          <a:custGeom>
            <a:avLst/>
            <a:gdLst/>
            <a:ahLst/>
            <a:cxnLst/>
            <a:rect l="l" t="t" r="r" b="b"/>
            <a:pathLst>
              <a:path w="121055" h="138349">
                <a:moveTo>
                  <a:pt x="117489" y="18942"/>
                </a:moveTo>
                <a:cubicBezTo>
                  <a:pt x="121353" y="21752"/>
                  <a:pt x="122217" y="27156"/>
                  <a:pt x="119407" y="31020"/>
                </a:cubicBezTo>
                <a:lnTo>
                  <a:pt x="50233" y="126135"/>
                </a:lnTo>
                <a:cubicBezTo>
                  <a:pt x="48746" y="128189"/>
                  <a:pt x="46450" y="129459"/>
                  <a:pt x="43910" y="129675"/>
                </a:cubicBezTo>
                <a:cubicBezTo>
                  <a:pt x="41370" y="129891"/>
                  <a:pt x="38911" y="128946"/>
                  <a:pt x="37127" y="127162"/>
                </a:cubicBezTo>
                <a:lnTo>
                  <a:pt x="2540" y="92575"/>
                </a:lnTo>
                <a:cubicBezTo>
                  <a:pt x="-838" y="89197"/>
                  <a:pt x="-838" y="83712"/>
                  <a:pt x="2540" y="80334"/>
                </a:cubicBezTo>
                <a:cubicBezTo>
                  <a:pt x="5918" y="76957"/>
                  <a:pt x="11403" y="76957"/>
                  <a:pt x="14781" y="80334"/>
                </a:cubicBezTo>
                <a:lnTo>
                  <a:pt x="42207" y="107761"/>
                </a:lnTo>
                <a:lnTo>
                  <a:pt x="105437" y="20833"/>
                </a:lnTo>
                <a:cubicBezTo>
                  <a:pt x="108247" y="16969"/>
                  <a:pt x="113651" y="16105"/>
                  <a:pt x="117516" y="1891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933855" y="3320265"/>
            <a:ext cx="1850417" cy="207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9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Support complex expressions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17685" y="3631550"/>
            <a:ext cx="121055" cy="138349"/>
          </a:xfrm>
          <a:custGeom>
            <a:avLst/>
            <a:gdLst/>
            <a:ahLst/>
            <a:cxnLst/>
            <a:rect l="l" t="t" r="r" b="b"/>
            <a:pathLst>
              <a:path w="121055" h="138349">
                <a:moveTo>
                  <a:pt x="117489" y="18942"/>
                </a:moveTo>
                <a:cubicBezTo>
                  <a:pt x="121353" y="21752"/>
                  <a:pt x="122217" y="27156"/>
                  <a:pt x="119407" y="31020"/>
                </a:cubicBezTo>
                <a:lnTo>
                  <a:pt x="50233" y="126135"/>
                </a:lnTo>
                <a:cubicBezTo>
                  <a:pt x="48746" y="128189"/>
                  <a:pt x="46450" y="129459"/>
                  <a:pt x="43910" y="129675"/>
                </a:cubicBezTo>
                <a:cubicBezTo>
                  <a:pt x="41370" y="129891"/>
                  <a:pt x="38911" y="128946"/>
                  <a:pt x="37127" y="127162"/>
                </a:cubicBezTo>
                <a:lnTo>
                  <a:pt x="2540" y="92575"/>
                </a:lnTo>
                <a:cubicBezTo>
                  <a:pt x="-838" y="89197"/>
                  <a:pt x="-838" y="83712"/>
                  <a:pt x="2540" y="80334"/>
                </a:cubicBezTo>
                <a:cubicBezTo>
                  <a:pt x="5918" y="76957"/>
                  <a:pt x="11403" y="76957"/>
                  <a:pt x="14781" y="80334"/>
                </a:cubicBezTo>
                <a:lnTo>
                  <a:pt x="42207" y="107761"/>
                </a:lnTo>
                <a:lnTo>
                  <a:pt x="105437" y="20833"/>
                </a:lnTo>
                <a:cubicBezTo>
                  <a:pt x="108247" y="16969"/>
                  <a:pt x="113651" y="16105"/>
                  <a:pt x="117516" y="1891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933855" y="3596963"/>
            <a:ext cx="1988766" cy="207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9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Better performance &amp; scalability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52790" y="4330212"/>
            <a:ext cx="5634260" cy="2374414"/>
          </a:xfrm>
          <a:custGeom>
            <a:avLst/>
            <a:gdLst/>
            <a:ahLst/>
            <a:cxnLst/>
            <a:rect l="l" t="t" r="r" b="b"/>
            <a:pathLst>
              <a:path w="5634260" h="2374414">
                <a:moveTo>
                  <a:pt x="103762" y="0"/>
                </a:moveTo>
                <a:lnTo>
                  <a:pt x="5530499" y="0"/>
                </a:lnTo>
                <a:cubicBezTo>
                  <a:pt x="5587805" y="0"/>
                  <a:pt x="5634260" y="46456"/>
                  <a:pt x="5634260" y="103762"/>
                </a:cubicBezTo>
                <a:lnTo>
                  <a:pt x="5634260" y="2270652"/>
                </a:lnTo>
                <a:cubicBezTo>
                  <a:pt x="5634260" y="2327958"/>
                  <a:pt x="5587805" y="2374414"/>
                  <a:pt x="5530499" y="2374414"/>
                </a:cubicBezTo>
                <a:lnTo>
                  <a:pt x="103762" y="2374414"/>
                </a:lnTo>
                <a:cubicBezTo>
                  <a:pt x="46456" y="2374414"/>
                  <a:pt x="0" y="2327958"/>
                  <a:pt x="0" y="2270652"/>
                </a:cubicBezTo>
                <a:lnTo>
                  <a:pt x="0" y="103762"/>
                </a:lnTo>
                <a:cubicBezTo>
                  <a:pt x="0" y="46456"/>
                  <a:pt x="46456" y="0"/>
                  <a:pt x="103762" y="0"/>
                </a:cubicBezTo>
                <a:close/>
              </a:path>
            </a:pathLst>
          </a:custGeom>
          <a:solidFill>
            <a:srgbClr val="F9FAFB"/>
          </a:solidFill>
          <a:ln w="2032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8039" y="4617286"/>
            <a:ext cx="194553" cy="172936"/>
          </a:xfrm>
          <a:custGeom>
            <a:avLst/>
            <a:gdLst/>
            <a:ahLst/>
            <a:cxnLst/>
            <a:rect l="l" t="t" r="r" b="b"/>
            <a:pathLst>
              <a:path w="194553" h="172936">
                <a:moveTo>
                  <a:pt x="121866" y="405"/>
                </a:moveTo>
                <a:cubicBezTo>
                  <a:pt x="116124" y="-1250"/>
                  <a:pt x="110145" y="2094"/>
                  <a:pt x="108490" y="7836"/>
                </a:cubicBezTo>
                <a:lnTo>
                  <a:pt x="65256" y="159155"/>
                </a:lnTo>
                <a:cubicBezTo>
                  <a:pt x="63601" y="164897"/>
                  <a:pt x="66945" y="170876"/>
                  <a:pt x="72687" y="172531"/>
                </a:cubicBezTo>
                <a:cubicBezTo>
                  <a:pt x="78429" y="174186"/>
                  <a:pt x="84408" y="170842"/>
                  <a:pt x="86063" y="165100"/>
                </a:cubicBezTo>
                <a:lnTo>
                  <a:pt x="129297" y="13781"/>
                </a:lnTo>
                <a:cubicBezTo>
                  <a:pt x="130952" y="8039"/>
                  <a:pt x="127608" y="2060"/>
                  <a:pt x="121866" y="405"/>
                </a:cubicBezTo>
                <a:close/>
                <a:moveTo>
                  <a:pt x="143686" y="46375"/>
                </a:moveTo>
                <a:cubicBezTo>
                  <a:pt x="139464" y="50597"/>
                  <a:pt x="139464" y="57454"/>
                  <a:pt x="143686" y="61676"/>
                </a:cubicBezTo>
                <a:lnTo>
                  <a:pt x="168478" y="86468"/>
                </a:lnTo>
                <a:lnTo>
                  <a:pt x="143686" y="111260"/>
                </a:lnTo>
                <a:cubicBezTo>
                  <a:pt x="139464" y="115482"/>
                  <a:pt x="139464" y="122339"/>
                  <a:pt x="143686" y="126561"/>
                </a:cubicBezTo>
                <a:cubicBezTo>
                  <a:pt x="147908" y="130783"/>
                  <a:pt x="154764" y="130783"/>
                  <a:pt x="158986" y="126561"/>
                </a:cubicBezTo>
                <a:lnTo>
                  <a:pt x="191412" y="94135"/>
                </a:lnTo>
                <a:cubicBezTo>
                  <a:pt x="195634" y="89913"/>
                  <a:pt x="195634" y="83057"/>
                  <a:pt x="191412" y="78835"/>
                </a:cubicBezTo>
                <a:lnTo>
                  <a:pt x="158986" y="46409"/>
                </a:lnTo>
                <a:cubicBezTo>
                  <a:pt x="154764" y="42187"/>
                  <a:pt x="147908" y="42187"/>
                  <a:pt x="143686" y="46409"/>
                </a:cubicBezTo>
                <a:close/>
                <a:moveTo>
                  <a:pt x="50901" y="46375"/>
                </a:moveTo>
                <a:cubicBezTo>
                  <a:pt x="46679" y="42153"/>
                  <a:pt x="39823" y="42153"/>
                  <a:pt x="35601" y="46375"/>
                </a:cubicBezTo>
                <a:lnTo>
                  <a:pt x="3175" y="78801"/>
                </a:lnTo>
                <a:cubicBezTo>
                  <a:pt x="-1047" y="83023"/>
                  <a:pt x="-1047" y="89880"/>
                  <a:pt x="3175" y="94102"/>
                </a:cubicBezTo>
                <a:lnTo>
                  <a:pt x="35601" y="126527"/>
                </a:lnTo>
                <a:cubicBezTo>
                  <a:pt x="39823" y="130749"/>
                  <a:pt x="46679" y="130749"/>
                  <a:pt x="50901" y="126527"/>
                </a:cubicBezTo>
                <a:cubicBezTo>
                  <a:pt x="55123" y="122305"/>
                  <a:pt x="55123" y="115448"/>
                  <a:pt x="50901" y="111226"/>
                </a:cubicBezTo>
                <a:lnTo>
                  <a:pt x="26109" y="86468"/>
                </a:lnTo>
                <a:lnTo>
                  <a:pt x="50868" y="61676"/>
                </a:lnTo>
                <a:cubicBezTo>
                  <a:pt x="55090" y="57454"/>
                  <a:pt x="55090" y="50597"/>
                  <a:pt x="50868" y="46375"/>
                </a:cubicBez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19" name="Text 17"/>
          <p:cNvSpPr/>
          <p:nvPr/>
        </p:nvSpPr>
        <p:spPr>
          <a:xfrm>
            <a:off x="783401" y="4582699"/>
            <a:ext cx="5075677" cy="242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2" b="1" dirty="0">
                <a:solidFill>
                  <a:srgbClr val="1D1F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Expression Builder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67231" y="4963158"/>
            <a:ext cx="5274553" cy="207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9" dirty="0">
                <a:solidFill>
                  <a:srgbClr val="3641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 rules using visual builder or expression editor: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67231" y="5274443"/>
            <a:ext cx="5205379" cy="1175966"/>
          </a:xfrm>
          <a:custGeom>
            <a:avLst/>
            <a:gdLst/>
            <a:ahLst/>
            <a:cxnLst/>
            <a:rect l="l" t="t" r="r" b="b"/>
            <a:pathLst>
              <a:path w="5205379" h="1175966">
                <a:moveTo>
                  <a:pt x="69170" y="0"/>
                </a:moveTo>
                <a:lnTo>
                  <a:pt x="5136208" y="0"/>
                </a:lnTo>
                <a:cubicBezTo>
                  <a:pt x="5174410" y="0"/>
                  <a:pt x="5205379" y="30969"/>
                  <a:pt x="5205379" y="69170"/>
                </a:cubicBezTo>
                <a:lnTo>
                  <a:pt x="5205379" y="1106796"/>
                </a:lnTo>
                <a:cubicBezTo>
                  <a:pt x="5205379" y="1144997"/>
                  <a:pt x="5174410" y="1175966"/>
                  <a:pt x="5136208" y="1175966"/>
                </a:cubicBezTo>
                <a:lnTo>
                  <a:pt x="69170" y="1175966"/>
                </a:lnTo>
                <a:cubicBezTo>
                  <a:pt x="30969" y="1175966"/>
                  <a:pt x="0" y="1144997"/>
                  <a:pt x="0" y="1106796"/>
                </a:cubicBezTo>
                <a:lnTo>
                  <a:pt x="0" y="69170"/>
                </a:lnTo>
                <a:cubicBezTo>
                  <a:pt x="0" y="30969"/>
                  <a:pt x="30969" y="0"/>
                  <a:pt x="69170" y="0"/>
                </a:cubicBezTo>
                <a:close/>
              </a:path>
            </a:pathLst>
          </a:custGeom>
          <a:solidFill>
            <a:srgbClr val="1D1F2B"/>
          </a:solidFill>
          <a:ln/>
        </p:spPr>
      </p:sp>
      <p:sp>
        <p:nvSpPr>
          <p:cNvPr id="22" name="Text 20"/>
          <p:cNvSpPr/>
          <p:nvPr/>
        </p:nvSpPr>
        <p:spPr>
          <a:xfrm>
            <a:off x="705580" y="5412792"/>
            <a:ext cx="4989209" cy="172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3" dirty="0">
                <a:solidFill>
                  <a:srgbClr val="F481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Example: Cache all assets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5580" y="5654903"/>
            <a:ext cx="4989209" cy="172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3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(http.request.uri.path contains "/assets/")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05580" y="5897014"/>
            <a:ext cx="4989209" cy="172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3" dirty="0">
                <a:solidFill>
                  <a:srgbClr val="00A4B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or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05580" y="6139124"/>
            <a:ext cx="4989209" cy="172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3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(http.request.uri.path contains "/static/")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98789" y="1418077"/>
            <a:ext cx="5646366" cy="3043677"/>
          </a:xfrm>
          <a:custGeom>
            <a:avLst/>
            <a:gdLst/>
            <a:ahLst/>
            <a:cxnLst/>
            <a:rect l="l" t="t" r="r" b="b"/>
            <a:pathLst>
              <a:path w="5646366" h="3043677">
                <a:moveTo>
                  <a:pt x="103759" y="0"/>
                </a:moveTo>
                <a:lnTo>
                  <a:pt x="5542607" y="0"/>
                </a:lnTo>
                <a:cubicBezTo>
                  <a:pt x="5599911" y="0"/>
                  <a:pt x="5646366" y="46454"/>
                  <a:pt x="5646366" y="103759"/>
                </a:cubicBezTo>
                <a:lnTo>
                  <a:pt x="5646366" y="2939918"/>
                </a:lnTo>
                <a:cubicBezTo>
                  <a:pt x="5646366" y="2997222"/>
                  <a:pt x="5599911" y="3043677"/>
                  <a:pt x="5542607" y="3043677"/>
                </a:cubicBezTo>
                <a:lnTo>
                  <a:pt x="103759" y="3043677"/>
                </a:lnTo>
                <a:cubicBezTo>
                  <a:pt x="46454" y="3043677"/>
                  <a:pt x="0" y="2997222"/>
                  <a:pt x="0" y="2939918"/>
                </a:cubicBezTo>
                <a:lnTo>
                  <a:pt x="0" y="103759"/>
                </a:lnTo>
                <a:cubicBezTo>
                  <a:pt x="0" y="46493"/>
                  <a:pt x="46493" y="0"/>
                  <a:pt x="103759" y="0"/>
                </a:cubicBezTo>
                <a:close/>
              </a:path>
            </a:pathLst>
          </a:custGeom>
          <a:solidFill>
            <a:srgbClr val="1D1F2B"/>
          </a:solidFill>
          <a:ln/>
        </p:spPr>
      </p:sp>
      <p:sp>
        <p:nvSpPr>
          <p:cNvPr id="27" name="Shape 25"/>
          <p:cNvSpPr/>
          <p:nvPr/>
        </p:nvSpPr>
        <p:spPr>
          <a:xfrm>
            <a:off x="6432253" y="1660077"/>
            <a:ext cx="207523" cy="207523"/>
          </a:xfrm>
          <a:custGeom>
            <a:avLst/>
            <a:gdLst/>
            <a:ahLst/>
            <a:cxnLst/>
            <a:rect l="l" t="t" r="r" b="b"/>
            <a:pathLst>
              <a:path w="207523" h="207523">
                <a:moveTo>
                  <a:pt x="77821" y="25940"/>
                </a:moveTo>
                <a:cubicBezTo>
                  <a:pt x="77821" y="18766"/>
                  <a:pt x="83617" y="12970"/>
                  <a:pt x="90791" y="12970"/>
                </a:cubicBezTo>
                <a:lnTo>
                  <a:pt x="116732" y="12970"/>
                </a:lnTo>
                <a:cubicBezTo>
                  <a:pt x="123906" y="12970"/>
                  <a:pt x="129702" y="18766"/>
                  <a:pt x="129702" y="25940"/>
                </a:cubicBezTo>
                <a:lnTo>
                  <a:pt x="129702" y="51881"/>
                </a:lnTo>
                <a:cubicBezTo>
                  <a:pt x="129702" y="59055"/>
                  <a:pt x="123906" y="64851"/>
                  <a:pt x="116732" y="64851"/>
                </a:cubicBezTo>
                <a:lnTo>
                  <a:pt x="113489" y="64851"/>
                </a:lnTo>
                <a:lnTo>
                  <a:pt x="113489" y="90791"/>
                </a:lnTo>
                <a:lnTo>
                  <a:pt x="162128" y="90791"/>
                </a:lnTo>
                <a:cubicBezTo>
                  <a:pt x="178259" y="90791"/>
                  <a:pt x="191311" y="103843"/>
                  <a:pt x="191311" y="119974"/>
                </a:cubicBezTo>
                <a:lnTo>
                  <a:pt x="191311" y="142672"/>
                </a:lnTo>
                <a:lnTo>
                  <a:pt x="194553" y="142672"/>
                </a:lnTo>
                <a:cubicBezTo>
                  <a:pt x="201727" y="142672"/>
                  <a:pt x="207523" y="148468"/>
                  <a:pt x="207523" y="155643"/>
                </a:cubicBezTo>
                <a:lnTo>
                  <a:pt x="207523" y="181583"/>
                </a:lnTo>
                <a:cubicBezTo>
                  <a:pt x="207523" y="188757"/>
                  <a:pt x="201727" y="194553"/>
                  <a:pt x="194553" y="194553"/>
                </a:cubicBezTo>
                <a:lnTo>
                  <a:pt x="168613" y="194553"/>
                </a:lnTo>
                <a:cubicBezTo>
                  <a:pt x="161439" y="194553"/>
                  <a:pt x="155643" y="188757"/>
                  <a:pt x="155643" y="181583"/>
                </a:cubicBezTo>
                <a:lnTo>
                  <a:pt x="155643" y="155643"/>
                </a:lnTo>
                <a:cubicBezTo>
                  <a:pt x="155643" y="148468"/>
                  <a:pt x="161439" y="142672"/>
                  <a:pt x="168613" y="142672"/>
                </a:cubicBezTo>
                <a:lnTo>
                  <a:pt x="171855" y="142672"/>
                </a:lnTo>
                <a:lnTo>
                  <a:pt x="171855" y="119974"/>
                </a:lnTo>
                <a:cubicBezTo>
                  <a:pt x="171855" y="114584"/>
                  <a:pt x="167518" y="110247"/>
                  <a:pt x="162128" y="110247"/>
                </a:cubicBezTo>
                <a:lnTo>
                  <a:pt x="113489" y="110247"/>
                </a:lnTo>
                <a:lnTo>
                  <a:pt x="113489" y="142672"/>
                </a:lnTo>
                <a:lnTo>
                  <a:pt x="116732" y="142672"/>
                </a:lnTo>
                <a:cubicBezTo>
                  <a:pt x="123906" y="142672"/>
                  <a:pt x="129702" y="148468"/>
                  <a:pt x="129702" y="155643"/>
                </a:cubicBezTo>
                <a:lnTo>
                  <a:pt x="129702" y="181583"/>
                </a:lnTo>
                <a:cubicBezTo>
                  <a:pt x="129702" y="188757"/>
                  <a:pt x="123906" y="194553"/>
                  <a:pt x="116732" y="194553"/>
                </a:cubicBezTo>
                <a:lnTo>
                  <a:pt x="90791" y="194553"/>
                </a:lnTo>
                <a:cubicBezTo>
                  <a:pt x="83617" y="194553"/>
                  <a:pt x="77821" y="188757"/>
                  <a:pt x="77821" y="181583"/>
                </a:cubicBezTo>
                <a:lnTo>
                  <a:pt x="77821" y="155643"/>
                </a:lnTo>
                <a:cubicBezTo>
                  <a:pt x="77821" y="148468"/>
                  <a:pt x="83617" y="142672"/>
                  <a:pt x="90791" y="142672"/>
                </a:cubicBezTo>
                <a:lnTo>
                  <a:pt x="94034" y="142672"/>
                </a:lnTo>
                <a:lnTo>
                  <a:pt x="94034" y="110247"/>
                </a:lnTo>
                <a:lnTo>
                  <a:pt x="45396" y="110247"/>
                </a:lnTo>
                <a:cubicBezTo>
                  <a:pt x="40005" y="110247"/>
                  <a:pt x="35668" y="114584"/>
                  <a:pt x="35668" y="119974"/>
                </a:cubicBezTo>
                <a:lnTo>
                  <a:pt x="35668" y="142672"/>
                </a:lnTo>
                <a:lnTo>
                  <a:pt x="38911" y="142672"/>
                </a:lnTo>
                <a:cubicBezTo>
                  <a:pt x="46085" y="142672"/>
                  <a:pt x="51881" y="148468"/>
                  <a:pt x="51881" y="155643"/>
                </a:cubicBezTo>
                <a:lnTo>
                  <a:pt x="51881" y="181583"/>
                </a:lnTo>
                <a:cubicBezTo>
                  <a:pt x="51881" y="188757"/>
                  <a:pt x="46085" y="194553"/>
                  <a:pt x="38911" y="194553"/>
                </a:cubicBezTo>
                <a:lnTo>
                  <a:pt x="12970" y="194553"/>
                </a:lnTo>
                <a:cubicBezTo>
                  <a:pt x="5796" y="194553"/>
                  <a:pt x="0" y="188757"/>
                  <a:pt x="0" y="181583"/>
                </a:cubicBezTo>
                <a:lnTo>
                  <a:pt x="0" y="155643"/>
                </a:lnTo>
                <a:cubicBezTo>
                  <a:pt x="0" y="148468"/>
                  <a:pt x="5796" y="142672"/>
                  <a:pt x="12970" y="142672"/>
                </a:cubicBezTo>
                <a:lnTo>
                  <a:pt x="16213" y="142672"/>
                </a:lnTo>
                <a:lnTo>
                  <a:pt x="16213" y="119974"/>
                </a:lnTo>
                <a:cubicBezTo>
                  <a:pt x="16213" y="103843"/>
                  <a:pt x="29264" y="90791"/>
                  <a:pt x="45396" y="90791"/>
                </a:cubicBezTo>
                <a:lnTo>
                  <a:pt x="94034" y="90791"/>
                </a:lnTo>
                <a:lnTo>
                  <a:pt x="94034" y="64851"/>
                </a:lnTo>
                <a:lnTo>
                  <a:pt x="90791" y="64851"/>
                </a:lnTo>
                <a:cubicBezTo>
                  <a:pt x="83617" y="64851"/>
                  <a:pt x="77821" y="59055"/>
                  <a:pt x="77821" y="51881"/>
                </a:cubicBezTo>
                <a:lnTo>
                  <a:pt x="77821" y="25940"/>
                </a:ln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28" name="Text 26"/>
          <p:cNvSpPr/>
          <p:nvPr/>
        </p:nvSpPr>
        <p:spPr>
          <a:xfrm>
            <a:off x="6665717" y="1625600"/>
            <a:ext cx="5075677" cy="276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4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Rule Creation Workflow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06312" y="2040537"/>
            <a:ext cx="345872" cy="345872"/>
          </a:xfrm>
          <a:custGeom>
            <a:avLst/>
            <a:gdLst/>
            <a:ahLst/>
            <a:cxnLst/>
            <a:rect l="l" t="t" r="r" b="b"/>
            <a:pathLst>
              <a:path w="345872" h="345872">
                <a:moveTo>
                  <a:pt x="172936" y="0"/>
                </a:moveTo>
                <a:lnTo>
                  <a:pt x="172936" y="0"/>
                </a:lnTo>
                <a:cubicBezTo>
                  <a:pt x="268382" y="0"/>
                  <a:pt x="345872" y="77490"/>
                  <a:pt x="345872" y="172936"/>
                </a:cubicBezTo>
                <a:lnTo>
                  <a:pt x="345872" y="172936"/>
                </a:lnTo>
                <a:cubicBezTo>
                  <a:pt x="345872" y="268382"/>
                  <a:pt x="268382" y="345872"/>
                  <a:pt x="172936" y="345872"/>
                </a:cubicBezTo>
                <a:lnTo>
                  <a:pt x="172936" y="345872"/>
                </a:lnTo>
                <a:cubicBezTo>
                  <a:pt x="77490" y="345872"/>
                  <a:pt x="0" y="268382"/>
                  <a:pt x="0" y="172936"/>
                </a:cubicBezTo>
                <a:lnTo>
                  <a:pt x="0" y="172936"/>
                </a:lnTo>
                <a:cubicBezTo>
                  <a:pt x="0" y="77490"/>
                  <a:pt x="77490" y="0"/>
                  <a:pt x="172936" y="0"/>
                </a:cubicBez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30" name="Text 28"/>
          <p:cNvSpPr/>
          <p:nvPr/>
        </p:nvSpPr>
        <p:spPr>
          <a:xfrm>
            <a:off x="6371725" y="2040537"/>
            <a:ext cx="415047" cy="345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890534" y="2040537"/>
            <a:ext cx="2801566" cy="242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6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Define Match Conditions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90534" y="2282648"/>
            <a:ext cx="2792919" cy="207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9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URL patterns, file types, headers, cookies, etc.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06312" y="2628520"/>
            <a:ext cx="345872" cy="345872"/>
          </a:xfrm>
          <a:custGeom>
            <a:avLst/>
            <a:gdLst/>
            <a:ahLst/>
            <a:cxnLst/>
            <a:rect l="l" t="t" r="r" b="b"/>
            <a:pathLst>
              <a:path w="345872" h="345872">
                <a:moveTo>
                  <a:pt x="172936" y="0"/>
                </a:moveTo>
                <a:lnTo>
                  <a:pt x="172936" y="0"/>
                </a:lnTo>
                <a:cubicBezTo>
                  <a:pt x="268382" y="0"/>
                  <a:pt x="345872" y="77490"/>
                  <a:pt x="345872" y="172936"/>
                </a:cubicBezTo>
                <a:lnTo>
                  <a:pt x="345872" y="172936"/>
                </a:lnTo>
                <a:cubicBezTo>
                  <a:pt x="345872" y="268382"/>
                  <a:pt x="268382" y="345872"/>
                  <a:pt x="172936" y="345872"/>
                </a:cubicBezTo>
                <a:lnTo>
                  <a:pt x="172936" y="345872"/>
                </a:lnTo>
                <a:cubicBezTo>
                  <a:pt x="77490" y="345872"/>
                  <a:pt x="0" y="268382"/>
                  <a:pt x="0" y="172936"/>
                </a:cubicBezTo>
                <a:lnTo>
                  <a:pt x="0" y="172936"/>
                </a:lnTo>
                <a:cubicBezTo>
                  <a:pt x="0" y="77490"/>
                  <a:pt x="77490" y="0"/>
                  <a:pt x="172936" y="0"/>
                </a:cubicBezTo>
                <a:close/>
              </a:path>
            </a:pathLst>
          </a:custGeom>
          <a:solidFill>
            <a:srgbClr val="00A4B5"/>
          </a:solidFill>
          <a:ln/>
        </p:spPr>
      </p:sp>
      <p:sp>
        <p:nvSpPr>
          <p:cNvPr id="34" name="Text 32"/>
          <p:cNvSpPr/>
          <p:nvPr/>
        </p:nvSpPr>
        <p:spPr>
          <a:xfrm>
            <a:off x="6371725" y="2628520"/>
            <a:ext cx="415047" cy="345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890534" y="2628520"/>
            <a:ext cx="2810213" cy="242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6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Set Cache Eligibility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890534" y="2870631"/>
            <a:ext cx="2801566" cy="207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9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Eligible for cache, bypass cache, or no change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406312" y="3216503"/>
            <a:ext cx="345872" cy="345872"/>
          </a:xfrm>
          <a:custGeom>
            <a:avLst/>
            <a:gdLst/>
            <a:ahLst/>
            <a:cxnLst/>
            <a:rect l="l" t="t" r="r" b="b"/>
            <a:pathLst>
              <a:path w="345872" h="345872">
                <a:moveTo>
                  <a:pt x="172936" y="0"/>
                </a:moveTo>
                <a:lnTo>
                  <a:pt x="172936" y="0"/>
                </a:lnTo>
                <a:cubicBezTo>
                  <a:pt x="268382" y="0"/>
                  <a:pt x="345872" y="77490"/>
                  <a:pt x="345872" y="172936"/>
                </a:cubicBezTo>
                <a:lnTo>
                  <a:pt x="345872" y="172936"/>
                </a:lnTo>
                <a:cubicBezTo>
                  <a:pt x="345872" y="268382"/>
                  <a:pt x="268382" y="345872"/>
                  <a:pt x="172936" y="345872"/>
                </a:cubicBezTo>
                <a:lnTo>
                  <a:pt x="172936" y="345872"/>
                </a:lnTo>
                <a:cubicBezTo>
                  <a:pt x="77490" y="345872"/>
                  <a:pt x="0" y="268382"/>
                  <a:pt x="0" y="172936"/>
                </a:cubicBezTo>
                <a:lnTo>
                  <a:pt x="0" y="172936"/>
                </a:lnTo>
                <a:cubicBezTo>
                  <a:pt x="0" y="77490"/>
                  <a:pt x="77490" y="0"/>
                  <a:pt x="172936" y="0"/>
                </a:cubicBez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38" name="Text 36"/>
          <p:cNvSpPr/>
          <p:nvPr/>
        </p:nvSpPr>
        <p:spPr>
          <a:xfrm>
            <a:off x="6371725" y="3216503"/>
            <a:ext cx="415047" cy="345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890534" y="3216503"/>
            <a:ext cx="2325991" cy="242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6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Configure Edge TTL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890534" y="3458614"/>
            <a:ext cx="2317345" cy="207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9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long to cache at Cloudflare edge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406312" y="3804486"/>
            <a:ext cx="345872" cy="345872"/>
          </a:xfrm>
          <a:custGeom>
            <a:avLst/>
            <a:gdLst/>
            <a:ahLst/>
            <a:cxnLst/>
            <a:rect l="l" t="t" r="r" b="b"/>
            <a:pathLst>
              <a:path w="345872" h="345872">
                <a:moveTo>
                  <a:pt x="172936" y="0"/>
                </a:moveTo>
                <a:lnTo>
                  <a:pt x="172936" y="0"/>
                </a:lnTo>
                <a:cubicBezTo>
                  <a:pt x="268382" y="0"/>
                  <a:pt x="345872" y="77490"/>
                  <a:pt x="345872" y="172936"/>
                </a:cubicBezTo>
                <a:lnTo>
                  <a:pt x="345872" y="172936"/>
                </a:lnTo>
                <a:cubicBezTo>
                  <a:pt x="345872" y="268382"/>
                  <a:pt x="268382" y="345872"/>
                  <a:pt x="172936" y="345872"/>
                </a:cubicBezTo>
                <a:lnTo>
                  <a:pt x="172936" y="345872"/>
                </a:lnTo>
                <a:cubicBezTo>
                  <a:pt x="77490" y="345872"/>
                  <a:pt x="0" y="268382"/>
                  <a:pt x="0" y="172936"/>
                </a:cubicBezTo>
                <a:lnTo>
                  <a:pt x="0" y="172936"/>
                </a:lnTo>
                <a:cubicBezTo>
                  <a:pt x="0" y="77490"/>
                  <a:pt x="77490" y="0"/>
                  <a:pt x="172936" y="0"/>
                </a:cubicBezTo>
                <a:close/>
              </a:path>
            </a:pathLst>
          </a:custGeom>
          <a:solidFill>
            <a:srgbClr val="00A4B5"/>
          </a:solidFill>
          <a:ln/>
        </p:spPr>
      </p:sp>
      <p:sp>
        <p:nvSpPr>
          <p:cNvPr id="42" name="Text 40"/>
          <p:cNvSpPr/>
          <p:nvPr/>
        </p:nvSpPr>
        <p:spPr>
          <a:xfrm>
            <a:off x="6371725" y="3804486"/>
            <a:ext cx="415047" cy="345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890534" y="3804486"/>
            <a:ext cx="2645923" cy="242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6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Set Status Code TTL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890534" y="4046597"/>
            <a:ext cx="2637277" cy="207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9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Different TTLs for different HTTP responses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216083" y="4634580"/>
            <a:ext cx="5629072" cy="2075234"/>
          </a:xfrm>
          <a:custGeom>
            <a:avLst/>
            <a:gdLst/>
            <a:ahLst/>
            <a:cxnLst/>
            <a:rect l="l" t="t" r="r" b="b"/>
            <a:pathLst>
              <a:path w="5629072" h="2075234">
                <a:moveTo>
                  <a:pt x="34587" y="0"/>
                </a:moveTo>
                <a:lnTo>
                  <a:pt x="5525311" y="0"/>
                </a:lnTo>
                <a:cubicBezTo>
                  <a:pt x="5582617" y="0"/>
                  <a:pt x="5629072" y="46456"/>
                  <a:pt x="5629072" y="103762"/>
                </a:cubicBezTo>
                <a:lnTo>
                  <a:pt x="5629072" y="1971472"/>
                </a:lnTo>
                <a:cubicBezTo>
                  <a:pt x="5629072" y="2028778"/>
                  <a:pt x="5582617" y="2075234"/>
                  <a:pt x="5525311" y="2075234"/>
                </a:cubicBezTo>
                <a:lnTo>
                  <a:pt x="34587" y="2075234"/>
                </a:lnTo>
                <a:cubicBezTo>
                  <a:pt x="15485" y="2075234"/>
                  <a:pt x="0" y="2059749"/>
                  <a:pt x="0" y="2040647"/>
                </a:cubicBezTo>
                <a:lnTo>
                  <a:pt x="0" y="34587"/>
                </a:lnTo>
                <a:cubicBezTo>
                  <a:pt x="0" y="15485"/>
                  <a:pt x="15485" y="0"/>
                  <a:pt x="34587" y="0"/>
                </a:cubicBezTo>
                <a:close/>
              </a:path>
            </a:pathLst>
          </a:custGeom>
          <a:solidFill>
            <a:srgbClr val="00A4B5">
              <a:alpha val="10196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216083" y="4634580"/>
            <a:ext cx="34587" cy="2075234"/>
          </a:xfrm>
          <a:custGeom>
            <a:avLst/>
            <a:gdLst/>
            <a:ahLst/>
            <a:cxnLst/>
            <a:rect l="l" t="t" r="r" b="b"/>
            <a:pathLst>
              <a:path w="34587" h="2075234">
                <a:moveTo>
                  <a:pt x="34587" y="0"/>
                </a:moveTo>
                <a:lnTo>
                  <a:pt x="34587" y="0"/>
                </a:lnTo>
                <a:lnTo>
                  <a:pt x="34587" y="2075234"/>
                </a:lnTo>
                <a:lnTo>
                  <a:pt x="34587" y="2075234"/>
                </a:lnTo>
                <a:cubicBezTo>
                  <a:pt x="15485" y="2075234"/>
                  <a:pt x="0" y="2059749"/>
                  <a:pt x="0" y="2040647"/>
                </a:cubicBezTo>
                <a:lnTo>
                  <a:pt x="0" y="34587"/>
                </a:lnTo>
                <a:cubicBezTo>
                  <a:pt x="0" y="15498"/>
                  <a:pt x="15498" y="0"/>
                  <a:pt x="34587" y="0"/>
                </a:cubicBezTo>
                <a:close/>
              </a:path>
            </a:pathLst>
          </a:custGeom>
          <a:solidFill>
            <a:srgbClr val="00A4B5"/>
          </a:solidFill>
          <a:ln/>
        </p:spPr>
      </p:sp>
      <p:sp>
        <p:nvSpPr>
          <p:cNvPr id="47" name="Shape 45"/>
          <p:cNvSpPr/>
          <p:nvPr/>
        </p:nvSpPr>
        <p:spPr>
          <a:xfrm>
            <a:off x="6462517" y="4876690"/>
            <a:ext cx="172936" cy="172936"/>
          </a:xfrm>
          <a:custGeom>
            <a:avLst/>
            <a:gdLst/>
            <a:ahLst/>
            <a:cxnLst/>
            <a:rect l="l" t="t" r="r" b="b"/>
            <a:pathLst>
              <a:path w="172936" h="172936">
                <a:moveTo>
                  <a:pt x="45193" y="12261"/>
                </a:moveTo>
                <a:cubicBezTo>
                  <a:pt x="48875" y="14828"/>
                  <a:pt x="49753" y="19894"/>
                  <a:pt x="47186" y="23542"/>
                </a:cubicBezTo>
                <a:lnTo>
                  <a:pt x="28271" y="50564"/>
                </a:lnTo>
                <a:cubicBezTo>
                  <a:pt x="26886" y="52523"/>
                  <a:pt x="24724" y="53772"/>
                  <a:pt x="22326" y="53975"/>
                </a:cubicBezTo>
                <a:cubicBezTo>
                  <a:pt x="19928" y="54178"/>
                  <a:pt x="17564" y="53367"/>
                  <a:pt x="15875" y="51678"/>
                </a:cubicBezTo>
                <a:lnTo>
                  <a:pt x="2364" y="38168"/>
                </a:lnTo>
                <a:cubicBezTo>
                  <a:pt x="-777" y="34993"/>
                  <a:pt x="-777" y="29859"/>
                  <a:pt x="2364" y="26684"/>
                </a:cubicBezTo>
                <a:cubicBezTo>
                  <a:pt x="5506" y="23509"/>
                  <a:pt x="10673" y="23542"/>
                  <a:pt x="13848" y="26684"/>
                </a:cubicBezTo>
                <a:lnTo>
                  <a:pt x="20536" y="33371"/>
                </a:lnTo>
                <a:lnTo>
                  <a:pt x="33912" y="14254"/>
                </a:lnTo>
                <a:cubicBezTo>
                  <a:pt x="36479" y="10572"/>
                  <a:pt x="41545" y="9694"/>
                  <a:pt x="45193" y="12261"/>
                </a:cubicBezTo>
                <a:close/>
                <a:moveTo>
                  <a:pt x="45193" y="66303"/>
                </a:moveTo>
                <a:cubicBezTo>
                  <a:pt x="48875" y="68870"/>
                  <a:pt x="49753" y="73937"/>
                  <a:pt x="47186" y="77585"/>
                </a:cubicBezTo>
                <a:lnTo>
                  <a:pt x="28271" y="104606"/>
                </a:lnTo>
                <a:cubicBezTo>
                  <a:pt x="26886" y="106565"/>
                  <a:pt x="24724" y="107815"/>
                  <a:pt x="22326" y="108018"/>
                </a:cubicBezTo>
                <a:cubicBezTo>
                  <a:pt x="19928" y="108220"/>
                  <a:pt x="17564" y="107410"/>
                  <a:pt x="15875" y="105721"/>
                </a:cubicBezTo>
                <a:lnTo>
                  <a:pt x="2364" y="92210"/>
                </a:lnTo>
                <a:cubicBezTo>
                  <a:pt x="-811" y="89035"/>
                  <a:pt x="-811" y="83901"/>
                  <a:pt x="2364" y="80760"/>
                </a:cubicBezTo>
                <a:cubicBezTo>
                  <a:pt x="5539" y="77619"/>
                  <a:pt x="10673" y="77585"/>
                  <a:pt x="13815" y="80760"/>
                </a:cubicBezTo>
                <a:lnTo>
                  <a:pt x="20502" y="87448"/>
                </a:lnTo>
                <a:lnTo>
                  <a:pt x="33878" y="68330"/>
                </a:lnTo>
                <a:cubicBezTo>
                  <a:pt x="36445" y="64648"/>
                  <a:pt x="41511" y="63770"/>
                  <a:pt x="45159" y="66337"/>
                </a:cubicBezTo>
                <a:close/>
                <a:moveTo>
                  <a:pt x="75660" y="32426"/>
                </a:moveTo>
                <a:cubicBezTo>
                  <a:pt x="75660" y="26447"/>
                  <a:pt x="80490" y="21617"/>
                  <a:pt x="86468" y="21617"/>
                </a:cubicBezTo>
                <a:lnTo>
                  <a:pt x="162128" y="21617"/>
                </a:lnTo>
                <a:cubicBezTo>
                  <a:pt x="168106" y="21617"/>
                  <a:pt x="172936" y="26447"/>
                  <a:pt x="172936" y="32426"/>
                </a:cubicBezTo>
                <a:cubicBezTo>
                  <a:pt x="172936" y="38404"/>
                  <a:pt x="168106" y="43234"/>
                  <a:pt x="162128" y="43234"/>
                </a:cubicBezTo>
                <a:lnTo>
                  <a:pt x="86468" y="43234"/>
                </a:lnTo>
                <a:cubicBezTo>
                  <a:pt x="80490" y="43234"/>
                  <a:pt x="75660" y="38404"/>
                  <a:pt x="75660" y="32426"/>
                </a:cubicBezTo>
                <a:close/>
                <a:moveTo>
                  <a:pt x="75660" y="86468"/>
                </a:moveTo>
                <a:cubicBezTo>
                  <a:pt x="75660" y="80490"/>
                  <a:pt x="80490" y="75660"/>
                  <a:pt x="86468" y="75660"/>
                </a:cubicBezTo>
                <a:lnTo>
                  <a:pt x="162128" y="75660"/>
                </a:lnTo>
                <a:cubicBezTo>
                  <a:pt x="168106" y="75660"/>
                  <a:pt x="172936" y="80490"/>
                  <a:pt x="172936" y="86468"/>
                </a:cubicBezTo>
                <a:cubicBezTo>
                  <a:pt x="172936" y="92447"/>
                  <a:pt x="168106" y="97277"/>
                  <a:pt x="162128" y="97277"/>
                </a:cubicBezTo>
                <a:lnTo>
                  <a:pt x="86468" y="97277"/>
                </a:lnTo>
                <a:cubicBezTo>
                  <a:pt x="80490" y="97277"/>
                  <a:pt x="75660" y="92447"/>
                  <a:pt x="75660" y="86468"/>
                </a:cubicBezTo>
                <a:close/>
                <a:moveTo>
                  <a:pt x="54043" y="140511"/>
                </a:moveTo>
                <a:cubicBezTo>
                  <a:pt x="54043" y="134532"/>
                  <a:pt x="58873" y="129702"/>
                  <a:pt x="64851" y="129702"/>
                </a:cubicBezTo>
                <a:lnTo>
                  <a:pt x="162128" y="129702"/>
                </a:lnTo>
                <a:cubicBezTo>
                  <a:pt x="168106" y="129702"/>
                  <a:pt x="172936" y="134532"/>
                  <a:pt x="172936" y="140511"/>
                </a:cubicBezTo>
                <a:cubicBezTo>
                  <a:pt x="172936" y="146489"/>
                  <a:pt x="168106" y="151319"/>
                  <a:pt x="162128" y="151319"/>
                </a:cubicBezTo>
                <a:lnTo>
                  <a:pt x="64851" y="151319"/>
                </a:lnTo>
                <a:cubicBezTo>
                  <a:pt x="58873" y="151319"/>
                  <a:pt x="54043" y="146489"/>
                  <a:pt x="54043" y="140511"/>
                </a:cubicBezTo>
                <a:close/>
                <a:moveTo>
                  <a:pt x="21617" y="127000"/>
                </a:moveTo>
                <a:cubicBezTo>
                  <a:pt x="29074" y="127000"/>
                  <a:pt x="35128" y="133054"/>
                  <a:pt x="35128" y="140511"/>
                </a:cubicBezTo>
                <a:cubicBezTo>
                  <a:pt x="35128" y="147967"/>
                  <a:pt x="29074" y="154021"/>
                  <a:pt x="21617" y="154021"/>
                </a:cubicBezTo>
                <a:cubicBezTo>
                  <a:pt x="14160" y="154021"/>
                  <a:pt x="8106" y="147967"/>
                  <a:pt x="8106" y="140511"/>
                </a:cubicBezTo>
                <a:cubicBezTo>
                  <a:pt x="8106" y="133054"/>
                  <a:pt x="14160" y="127000"/>
                  <a:pt x="21617" y="127000"/>
                </a:cubicBezTo>
                <a:close/>
              </a:path>
            </a:pathLst>
          </a:custGeom>
          <a:solidFill>
            <a:srgbClr val="00A4B5"/>
          </a:solidFill>
          <a:ln/>
        </p:spPr>
      </p:sp>
      <p:sp>
        <p:nvSpPr>
          <p:cNvPr id="48" name="Text 46"/>
          <p:cNvSpPr/>
          <p:nvPr/>
        </p:nvSpPr>
        <p:spPr>
          <a:xfrm>
            <a:off x="6657070" y="4842103"/>
            <a:ext cx="5067030" cy="242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2" b="1" dirty="0">
                <a:solidFill>
                  <a:srgbClr val="1D1F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Matching Criteria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484134" y="5222563"/>
            <a:ext cx="86468" cy="138349"/>
          </a:xfrm>
          <a:custGeom>
            <a:avLst/>
            <a:gdLst/>
            <a:ahLst/>
            <a:cxnLst/>
            <a:rect l="l" t="t" r="r" b="b"/>
            <a:pathLst>
              <a:path w="86468" h="138349">
                <a:moveTo>
                  <a:pt x="84063" y="63068"/>
                </a:moveTo>
                <a:cubicBezTo>
                  <a:pt x="87441" y="66445"/>
                  <a:pt x="87441" y="71931"/>
                  <a:pt x="84063" y="75308"/>
                </a:cubicBezTo>
                <a:lnTo>
                  <a:pt x="32182" y="127189"/>
                </a:lnTo>
                <a:cubicBezTo>
                  <a:pt x="28805" y="130567"/>
                  <a:pt x="23319" y="130567"/>
                  <a:pt x="19942" y="127189"/>
                </a:cubicBezTo>
                <a:cubicBezTo>
                  <a:pt x="16564" y="123811"/>
                  <a:pt x="16564" y="118326"/>
                  <a:pt x="19942" y="114949"/>
                </a:cubicBezTo>
                <a:lnTo>
                  <a:pt x="65716" y="69174"/>
                </a:lnTo>
                <a:lnTo>
                  <a:pt x="19969" y="23400"/>
                </a:lnTo>
                <a:cubicBezTo>
                  <a:pt x="16591" y="20023"/>
                  <a:pt x="16591" y="14537"/>
                  <a:pt x="19969" y="11160"/>
                </a:cubicBezTo>
                <a:cubicBezTo>
                  <a:pt x="23346" y="7782"/>
                  <a:pt x="28832" y="7782"/>
                  <a:pt x="32209" y="11160"/>
                </a:cubicBezTo>
                <a:lnTo>
                  <a:pt x="84090" y="63041"/>
                </a:lnTo>
                <a:close/>
              </a:path>
            </a:pathLst>
          </a:custGeom>
          <a:solidFill>
            <a:srgbClr val="00A4B5"/>
          </a:solidFill>
          <a:ln/>
        </p:spPr>
      </p:sp>
      <p:sp>
        <p:nvSpPr>
          <p:cNvPr id="50" name="Text 48"/>
          <p:cNvSpPr/>
          <p:nvPr/>
        </p:nvSpPr>
        <p:spPr>
          <a:xfrm>
            <a:off x="6683010" y="5187975"/>
            <a:ext cx="2550809" cy="207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9" b="1" dirty="0">
                <a:solidFill>
                  <a:srgbClr val="3641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URL path</a:t>
            </a:r>
            <a:pPr>
              <a:lnSpc>
                <a:spcPct val="130000"/>
              </a:lnSpc>
            </a:pPr>
            <a:r>
              <a:rPr lang="en-US" sz="1089" dirty="0">
                <a:solidFill>
                  <a:srgbClr val="3641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contains, equals, matches regex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484134" y="5499260"/>
            <a:ext cx="86468" cy="138349"/>
          </a:xfrm>
          <a:custGeom>
            <a:avLst/>
            <a:gdLst/>
            <a:ahLst/>
            <a:cxnLst/>
            <a:rect l="l" t="t" r="r" b="b"/>
            <a:pathLst>
              <a:path w="86468" h="138349">
                <a:moveTo>
                  <a:pt x="84063" y="63068"/>
                </a:moveTo>
                <a:cubicBezTo>
                  <a:pt x="87441" y="66445"/>
                  <a:pt x="87441" y="71931"/>
                  <a:pt x="84063" y="75308"/>
                </a:cubicBezTo>
                <a:lnTo>
                  <a:pt x="32182" y="127189"/>
                </a:lnTo>
                <a:cubicBezTo>
                  <a:pt x="28805" y="130567"/>
                  <a:pt x="23319" y="130567"/>
                  <a:pt x="19942" y="127189"/>
                </a:cubicBezTo>
                <a:cubicBezTo>
                  <a:pt x="16564" y="123811"/>
                  <a:pt x="16564" y="118326"/>
                  <a:pt x="19942" y="114949"/>
                </a:cubicBezTo>
                <a:lnTo>
                  <a:pt x="65716" y="69174"/>
                </a:lnTo>
                <a:lnTo>
                  <a:pt x="19969" y="23400"/>
                </a:lnTo>
                <a:cubicBezTo>
                  <a:pt x="16591" y="20023"/>
                  <a:pt x="16591" y="14537"/>
                  <a:pt x="19969" y="11160"/>
                </a:cubicBezTo>
                <a:cubicBezTo>
                  <a:pt x="23346" y="7782"/>
                  <a:pt x="28832" y="7782"/>
                  <a:pt x="32209" y="11160"/>
                </a:cubicBezTo>
                <a:lnTo>
                  <a:pt x="84090" y="63041"/>
                </a:lnTo>
                <a:close/>
              </a:path>
            </a:pathLst>
          </a:custGeom>
          <a:solidFill>
            <a:srgbClr val="00A4B5"/>
          </a:solidFill>
          <a:ln/>
        </p:spPr>
      </p:sp>
      <p:sp>
        <p:nvSpPr>
          <p:cNvPr id="52" name="Text 50"/>
          <p:cNvSpPr/>
          <p:nvPr/>
        </p:nvSpPr>
        <p:spPr>
          <a:xfrm>
            <a:off x="6683010" y="5464673"/>
            <a:ext cx="1971472" cy="207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9" b="1" dirty="0">
                <a:solidFill>
                  <a:srgbClr val="3641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File extension</a:t>
            </a:r>
            <a:pPr>
              <a:lnSpc>
                <a:spcPct val="130000"/>
              </a:lnSpc>
            </a:pPr>
            <a:r>
              <a:rPr lang="en-US" sz="1089" dirty="0">
                <a:solidFill>
                  <a:srgbClr val="3641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(e.g., .jpg, .css, .js)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484134" y="5775958"/>
            <a:ext cx="86468" cy="138349"/>
          </a:xfrm>
          <a:custGeom>
            <a:avLst/>
            <a:gdLst/>
            <a:ahLst/>
            <a:cxnLst/>
            <a:rect l="l" t="t" r="r" b="b"/>
            <a:pathLst>
              <a:path w="86468" h="138349">
                <a:moveTo>
                  <a:pt x="84063" y="63068"/>
                </a:moveTo>
                <a:cubicBezTo>
                  <a:pt x="87441" y="66445"/>
                  <a:pt x="87441" y="71931"/>
                  <a:pt x="84063" y="75308"/>
                </a:cubicBezTo>
                <a:lnTo>
                  <a:pt x="32182" y="127189"/>
                </a:lnTo>
                <a:cubicBezTo>
                  <a:pt x="28805" y="130567"/>
                  <a:pt x="23319" y="130567"/>
                  <a:pt x="19942" y="127189"/>
                </a:cubicBezTo>
                <a:cubicBezTo>
                  <a:pt x="16564" y="123811"/>
                  <a:pt x="16564" y="118326"/>
                  <a:pt x="19942" y="114949"/>
                </a:cubicBezTo>
                <a:lnTo>
                  <a:pt x="65716" y="69174"/>
                </a:lnTo>
                <a:lnTo>
                  <a:pt x="19969" y="23400"/>
                </a:lnTo>
                <a:cubicBezTo>
                  <a:pt x="16591" y="20023"/>
                  <a:pt x="16591" y="14537"/>
                  <a:pt x="19969" y="11160"/>
                </a:cubicBezTo>
                <a:cubicBezTo>
                  <a:pt x="23346" y="7782"/>
                  <a:pt x="28832" y="7782"/>
                  <a:pt x="32209" y="11160"/>
                </a:cubicBezTo>
                <a:lnTo>
                  <a:pt x="84090" y="63041"/>
                </a:lnTo>
                <a:close/>
              </a:path>
            </a:pathLst>
          </a:custGeom>
          <a:solidFill>
            <a:srgbClr val="00A4B5"/>
          </a:solidFill>
          <a:ln/>
        </p:spPr>
      </p:sp>
      <p:sp>
        <p:nvSpPr>
          <p:cNvPr id="54" name="Text 52"/>
          <p:cNvSpPr/>
          <p:nvPr/>
        </p:nvSpPr>
        <p:spPr>
          <a:xfrm>
            <a:off x="6683010" y="5741371"/>
            <a:ext cx="1807183" cy="207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9" b="1" dirty="0">
                <a:solidFill>
                  <a:srgbClr val="3641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Request headers</a:t>
            </a:r>
            <a:pPr>
              <a:lnSpc>
                <a:spcPct val="130000"/>
              </a:lnSpc>
            </a:pPr>
            <a:r>
              <a:rPr lang="en-US" sz="1089" dirty="0">
                <a:solidFill>
                  <a:srgbClr val="3641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cookies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484134" y="6052656"/>
            <a:ext cx="86468" cy="138349"/>
          </a:xfrm>
          <a:custGeom>
            <a:avLst/>
            <a:gdLst/>
            <a:ahLst/>
            <a:cxnLst/>
            <a:rect l="l" t="t" r="r" b="b"/>
            <a:pathLst>
              <a:path w="86468" h="138349">
                <a:moveTo>
                  <a:pt x="84063" y="63068"/>
                </a:moveTo>
                <a:cubicBezTo>
                  <a:pt x="87441" y="66445"/>
                  <a:pt x="87441" y="71931"/>
                  <a:pt x="84063" y="75308"/>
                </a:cubicBezTo>
                <a:lnTo>
                  <a:pt x="32182" y="127189"/>
                </a:lnTo>
                <a:cubicBezTo>
                  <a:pt x="28805" y="130567"/>
                  <a:pt x="23319" y="130567"/>
                  <a:pt x="19942" y="127189"/>
                </a:cubicBezTo>
                <a:cubicBezTo>
                  <a:pt x="16564" y="123811"/>
                  <a:pt x="16564" y="118326"/>
                  <a:pt x="19942" y="114949"/>
                </a:cubicBezTo>
                <a:lnTo>
                  <a:pt x="65716" y="69174"/>
                </a:lnTo>
                <a:lnTo>
                  <a:pt x="19969" y="23400"/>
                </a:lnTo>
                <a:cubicBezTo>
                  <a:pt x="16591" y="20023"/>
                  <a:pt x="16591" y="14537"/>
                  <a:pt x="19969" y="11160"/>
                </a:cubicBezTo>
                <a:cubicBezTo>
                  <a:pt x="23346" y="7782"/>
                  <a:pt x="28832" y="7782"/>
                  <a:pt x="32209" y="11160"/>
                </a:cubicBezTo>
                <a:lnTo>
                  <a:pt x="84090" y="63041"/>
                </a:lnTo>
                <a:close/>
              </a:path>
            </a:pathLst>
          </a:custGeom>
          <a:solidFill>
            <a:srgbClr val="00A4B5"/>
          </a:solidFill>
          <a:ln/>
        </p:spPr>
      </p:sp>
      <p:sp>
        <p:nvSpPr>
          <p:cNvPr id="56" name="Text 54"/>
          <p:cNvSpPr/>
          <p:nvPr/>
        </p:nvSpPr>
        <p:spPr>
          <a:xfrm>
            <a:off x="6683010" y="6018069"/>
            <a:ext cx="2317345" cy="207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9" b="1" dirty="0">
                <a:solidFill>
                  <a:srgbClr val="3641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Query parameters</a:t>
            </a:r>
            <a:pPr>
              <a:lnSpc>
                <a:spcPct val="130000"/>
              </a:lnSpc>
            </a:pPr>
            <a:r>
              <a:rPr lang="en-US" sz="1089" dirty="0">
                <a:solidFill>
                  <a:srgbClr val="3641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presence or values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484134" y="6329354"/>
            <a:ext cx="86468" cy="138349"/>
          </a:xfrm>
          <a:custGeom>
            <a:avLst/>
            <a:gdLst/>
            <a:ahLst/>
            <a:cxnLst/>
            <a:rect l="l" t="t" r="r" b="b"/>
            <a:pathLst>
              <a:path w="86468" h="138349">
                <a:moveTo>
                  <a:pt x="84063" y="63068"/>
                </a:moveTo>
                <a:cubicBezTo>
                  <a:pt x="87441" y="66445"/>
                  <a:pt x="87441" y="71931"/>
                  <a:pt x="84063" y="75308"/>
                </a:cubicBezTo>
                <a:lnTo>
                  <a:pt x="32182" y="127189"/>
                </a:lnTo>
                <a:cubicBezTo>
                  <a:pt x="28805" y="130567"/>
                  <a:pt x="23319" y="130567"/>
                  <a:pt x="19942" y="127189"/>
                </a:cubicBezTo>
                <a:cubicBezTo>
                  <a:pt x="16564" y="123811"/>
                  <a:pt x="16564" y="118326"/>
                  <a:pt x="19942" y="114949"/>
                </a:cubicBezTo>
                <a:lnTo>
                  <a:pt x="65716" y="69174"/>
                </a:lnTo>
                <a:lnTo>
                  <a:pt x="19969" y="23400"/>
                </a:lnTo>
                <a:cubicBezTo>
                  <a:pt x="16591" y="20023"/>
                  <a:pt x="16591" y="14537"/>
                  <a:pt x="19969" y="11160"/>
                </a:cubicBezTo>
                <a:cubicBezTo>
                  <a:pt x="23346" y="7782"/>
                  <a:pt x="28832" y="7782"/>
                  <a:pt x="32209" y="11160"/>
                </a:cubicBezTo>
                <a:lnTo>
                  <a:pt x="84090" y="63041"/>
                </a:lnTo>
                <a:close/>
              </a:path>
            </a:pathLst>
          </a:custGeom>
          <a:solidFill>
            <a:srgbClr val="00A4B5"/>
          </a:solidFill>
          <a:ln/>
        </p:spPr>
      </p:sp>
      <p:sp>
        <p:nvSpPr>
          <p:cNvPr id="58" name="Text 56"/>
          <p:cNvSpPr/>
          <p:nvPr/>
        </p:nvSpPr>
        <p:spPr>
          <a:xfrm>
            <a:off x="6683010" y="6294767"/>
            <a:ext cx="1686128" cy="207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9" b="1" dirty="0">
                <a:solidFill>
                  <a:srgbClr val="3641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Hostname</a:t>
            </a:r>
            <a:pPr>
              <a:lnSpc>
                <a:spcPct val="130000"/>
              </a:lnSpc>
            </a:pPr>
            <a:r>
              <a:rPr lang="en-US" sz="1089" dirty="0">
                <a:solidFill>
                  <a:srgbClr val="3641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SSL settings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D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blog.cloudflare.com/fa8e8efb40a5a54149d416c20dfd6c35c76c0dc6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6601" r="6601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D1F2B"/>
              </a:gs>
              <a:gs pos="50000">
                <a:srgbClr val="1D1F2B">
                  <a:alpha val="9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2100383"/>
            <a:ext cx="1857375" cy="533400"/>
          </a:xfrm>
          <a:custGeom>
            <a:avLst/>
            <a:gdLst/>
            <a:ahLst/>
            <a:cxnLst/>
            <a:rect l="l" t="t" r="r" b="b"/>
            <a:pathLst>
              <a:path w="1857375" h="533400">
                <a:moveTo>
                  <a:pt x="76202" y="0"/>
                </a:moveTo>
                <a:lnTo>
                  <a:pt x="1781173" y="0"/>
                </a:lnTo>
                <a:cubicBezTo>
                  <a:pt x="1823258" y="0"/>
                  <a:pt x="1857375" y="34117"/>
                  <a:pt x="1857375" y="76202"/>
                </a:cubicBezTo>
                <a:lnTo>
                  <a:pt x="1857375" y="457198"/>
                </a:lnTo>
                <a:cubicBezTo>
                  <a:pt x="1857375" y="499283"/>
                  <a:pt x="1823258" y="533400"/>
                  <a:pt x="1781173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0A4B5"/>
          </a:solidFill>
          <a:ln/>
        </p:spPr>
      </p:sp>
      <p:sp>
        <p:nvSpPr>
          <p:cNvPr id="5" name="Text 2"/>
          <p:cNvSpPr/>
          <p:nvPr/>
        </p:nvSpPr>
        <p:spPr>
          <a:xfrm>
            <a:off x="609600" y="2237547"/>
            <a:ext cx="1511617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spc="9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06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862263"/>
            <a:ext cx="1171575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Practices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3805237"/>
            <a:ext cx="1524000" cy="38100"/>
          </a:xfrm>
          <a:custGeom>
            <a:avLst/>
            <a:gdLst/>
            <a:ahLst/>
            <a:cxnLst/>
            <a:rect l="l" t="t" r="r" b="b"/>
            <a:pathLst>
              <a:path w="1524000" h="38100">
                <a:moveTo>
                  <a:pt x="0" y="0"/>
                </a:moveTo>
                <a:lnTo>
                  <a:pt x="1524000" y="0"/>
                </a:lnTo>
                <a:lnTo>
                  <a:pt x="1524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A4B5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4148137"/>
            <a:ext cx="65151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Optimization strategies and recommendations for effective caching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0407" y="330407"/>
            <a:ext cx="11597268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b="1" spc="52" kern="0" dirty="0">
                <a:solidFill>
                  <a:srgbClr val="F481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OPTIMIZATION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0407" y="594732"/>
            <a:ext cx="11679870" cy="330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41" b="1" dirty="0">
                <a:solidFill>
                  <a:srgbClr val="1D1F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Caching Best Practices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30407" y="991220"/>
            <a:ext cx="11605528" cy="23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Strategies to maximize performance and minimize issues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6927" y="1354667"/>
            <a:ext cx="5666472" cy="1817236"/>
          </a:xfrm>
          <a:custGeom>
            <a:avLst/>
            <a:gdLst/>
            <a:ahLst/>
            <a:cxnLst/>
            <a:rect l="l" t="t" r="r" b="b"/>
            <a:pathLst>
              <a:path w="5666472" h="1817236">
                <a:moveTo>
                  <a:pt x="33041" y="0"/>
                </a:moveTo>
                <a:lnTo>
                  <a:pt x="5567341" y="0"/>
                </a:lnTo>
                <a:cubicBezTo>
                  <a:pt x="5622089" y="0"/>
                  <a:pt x="5666472" y="44382"/>
                  <a:pt x="5666472" y="99130"/>
                </a:cubicBezTo>
                <a:lnTo>
                  <a:pt x="5666472" y="1718106"/>
                </a:lnTo>
                <a:cubicBezTo>
                  <a:pt x="5666472" y="1772854"/>
                  <a:pt x="5622089" y="1817236"/>
                  <a:pt x="5567341" y="1817236"/>
                </a:cubicBezTo>
                <a:lnTo>
                  <a:pt x="33041" y="1817236"/>
                </a:lnTo>
                <a:cubicBezTo>
                  <a:pt x="14793" y="1817236"/>
                  <a:pt x="0" y="1802443"/>
                  <a:pt x="0" y="1784195"/>
                </a:cubicBezTo>
                <a:lnTo>
                  <a:pt x="0" y="33041"/>
                </a:lnTo>
                <a:cubicBezTo>
                  <a:pt x="0" y="14805"/>
                  <a:pt x="14805" y="0"/>
                  <a:pt x="33041" y="0"/>
                </a:cubicBezTo>
                <a:close/>
              </a:path>
            </a:pathLst>
          </a:custGeom>
          <a:gradFill rotWithShape="1" flip="none">
            <a:gsLst>
              <a:gs pos="0">
                <a:srgbClr val="F48120">
                  <a:alpha val="10000"/>
                </a:srgbClr>
              </a:gs>
              <a:gs pos="100000">
                <a:srgbClr val="F48120">
                  <a:alpha val="5000"/>
                </a:srgbClr>
              </a:gs>
            </a:gsLst>
            <a:lin ang="270000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346927" y="1354667"/>
            <a:ext cx="33041" cy="1817236"/>
          </a:xfrm>
          <a:custGeom>
            <a:avLst/>
            <a:gdLst/>
            <a:ahLst/>
            <a:cxnLst/>
            <a:rect l="l" t="t" r="r" b="b"/>
            <a:pathLst>
              <a:path w="33041" h="1817236">
                <a:moveTo>
                  <a:pt x="33041" y="0"/>
                </a:moveTo>
                <a:lnTo>
                  <a:pt x="33041" y="0"/>
                </a:lnTo>
                <a:lnTo>
                  <a:pt x="33041" y="1817236"/>
                </a:lnTo>
                <a:lnTo>
                  <a:pt x="33041" y="1817236"/>
                </a:lnTo>
                <a:cubicBezTo>
                  <a:pt x="14793" y="1817236"/>
                  <a:pt x="0" y="1802443"/>
                  <a:pt x="0" y="1784195"/>
                </a:cubicBezTo>
                <a:lnTo>
                  <a:pt x="0" y="33041"/>
                </a:lnTo>
                <a:cubicBezTo>
                  <a:pt x="0" y="14805"/>
                  <a:pt x="14805" y="0"/>
                  <a:pt x="33041" y="0"/>
                </a:cubicBez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7" name="Shape 5"/>
          <p:cNvSpPr/>
          <p:nvPr/>
        </p:nvSpPr>
        <p:spPr>
          <a:xfrm>
            <a:off x="528650" y="1519870"/>
            <a:ext cx="396488" cy="396488"/>
          </a:xfrm>
          <a:custGeom>
            <a:avLst/>
            <a:gdLst/>
            <a:ahLst/>
            <a:cxnLst/>
            <a:rect l="l" t="t" r="r" b="b"/>
            <a:pathLst>
              <a:path w="396488" h="396488">
                <a:moveTo>
                  <a:pt x="198244" y="0"/>
                </a:moveTo>
                <a:lnTo>
                  <a:pt x="198244" y="0"/>
                </a:lnTo>
                <a:cubicBezTo>
                  <a:pt x="307658" y="0"/>
                  <a:pt x="396488" y="88830"/>
                  <a:pt x="396488" y="198244"/>
                </a:cubicBezTo>
                <a:lnTo>
                  <a:pt x="396488" y="198244"/>
                </a:lnTo>
                <a:cubicBezTo>
                  <a:pt x="396488" y="307658"/>
                  <a:pt x="307658" y="396488"/>
                  <a:pt x="198244" y="396488"/>
                </a:cubicBezTo>
                <a:lnTo>
                  <a:pt x="198244" y="396488"/>
                </a:lnTo>
                <a:cubicBezTo>
                  <a:pt x="88830" y="396488"/>
                  <a:pt x="0" y="307658"/>
                  <a:pt x="0" y="198244"/>
                </a:cubicBezTo>
                <a:lnTo>
                  <a:pt x="0" y="198244"/>
                </a:lnTo>
                <a:cubicBezTo>
                  <a:pt x="0" y="88830"/>
                  <a:pt x="88830" y="0"/>
                  <a:pt x="198244" y="0"/>
                </a:cubicBez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8" name="Shape 6"/>
          <p:cNvSpPr/>
          <p:nvPr/>
        </p:nvSpPr>
        <p:spPr>
          <a:xfrm>
            <a:off x="633967" y="1635512"/>
            <a:ext cx="185854" cy="165203"/>
          </a:xfrm>
          <a:custGeom>
            <a:avLst/>
            <a:gdLst/>
            <a:ahLst/>
            <a:cxnLst/>
            <a:rect l="l" t="t" r="r" b="b"/>
            <a:pathLst>
              <a:path w="185854" h="165203">
                <a:moveTo>
                  <a:pt x="116417" y="387"/>
                </a:moveTo>
                <a:cubicBezTo>
                  <a:pt x="110931" y="-1194"/>
                  <a:pt x="105220" y="2001"/>
                  <a:pt x="103639" y="7486"/>
                </a:cubicBezTo>
                <a:lnTo>
                  <a:pt x="62338" y="152039"/>
                </a:lnTo>
                <a:cubicBezTo>
                  <a:pt x="60757" y="157524"/>
                  <a:pt x="63952" y="163235"/>
                  <a:pt x="69437" y="164816"/>
                </a:cubicBezTo>
                <a:cubicBezTo>
                  <a:pt x="74922" y="166397"/>
                  <a:pt x="80633" y="163203"/>
                  <a:pt x="82214" y="157717"/>
                </a:cubicBezTo>
                <a:lnTo>
                  <a:pt x="123515" y="13165"/>
                </a:lnTo>
                <a:cubicBezTo>
                  <a:pt x="125096" y="7679"/>
                  <a:pt x="121902" y="1968"/>
                  <a:pt x="116417" y="387"/>
                </a:cubicBezTo>
                <a:close/>
                <a:moveTo>
                  <a:pt x="137261" y="44302"/>
                </a:moveTo>
                <a:cubicBezTo>
                  <a:pt x="133227" y="48335"/>
                  <a:pt x="133227" y="54885"/>
                  <a:pt x="137261" y="58918"/>
                </a:cubicBezTo>
                <a:lnTo>
                  <a:pt x="160944" y="82602"/>
                </a:lnTo>
                <a:lnTo>
                  <a:pt x="137261" y="106285"/>
                </a:lnTo>
                <a:cubicBezTo>
                  <a:pt x="133227" y="110318"/>
                  <a:pt x="133227" y="116868"/>
                  <a:pt x="137261" y="120902"/>
                </a:cubicBezTo>
                <a:cubicBezTo>
                  <a:pt x="141294" y="124935"/>
                  <a:pt x="147844" y="124935"/>
                  <a:pt x="151877" y="120902"/>
                </a:cubicBezTo>
                <a:lnTo>
                  <a:pt x="182853" y="89926"/>
                </a:lnTo>
                <a:cubicBezTo>
                  <a:pt x="186886" y="85893"/>
                  <a:pt x="186886" y="79343"/>
                  <a:pt x="182853" y="75309"/>
                </a:cubicBezTo>
                <a:lnTo>
                  <a:pt x="151877" y="44334"/>
                </a:lnTo>
                <a:cubicBezTo>
                  <a:pt x="147844" y="40301"/>
                  <a:pt x="141294" y="40301"/>
                  <a:pt x="137261" y="44334"/>
                </a:cubicBezTo>
                <a:close/>
                <a:moveTo>
                  <a:pt x="48625" y="44302"/>
                </a:moveTo>
                <a:cubicBezTo>
                  <a:pt x="44592" y="40268"/>
                  <a:pt x="38042" y="40268"/>
                  <a:pt x="34009" y="44302"/>
                </a:cubicBezTo>
                <a:lnTo>
                  <a:pt x="3033" y="75277"/>
                </a:lnTo>
                <a:cubicBezTo>
                  <a:pt x="-1000" y="79310"/>
                  <a:pt x="-1000" y="85861"/>
                  <a:pt x="3033" y="89894"/>
                </a:cubicBezTo>
                <a:lnTo>
                  <a:pt x="34009" y="120869"/>
                </a:lnTo>
                <a:cubicBezTo>
                  <a:pt x="38042" y="124903"/>
                  <a:pt x="44592" y="124903"/>
                  <a:pt x="48625" y="120869"/>
                </a:cubicBezTo>
                <a:cubicBezTo>
                  <a:pt x="52659" y="116836"/>
                  <a:pt x="52659" y="110286"/>
                  <a:pt x="48625" y="106253"/>
                </a:cubicBezTo>
                <a:lnTo>
                  <a:pt x="24942" y="82602"/>
                </a:lnTo>
                <a:lnTo>
                  <a:pt x="48593" y="58918"/>
                </a:lnTo>
                <a:cubicBezTo>
                  <a:pt x="52626" y="54885"/>
                  <a:pt x="52626" y="48335"/>
                  <a:pt x="48593" y="4430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057301" y="1519870"/>
            <a:ext cx="4609171" cy="23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1" b="1" dirty="0">
                <a:solidFill>
                  <a:srgbClr val="1D1F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 Set Proper Cache-Control Headers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7301" y="1817236"/>
            <a:ext cx="4592650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dirty="0">
                <a:solidFill>
                  <a:srgbClr val="3641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Configure headers on your origin server to guide Cloudflare's caching decisions.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57301" y="2081561"/>
            <a:ext cx="4526569" cy="925138"/>
          </a:xfrm>
          <a:custGeom>
            <a:avLst/>
            <a:gdLst/>
            <a:ahLst/>
            <a:cxnLst/>
            <a:rect l="l" t="t" r="r" b="b"/>
            <a:pathLst>
              <a:path w="4526569" h="925138">
                <a:moveTo>
                  <a:pt x="66083" y="0"/>
                </a:moveTo>
                <a:lnTo>
                  <a:pt x="4460486" y="0"/>
                </a:lnTo>
                <a:cubicBezTo>
                  <a:pt x="4496983" y="0"/>
                  <a:pt x="4526569" y="29586"/>
                  <a:pt x="4526569" y="66083"/>
                </a:cubicBezTo>
                <a:lnTo>
                  <a:pt x="4526569" y="859056"/>
                </a:lnTo>
                <a:cubicBezTo>
                  <a:pt x="4526569" y="895552"/>
                  <a:pt x="4496983" y="925138"/>
                  <a:pt x="4460486" y="925138"/>
                </a:cubicBezTo>
                <a:lnTo>
                  <a:pt x="66083" y="925138"/>
                </a:lnTo>
                <a:cubicBezTo>
                  <a:pt x="29586" y="925138"/>
                  <a:pt x="0" y="895552"/>
                  <a:pt x="0" y="859056"/>
                </a:cubicBezTo>
                <a:lnTo>
                  <a:pt x="0" y="66083"/>
                </a:lnTo>
                <a:cubicBezTo>
                  <a:pt x="0" y="29611"/>
                  <a:pt x="29611" y="0"/>
                  <a:pt x="66083" y="0"/>
                </a:cubicBezTo>
                <a:close/>
              </a:path>
            </a:pathLst>
          </a:custGeom>
          <a:solidFill>
            <a:srgbClr val="1D1F2B"/>
          </a:solidFill>
          <a:ln/>
        </p:spPr>
      </p:sp>
      <p:sp>
        <p:nvSpPr>
          <p:cNvPr id="12" name="Text 10"/>
          <p:cNvSpPr/>
          <p:nvPr/>
        </p:nvSpPr>
        <p:spPr>
          <a:xfrm>
            <a:off x="1156423" y="2180683"/>
            <a:ext cx="4386146" cy="165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1" dirty="0">
                <a:solidFill>
                  <a:srgbClr val="00A4B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Dynamic content (HTML pages)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56423" y="2345886"/>
            <a:ext cx="4386146" cy="165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Cache-Control: max-age=0, must-revalidate, public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56423" y="2577171"/>
            <a:ext cx="4386146" cy="165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1" dirty="0">
                <a:solidFill>
                  <a:srgbClr val="F481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Static versioned assets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56423" y="2742374"/>
            <a:ext cx="4386146" cy="165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Cache-Control: public, max-age=31536000, immutable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46927" y="3304065"/>
            <a:ext cx="5666472" cy="1470309"/>
          </a:xfrm>
          <a:custGeom>
            <a:avLst/>
            <a:gdLst/>
            <a:ahLst/>
            <a:cxnLst/>
            <a:rect l="l" t="t" r="r" b="b"/>
            <a:pathLst>
              <a:path w="5666472" h="1470309">
                <a:moveTo>
                  <a:pt x="33041" y="0"/>
                </a:moveTo>
                <a:lnTo>
                  <a:pt x="5567343" y="0"/>
                </a:lnTo>
                <a:cubicBezTo>
                  <a:pt x="5622090" y="0"/>
                  <a:pt x="5666472" y="44381"/>
                  <a:pt x="5666472" y="99128"/>
                </a:cubicBezTo>
                <a:lnTo>
                  <a:pt x="5666472" y="1371181"/>
                </a:lnTo>
                <a:cubicBezTo>
                  <a:pt x="5666472" y="1425928"/>
                  <a:pt x="5622090" y="1470309"/>
                  <a:pt x="5567343" y="1470309"/>
                </a:cubicBezTo>
                <a:lnTo>
                  <a:pt x="33041" y="1470309"/>
                </a:lnTo>
                <a:cubicBezTo>
                  <a:pt x="14793" y="1470309"/>
                  <a:pt x="0" y="1455516"/>
                  <a:pt x="0" y="1437268"/>
                </a:cubicBezTo>
                <a:lnTo>
                  <a:pt x="0" y="33041"/>
                </a:lnTo>
                <a:cubicBezTo>
                  <a:pt x="0" y="14805"/>
                  <a:pt x="14805" y="0"/>
                  <a:pt x="33041" y="0"/>
                </a:cubicBezTo>
                <a:close/>
              </a:path>
            </a:pathLst>
          </a:custGeom>
          <a:gradFill rotWithShape="1" flip="none">
            <a:gsLst>
              <a:gs pos="0">
                <a:srgbClr val="00A4B5">
                  <a:alpha val="10000"/>
                </a:srgbClr>
              </a:gs>
              <a:gs pos="100000">
                <a:srgbClr val="00A4B5">
                  <a:alpha val="5000"/>
                </a:srgbClr>
              </a:gs>
            </a:gsLst>
            <a:lin ang="2700000" scaled="1"/>
          </a:gradFill>
          <a:ln/>
        </p:spPr>
      </p:sp>
      <p:sp>
        <p:nvSpPr>
          <p:cNvPr id="17" name="Shape 15"/>
          <p:cNvSpPr/>
          <p:nvPr/>
        </p:nvSpPr>
        <p:spPr>
          <a:xfrm>
            <a:off x="346927" y="3304065"/>
            <a:ext cx="33041" cy="1470309"/>
          </a:xfrm>
          <a:custGeom>
            <a:avLst/>
            <a:gdLst/>
            <a:ahLst/>
            <a:cxnLst/>
            <a:rect l="l" t="t" r="r" b="b"/>
            <a:pathLst>
              <a:path w="33041" h="1470309">
                <a:moveTo>
                  <a:pt x="33041" y="0"/>
                </a:moveTo>
                <a:lnTo>
                  <a:pt x="33041" y="0"/>
                </a:lnTo>
                <a:lnTo>
                  <a:pt x="33041" y="1470309"/>
                </a:lnTo>
                <a:lnTo>
                  <a:pt x="33041" y="1470309"/>
                </a:lnTo>
                <a:cubicBezTo>
                  <a:pt x="14793" y="1470309"/>
                  <a:pt x="0" y="1455516"/>
                  <a:pt x="0" y="1437268"/>
                </a:cubicBezTo>
                <a:lnTo>
                  <a:pt x="0" y="33041"/>
                </a:lnTo>
                <a:cubicBezTo>
                  <a:pt x="0" y="14805"/>
                  <a:pt x="14805" y="0"/>
                  <a:pt x="33041" y="0"/>
                </a:cubicBezTo>
                <a:close/>
              </a:path>
            </a:pathLst>
          </a:custGeom>
          <a:solidFill>
            <a:srgbClr val="00A4B5"/>
          </a:solidFill>
          <a:ln/>
        </p:spPr>
      </p:sp>
      <p:sp>
        <p:nvSpPr>
          <p:cNvPr id="18" name="Shape 16"/>
          <p:cNvSpPr/>
          <p:nvPr/>
        </p:nvSpPr>
        <p:spPr>
          <a:xfrm>
            <a:off x="528650" y="3469268"/>
            <a:ext cx="396488" cy="396488"/>
          </a:xfrm>
          <a:custGeom>
            <a:avLst/>
            <a:gdLst/>
            <a:ahLst/>
            <a:cxnLst/>
            <a:rect l="l" t="t" r="r" b="b"/>
            <a:pathLst>
              <a:path w="396488" h="396488">
                <a:moveTo>
                  <a:pt x="198244" y="0"/>
                </a:moveTo>
                <a:lnTo>
                  <a:pt x="198244" y="0"/>
                </a:lnTo>
                <a:cubicBezTo>
                  <a:pt x="307658" y="0"/>
                  <a:pt x="396488" y="88830"/>
                  <a:pt x="396488" y="198244"/>
                </a:cubicBezTo>
                <a:lnTo>
                  <a:pt x="396488" y="198244"/>
                </a:lnTo>
                <a:cubicBezTo>
                  <a:pt x="396488" y="307658"/>
                  <a:pt x="307658" y="396488"/>
                  <a:pt x="198244" y="396488"/>
                </a:cubicBezTo>
                <a:lnTo>
                  <a:pt x="198244" y="396488"/>
                </a:lnTo>
                <a:cubicBezTo>
                  <a:pt x="88830" y="396488"/>
                  <a:pt x="0" y="307658"/>
                  <a:pt x="0" y="198244"/>
                </a:cubicBezTo>
                <a:lnTo>
                  <a:pt x="0" y="198244"/>
                </a:lnTo>
                <a:cubicBezTo>
                  <a:pt x="0" y="88830"/>
                  <a:pt x="88830" y="0"/>
                  <a:pt x="198244" y="0"/>
                </a:cubicBezTo>
                <a:close/>
              </a:path>
            </a:pathLst>
          </a:custGeom>
          <a:solidFill>
            <a:srgbClr val="00A4B5"/>
          </a:solidFill>
          <a:ln/>
        </p:spPr>
      </p:sp>
      <p:sp>
        <p:nvSpPr>
          <p:cNvPr id="19" name="Shape 17"/>
          <p:cNvSpPr/>
          <p:nvPr/>
        </p:nvSpPr>
        <p:spPr>
          <a:xfrm>
            <a:off x="644293" y="3584911"/>
            <a:ext cx="165203" cy="165203"/>
          </a:xfrm>
          <a:custGeom>
            <a:avLst/>
            <a:gdLst/>
            <a:ahLst/>
            <a:cxnLst/>
            <a:rect l="l" t="t" r="r" b="b"/>
            <a:pathLst>
              <a:path w="165203" h="165203">
                <a:moveTo>
                  <a:pt x="10487" y="30976"/>
                </a:moveTo>
                <a:lnTo>
                  <a:pt x="10487" y="79214"/>
                </a:lnTo>
                <a:cubicBezTo>
                  <a:pt x="10487" y="84699"/>
                  <a:pt x="12648" y="89958"/>
                  <a:pt x="16520" y="93830"/>
                </a:cubicBezTo>
                <a:lnTo>
                  <a:pt x="78472" y="155782"/>
                </a:lnTo>
                <a:cubicBezTo>
                  <a:pt x="86538" y="163848"/>
                  <a:pt x="99606" y="163848"/>
                  <a:pt x="107673" y="155782"/>
                </a:cubicBezTo>
                <a:lnTo>
                  <a:pt x="155911" y="107543"/>
                </a:lnTo>
                <a:cubicBezTo>
                  <a:pt x="163977" y="99477"/>
                  <a:pt x="163977" y="86409"/>
                  <a:pt x="155911" y="78342"/>
                </a:cubicBezTo>
                <a:lnTo>
                  <a:pt x="93959" y="16391"/>
                </a:lnTo>
                <a:cubicBezTo>
                  <a:pt x="90087" y="12487"/>
                  <a:pt x="84860" y="10325"/>
                  <a:pt x="79375" y="10325"/>
                </a:cubicBezTo>
                <a:lnTo>
                  <a:pt x="31137" y="10325"/>
                </a:lnTo>
                <a:cubicBezTo>
                  <a:pt x="19747" y="10325"/>
                  <a:pt x="10487" y="19586"/>
                  <a:pt x="10487" y="30976"/>
                </a:cubicBezTo>
                <a:close/>
                <a:moveTo>
                  <a:pt x="46625" y="36138"/>
                </a:moveTo>
                <a:cubicBezTo>
                  <a:pt x="52323" y="36138"/>
                  <a:pt x="56950" y="40765"/>
                  <a:pt x="56950" y="46463"/>
                </a:cubicBezTo>
                <a:cubicBezTo>
                  <a:pt x="56950" y="52162"/>
                  <a:pt x="52323" y="56789"/>
                  <a:pt x="46625" y="56789"/>
                </a:cubicBezTo>
                <a:cubicBezTo>
                  <a:pt x="40926" y="56789"/>
                  <a:pt x="36300" y="52162"/>
                  <a:pt x="36300" y="46463"/>
                </a:cubicBezTo>
                <a:cubicBezTo>
                  <a:pt x="36300" y="40765"/>
                  <a:pt x="40926" y="36138"/>
                  <a:pt x="46625" y="3613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1057301" y="3469268"/>
            <a:ext cx="4402667" cy="23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1" b="1" dirty="0">
                <a:solidFill>
                  <a:srgbClr val="1D1F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 Version Your Static Assets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57301" y="3766634"/>
            <a:ext cx="4386146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dirty="0">
                <a:solidFill>
                  <a:srgbClr val="3641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versioned filenames to enable long cache times while allowing updates.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57301" y="4030959"/>
            <a:ext cx="4320065" cy="578211"/>
          </a:xfrm>
          <a:custGeom>
            <a:avLst/>
            <a:gdLst/>
            <a:ahLst/>
            <a:cxnLst/>
            <a:rect l="l" t="t" r="r" b="b"/>
            <a:pathLst>
              <a:path w="4320065" h="578211">
                <a:moveTo>
                  <a:pt x="66084" y="0"/>
                </a:moveTo>
                <a:lnTo>
                  <a:pt x="4253981" y="0"/>
                </a:lnTo>
                <a:cubicBezTo>
                  <a:pt x="4290478" y="0"/>
                  <a:pt x="4320065" y="29587"/>
                  <a:pt x="4320065" y="66084"/>
                </a:cubicBezTo>
                <a:lnTo>
                  <a:pt x="4320065" y="512128"/>
                </a:lnTo>
                <a:cubicBezTo>
                  <a:pt x="4320065" y="548625"/>
                  <a:pt x="4290478" y="578211"/>
                  <a:pt x="4253981" y="578211"/>
                </a:cubicBezTo>
                <a:lnTo>
                  <a:pt x="66084" y="578211"/>
                </a:lnTo>
                <a:cubicBezTo>
                  <a:pt x="29587" y="578211"/>
                  <a:pt x="0" y="548625"/>
                  <a:pt x="0" y="512128"/>
                </a:cubicBezTo>
                <a:lnTo>
                  <a:pt x="0" y="66084"/>
                </a:lnTo>
                <a:cubicBezTo>
                  <a:pt x="0" y="29611"/>
                  <a:pt x="29611" y="0"/>
                  <a:pt x="66084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23" name="Text 21"/>
          <p:cNvSpPr/>
          <p:nvPr/>
        </p:nvSpPr>
        <p:spPr>
          <a:xfrm>
            <a:off x="1156423" y="4149909"/>
            <a:ext cx="541247" cy="132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1" b="1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❌ Don't: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68243" y="4143294"/>
            <a:ext cx="693647" cy="132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1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styles.css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56423" y="4334924"/>
            <a:ext cx="4179642" cy="173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1" b="1" dirty="0">
                <a:solidFill>
                  <a:srgbClr val="00A6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Do:</a:t>
            </a:r>
            <a:pPr>
              <a:lnSpc>
                <a:spcPct val="120000"/>
              </a:lnSpc>
            </a:pPr>
            <a:r>
              <a:rPr lang="en-US" sz="911" dirty="0">
                <a:solidFill>
                  <a:srgbClr val="00A63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styles-v123.css</a:t>
            </a:r>
            <a:pPr>
              <a:lnSpc>
                <a:spcPct val="120000"/>
              </a:lnSpc>
            </a:pPr>
            <a:r>
              <a:rPr lang="en-US" sz="911" dirty="0">
                <a:solidFill>
                  <a:srgbClr val="00A6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or </a:t>
            </a:r>
            <a:pPr>
              <a:lnSpc>
                <a:spcPct val="120000"/>
              </a:lnSpc>
            </a:pPr>
            <a:r>
              <a:rPr lang="en-US" sz="911" dirty="0">
                <a:solidFill>
                  <a:srgbClr val="00A63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styles.a1b2c3.css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46927" y="4903229"/>
            <a:ext cx="5666472" cy="1222504"/>
          </a:xfrm>
          <a:custGeom>
            <a:avLst/>
            <a:gdLst/>
            <a:ahLst/>
            <a:cxnLst/>
            <a:rect l="l" t="t" r="r" b="b"/>
            <a:pathLst>
              <a:path w="5666472" h="1222504">
                <a:moveTo>
                  <a:pt x="33041" y="0"/>
                </a:moveTo>
                <a:lnTo>
                  <a:pt x="5567351" y="0"/>
                </a:lnTo>
                <a:cubicBezTo>
                  <a:pt x="5622094" y="0"/>
                  <a:pt x="5666472" y="44378"/>
                  <a:pt x="5666472" y="99121"/>
                </a:cubicBezTo>
                <a:lnTo>
                  <a:pt x="5666472" y="1123383"/>
                </a:lnTo>
                <a:cubicBezTo>
                  <a:pt x="5666472" y="1178126"/>
                  <a:pt x="5622094" y="1222504"/>
                  <a:pt x="5567351" y="1222504"/>
                </a:cubicBezTo>
                <a:lnTo>
                  <a:pt x="33041" y="1222504"/>
                </a:lnTo>
                <a:cubicBezTo>
                  <a:pt x="14793" y="1222504"/>
                  <a:pt x="0" y="1207711"/>
                  <a:pt x="0" y="1189463"/>
                </a:cubicBezTo>
                <a:lnTo>
                  <a:pt x="0" y="33041"/>
                </a:lnTo>
                <a:cubicBezTo>
                  <a:pt x="0" y="14805"/>
                  <a:pt x="14805" y="0"/>
                  <a:pt x="33041" y="0"/>
                </a:cubicBezTo>
                <a:close/>
              </a:path>
            </a:pathLst>
          </a:custGeom>
          <a:gradFill rotWithShape="1" flip="none">
            <a:gsLst>
              <a:gs pos="0">
                <a:srgbClr val="F48120">
                  <a:alpha val="10000"/>
                </a:srgbClr>
              </a:gs>
              <a:gs pos="100000">
                <a:srgbClr val="F48120">
                  <a:alpha val="5000"/>
                </a:srgbClr>
              </a:gs>
            </a:gsLst>
            <a:lin ang="2700000" scaled="1"/>
          </a:gradFill>
          <a:ln/>
        </p:spPr>
      </p:sp>
      <p:sp>
        <p:nvSpPr>
          <p:cNvPr id="27" name="Shape 25"/>
          <p:cNvSpPr/>
          <p:nvPr/>
        </p:nvSpPr>
        <p:spPr>
          <a:xfrm>
            <a:off x="346927" y="4903229"/>
            <a:ext cx="33041" cy="1222504"/>
          </a:xfrm>
          <a:custGeom>
            <a:avLst/>
            <a:gdLst/>
            <a:ahLst/>
            <a:cxnLst/>
            <a:rect l="l" t="t" r="r" b="b"/>
            <a:pathLst>
              <a:path w="33041" h="1222504">
                <a:moveTo>
                  <a:pt x="33041" y="0"/>
                </a:moveTo>
                <a:lnTo>
                  <a:pt x="33041" y="0"/>
                </a:lnTo>
                <a:lnTo>
                  <a:pt x="33041" y="1222504"/>
                </a:lnTo>
                <a:lnTo>
                  <a:pt x="33041" y="1222504"/>
                </a:lnTo>
                <a:cubicBezTo>
                  <a:pt x="14793" y="1222504"/>
                  <a:pt x="0" y="1207711"/>
                  <a:pt x="0" y="1189463"/>
                </a:cubicBezTo>
                <a:lnTo>
                  <a:pt x="0" y="33041"/>
                </a:lnTo>
                <a:cubicBezTo>
                  <a:pt x="0" y="14805"/>
                  <a:pt x="14805" y="0"/>
                  <a:pt x="33041" y="0"/>
                </a:cubicBez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28" name="Shape 26"/>
          <p:cNvSpPr/>
          <p:nvPr/>
        </p:nvSpPr>
        <p:spPr>
          <a:xfrm>
            <a:off x="528650" y="5068433"/>
            <a:ext cx="396488" cy="396488"/>
          </a:xfrm>
          <a:custGeom>
            <a:avLst/>
            <a:gdLst/>
            <a:ahLst/>
            <a:cxnLst/>
            <a:rect l="l" t="t" r="r" b="b"/>
            <a:pathLst>
              <a:path w="396488" h="396488">
                <a:moveTo>
                  <a:pt x="198244" y="0"/>
                </a:moveTo>
                <a:lnTo>
                  <a:pt x="198244" y="0"/>
                </a:lnTo>
                <a:cubicBezTo>
                  <a:pt x="307658" y="0"/>
                  <a:pt x="396488" y="88830"/>
                  <a:pt x="396488" y="198244"/>
                </a:cubicBezTo>
                <a:lnTo>
                  <a:pt x="396488" y="198244"/>
                </a:lnTo>
                <a:cubicBezTo>
                  <a:pt x="396488" y="307658"/>
                  <a:pt x="307658" y="396488"/>
                  <a:pt x="198244" y="396488"/>
                </a:cubicBezTo>
                <a:lnTo>
                  <a:pt x="198244" y="396488"/>
                </a:lnTo>
                <a:cubicBezTo>
                  <a:pt x="88830" y="396488"/>
                  <a:pt x="0" y="307658"/>
                  <a:pt x="0" y="198244"/>
                </a:cubicBezTo>
                <a:lnTo>
                  <a:pt x="0" y="198244"/>
                </a:lnTo>
                <a:cubicBezTo>
                  <a:pt x="0" y="88830"/>
                  <a:pt x="88830" y="0"/>
                  <a:pt x="198244" y="0"/>
                </a:cubicBez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29" name="Shape 27"/>
          <p:cNvSpPr/>
          <p:nvPr/>
        </p:nvSpPr>
        <p:spPr>
          <a:xfrm>
            <a:off x="644293" y="5184075"/>
            <a:ext cx="165203" cy="165203"/>
          </a:xfrm>
          <a:custGeom>
            <a:avLst/>
            <a:gdLst/>
            <a:ahLst/>
            <a:cxnLst/>
            <a:rect l="l" t="t" r="r" b="b"/>
            <a:pathLst>
              <a:path w="165203" h="165203">
                <a:moveTo>
                  <a:pt x="83086" y="8905"/>
                </a:moveTo>
                <a:cubicBezTo>
                  <a:pt x="82827" y="7163"/>
                  <a:pt x="81505" y="5743"/>
                  <a:pt x="79762" y="5485"/>
                </a:cubicBezTo>
                <a:cubicBezTo>
                  <a:pt x="72631" y="4485"/>
                  <a:pt x="65371" y="5776"/>
                  <a:pt x="58983" y="9164"/>
                </a:cubicBezTo>
                <a:lnTo>
                  <a:pt x="35106" y="21909"/>
                </a:lnTo>
                <a:cubicBezTo>
                  <a:pt x="28749" y="25297"/>
                  <a:pt x="23619" y="30621"/>
                  <a:pt x="20457" y="37106"/>
                </a:cubicBezTo>
                <a:lnTo>
                  <a:pt x="8615" y="61499"/>
                </a:lnTo>
                <a:cubicBezTo>
                  <a:pt x="5453" y="67985"/>
                  <a:pt x="4420" y="75342"/>
                  <a:pt x="5679" y="82440"/>
                </a:cubicBezTo>
                <a:lnTo>
                  <a:pt x="10357" y="109157"/>
                </a:lnTo>
                <a:cubicBezTo>
                  <a:pt x="11616" y="116288"/>
                  <a:pt x="15068" y="122805"/>
                  <a:pt x="20263" y="127839"/>
                </a:cubicBezTo>
                <a:lnTo>
                  <a:pt x="39720" y="146682"/>
                </a:lnTo>
                <a:cubicBezTo>
                  <a:pt x="44915" y="151716"/>
                  <a:pt x="51529" y="154943"/>
                  <a:pt x="58660" y="155943"/>
                </a:cubicBezTo>
                <a:lnTo>
                  <a:pt x="85441" y="159718"/>
                </a:lnTo>
                <a:cubicBezTo>
                  <a:pt x="92572" y="160718"/>
                  <a:pt x="99832" y="159428"/>
                  <a:pt x="106221" y="156040"/>
                </a:cubicBezTo>
                <a:lnTo>
                  <a:pt x="130098" y="143294"/>
                </a:lnTo>
                <a:cubicBezTo>
                  <a:pt x="136454" y="139907"/>
                  <a:pt x="141584" y="134583"/>
                  <a:pt x="144746" y="128065"/>
                </a:cubicBezTo>
                <a:lnTo>
                  <a:pt x="156588" y="103704"/>
                </a:lnTo>
                <a:cubicBezTo>
                  <a:pt x="159750" y="97218"/>
                  <a:pt x="160783" y="89862"/>
                  <a:pt x="159524" y="82763"/>
                </a:cubicBezTo>
                <a:cubicBezTo>
                  <a:pt x="159234" y="81053"/>
                  <a:pt x="157814" y="79762"/>
                  <a:pt x="156104" y="79504"/>
                </a:cubicBezTo>
                <a:cubicBezTo>
                  <a:pt x="139487" y="76858"/>
                  <a:pt x="126161" y="64307"/>
                  <a:pt x="122386" y="48077"/>
                </a:cubicBezTo>
                <a:cubicBezTo>
                  <a:pt x="121805" y="45624"/>
                  <a:pt x="119805" y="43753"/>
                  <a:pt x="117320" y="43366"/>
                </a:cubicBezTo>
                <a:cubicBezTo>
                  <a:pt x="99703" y="40559"/>
                  <a:pt x="85796" y="26587"/>
                  <a:pt x="83053" y="8905"/>
                </a:cubicBezTo>
                <a:close/>
                <a:moveTo>
                  <a:pt x="67114" y="46463"/>
                </a:moveTo>
                <a:cubicBezTo>
                  <a:pt x="72812" y="46463"/>
                  <a:pt x="77439" y="51090"/>
                  <a:pt x="77439" y="56789"/>
                </a:cubicBezTo>
                <a:cubicBezTo>
                  <a:pt x="77439" y="62487"/>
                  <a:pt x="72812" y="67114"/>
                  <a:pt x="67114" y="67114"/>
                </a:cubicBezTo>
                <a:cubicBezTo>
                  <a:pt x="61415" y="67114"/>
                  <a:pt x="56789" y="62487"/>
                  <a:pt x="56789" y="56789"/>
                </a:cubicBezTo>
                <a:cubicBezTo>
                  <a:pt x="56789" y="51090"/>
                  <a:pt x="61415" y="46463"/>
                  <a:pt x="67114" y="46463"/>
                </a:cubicBezTo>
                <a:close/>
                <a:moveTo>
                  <a:pt x="46463" y="108415"/>
                </a:moveTo>
                <a:cubicBezTo>
                  <a:pt x="46463" y="102716"/>
                  <a:pt x="51090" y="98089"/>
                  <a:pt x="56789" y="98089"/>
                </a:cubicBezTo>
                <a:cubicBezTo>
                  <a:pt x="62487" y="98089"/>
                  <a:pt x="67114" y="102716"/>
                  <a:pt x="67114" y="108415"/>
                </a:cubicBezTo>
                <a:cubicBezTo>
                  <a:pt x="67114" y="114113"/>
                  <a:pt x="62487" y="118740"/>
                  <a:pt x="56789" y="118740"/>
                </a:cubicBezTo>
                <a:cubicBezTo>
                  <a:pt x="51090" y="118740"/>
                  <a:pt x="46463" y="114113"/>
                  <a:pt x="46463" y="108415"/>
                </a:cubicBezTo>
                <a:close/>
                <a:moveTo>
                  <a:pt x="118740" y="87764"/>
                </a:moveTo>
                <a:cubicBezTo>
                  <a:pt x="124438" y="87764"/>
                  <a:pt x="129065" y="92391"/>
                  <a:pt x="129065" y="98089"/>
                </a:cubicBezTo>
                <a:cubicBezTo>
                  <a:pt x="129065" y="103788"/>
                  <a:pt x="124438" y="108415"/>
                  <a:pt x="118740" y="108415"/>
                </a:cubicBezTo>
                <a:cubicBezTo>
                  <a:pt x="113041" y="108415"/>
                  <a:pt x="108415" y="103788"/>
                  <a:pt x="108415" y="98089"/>
                </a:cubicBezTo>
                <a:cubicBezTo>
                  <a:pt x="108415" y="92391"/>
                  <a:pt x="113041" y="87764"/>
                  <a:pt x="118740" y="8776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1057301" y="5068433"/>
            <a:ext cx="4873496" cy="23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1" b="1" dirty="0">
                <a:solidFill>
                  <a:srgbClr val="1D1F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 Use Bypass Cache on Cookie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57301" y="5365798"/>
            <a:ext cx="4856976" cy="594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dirty="0">
                <a:solidFill>
                  <a:srgbClr val="3641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dynamic/personalized content, use </a:t>
            </a:r>
            <a:pPr>
              <a:lnSpc>
                <a:spcPct val="130000"/>
              </a:lnSpc>
            </a:pPr>
            <a:r>
              <a:rPr lang="en-US" sz="1041" b="1" dirty="0">
                <a:solidFill>
                  <a:srgbClr val="3641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Bypass Cache on Cookie</a:t>
            </a:r>
            <a:pPr>
              <a:lnSpc>
                <a:spcPct val="130000"/>
              </a:lnSpc>
            </a:pPr>
            <a:r>
              <a:rPr lang="en-US" sz="1041" dirty="0">
                <a:solidFill>
                  <a:srgbClr val="3641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skip caching when session cookies are present. Essential for e-commerce and logged-in user areas.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193264" y="1354667"/>
            <a:ext cx="5666472" cy="1552911"/>
          </a:xfrm>
          <a:custGeom>
            <a:avLst/>
            <a:gdLst/>
            <a:ahLst/>
            <a:cxnLst/>
            <a:rect l="l" t="t" r="r" b="b"/>
            <a:pathLst>
              <a:path w="5666472" h="1552911">
                <a:moveTo>
                  <a:pt x="33041" y="0"/>
                </a:moveTo>
                <a:lnTo>
                  <a:pt x="5567349" y="0"/>
                </a:lnTo>
                <a:cubicBezTo>
                  <a:pt x="5622093" y="0"/>
                  <a:pt x="5666472" y="44379"/>
                  <a:pt x="5666472" y="99122"/>
                </a:cubicBezTo>
                <a:lnTo>
                  <a:pt x="5666472" y="1453788"/>
                </a:lnTo>
                <a:cubicBezTo>
                  <a:pt x="5666472" y="1508532"/>
                  <a:pt x="5622093" y="1552911"/>
                  <a:pt x="5567349" y="1552911"/>
                </a:cubicBezTo>
                <a:lnTo>
                  <a:pt x="33041" y="1552911"/>
                </a:lnTo>
                <a:cubicBezTo>
                  <a:pt x="14793" y="1552911"/>
                  <a:pt x="0" y="1538118"/>
                  <a:pt x="0" y="1519870"/>
                </a:cubicBezTo>
                <a:lnTo>
                  <a:pt x="0" y="33041"/>
                </a:lnTo>
                <a:cubicBezTo>
                  <a:pt x="0" y="14805"/>
                  <a:pt x="14805" y="0"/>
                  <a:pt x="33041" y="0"/>
                </a:cubicBezTo>
                <a:close/>
              </a:path>
            </a:pathLst>
          </a:custGeom>
          <a:gradFill rotWithShape="1" flip="none">
            <a:gsLst>
              <a:gs pos="0">
                <a:srgbClr val="00A4B5">
                  <a:alpha val="10000"/>
                </a:srgbClr>
              </a:gs>
              <a:gs pos="100000">
                <a:srgbClr val="00A4B5">
                  <a:alpha val="5000"/>
                </a:srgbClr>
              </a:gs>
            </a:gsLst>
            <a:lin ang="2700000" scaled="1"/>
          </a:gradFill>
          <a:ln/>
        </p:spPr>
      </p:sp>
      <p:sp>
        <p:nvSpPr>
          <p:cNvPr id="33" name="Shape 31"/>
          <p:cNvSpPr/>
          <p:nvPr/>
        </p:nvSpPr>
        <p:spPr>
          <a:xfrm>
            <a:off x="6193264" y="1354667"/>
            <a:ext cx="33041" cy="1552911"/>
          </a:xfrm>
          <a:custGeom>
            <a:avLst/>
            <a:gdLst/>
            <a:ahLst/>
            <a:cxnLst/>
            <a:rect l="l" t="t" r="r" b="b"/>
            <a:pathLst>
              <a:path w="33041" h="1552911">
                <a:moveTo>
                  <a:pt x="33041" y="0"/>
                </a:moveTo>
                <a:lnTo>
                  <a:pt x="33041" y="0"/>
                </a:lnTo>
                <a:lnTo>
                  <a:pt x="33041" y="1552911"/>
                </a:lnTo>
                <a:lnTo>
                  <a:pt x="33041" y="1552911"/>
                </a:lnTo>
                <a:cubicBezTo>
                  <a:pt x="14793" y="1552911"/>
                  <a:pt x="0" y="1538118"/>
                  <a:pt x="0" y="1519870"/>
                </a:cubicBezTo>
                <a:lnTo>
                  <a:pt x="0" y="33041"/>
                </a:lnTo>
                <a:cubicBezTo>
                  <a:pt x="0" y="14805"/>
                  <a:pt x="14805" y="0"/>
                  <a:pt x="33041" y="0"/>
                </a:cubicBezTo>
                <a:close/>
              </a:path>
            </a:pathLst>
          </a:custGeom>
          <a:solidFill>
            <a:srgbClr val="00A4B5"/>
          </a:solidFill>
          <a:ln/>
        </p:spPr>
      </p:sp>
      <p:sp>
        <p:nvSpPr>
          <p:cNvPr id="34" name="Shape 32"/>
          <p:cNvSpPr/>
          <p:nvPr/>
        </p:nvSpPr>
        <p:spPr>
          <a:xfrm>
            <a:off x="6374987" y="1519870"/>
            <a:ext cx="396488" cy="396488"/>
          </a:xfrm>
          <a:custGeom>
            <a:avLst/>
            <a:gdLst/>
            <a:ahLst/>
            <a:cxnLst/>
            <a:rect l="l" t="t" r="r" b="b"/>
            <a:pathLst>
              <a:path w="396488" h="396488">
                <a:moveTo>
                  <a:pt x="198244" y="0"/>
                </a:moveTo>
                <a:lnTo>
                  <a:pt x="198244" y="0"/>
                </a:lnTo>
                <a:cubicBezTo>
                  <a:pt x="307658" y="0"/>
                  <a:pt x="396488" y="88830"/>
                  <a:pt x="396488" y="198244"/>
                </a:cubicBezTo>
                <a:lnTo>
                  <a:pt x="396488" y="198244"/>
                </a:lnTo>
                <a:cubicBezTo>
                  <a:pt x="396488" y="307658"/>
                  <a:pt x="307658" y="396488"/>
                  <a:pt x="198244" y="396488"/>
                </a:cubicBezTo>
                <a:lnTo>
                  <a:pt x="198244" y="396488"/>
                </a:lnTo>
                <a:cubicBezTo>
                  <a:pt x="88830" y="396488"/>
                  <a:pt x="0" y="307658"/>
                  <a:pt x="0" y="198244"/>
                </a:cubicBezTo>
                <a:lnTo>
                  <a:pt x="0" y="198244"/>
                </a:lnTo>
                <a:cubicBezTo>
                  <a:pt x="0" y="88830"/>
                  <a:pt x="88830" y="0"/>
                  <a:pt x="198244" y="0"/>
                </a:cubicBezTo>
                <a:close/>
              </a:path>
            </a:pathLst>
          </a:custGeom>
          <a:solidFill>
            <a:srgbClr val="00A4B5"/>
          </a:solidFill>
          <a:ln/>
        </p:spPr>
      </p:sp>
      <p:sp>
        <p:nvSpPr>
          <p:cNvPr id="35" name="Shape 33"/>
          <p:cNvSpPr/>
          <p:nvPr/>
        </p:nvSpPr>
        <p:spPr>
          <a:xfrm>
            <a:off x="6490629" y="1635512"/>
            <a:ext cx="165203" cy="165203"/>
          </a:xfrm>
          <a:custGeom>
            <a:avLst/>
            <a:gdLst/>
            <a:ahLst/>
            <a:cxnLst/>
            <a:rect l="l" t="t" r="r" b="b"/>
            <a:pathLst>
              <a:path w="165203" h="165203">
                <a:moveTo>
                  <a:pt x="20650" y="20650"/>
                </a:moveTo>
                <a:cubicBezTo>
                  <a:pt x="20650" y="14939"/>
                  <a:pt x="16036" y="10325"/>
                  <a:pt x="10325" y="10325"/>
                </a:cubicBezTo>
                <a:cubicBezTo>
                  <a:pt x="4614" y="10325"/>
                  <a:pt x="0" y="14939"/>
                  <a:pt x="0" y="20650"/>
                </a:cubicBezTo>
                <a:lnTo>
                  <a:pt x="0" y="129065"/>
                </a:lnTo>
                <a:cubicBezTo>
                  <a:pt x="0" y="143327"/>
                  <a:pt x="11551" y="154878"/>
                  <a:pt x="25813" y="154878"/>
                </a:cubicBezTo>
                <a:lnTo>
                  <a:pt x="154878" y="154878"/>
                </a:lnTo>
                <a:cubicBezTo>
                  <a:pt x="160589" y="154878"/>
                  <a:pt x="165203" y="150264"/>
                  <a:pt x="165203" y="144553"/>
                </a:cubicBezTo>
                <a:cubicBezTo>
                  <a:pt x="165203" y="138842"/>
                  <a:pt x="160589" y="134228"/>
                  <a:pt x="154878" y="134228"/>
                </a:cubicBezTo>
                <a:lnTo>
                  <a:pt x="25813" y="134228"/>
                </a:lnTo>
                <a:cubicBezTo>
                  <a:pt x="22974" y="134228"/>
                  <a:pt x="20650" y="131904"/>
                  <a:pt x="20650" y="129065"/>
                </a:cubicBezTo>
                <a:lnTo>
                  <a:pt x="20650" y="20650"/>
                </a:lnTo>
                <a:close/>
                <a:moveTo>
                  <a:pt x="151845" y="48593"/>
                </a:moveTo>
                <a:cubicBezTo>
                  <a:pt x="155878" y="44560"/>
                  <a:pt x="155878" y="38010"/>
                  <a:pt x="151845" y="33976"/>
                </a:cubicBezTo>
                <a:cubicBezTo>
                  <a:pt x="147812" y="29943"/>
                  <a:pt x="141262" y="29943"/>
                  <a:pt x="137228" y="33976"/>
                </a:cubicBezTo>
                <a:lnTo>
                  <a:pt x="103252" y="67985"/>
                </a:lnTo>
                <a:lnTo>
                  <a:pt x="84731" y="49496"/>
                </a:lnTo>
                <a:cubicBezTo>
                  <a:pt x="80698" y="45463"/>
                  <a:pt x="74148" y="45463"/>
                  <a:pt x="70115" y="49496"/>
                </a:cubicBezTo>
                <a:lnTo>
                  <a:pt x="39139" y="80472"/>
                </a:lnTo>
                <a:cubicBezTo>
                  <a:pt x="35106" y="84505"/>
                  <a:pt x="35106" y="91055"/>
                  <a:pt x="39139" y="95089"/>
                </a:cubicBezTo>
                <a:cubicBezTo>
                  <a:pt x="43172" y="99122"/>
                  <a:pt x="49722" y="99122"/>
                  <a:pt x="53756" y="95089"/>
                </a:cubicBezTo>
                <a:lnTo>
                  <a:pt x="77439" y="71405"/>
                </a:lnTo>
                <a:lnTo>
                  <a:pt x="95960" y="89926"/>
                </a:lnTo>
                <a:cubicBezTo>
                  <a:pt x="99993" y="93959"/>
                  <a:pt x="106543" y="93959"/>
                  <a:pt x="110576" y="89926"/>
                </a:cubicBezTo>
                <a:lnTo>
                  <a:pt x="151877" y="4862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6903638" y="1519870"/>
            <a:ext cx="3370146" cy="23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1" b="1" dirty="0">
                <a:solidFill>
                  <a:srgbClr val="1D1F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 Monitor Cache Hit Ratios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903638" y="1817236"/>
            <a:ext cx="3353626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dirty="0">
                <a:solidFill>
                  <a:srgbClr val="3641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Track your cache performance using Cloudflare Analytics: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928418" y="2114602"/>
            <a:ext cx="115642" cy="132163"/>
          </a:xfrm>
          <a:custGeom>
            <a:avLst/>
            <a:gdLst/>
            <a:ahLst/>
            <a:cxnLst/>
            <a:rect l="l" t="t" r="r" b="b"/>
            <a:pathLst>
              <a:path w="115642" h="132163">
                <a:moveTo>
                  <a:pt x="112235" y="18095"/>
                </a:moveTo>
                <a:cubicBezTo>
                  <a:pt x="115926" y="20779"/>
                  <a:pt x="116752" y="25942"/>
                  <a:pt x="114068" y="29633"/>
                </a:cubicBezTo>
                <a:lnTo>
                  <a:pt x="47986" y="120495"/>
                </a:lnTo>
                <a:cubicBezTo>
                  <a:pt x="46567" y="122457"/>
                  <a:pt x="44373" y="123670"/>
                  <a:pt x="41946" y="123877"/>
                </a:cubicBezTo>
                <a:cubicBezTo>
                  <a:pt x="39520" y="124083"/>
                  <a:pt x="37171" y="123180"/>
                  <a:pt x="35467" y="121476"/>
                </a:cubicBezTo>
                <a:lnTo>
                  <a:pt x="2426" y="88435"/>
                </a:lnTo>
                <a:cubicBezTo>
                  <a:pt x="-800" y="85209"/>
                  <a:pt x="-800" y="79969"/>
                  <a:pt x="2426" y="76742"/>
                </a:cubicBezTo>
                <a:cubicBezTo>
                  <a:pt x="5653" y="73515"/>
                  <a:pt x="10893" y="73515"/>
                  <a:pt x="14120" y="76742"/>
                </a:cubicBezTo>
                <a:lnTo>
                  <a:pt x="40320" y="102942"/>
                </a:lnTo>
                <a:lnTo>
                  <a:pt x="100722" y="19902"/>
                </a:lnTo>
                <a:cubicBezTo>
                  <a:pt x="103407" y="16211"/>
                  <a:pt x="108570" y="15385"/>
                  <a:pt x="112261" y="18069"/>
                </a:cubicBezTo>
                <a:close/>
              </a:path>
            </a:pathLst>
          </a:custGeom>
          <a:solidFill>
            <a:srgbClr val="00A4B5"/>
          </a:solidFill>
          <a:ln/>
        </p:spPr>
      </p:sp>
      <p:sp>
        <p:nvSpPr>
          <p:cNvPr id="39" name="Text 37"/>
          <p:cNvSpPr/>
          <p:nvPr/>
        </p:nvSpPr>
        <p:spPr>
          <a:xfrm>
            <a:off x="7134922" y="2081561"/>
            <a:ext cx="1676813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Aim for </a:t>
            </a:r>
            <a:pPr>
              <a:lnSpc>
                <a:spcPct val="130000"/>
              </a:lnSpc>
            </a:pPr>
            <a:r>
              <a:rPr lang="en-US" sz="1041" b="1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70%+ cache hit ratio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928418" y="2345886"/>
            <a:ext cx="115642" cy="132163"/>
          </a:xfrm>
          <a:custGeom>
            <a:avLst/>
            <a:gdLst/>
            <a:ahLst/>
            <a:cxnLst/>
            <a:rect l="l" t="t" r="r" b="b"/>
            <a:pathLst>
              <a:path w="115642" h="132163">
                <a:moveTo>
                  <a:pt x="112235" y="18095"/>
                </a:moveTo>
                <a:cubicBezTo>
                  <a:pt x="115926" y="20779"/>
                  <a:pt x="116752" y="25942"/>
                  <a:pt x="114068" y="29633"/>
                </a:cubicBezTo>
                <a:lnTo>
                  <a:pt x="47986" y="120495"/>
                </a:lnTo>
                <a:cubicBezTo>
                  <a:pt x="46567" y="122457"/>
                  <a:pt x="44373" y="123670"/>
                  <a:pt x="41946" y="123877"/>
                </a:cubicBezTo>
                <a:cubicBezTo>
                  <a:pt x="39520" y="124083"/>
                  <a:pt x="37171" y="123180"/>
                  <a:pt x="35467" y="121476"/>
                </a:cubicBezTo>
                <a:lnTo>
                  <a:pt x="2426" y="88435"/>
                </a:lnTo>
                <a:cubicBezTo>
                  <a:pt x="-800" y="85209"/>
                  <a:pt x="-800" y="79969"/>
                  <a:pt x="2426" y="76742"/>
                </a:cubicBezTo>
                <a:cubicBezTo>
                  <a:pt x="5653" y="73515"/>
                  <a:pt x="10893" y="73515"/>
                  <a:pt x="14120" y="76742"/>
                </a:cubicBezTo>
                <a:lnTo>
                  <a:pt x="40320" y="102942"/>
                </a:lnTo>
                <a:lnTo>
                  <a:pt x="100722" y="19902"/>
                </a:lnTo>
                <a:cubicBezTo>
                  <a:pt x="103407" y="16211"/>
                  <a:pt x="108570" y="15385"/>
                  <a:pt x="112261" y="18069"/>
                </a:cubicBezTo>
                <a:close/>
              </a:path>
            </a:pathLst>
          </a:custGeom>
          <a:solidFill>
            <a:srgbClr val="00A4B5"/>
          </a:solidFill>
          <a:ln/>
        </p:spPr>
      </p:sp>
      <p:sp>
        <p:nvSpPr>
          <p:cNvPr id="41" name="Text 39"/>
          <p:cNvSpPr/>
          <p:nvPr/>
        </p:nvSpPr>
        <p:spPr>
          <a:xfrm>
            <a:off x="7134922" y="2312846"/>
            <a:ext cx="1759415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Identify high cache miss URLs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928418" y="2577171"/>
            <a:ext cx="115642" cy="132163"/>
          </a:xfrm>
          <a:custGeom>
            <a:avLst/>
            <a:gdLst/>
            <a:ahLst/>
            <a:cxnLst/>
            <a:rect l="l" t="t" r="r" b="b"/>
            <a:pathLst>
              <a:path w="115642" h="132163">
                <a:moveTo>
                  <a:pt x="112235" y="18095"/>
                </a:moveTo>
                <a:cubicBezTo>
                  <a:pt x="115926" y="20779"/>
                  <a:pt x="116752" y="25942"/>
                  <a:pt x="114068" y="29633"/>
                </a:cubicBezTo>
                <a:lnTo>
                  <a:pt x="47986" y="120495"/>
                </a:lnTo>
                <a:cubicBezTo>
                  <a:pt x="46567" y="122457"/>
                  <a:pt x="44373" y="123670"/>
                  <a:pt x="41946" y="123877"/>
                </a:cubicBezTo>
                <a:cubicBezTo>
                  <a:pt x="39520" y="124083"/>
                  <a:pt x="37171" y="123180"/>
                  <a:pt x="35467" y="121476"/>
                </a:cubicBezTo>
                <a:lnTo>
                  <a:pt x="2426" y="88435"/>
                </a:lnTo>
                <a:cubicBezTo>
                  <a:pt x="-800" y="85209"/>
                  <a:pt x="-800" y="79969"/>
                  <a:pt x="2426" y="76742"/>
                </a:cubicBezTo>
                <a:cubicBezTo>
                  <a:pt x="5653" y="73515"/>
                  <a:pt x="10893" y="73515"/>
                  <a:pt x="14120" y="76742"/>
                </a:cubicBezTo>
                <a:lnTo>
                  <a:pt x="40320" y="102942"/>
                </a:lnTo>
                <a:lnTo>
                  <a:pt x="100722" y="19902"/>
                </a:lnTo>
                <a:cubicBezTo>
                  <a:pt x="103407" y="16211"/>
                  <a:pt x="108570" y="15385"/>
                  <a:pt x="112261" y="18069"/>
                </a:cubicBezTo>
                <a:close/>
              </a:path>
            </a:pathLst>
          </a:custGeom>
          <a:solidFill>
            <a:srgbClr val="00A4B5"/>
          </a:solidFill>
          <a:ln/>
        </p:spPr>
      </p:sp>
      <p:sp>
        <p:nvSpPr>
          <p:cNvPr id="43" name="Text 41"/>
          <p:cNvSpPr/>
          <p:nvPr/>
        </p:nvSpPr>
        <p:spPr>
          <a:xfrm>
            <a:off x="7134922" y="2544130"/>
            <a:ext cx="2040260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Optimize cache keys for better hits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193264" y="3039740"/>
            <a:ext cx="5666472" cy="1024260"/>
          </a:xfrm>
          <a:custGeom>
            <a:avLst/>
            <a:gdLst/>
            <a:ahLst/>
            <a:cxnLst/>
            <a:rect l="l" t="t" r="r" b="b"/>
            <a:pathLst>
              <a:path w="5666472" h="1024260">
                <a:moveTo>
                  <a:pt x="33041" y="0"/>
                </a:moveTo>
                <a:lnTo>
                  <a:pt x="5567354" y="0"/>
                </a:lnTo>
                <a:cubicBezTo>
                  <a:pt x="5622095" y="0"/>
                  <a:pt x="5666472" y="44376"/>
                  <a:pt x="5666472" y="99118"/>
                </a:cubicBezTo>
                <a:lnTo>
                  <a:pt x="5666472" y="925143"/>
                </a:lnTo>
                <a:cubicBezTo>
                  <a:pt x="5666472" y="979884"/>
                  <a:pt x="5622095" y="1024260"/>
                  <a:pt x="5567354" y="1024260"/>
                </a:cubicBezTo>
                <a:lnTo>
                  <a:pt x="33041" y="1024260"/>
                </a:lnTo>
                <a:cubicBezTo>
                  <a:pt x="14793" y="1024260"/>
                  <a:pt x="0" y="1009467"/>
                  <a:pt x="0" y="991220"/>
                </a:cubicBezTo>
                <a:lnTo>
                  <a:pt x="0" y="33041"/>
                </a:lnTo>
                <a:cubicBezTo>
                  <a:pt x="0" y="14805"/>
                  <a:pt x="14805" y="0"/>
                  <a:pt x="33041" y="0"/>
                </a:cubicBezTo>
                <a:close/>
              </a:path>
            </a:pathLst>
          </a:custGeom>
          <a:gradFill rotWithShape="1" flip="none">
            <a:gsLst>
              <a:gs pos="0">
                <a:srgbClr val="F48120">
                  <a:alpha val="10000"/>
                </a:srgbClr>
              </a:gs>
              <a:gs pos="100000">
                <a:srgbClr val="F48120">
                  <a:alpha val="5000"/>
                </a:srgbClr>
              </a:gs>
            </a:gsLst>
            <a:lin ang="2700000" scaled="1"/>
          </a:gradFill>
          <a:ln/>
        </p:spPr>
      </p:sp>
      <p:sp>
        <p:nvSpPr>
          <p:cNvPr id="45" name="Shape 43"/>
          <p:cNvSpPr/>
          <p:nvPr/>
        </p:nvSpPr>
        <p:spPr>
          <a:xfrm>
            <a:off x="6193264" y="3039740"/>
            <a:ext cx="33041" cy="1024260"/>
          </a:xfrm>
          <a:custGeom>
            <a:avLst/>
            <a:gdLst/>
            <a:ahLst/>
            <a:cxnLst/>
            <a:rect l="l" t="t" r="r" b="b"/>
            <a:pathLst>
              <a:path w="33041" h="1024260">
                <a:moveTo>
                  <a:pt x="33041" y="0"/>
                </a:moveTo>
                <a:lnTo>
                  <a:pt x="33041" y="0"/>
                </a:lnTo>
                <a:lnTo>
                  <a:pt x="33041" y="1024260"/>
                </a:lnTo>
                <a:lnTo>
                  <a:pt x="33041" y="1024260"/>
                </a:lnTo>
                <a:cubicBezTo>
                  <a:pt x="14793" y="1024260"/>
                  <a:pt x="0" y="1009467"/>
                  <a:pt x="0" y="991220"/>
                </a:cubicBezTo>
                <a:lnTo>
                  <a:pt x="0" y="33041"/>
                </a:lnTo>
                <a:cubicBezTo>
                  <a:pt x="0" y="14805"/>
                  <a:pt x="14805" y="0"/>
                  <a:pt x="33041" y="0"/>
                </a:cubicBez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46" name="Shape 44"/>
          <p:cNvSpPr/>
          <p:nvPr/>
        </p:nvSpPr>
        <p:spPr>
          <a:xfrm>
            <a:off x="6374987" y="3204943"/>
            <a:ext cx="396488" cy="396488"/>
          </a:xfrm>
          <a:custGeom>
            <a:avLst/>
            <a:gdLst/>
            <a:ahLst/>
            <a:cxnLst/>
            <a:rect l="l" t="t" r="r" b="b"/>
            <a:pathLst>
              <a:path w="396488" h="396488">
                <a:moveTo>
                  <a:pt x="198244" y="0"/>
                </a:moveTo>
                <a:lnTo>
                  <a:pt x="198244" y="0"/>
                </a:lnTo>
                <a:cubicBezTo>
                  <a:pt x="307658" y="0"/>
                  <a:pt x="396488" y="88830"/>
                  <a:pt x="396488" y="198244"/>
                </a:cubicBezTo>
                <a:lnTo>
                  <a:pt x="396488" y="198244"/>
                </a:lnTo>
                <a:cubicBezTo>
                  <a:pt x="396488" y="307658"/>
                  <a:pt x="307658" y="396488"/>
                  <a:pt x="198244" y="396488"/>
                </a:cubicBezTo>
                <a:lnTo>
                  <a:pt x="198244" y="396488"/>
                </a:lnTo>
                <a:cubicBezTo>
                  <a:pt x="88830" y="396488"/>
                  <a:pt x="0" y="307658"/>
                  <a:pt x="0" y="198244"/>
                </a:cubicBezTo>
                <a:lnTo>
                  <a:pt x="0" y="198244"/>
                </a:lnTo>
                <a:cubicBezTo>
                  <a:pt x="0" y="88830"/>
                  <a:pt x="88830" y="0"/>
                  <a:pt x="198244" y="0"/>
                </a:cubicBez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47" name="Shape 45"/>
          <p:cNvSpPr/>
          <p:nvPr/>
        </p:nvSpPr>
        <p:spPr>
          <a:xfrm>
            <a:off x="6469979" y="3320585"/>
            <a:ext cx="206504" cy="165203"/>
          </a:xfrm>
          <a:custGeom>
            <a:avLst/>
            <a:gdLst/>
            <a:ahLst/>
            <a:cxnLst/>
            <a:rect l="l" t="t" r="r" b="b"/>
            <a:pathLst>
              <a:path w="206504" h="165203">
                <a:moveTo>
                  <a:pt x="134195" y="67920"/>
                </a:moveTo>
                <a:cubicBezTo>
                  <a:pt x="138132" y="66856"/>
                  <a:pt x="142262" y="68727"/>
                  <a:pt x="144037" y="72373"/>
                </a:cubicBezTo>
                <a:lnTo>
                  <a:pt x="150038" y="84505"/>
                </a:lnTo>
                <a:cubicBezTo>
                  <a:pt x="153362" y="84957"/>
                  <a:pt x="156620" y="85861"/>
                  <a:pt x="159686" y="87119"/>
                </a:cubicBezTo>
                <a:lnTo>
                  <a:pt x="170979" y="79601"/>
                </a:lnTo>
                <a:cubicBezTo>
                  <a:pt x="174367" y="77342"/>
                  <a:pt x="178852" y="77794"/>
                  <a:pt x="181724" y="80666"/>
                </a:cubicBezTo>
                <a:lnTo>
                  <a:pt x="187919" y="86861"/>
                </a:lnTo>
                <a:cubicBezTo>
                  <a:pt x="190790" y="89732"/>
                  <a:pt x="191242" y="94250"/>
                  <a:pt x="188983" y="97605"/>
                </a:cubicBezTo>
                <a:lnTo>
                  <a:pt x="181465" y="108866"/>
                </a:lnTo>
                <a:cubicBezTo>
                  <a:pt x="182079" y="110383"/>
                  <a:pt x="182627" y="111964"/>
                  <a:pt x="183079" y="113610"/>
                </a:cubicBezTo>
                <a:cubicBezTo>
                  <a:pt x="183530" y="115255"/>
                  <a:pt x="183821" y="116868"/>
                  <a:pt x="184047" y="118514"/>
                </a:cubicBezTo>
                <a:lnTo>
                  <a:pt x="196211" y="124515"/>
                </a:lnTo>
                <a:cubicBezTo>
                  <a:pt x="199857" y="126322"/>
                  <a:pt x="201729" y="130452"/>
                  <a:pt x="200664" y="134357"/>
                </a:cubicBezTo>
                <a:lnTo>
                  <a:pt x="198405" y="142810"/>
                </a:lnTo>
                <a:cubicBezTo>
                  <a:pt x="197340" y="146715"/>
                  <a:pt x="193694" y="149361"/>
                  <a:pt x="189629" y="149102"/>
                </a:cubicBezTo>
                <a:lnTo>
                  <a:pt x="176077" y="148231"/>
                </a:lnTo>
                <a:cubicBezTo>
                  <a:pt x="174044" y="150845"/>
                  <a:pt x="171689" y="153265"/>
                  <a:pt x="169011" y="155330"/>
                </a:cubicBezTo>
                <a:lnTo>
                  <a:pt x="169882" y="168849"/>
                </a:lnTo>
                <a:cubicBezTo>
                  <a:pt x="170140" y="172915"/>
                  <a:pt x="167494" y="176593"/>
                  <a:pt x="163590" y="177626"/>
                </a:cubicBezTo>
                <a:lnTo>
                  <a:pt x="155136" y="179884"/>
                </a:lnTo>
                <a:cubicBezTo>
                  <a:pt x="151200" y="180949"/>
                  <a:pt x="147102" y="179078"/>
                  <a:pt x="145295" y="175432"/>
                </a:cubicBezTo>
                <a:lnTo>
                  <a:pt x="139293" y="163300"/>
                </a:lnTo>
                <a:cubicBezTo>
                  <a:pt x="135970" y="162848"/>
                  <a:pt x="132711" y="161944"/>
                  <a:pt x="129646" y="160686"/>
                </a:cubicBezTo>
                <a:lnTo>
                  <a:pt x="118353" y="168204"/>
                </a:lnTo>
                <a:cubicBezTo>
                  <a:pt x="114965" y="170463"/>
                  <a:pt x="110480" y="170011"/>
                  <a:pt x="107608" y="167139"/>
                </a:cubicBezTo>
                <a:lnTo>
                  <a:pt x="101413" y="160944"/>
                </a:lnTo>
                <a:cubicBezTo>
                  <a:pt x="98541" y="158072"/>
                  <a:pt x="98089" y="153587"/>
                  <a:pt x="100348" y="150199"/>
                </a:cubicBezTo>
                <a:lnTo>
                  <a:pt x="107866" y="138906"/>
                </a:lnTo>
                <a:cubicBezTo>
                  <a:pt x="107253" y="137390"/>
                  <a:pt x="106705" y="135809"/>
                  <a:pt x="106253" y="134163"/>
                </a:cubicBezTo>
                <a:cubicBezTo>
                  <a:pt x="105801" y="132518"/>
                  <a:pt x="105511" y="130872"/>
                  <a:pt x="105285" y="129259"/>
                </a:cubicBezTo>
                <a:lnTo>
                  <a:pt x="93120" y="123257"/>
                </a:lnTo>
                <a:cubicBezTo>
                  <a:pt x="89474" y="121450"/>
                  <a:pt x="87635" y="117320"/>
                  <a:pt x="88668" y="113416"/>
                </a:cubicBezTo>
                <a:lnTo>
                  <a:pt x="90926" y="104962"/>
                </a:lnTo>
                <a:cubicBezTo>
                  <a:pt x="91991" y="101058"/>
                  <a:pt x="95637" y="98412"/>
                  <a:pt x="99703" y="98670"/>
                </a:cubicBezTo>
                <a:lnTo>
                  <a:pt x="113222" y="99541"/>
                </a:lnTo>
                <a:cubicBezTo>
                  <a:pt x="115255" y="96928"/>
                  <a:pt x="117611" y="94508"/>
                  <a:pt x="120289" y="92443"/>
                </a:cubicBezTo>
                <a:lnTo>
                  <a:pt x="119417" y="78956"/>
                </a:lnTo>
                <a:cubicBezTo>
                  <a:pt x="119159" y="74890"/>
                  <a:pt x="121805" y="71212"/>
                  <a:pt x="125709" y="70179"/>
                </a:cubicBezTo>
                <a:lnTo>
                  <a:pt x="134163" y="67920"/>
                </a:lnTo>
                <a:close/>
                <a:moveTo>
                  <a:pt x="144682" y="109705"/>
                </a:moveTo>
                <a:cubicBezTo>
                  <a:pt x="136846" y="109714"/>
                  <a:pt x="130492" y="116083"/>
                  <a:pt x="130501" y="123919"/>
                </a:cubicBezTo>
                <a:cubicBezTo>
                  <a:pt x="130510" y="131754"/>
                  <a:pt x="136879" y="138108"/>
                  <a:pt x="144714" y="138100"/>
                </a:cubicBezTo>
                <a:cubicBezTo>
                  <a:pt x="152550" y="138091"/>
                  <a:pt x="158904" y="131722"/>
                  <a:pt x="158895" y="123886"/>
                </a:cubicBezTo>
                <a:cubicBezTo>
                  <a:pt x="158886" y="116051"/>
                  <a:pt x="152518" y="109696"/>
                  <a:pt x="144682" y="109705"/>
                </a:cubicBezTo>
                <a:close/>
                <a:moveTo>
                  <a:pt x="72567" y="-14681"/>
                </a:moveTo>
                <a:lnTo>
                  <a:pt x="81021" y="-12423"/>
                </a:lnTo>
                <a:cubicBezTo>
                  <a:pt x="84925" y="-11358"/>
                  <a:pt x="87571" y="-7679"/>
                  <a:pt x="87313" y="-3646"/>
                </a:cubicBezTo>
                <a:lnTo>
                  <a:pt x="86441" y="9841"/>
                </a:lnTo>
                <a:cubicBezTo>
                  <a:pt x="89119" y="11906"/>
                  <a:pt x="91475" y="14294"/>
                  <a:pt x="93508" y="16940"/>
                </a:cubicBezTo>
                <a:lnTo>
                  <a:pt x="107059" y="16069"/>
                </a:lnTo>
                <a:cubicBezTo>
                  <a:pt x="111093" y="15810"/>
                  <a:pt x="114771" y="18456"/>
                  <a:pt x="115836" y="22361"/>
                </a:cubicBezTo>
                <a:lnTo>
                  <a:pt x="118095" y="30814"/>
                </a:lnTo>
                <a:cubicBezTo>
                  <a:pt x="119127" y="34718"/>
                  <a:pt x="117288" y="38849"/>
                  <a:pt x="113642" y="40655"/>
                </a:cubicBezTo>
                <a:lnTo>
                  <a:pt x="101477" y="46657"/>
                </a:lnTo>
                <a:cubicBezTo>
                  <a:pt x="101252" y="48303"/>
                  <a:pt x="100929" y="49948"/>
                  <a:pt x="100509" y="51561"/>
                </a:cubicBezTo>
                <a:cubicBezTo>
                  <a:pt x="100090" y="53175"/>
                  <a:pt x="99509" y="54788"/>
                  <a:pt x="98896" y="56305"/>
                </a:cubicBezTo>
                <a:lnTo>
                  <a:pt x="106414" y="67598"/>
                </a:lnTo>
                <a:cubicBezTo>
                  <a:pt x="108673" y="70986"/>
                  <a:pt x="108221" y="75471"/>
                  <a:pt x="105349" y="78342"/>
                </a:cubicBezTo>
                <a:lnTo>
                  <a:pt x="99154" y="84538"/>
                </a:lnTo>
                <a:cubicBezTo>
                  <a:pt x="96283" y="87409"/>
                  <a:pt x="91798" y="87861"/>
                  <a:pt x="88410" y="85602"/>
                </a:cubicBezTo>
                <a:lnTo>
                  <a:pt x="77116" y="78084"/>
                </a:lnTo>
                <a:cubicBezTo>
                  <a:pt x="74051" y="79343"/>
                  <a:pt x="70792" y="80246"/>
                  <a:pt x="67469" y="80698"/>
                </a:cubicBezTo>
                <a:lnTo>
                  <a:pt x="61467" y="92830"/>
                </a:lnTo>
                <a:cubicBezTo>
                  <a:pt x="59660" y="96476"/>
                  <a:pt x="55530" y="98315"/>
                  <a:pt x="51626" y="97283"/>
                </a:cubicBezTo>
                <a:lnTo>
                  <a:pt x="43172" y="95024"/>
                </a:lnTo>
                <a:cubicBezTo>
                  <a:pt x="39236" y="93959"/>
                  <a:pt x="36622" y="90281"/>
                  <a:pt x="36880" y="86248"/>
                </a:cubicBezTo>
                <a:lnTo>
                  <a:pt x="37752" y="72728"/>
                </a:lnTo>
                <a:cubicBezTo>
                  <a:pt x="35073" y="70663"/>
                  <a:pt x="32718" y="68275"/>
                  <a:pt x="30685" y="65630"/>
                </a:cubicBezTo>
                <a:lnTo>
                  <a:pt x="17133" y="66501"/>
                </a:lnTo>
                <a:cubicBezTo>
                  <a:pt x="13100" y="66759"/>
                  <a:pt x="9422" y="64113"/>
                  <a:pt x="8357" y="60209"/>
                </a:cubicBezTo>
                <a:lnTo>
                  <a:pt x="6098" y="51755"/>
                </a:lnTo>
                <a:cubicBezTo>
                  <a:pt x="5066" y="47851"/>
                  <a:pt x="6905" y="43721"/>
                  <a:pt x="10551" y="41914"/>
                </a:cubicBezTo>
                <a:lnTo>
                  <a:pt x="22715" y="35912"/>
                </a:lnTo>
                <a:cubicBezTo>
                  <a:pt x="22941" y="34267"/>
                  <a:pt x="23264" y="32653"/>
                  <a:pt x="23683" y="31008"/>
                </a:cubicBezTo>
                <a:cubicBezTo>
                  <a:pt x="24135" y="29362"/>
                  <a:pt x="24651" y="27781"/>
                  <a:pt x="25297" y="26265"/>
                </a:cubicBezTo>
                <a:lnTo>
                  <a:pt x="17779" y="15004"/>
                </a:lnTo>
                <a:cubicBezTo>
                  <a:pt x="15520" y="11616"/>
                  <a:pt x="15972" y="7131"/>
                  <a:pt x="18843" y="4259"/>
                </a:cubicBezTo>
                <a:lnTo>
                  <a:pt x="25039" y="-1936"/>
                </a:lnTo>
                <a:cubicBezTo>
                  <a:pt x="27910" y="-4808"/>
                  <a:pt x="32395" y="-5259"/>
                  <a:pt x="35783" y="-3001"/>
                </a:cubicBezTo>
                <a:lnTo>
                  <a:pt x="47076" y="4517"/>
                </a:lnTo>
                <a:cubicBezTo>
                  <a:pt x="50142" y="3259"/>
                  <a:pt x="53401" y="2355"/>
                  <a:pt x="56724" y="1904"/>
                </a:cubicBezTo>
                <a:lnTo>
                  <a:pt x="62726" y="-10228"/>
                </a:lnTo>
                <a:cubicBezTo>
                  <a:pt x="64533" y="-13874"/>
                  <a:pt x="68630" y="-15714"/>
                  <a:pt x="72567" y="-14681"/>
                </a:cubicBezTo>
                <a:close/>
                <a:moveTo>
                  <a:pt x="62080" y="27104"/>
                </a:moveTo>
                <a:cubicBezTo>
                  <a:pt x="54245" y="27104"/>
                  <a:pt x="47883" y="33465"/>
                  <a:pt x="47883" y="41301"/>
                </a:cubicBezTo>
                <a:cubicBezTo>
                  <a:pt x="47883" y="49136"/>
                  <a:pt x="54245" y="55498"/>
                  <a:pt x="62080" y="55498"/>
                </a:cubicBezTo>
                <a:cubicBezTo>
                  <a:pt x="69916" y="55498"/>
                  <a:pt x="76277" y="49136"/>
                  <a:pt x="76277" y="41301"/>
                </a:cubicBezTo>
                <a:cubicBezTo>
                  <a:pt x="76277" y="33465"/>
                  <a:pt x="69916" y="27104"/>
                  <a:pt x="62080" y="2710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6903638" y="3204943"/>
            <a:ext cx="4873496" cy="23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1" b="1" dirty="0">
                <a:solidFill>
                  <a:srgbClr val="1D1F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5. Use Standard Cache Level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903638" y="3502309"/>
            <a:ext cx="4856976" cy="396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dirty="0">
                <a:solidFill>
                  <a:srgbClr val="3641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dynamic sites, use </a:t>
            </a:r>
            <a:pPr>
              <a:lnSpc>
                <a:spcPct val="130000"/>
              </a:lnSpc>
            </a:pPr>
            <a:r>
              <a:rPr lang="en-US" sz="1041" b="1" dirty="0">
                <a:solidFill>
                  <a:srgbClr val="3641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Standard</a:t>
            </a:r>
            <a:pPr>
              <a:lnSpc>
                <a:spcPct val="130000"/>
              </a:lnSpc>
            </a:pPr>
            <a:r>
              <a:rPr lang="en-US" sz="1041" dirty="0">
                <a:solidFill>
                  <a:srgbClr val="3641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cache level to ensure query string variations are cached separately. Prevents serving wrong content when parameters affect output.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193264" y="4196163"/>
            <a:ext cx="5666472" cy="1552911"/>
          </a:xfrm>
          <a:custGeom>
            <a:avLst/>
            <a:gdLst/>
            <a:ahLst/>
            <a:cxnLst/>
            <a:rect l="l" t="t" r="r" b="b"/>
            <a:pathLst>
              <a:path w="5666472" h="1552911">
                <a:moveTo>
                  <a:pt x="33041" y="0"/>
                </a:moveTo>
                <a:lnTo>
                  <a:pt x="5567349" y="0"/>
                </a:lnTo>
                <a:cubicBezTo>
                  <a:pt x="5622093" y="0"/>
                  <a:pt x="5666472" y="44379"/>
                  <a:pt x="5666472" y="99122"/>
                </a:cubicBezTo>
                <a:lnTo>
                  <a:pt x="5666472" y="1453788"/>
                </a:lnTo>
                <a:cubicBezTo>
                  <a:pt x="5666472" y="1508532"/>
                  <a:pt x="5622093" y="1552911"/>
                  <a:pt x="5567349" y="1552911"/>
                </a:cubicBezTo>
                <a:lnTo>
                  <a:pt x="33041" y="1552911"/>
                </a:lnTo>
                <a:cubicBezTo>
                  <a:pt x="14793" y="1552911"/>
                  <a:pt x="0" y="1538118"/>
                  <a:pt x="0" y="1519870"/>
                </a:cubicBezTo>
                <a:lnTo>
                  <a:pt x="0" y="33041"/>
                </a:lnTo>
                <a:cubicBezTo>
                  <a:pt x="0" y="14805"/>
                  <a:pt x="14805" y="0"/>
                  <a:pt x="33041" y="0"/>
                </a:cubicBezTo>
                <a:close/>
              </a:path>
            </a:pathLst>
          </a:custGeom>
          <a:gradFill rotWithShape="1" flip="none">
            <a:gsLst>
              <a:gs pos="0">
                <a:srgbClr val="00A4B5">
                  <a:alpha val="10000"/>
                </a:srgbClr>
              </a:gs>
              <a:gs pos="100000">
                <a:srgbClr val="00A4B5">
                  <a:alpha val="5000"/>
                </a:srgbClr>
              </a:gs>
            </a:gsLst>
            <a:lin ang="2700000" scaled="1"/>
          </a:gradFill>
          <a:ln/>
        </p:spPr>
      </p:sp>
      <p:sp>
        <p:nvSpPr>
          <p:cNvPr id="51" name="Shape 49"/>
          <p:cNvSpPr/>
          <p:nvPr/>
        </p:nvSpPr>
        <p:spPr>
          <a:xfrm>
            <a:off x="6193264" y="4196163"/>
            <a:ext cx="33041" cy="1552911"/>
          </a:xfrm>
          <a:custGeom>
            <a:avLst/>
            <a:gdLst/>
            <a:ahLst/>
            <a:cxnLst/>
            <a:rect l="l" t="t" r="r" b="b"/>
            <a:pathLst>
              <a:path w="33041" h="1552911">
                <a:moveTo>
                  <a:pt x="33041" y="0"/>
                </a:moveTo>
                <a:lnTo>
                  <a:pt x="33041" y="0"/>
                </a:lnTo>
                <a:lnTo>
                  <a:pt x="33041" y="1552911"/>
                </a:lnTo>
                <a:lnTo>
                  <a:pt x="33041" y="1552911"/>
                </a:lnTo>
                <a:cubicBezTo>
                  <a:pt x="14793" y="1552911"/>
                  <a:pt x="0" y="1538118"/>
                  <a:pt x="0" y="1519870"/>
                </a:cubicBezTo>
                <a:lnTo>
                  <a:pt x="0" y="33041"/>
                </a:lnTo>
                <a:cubicBezTo>
                  <a:pt x="0" y="14805"/>
                  <a:pt x="14805" y="0"/>
                  <a:pt x="33041" y="0"/>
                </a:cubicBezTo>
                <a:close/>
              </a:path>
            </a:pathLst>
          </a:custGeom>
          <a:solidFill>
            <a:srgbClr val="00A4B5"/>
          </a:solidFill>
          <a:ln/>
        </p:spPr>
      </p:sp>
      <p:sp>
        <p:nvSpPr>
          <p:cNvPr id="52" name="Shape 50"/>
          <p:cNvSpPr/>
          <p:nvPr/>
        </p:nvSpPr>
        <p:spPr>
          <a:xfrm>
            <a:off x="6374987" y="4361366"/>
            <a:ext cx="396488" cy="396488"/>
          </a:xfrm>
          <a:custGeom>
            <a:avLst/>
            <a:gdLst/>
            <a:ahLst/>
            <a:cxnLst/>
            <a:rect l="l" t="t" r="r" b="b"/>
            <a:pathLst>
              <a:path w="396488" h="396488">
                <a:moveTo>
                  <a:pt x="198244" y="0"/>
                </a:moveTo>
                <a:lnTo>
                  <a:pt x="198244" y="0"/>
                </a:lnTo>
                <a:cubicBezTo>
                  <a:pt x="307658" y="0"/>
                  <a:pt x="396488" y="88830"/>
                  <a:pt x="396488" y="198244"/>
                </a:cubicBezTo>
                <a:lnTo>
                  <a:pt x="396488" y="198244"/>
                </a:lnTo>
                <a:cubicBezTo>
                  <a:pt x="396488" y="307658"/>
                  <a:pt x="307658" y="396488"/>
                  <a:pt x="198244" y="396488"/>
                </a:cubicBezTo>
                <a:lnTo>
                  <a:pt x="198244" y="396488"/>
                </a:lnTo>
                <a:cubicBezTo>
                  <a:pt x="88830" y="396488"/>
                  <a:pt x="0" y="307658"/>
                  <a:pt x="0" y="198244"/>
                </a:cubicBezTo>
                <a:lnTo>
                  <a:pt x="0" y="198244"/>
                </a:lnTo>
                <a:cubicBezTo>
                  <a:pt x="0" y="88830"/>
                  <a:pt x="88830" y="0"/>
                  <a:pt x="198244" y="0"/>
                </a:cubicBezTo>
                <a:close/>
              </a:path>
            </a:pathLst>
          </a:custGeom>
          <a:solidFill>
            <a:srgbClr val="00A4B5"/>
          </a:solidFill>
          <a:ln/>
        </p:spPr>
      </p:sp>
      <p:sp>
        <p:nvSpPr>
          <p:cNvPr id="53" name="Shape 51"/>
          <p:cNvSpPr/>
          <p:nvPr/>
        </p:nvSpPr>
        <p:spPr>
          <a:xfrm>
            <a:off x="6490629" y="4477008"/>
            <a:ext cx="165203" cy="165203"/>
          </a:xfrm>
          <a:custGeom>
            <a:avLst/>
            <a:gdLst/>
            <a:ahLst/>
            <a:cxnLst/>
            <a:rect l="l" t="t" r="r" b="b"/>
            <a:pathLst>
              <a:path w="165203" h="165203">
                <a:moveTo>
                  <a:pt x="110544" y="3033"/>
                </a:moveTo>
                <a:cubicBezTo>
                  <a:pt x="106511" y="-1000"/>
                  <a:pt x="99961" y="-1000"/>
                  <a:pt x="95928" y="3033"/>
                </a:cubicBezTo>
                <a:cubicBezTo>
                  <a:pt x="91894" y="7066"/>
                  <a:pt x="91894" y="13616"/>
                  <a:pt x="95928" y="17650"/>
                </a:cubicBezTo>
                <a:lnTo>
                  <a:pt x="98961" y="20650"/>
                </a:lnTo>
                <a:lnTo>
                  <a:pt x="9067" y="110544"/>
                </a:lnTo>
                <a:cubicBezTo>
                  <a:pt x="3259" y="116352"/>
                  <a:pt x="0" y="124225"/>
                  <a:pt x="0" y="132453"/>
                </a:cubicBezTo>
                <a:lnTo>
                  <a:pt x="0" y="134228"/>
                </a:lnTo>
                <a:cubicBezTo>
                  <a:pt x="0" y="151329"/>
                  <a:pt x="13874" y="165203"/>
                  <a:pt x="30976" y="165203"/>
                </a:cubicBezTo>
                <a:lnTo>
                  <a:pt x="32750" y="165203"/>
                </a:lnTo>
                <a:cubicBezTo>
                  <a:pt x="40978" y="165203"/>
                  <a:pt x="48851" y="161944"/>
                  <a:pt x="54659" y="156136"/>
                </a:cubicBezTo>
                <a:lnTo>
                  <a:pt x="144553" y="66243"/>
                </a:lnTo>
                <a:lnTo>
                  <a:pt x="147586" y="69276"/>
                </a:lnTo>
                <a:cubicBezTo>
                  <a:pt x="151619" y="73309"/>
                  <a:pt x="158169" y="73309"/>
                  <a:pt x="162202" y="69276"/>
                </a:cubicBezTo>
                <a:cubicBezTo>
                  <a:pt x="166236" y="65242"/>
                  <a:pt x="166236" y="58692"/>
                  <a:pt x="162202" y="54659"/>
                </a:cubicBezTo>
                <a:lnTo>
                  <a:pt x="110576" y="3033"/>
                </a:lnTo>
                <a:close/>
                <a:moveTo>
                  <a:pt x="66243" y="82602"/>
                </a:moveTo>
                <a:lnTo>
                  <a:pt x="113577" y="35267"/>
                </a:lnTo>
                <a:lnTo>
                  <a:pt x="129936" y="51626"/>
                </a:lnTo>
                <a:lnTo>
                  <a:pt x="98961" y="82602"/>
                </a:lnTo>
                <a:lnTo>
                  <a:pt x="66210" y="8260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4" name="Text 52"/>
          <p:cNvSpPr/>
          <p:nvPr/>
        </p:nvSpPr>
        <p:spPr>
          <a:xfrm>
            <a:off x="6903638" y="4361366"/>
            <a:ext cx="2866276" cy="23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1" b="1" dirty="0">
                <a:solidFill>
                  <a:srgbClr val="1D1F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6. Test Your Configuration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903638" y="4658732"/>
            <a:ext cx="2849756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dirty="0">
                <a:solidFill>
                  <a:srgbClr val="3641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Verify caching is working as expected: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928418" y="4956098"/>
            <a:ext cx="115642" cy="132163"/>
          </a:xfrm>
          <a:custGeom>
            <a:avLst/>
            <a:gdLst/>
            <a:ahLst/>
            <a:cxnLst/>
            <a:rect l="l" t="t" r="r" b="b"/>
            <a:pathLst>
              <a:path w="115642" h="132163">
                <a:moveTo>
                  <a:pt x="112235" y="18095"/>
                </a:moveTo>
                <a:cubicBezTo>
                  <a:pt x="115926" y="20779"/>
                  <a:pt x="116752" y="25942"/>
                  <a:pt x="114068" y="29633"/>
                </a:cubicBezTo>
                <a:lnTo>
                  <a:pt x="47986" y="120495"/>
                </a:lnTo>
                <a:cubicBezTo>
                  <a:pt x="46567" y="122457"/>
                  <a:pt x="44373" y="123670"/>
                  <a:pt x="41946" y="123877"/>
                </a:cubicBezTo>
                <a:cubicBezTo>
                  <a:pt x="39520" y="124083"/>
                  <a:pt x="37171" y="123180"/>
                  <a:pt x="35467" y="121476"/>
                </a:cubicBezTo>
                <a:lnTo>
                  <a:pt x="2426" y="88435"/>
                </a:lnTo>
                <a:cubicBezTo>
                  <a:pt x="-800" y="85209"/>
                  <a:pt x="-800" y="79969"/>
                  <a:pt x="2426" y="76742"/>
                </a:cubicBezTo>
                <a:cubicBezTo>
                  <a:pt x="5653" y="73515"/>
                  <a:pt x="10893" y="73515"/>
                  <a:pt x="14120" y="76742"/>
                </a:cubicBezTo>
                <a:lnTo>
                  <a:pt x="40320" y="102942"/>
                </a:lnTo>
                <a:lnTo>
                  <a:pt x="100722" y="19902"/>
                </a:lnTo>
                <a:cubicBezTo>
                  <a:pt x="103407" y="16211"/>
                  <a:pt x="108570" y="15385"/>
                  <a:pt x="112261" y="18069"/>
                </a:cubicBezTo>
                <a:close/>
              </a:path>
            </a:pathLst>
          </a:custGeom>
          <a:solidFill>
            <a:srgbClr val="00A4B5"/>
          </a:solidFill>
          <a:ln/>
        </p:spPr>
      </p:sp>
      <p:sp>
        <p:nvSpPr>
          <p:cNvPr id="57" name="Text 55"/>
          <p:cNvSpPr/>
          <p:nvPr/>
        </p:nvSpPr>
        <p:spPr>
          <a:xfrm>
            <a:off x="7134922" y="4923057"/>
            <a:ext cx="1974179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Check </a:t>
            </a:r>
            <a:pPr>
              <a:lnSpc>
                <a:spcPct val="130000"/>
              </a:lnSpc>
            </a:pPr>
            <a:r>
              <a:rPr lang="en-US" sz="1041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CF-Cache-Status</a:t>
            </a:r>
            <a:pPr>
              <a:lnSpc>
                <a:spcPct val="130000"/>
              </a:lnSpc>
            </a:pPr>
            <a:r>
              <a:rPr lang="en-US" sz="1041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header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928418" y="5187382"/>
            <a:ext cx="115642" cy="132163"/>
          </a:xfrm>
          <a:custGeom>
            <a:avLst/>
            <a:gdLst/>
            <a:ahLst/>
            <a:cxnLst/>
            <a:rect l="l" t="t" r="r" b="b"/>
            <a:pathLst>
              <a:path w="115642" h="132163">
                <a:moveTo>
                  <a:pt x="112235" y="18095"/>
                </a:moveTo>
                <a:cubicBezTo>
                  <a:pt x="115926" y="20779"/>
                  <a:pt x="116752" y="25942"/>
                  <a:pt x="114068" y="29633"/>
                </a:cubicBezTo>
                <a:lnTo>
                  <a:pt x="47986" y="120495"/>
                </a:lnTo>
                <a:cubicBezTo>
                  <a:pt x="46567" y="122457"/>
                  <a:pt x="44373" y="123670"/>
                  <a:pt x="41946" y="123877"/>
                </a:cubicBezTo>
                <a:cubicBezTo>
                  <a:pt x="39520" y="124083"/>
                  <a:pt x="37171" y="123180"/>
                  <a:pt x="35467" y="121476"/>
                </a:cubicBezTo>
                <a:lnTo>
                  <a:pt x="2426" y="88435"/>
                </a:lnTo>
                <a:cubicBezTo>
                  <a:pt x="-800" y="85209"/>
                  <a:pt x="-800" y="79969"/>
                  <a:pt x="2426" y="76742"/>
                </a:cubicBezTo>
                <a:cubicBezTo>
                  <a:pt x="5653" y="73515"/>
                  <a:pt x="10893" y="73515"/>
                  <a:pt x="14120" y="76742"/>
                </a:cubicBezTo>
                <a:lnTo>
                  <a:pt x="40320" y="102942"/>
                </a:lnTo>
                <a:lnTo>
                  <a:pt x="100722" y="19902"/>
                </a:lnTo>
                <a:cubicBezTo>
                  <a:pt x="103407" y="16211"/>
                  <a:pt x="108570" y="15385"/>
                  <a:pt x="112261" y="18069"/>
                </a:cubicBezTo>
                <a:close/>
              </a:path>
            </a:pathLst>
          </a:custGeom>
          <a:solidFill>
            <a:srgbClr val="00A4B5"/>
          </a:solidFill>
          <a:ln/>
        </p:spPr>
      </p:sp>
      <p:sp>
        <p:nvSpPr>
          <p:cNvPr id="59" name="Text 57"/>
          <p:cNvSpPr/>
          <p:nvPr/>
        </p:nvSpPr>
        <p:spPr>
          <a:xfrm>
            <a:off x="7134922" y="5154341"/>
            <a:ext cx="2098081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browser dev tools Network tab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928418" y="5418667"/>
            <a:ext cx="115642" cy="132163"/>
          </a:xfrm>
          <a:custGeom>
            <a:avLst/>
            <a:gdLst/>
            <a:ahLst/>
            <a:cxnLst/>
            <a:rect l="l" t="t" r="r" b="b"/>
            <a:pathLst>
              <a:path w="115642" h="132163">
                <a:moveTo>
                  <a:pt x="112235" y="18095"/>
                </a:moveTo>
                <a:cubicBezTo>
                  <a:pt x="115926" y="20779"/>
                  <a:pt x="116752" y="25942"/>
                  <a:pt x="114068" y="29633"/>
                </a:cubicBezTo>
                <a:lnTo>
                  <a:pt x="47986" y="120495"/>
                </a:lnTo>
                <a:cubicBezTo>
                  <a:pt x="46567" y="122457"/>
                  <a:pt x="44373" y="123670"/>
                  <a:pt x="41946" y="123877"/>
                </a:cubicBezTo>
                <a:cubicBezTo>
                  <a:pt x="39520" y="124083"/>
                  <a:pt x="37171" y="123180"/>
                  <a:pt x="35467" y="121476"/>
                </a:cubicBezTo>
                <a:lnTo>
                  <a:pt x="2426" y="88435"/>
                </a:lnTo>
                <a:cubicBezTo>
                  <a:pt x="-800" y="85209"/>
                  <a:pt x="-800" y="79969"/>
                  <a:pt x="2426" y="76742"/>
                </a:cubicBezTo>
                <a:cubicBezTo>
                  <a:pt x="5653" y="73515"/>
                  <a:pt x="10893" y="73515"/>
                  <a:pt x="14120" y="76742"/>
                </a:cubicBezTo>
                <a:lnTo>
                  <a:pt x="40320" y="102942"/>
                </a:lnTo>
                <a:lnTo>
                  <a:pt x="100722" y="19902"/>
                </a:lnTo>
                <a:cubicBezTo>
                  <a:pt x="103407" y="16211"/>
                  <a:pt x="108570" y="15385"/>
                  <a:pt x="112261" y="18069"/>
                </a:cubicBezTo>
                <a:close/>
              </a:path>
            </a:pathLst>
          </a:custGeom>
          <a:solidFill>
            <a:srgbClr val="00A4B5"/>
          </a:solidFill>
          <a:ln/>
        </p:spPr>
      </p:sp>
      <p:sp>
        <p:nvSpPr>
          <p:cNvPr id="61" name="Text 59"/>
          <p:cNvSpPr/>
          <p:nvPr/>
        </p:nvSpPr>
        <p:spPr>
          <a:xfrm>
            <a:off x="7134922" y="5385626"/>
            <a:ext cx="2618472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 with curl: </a:t>
            </a:r>
            <a:pPr>
              <a:lnSpc>
                <a:spcPct val="130000"/>
              </a:lnSpc>
            </a:pPr>
            <a:r>
              <a:rPr lang="en-US" sz="911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curl -I https://example.com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D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cms.cloudoptimo.com/94182e2abea01cf3f3b2829764578a80234cdc9c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2919" r="2919" t="0" b="0"/>
          <a:stretch/>
        </p:blipFill>
        <p:spPr>
          <a:xfrm>
            <a:off x="0" y="0"/>
            <a:ext cx="12192000" cy="7413935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7413935"/>
          </a:xfrm>
          <a:custGeom>
            <a:avLst/>
            <a:gdLst/>
            <a:ahLst/>
            <a:cxnLst/>
            <a:rect l="l" t="t" r="r" b="b"/>
            <a:pathLst>
              <a:path w="12192000" h="7413935">
                <a:moveTo>
                  <a:pt x="0" y="0"/>
                </a:moveTo>
                <a:lnTo>
                  <a:pt x="12192000" y="0"/>
                </a:lnTo>
                <a:lnTo>
                  <a:pt x="12192000" y="7413935"/>
                </a:lnTo>
                <a:lnTo>
                  <a:pt x="0" y="7413935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F48120">
                  <a:alpha val="60000"/>
                </a:srgbClr>
              </a:gs>
              <a:gs pos="50000">
                <a:srgbClr val="1D1F2B">
                  <a:alpha val="90000"/>
                </a:srgbClr>
              </a:gs>
              <a:gs pos="100000">
                <a:srgbClr val="1D1F2B"/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673291" y="20593"/>
            <a:ext cx="846299" cy="846299"/>
          </a:xfrm>
          <a:custGeom>
            <a:avLst/>
            <a:gdLst/>
            <a:ahLst/>
            <a:cxnLst/>
            <a:rect l="l" t="t" r="r" b="b"/>
            <a:pathLst>
              <a:path w="846299" h="846299">
                <a:moveTo>
                  <a:pt x="423150" y="0"/>
                </a:moveTo>
                <a:lnTo>
                  <a:pt x="423150" y="0"/>
                </a:lnTo>
                <a:cubicBezTo>
                  <a:pt x="656692" y="0"/>
                  <a:pt x="846299" y="189607"/>
                  <a:pt x="846299" y="423150"/>
                </a:cubicBezTo>
                <a:lnTo>
                  <a:pt x="846299" y="423150"/>
                </a:lnTo>
                <a:cubicBezTo>
                  <a:pt x="846299" y="656692"/>
                  <a:pt x="656692" y="846299"/>
                  <a:pt x="423150" y="846299"/>
                </a:cubicBezTo>
                <a:lnTo>
                  <a:pt x="423150" y="846299"/>
                </a:lnTo>
                <a:cubicBezTo>
                  <a:pt x="189607" y="846299"/>
                  <a:pt x="0" y="656692"/>
                  <a:pt x="0" y="423150"/>
                </a:cubicBezTo>
                <a:lnTo>
                  <a:pt x="0" y="423150"/>
                </a:lnTo>
                <a:cubicBezTo>
                  <a:pt x="0" y="189607"/>
                  <a:pt x="189607" y="0"/>
                  <a:pt x="423150" y="0"/>
                </a:cubicBez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5" name="Shape 2"/>
          <p:cNvSpPr/>
          <p:nvPr/>
        </p:nvSpPr>
        <p:spPr>
          <a:xfrm>
            <a:off x="5911313" y="232168"/>
            <a:ext cx="370256" cy="423150"/>
          </a:xfrm>
          <a:custGeom>
            <a:avLst/>
            <a:gdLst/>
            <a:ahLst/>
            <a:cxnLst/>
            <a:rect l="l" t="t" r="r" b="b"/>
            <a:pathLst>
              <a:path w="370256" h="423150">
                <a:moveTo>
                  <a:pt x="359347" y="57935"/>
                </a:moveTo>
                <a:cubicBezTo>
                  <a:pt x="371165" y="66530"/>
                  <a:pt x="373810" y="83060"/>
                  <a:pt x="365215" y="94878"/>
                </a:cubicBezTo>
                <a:lnTo>
                  <a:pt x="153640" y="385793"/>
                </a:lnTo>
                <a:cubicBezTo>
                  <a:pt x="149094" y="392075"/>
                  <a:pt x="142069" y="395959"/>
                  <a:pt x="134300" y="396620"/>
                </a:cubicBezTo>
                <a:cubicBezTo>
                  <a:pt x="126532" y="397281"/>
                  <a:pt x="119011" y="394389"/>
                  <a:pt x="113556" y="388934"/>
                </a:cubicBezTo>
                <a:lnTo>
                  <a:pt x="7769" y="283147"/>
                </a:lnTo>
                <a:cubicBezTo>
                  <a:pt x="-2562" y="272816"/>
                  <a:pt x="-2562" y="256039"/>
                  <a:pt x="7769" y="245708"/>
                </a:cubicBezTo>
                <a:cubicBezTo>
                  <a:pt x="18100" y="235377"/>
                  <a:pt x="34877" y="235377"/>
                  <a:pt x="45208" y="245708"/>
                </a:cubicBezTo>
                <a:lnTo>
                  <a:pt x="129094" y="329594"/>
                </a:lnTo>
                <a:lnTo>
                  <a:pt x="322486" y="63720"/>
                </a:lnTo>
                <a:cubicBezTo>
                  <a:pt x="331082" y="51902"/>
                  <a:pt x="347611" y="49257"/>
                  <a:pt x="359429" y="5785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4162625" y="1078467"/>
            <a:ext cx="3870056" cy="528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16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532241" y="1818979"/>
            <a:ext cx="1128399" cy="35262"/>
          </a:xfrm>
          <a:custGeom>
            <a:avLst/>
            <a:gdLst/>
            <a:ahLst/>
            <a:cxnLst/>
            <a:rect l="l" t="t" r="r" b="b"/>
            <a:pathLst>
              <a:path w="1128399" h="35262">
                <a:moveTo>
                  <a:pt x="0" y="0"/>
                </a:moveTo>
                <a:lnTo>
                  <a:pt x="1128399" y="0"/>
                </a:lnTo>
                <a:lnTo>
                  <a:pt x="1128399" y="35262"/>
                </a:lnTo>
                <a:lnTo>
                  <a:pt x="0" y="35262"/>
                </a:lnTo>
                <a:lnTo>
                  <a:pt x="0" y="0"/>
                </a:ln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8" name="Shape 5"/>
          <p:cNvSpPr/>
          <p:nvPr/>
        </p:nvSpPr>
        <p:spPr>
          <a:xfrm>
            <a:off x="2147044" y="2418441"/>
            <a:ext cx="7898794" cy="775774"/>
          </a:xfrm>
          <a:custGeom>
            <a:avLst/>
            <a:gdLst/>
            <a:ahLst/>
            <a:cxnLst/>
            <a:rect l="l" t="t" r="r" b="b"/>
            <a:pathLst>
              <a:path w="7898794" h="775774">
                <a:moveTo>
                  <a:pt x="105785" y="0"/>
                </a:moveTo>
                <a:lnTo>
                  <a:pt x="7793009" y="0"/>
                </a:lnTo>
                <a:cubicBezTo>
                  <a:pt x="7851433" y="0"/>
                  <a:pt x="7898794" y="47361"/>
                  <a:pt x="7898794" y="105785"/>
                </a:cubicBezTo>
                <a:lnTo>
                  <a:pt x="7898794" y="669990"/>
                </a:lnTo>
                <a:cubicBezTo>
                  <a:pt x="7898794" y="728413"/>
                  <a:pt x="7851433" y="775774"/>
                  <a:pt x="7793009" y="775774"/>
                </a:cubicBezTo>
                <a:lnTo>
                  <a:pt x="105785" y="775774"/>
                </a:lnTo>
                <a:cubicBezTo>
                  <a:pt x="47400" y="775774"/>
                  <a:pt x="0" y="728374"/>
                  <a:pt x="0" y="669990"/>
                </a:cubicBezTo>
                <a:lnTo>
                  <a:pt x="0" y="105785"/>
                </a:lnTo>
                <a:cubicBezTo>
                  <a:pt x="0" y="47400"/>
                  <a:pt x="47400" y="0"/>
                  <a:pt x="10578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2288094" y="2559491"/>
            <a:ext cx="352625" cy="352625"/>
          </a:xfrm>
          <a:custGeom>
            <a:avLst/>
            <a:gdLst/>
            <a:ahLst/>
            <a:cxnLst/>
            <a:rect l="l" t="t" r="r" b="b"/>
            <a:pathLst>
              <a:path w="352625" h="352625">
                <a:moveTo>
                  <a:pt x="176312" y="0"/>
                </a:moveTo>
                <a:lnTo>
                  <a:pt x="176312" y="0"/>
                </a:lnTo>
                <a:cubicBezTo>
                  <a:pt x="273687" y="0"/>
                  <a:pt x="352625" y="78938"/>
                  <a:pt x="352625" y="176312"/>
                </a:cubicBezTo>
                <a:lnTo>
                  <a:pt x="352625" y="176312"/>
                </a:lnTo>
                <a:cubicBezTo>
                  <a:pt x="352625" y="273687"/>
                  <a:pt x="273687" y="352625"/>
                  <a:pt x="176312" y="352625"/>
                </a:cubicBezTo>
                <a:lnTo>
                  <a:pt x="176312" y="352625"/>
                </a:lnTo>
                <a:cubicBezTo>
                  <a:pt x="78938" y="352625"/>
                  <a:pt x="0" y="273687"/>
                  <a:pt x="0" y="176312"/>
                </a:cubicBezTo>
                <a:lnTo>
                  <a:pt x="0" y="176312"/>
                </a:lnTo>
                <a:cubicBezTo>
                  <a:pt x="0" y="78938"/>
                  <a:pt x="78938" y="0"/>
                  <a:pt x="176312" y="0"/>
                </a:cubicBez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10" name="Text 7"/>
          <p:cNvSpPr/>
          <p:nvPr/>
        </p:nvSpPr>
        <p:spPr>
          <a:xfrm>
            <a:off x="2252831" y="2559491"/>
            <a:ext cx="423150" cy="352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1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2781768" y="2559491"/>
            <a:ext cx="7211176" cy="493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8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Cloudflare caching </a:t>
            </a:r>
            <a:pPr>
              <a:lnSpc>
                <a:spcPct val="120000"/>
              </a:lnSpc>
            </a:pPr>
            <a:r>
              <a:rPr lang="en-US" sz="1388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significantly improves performance</a:t>
            </a:r>
            <a:pPr>
              <a:lnSpc>
                <a:spcPct val="120000"/>
              </a:lnSpc>
            </a:pPr>
            <a:r>
              <a:rPr lang="en-US" sz="1388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by storing content closer to users across 275+ global data centers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147044" y="3335265"/>
            <a:ext cx="7898794" cy="775774"/>
          </a:xfrm>
          <a:custGeom>
            <a:avLst/>
            <a:gdLst/>
            <a:ahLst/>
            <a:cxnLst/>
            <a:rect l="l" t="t" r="r" b="b"/>
            <a:pathLst>
              <a:path w="7898794" h="775774">
                <a:moveTo>
                  <a:pt x="105785" y="0"/>
                </a:moveTo>
                <a:lnTo>
                  <a:pt x="7793009" y="0"/>
                </a:lnTo>
                <a:cubicBezTo>
                  <a:pt x="7851433" y="0"/>
                  <a:pt x="7898794" y="47361"/>
                  <a:pt x="7898794" y="105785"/>
                </a:cubicBezTo>
                <a:lnTo>
                  <a:pt x="7898794" y="669990"/>
                </a:lnTo>
                <a:cubicBezTo>
                  <a:pt x="7898794" y="728413"/>
                  <a:pt x="7851433" y="775774"/>
                  <a:pt x="7793009" y="775774"/>
                </a:cubicBezTo>
                <a:lnTo>
                  <a:pt x="105785" y="775774"/>
                </a:lnTo>
                <a:cubicBezTo>
                  <a:pt x="47400" y="775774"/>
                  <a:pt x="0" y="728374"/>
                  <a:pt x="0" y="669990"/>
                </a:cubicBezTo>
                <a:lnTo>
                  <a:pt x="0" y="105785"/>
                </a:lnTo>
                <a:cubicBezTo>
                  <a:pt x="0" y="47400"/>
                  <a:pt x="47400" y="0"/>
                  <a:pt x="10578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2288094" y="3476315"/>
            <a:ext cx="352625" cy="352625"/>
          </a:xfrm>
          <a:custGeom>
            <a:avLst/>
            <a:gdLst/>
            <a:ahLst/>
            <a:cxnLst/>
            <a:rect l="l" t="t" r="r" b="b"/>
            <a:pathLst>
              <a:path w="352625" h="352625">
                <a:moveTo>
                  <a:pt x="176312" y="0"/>
                </a:moveTo>
                <a:lnTo>
                  <a:pt x="176312" y="0"/>
                </a:lnTo>
                <a:cubicBezTo>
                  <a:pt x="273687" y="0"/>
                  <a:pt x="352625" y="78938"/>
                  <a:pt x="352625" y="176312"/>
                </a:cubicBezTo>
                <a:lnTo>
                  <a:pt x="352625" y="176312"/>
                </a:lnTo>
                <a:cubicBezTo>
                  <a:pt x="352625" y="273687"/>
                  <a:pt x="273687" y="352625"/>
                  <a:pt x="176312" y="352625"/>
                </a:cubicBezTo>
                <a:lnTo>
                  <a:pt x="176312" y="352625"/>
                </a:lnTo>
                <a:cubicBezTo>
                  <a:pt x="78938" y="352625"/>
                  <a:pt x="0" y="273687"/>
                  <a:pt x="0" y="176312"/>
                </a:cubicBezTo>
                <a:lnTo>
                  <a:pt x="0" y="176312"/>
                </a:lnTo>
                <a:cubicBezTo>
                  <a:pt x="0" y="78938"/>
                  <a:pt x="78938" y="0"/>
                  <a:pt x="176312" y="0"/>
                </a:cubicBezTo>
                <a:close/>
              </a:path>
            </a:pathLst>
          </a:custGeom>
          <a:solidFill>
            <a:srgbClr val="00A4B5"/>
          </a:solidFill>
          <a:ln/>
        </p:spPr>
      </p:sp>
      <p:sp>
        <p:nvSpPr>
          <p:cNvPr id="14" name="Text 11"/>
          <p:cNvSpPr/>
          <p:nvPr/>
        </p:nvSpPr>
        <p:spPr>
          <a:xfrm>
            <a:off x="2252831" y="3476315"/>
            <a:ext cx="423150" cy="352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1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781768" y="3476315"/>
            <a:ext cx="7211176" cy="493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8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 the difference between </a:t>
            </a:r>
            <a:pPr>
              <a:lnSpc>
                <a:spcPct val="120000"/>
              </a:lnSpc>
            </a:pPr>
            <a:r>
              <a:rPr lang="en-US" sz="1388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edge caching</a:t>
            </a:r>
            <a:pPr>
              <a:lnSpc>
                <a:spcPct val="120000"/>
              </a:lnSpc>
            </a:pPr>
            <a:r>
              <a:rPr lang="en-US" sz="1388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(Cloudflare servers) and </a:t>
            </a:r>
            <a:pPr>
              <a:lnSpc>
                <a:spcPct val="120000"/>
              </a:lnSpc>
            </a:pPr>
            <a:r>
              <a:rPr lang="en-US" sz="1388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browser caching</a:t>
            </a:r>
            <a:pPr>
              <a:lnSpc>
                <a:spcPct val="120000"/>
              </a:lnSpc>
            </a:pPr>
            <a:r>
              <a:rPr lang="en-US" sz="1388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(client-side) with different TTL controls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2147044" y="4252089"/>
            <a:ext cx="7898794" cy="775774"/>
          </a:xfrm>
          <a:custGeom>
            <a:avLst/>
            <a:gdLst/>
            <a:ahLst/>
            <a:cxnLst/>
            <a:rect l="l" t="t" r="r" b="b"/>
            <a:pathLst>
              <a:path w="7898794" h="775774">
                <a:moveTo>
                  <a:pt x="105785" y="0"/>
                </a:moveTo>
                <a:lnTo>
                  <a:pt x="7793009" y="0"/>
                </a:lnTo>
                <a:cubicBezTo>
                  <a:pt x="7851433" y="0"/>
                  <a:pt x="7898794" y="47361"/>
                  <a:pt x="7898794" y="105785"/>
                </a:cubicBezTo>
                <a:lnTo>
                  <a:pt x="7898794" y="669990"/>
                </a:lnTo>
                <a:cubicBezTo>
                  <a:pt x="7898794" y="728413"/>
                  <a:pt x="7851433" y="775774"/>
                  <a:pt x="7793009" y="775774"/>
                </a:cubicBezTo>
                <a:lnTo>
                  <a:pt x="105785" y="775774"/>
                </a:lnTo>
                <a:cubicBezTo>
                  <a:pt x="47400" y="775774"/>
                  <a:pt x="0" y="728374"/>
                  <a:pt x="0" y="669990"/>
                </a:cubicBezTo>
                <a:lnTo>
                  <a:pt x="0" y="105785"/>
                </a:lnTo>
                <a:cubicBezTo>
                  <a:pt x="0" y="47400"/>
                  <a:pt x="47400" y="0"/>
                  <a:pt x="10578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2288094" y="4393139"/>
            <a:ext cx="352625" cy="352625"/>
          </a:xfrm>
          <a:custGeom>
            <a:avLst/>
            <a:gdLst/>
            <a:ahLst/>
            <a:cxnLst/>
            <a:rect l="l" t="t" r="r" b="b"/>
            <a:pathLst>
              <a:path w="352625" h="352625">
                <a:moveTo>
                  <a:pt x="176312" y="0"/>
                </a:moveTo>
                <a:lnTo>
                  <a:pt x="176312" y="0"/>
                </a:lnTo>
                <a:cubicBezTo>
                  <a:pt x="273687" y="0"/>
                  <a:pt x="352625" y="78938"/>
                  <a:pt x="352625" y="176312"/>
                </a:cubicBezTo>
                <a:lnTo>
                  <a:pt x="352625" y="176312"/>
                </a:lnTo>
                <a:cubicBezTo>
                  <a:pt x="352625" y="273687"/>
                  <a:pt x="273687" y="352625"/>
                  <a:pt x="176312" y="352625"/>
                </a:cubicBezTo>
                <a:lnTo>
                  <a:pt x="176312" y="352625"/>
                </a:lnTo>
                <a:cubicBezTo>
                  <a:pt x="78938" y="352625"/>
                  <a:pt x="0" y="273687"/>
                  <a:pt x="0" y="176312"/>
                </a:cubicBezTo>
                <a:lnTo>
                  <a:pt x="0" y="176312"/>
                </a:lnTo>
                <a:cubicBezTo>
                  <a:pt x="0" y="78938"/>
                  <a:pt x="78938" y="0"/>
                  <a:pt x="176312" y="0"/>
                </a:cubicBez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18" name="Text 15"/>
          <p:cNvSpPr/>
          <p:nvPr/>
        </p:nvSpPr>
        <p:spPr>
          <a:xfrm>
            <a:off x="2252831" y="4393139"/>
            <a:ext cx="423150" cy="352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1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781768" y="4393139"/>
            <a:ext cx="7211176" cy="493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8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</a:t>
            </a:r>
            <a:pPr>
              <a:lnSpc>
                <a:spcPct val="120000"/>
              </a:lnSpc>
            </a:pPr>
            <a:r>
              <a:rPr lang="en-US" sz="1388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Cache Rules</a:t>
            </a:r>
            <a:pPr>
              <a:lnSpc>
                <a:spcPct val="120000"/>
              </a:lnSpc>
            </a:pPr>
            <a:r>
              <a:rPr lang="en-US" sz="1388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fine-grained control over modern applications, with support for complex expressions and status code TTLs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2147044" y="5168914"/>
            <a:ext cx="7898794" cy="775774"/>
          </a:xfrm>
          <a:custGeom>
            <a:avLst/>
            <a:gdLst/>
            <a:ahLst/>
            <a:cxnLst/>
            <a:rect l="l" t="t" r="r" b="b"/>
            <a:pathLst>
              <a:path w="7898794" h="775774">
                <a:moveTo>
                  <a:pt x="105785" y="0"/>
                </a:moveTo>
                <a:lnTo>
                  <a:pt x="7793009" y="0"/>
                </a:lnTo>
                <a:cubicBezTo>
                  <a:pt x="7851433" y="0"/>
                  <a:pt x="7898794" y="47361"/>
                  <a:pt x="7898794" y="105785"/>
                </a:cubicBezTo>
                <a:lnTo>
                  <a:pt x="7898794" y="669990"/>
                </a:lnTo>
                <a:cubicBezTo>
                  <a:pt x="7898794" y="728413"/>
                  <a:pt x="7851433" y="775774"/>
                  <a:pt x="7793009" y="775774"/>
                </a:cubicBezTo>
                <a:lnTo>
                  <a:pt x="105785" y="775774"/>
                </a:lnTo>
                <a:cubicBezTo>
                  <a:pt x="47400" y="775774"/>
                  <a:pt x="0" y="728374"/>
                  <a:pt x="0" y="669990"/>
                </a:cubicBezTo>
                <a:lnTo>
                  <a:pt x="0" y="105785"/>
                </a:lnTo>
                <a:cubicBezTo>
                  <a:pt x="0" y="47400"/>
                  <a:pt x="47400" y="0"/>
                  <a:pt x="10578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2288094" y="5309964"/>
            <a:ext cx="352625" cy="352625"/>
          </a:xfrm>
          <a:custGeom>
            <a:avLst/>
            <a:gdLst/>
            <a:ahLst/>
            <a:cxnLst/>
            <a:rect l="l" t="t" r="r" b="b"/>
            <a:pathLst>
              <a:path w="352625" h="352625">
                <a:moveTo>
                  <a:pt x="176312" y="0"/>
                </a:moveTo>
                <a:lnTo>
                  <a:pt x="176312" y="0"/>
                </a:lnTo>
                <a:cubicBezTo>
                  <a:pt x="273687" y="0"/>
                  <a:pt x="352625" y="78938"/>
                  <a:pt x="352625" y="176312"/>
                </a:cubicBezTo>
                <a:lnTo>
                  <a:pt x="352625" y="176312"/>
                </a:lnTo>
                <a:cubicBezTo>
                  <a:pt x="352625" y="273687"/>
                  <a:pt x="273687" y="352625"/>
                  <a:pt x="176312" y="352625"/>
                </a:cubicBezTo>
                <a:lnTo>
                  <a:pt x="176312" y="352625"/>
                </a:lnTo>
                <a:cubicBezTo>
                  <a:pt x="78938" y="352625"/>
                  <a:pt x="0" y="273687"/>
                  <a:pt x="0" y="176312"/>
                </a:cubicBezTo>
                <a:lnTo>
                  <a:pt x="0" y="176312"/>
                </a:lnTo>
                <a:cubicBezTo>
                  <a:pt x="0" y="78938"/>
                  <a:pt x="78938" y="0"/>
                  <a:pt x="176312" y="0"/>
                </a:cubicBezTo>
                <a:close/>
              </a:path>
            </a:pathLst>
          </a:custGeom>
          <a:solidFill>
            <a:srgbClr val="00A4B5"/>
          </a:solidFill>
          <a:ln/>
        </p:spPr>
      </p:sp>
      <p:sp>
        <p:nvSpPr>
          <p:cNvPr id="22" name="Text 19"/>
          <p:cNvSpPr/>
          <p:nvPr/>
        </p:nvSpPr>
        <p:spPr>
          <a:xfrm>
            <a:off x="2252831" y="5309964"/>
            <a:ext cx="423150" cy="352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1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2781768" y="5309964"/>
            <a:ext cx="7211176" cy="493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8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Apply </a:t>
            </a:r>
            <a:pPr>
              <a:lnSpc>
                <a:spcPct val="120000"/>
              </a:lnSpc>
            </a:pPr>
            <a:r>
              <a:rPr lang="en-US" sz="1388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"Cache Everything"</a:t>
            </a:r>
            <a:pPr>
              <a:lnSpc>
                <a:spcPct val="120000"/>
              </a:lnSpc>
            </a:pPr>
            <a:r>
              <a:rPr lang="en-US" sz="1388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carefully with proper Edge TTL settings and consider using "Bypass Cache on Cookie" for dynamic content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2147044" y="6085738"/>
            <a:ext cx="7898794" cy="775774"/>
          </a:xfrm>
          <a:custGeom>
            <a:avLst/>
            <a:gdLst/>
            <a:ahLst/>
            <a:cxnLst/>
            <a:rect l="l" t="t" r="r" b="b"/>
            <a:pathLst>
              <a:path w="7898794" h="775774">
                <a:moveTo>
                  <a:pt x="105785" y="0"/>
                </a:moveTo>
                <a:lnTo>
                  <a:pt x="7793009" y="0"/>
                </a:lnTo>
                <a:cubicBezTo>
                  <a:pt x="7851433" y="0"/>
                  <a:pt x="7898794" y="47361"/>
                  <a:pt x="7898794" y="105785"/>
                </a:cubicBezTo>
                <a:lnTo>
                  <a:pt x="7898794" y="669990"/>
                </a:lnTo>
                <a:cubicBezTo>
                  <a:pt x="7898794" y="728413"/>
                  <a:pt x="7851433" y="775774"/>
                  <a:pt x="7793009" y="775774"/>
                </a:cubicBezTo>
                <a:lnTo>
                  <a:pt x="105785" y="775774"/>
                </a:lnTo>
                <a:cubicBezTo>
                  <a:pt x="47400" y="775774"/>
                  <a:pt x="0" y="728374"/>
                  <a:pt x="0" y="669990"/>
                </a:cubicBezTo>
                <a:lnTo>
                  <a:pt x="0" y="105785"/>
                </a:lnTo>
                <a:cubicBezTo>
                  <a:pt x="0" y="47400"/>
                  <a:pt x="47400" y="0"/>
                  <a:pt x="10578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2288094" y="6226788"/>
            <a:ext cx="352625" cy="352625"/>
          </a:xfrm>
          <a:custGeom>
            <a:avLst/>
            <a:gdLst/>
            <a:ahLst/>
            <a:cxnLst/>
            <a:rect l="l" t="t" r="r" b="b"/>
            <a:pathLst>
              <a:path w="352625" h="352625">
                <a:moveTo>
                  <a:pt x="176312" y="0"/>
                </a:moveTo>
                <a:lnTo>
                  <a:pt x="176312" y="0"/>
                </a:lnTo>
                <a:cubicBezTo>
                  <a:pt x="273687" y="0"/>
                  <a:pt x="352625" y="78938"/>
                  <a:pt x="352625" y="176312"/>
                </a:cubicBezTo>
                <a:lnTo>
                  <a:pt x="352625" y="176312"/>
                </a:lnTo>
                <a:cubicBezTo>
                  <a:pt x="352625" y="273687"/>
                  <a:pt x="273687" y="352625"/>
                  <a:pt x="176312" y="352625"/>
                </a:cubicBezTo>
                <a:lnTo>
                  <a:pt x="176312" y="352625"/>
                </a:lnTo>
                <a:cubicBezTo>
                  <a:pt x="78938" y="352625"/>
                  <a:pt x="0" y="273687"/>
                  <a:pt x="0" y="176312"/>
                </a:cubicBezTo>
                <a:lnTo>
                  <a:pt x="0" y="176312"/>
                </a:lnTo>
                <a:cubicBezTo>
                  <a:pt x="0" y="78938"/>
                  <a:pt x="78938" y="0"/>
                  <a:pt x="176312" y="0"/>
                </a:cubicBez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26" name="Text 23"/>
          <p:cNvSpPr/>
          <p:nvPr/>
        </p:nvSpPr>
        <p:spPr>
          <a:xfrm>
            <a:off x="2252831" y="6226788"/>
            <a:ext cx="423150" cy="352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1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2781768" y="6226788"/>
            <a:ext cx="7211176" cy="493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8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Always set </a:t>
            </a:r>
            <a:pPr>
              <a:lnSpc>
                <a:spcPct val="120000"/>
              </a:lnSpc>
            </a:pPr>
            <a:r>
              <a:rPr lang="en-US" sz="1388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appropriate Cache-Control headers</a:t>
            </a:r>
            <a:pPr>
              <a:lnSpc>
                <a:spcPct val="120000"/>
              </a:lnSpc>
            </a:pPr>
            <a:r>
              <a:rPr lang="en-US" sz="1388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on your origin server to guide Cloudflare's caching decisions effectively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4142018" y="7143612"/>
            <a:ext cx="3905319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49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Optimize Performance • Reduce Latency • Protect Origin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Cloudflare Caching - Models, Configurations &amp; Rules</dc:title>
  <dc:subject>Cloudflare Caching - Models, Configurations &amp; Rules</dc:subject>
  <dc:creator>Kimi</dc:creator>
  <cp:lastModifiedBy>Kimi</cp:lastModifiedBy>
  <cp:revision>1</cp:revision>
  <dcterms:created xsi:type="dcterms:W3CDTF">2026-02-05T05:23:56Z</dcterms:created>
  <dcterms:modified xsi:type="dcterms:W3CDTF">2026-02-05T05:23:56Z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{"Label":"Cloudflare Caching - Models, Configurations &amp; Rules","ContentProducer":"001191110108MACG2KBH8F10000","ProduceID":"19c2b021-92c2-81e9-8000-0000056ee000","ReservedCode1":"","ContentPropagator":"001191110108MACG2KBH8F20000","PropagateID":"19c2b021-92c2-81e9-8000-0000056ee000","ReservedCode2":""}</vt:lpwstr>
  </property>
</Properties>
</file>